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743200"/>
            <a:ext cx="8229600" cy="8229600"/>
          </a:xfrm>
          <a:prstGeom prst="ellipse">
            <a:avLst/>
          </a:prstGeom>
          <a:solidFill>
            <a:srgbClr val="0A3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2743200"/>
            <a:ext cx="5486400" cy="5486400"/>
          </a:xfrm>
          <a:prstGeom prst="ellipse">
            <a:avLst/>
          </a:prstGeom>
          <a:solidFill>
            <a:srgbClr val="0A3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82327" y="-113792"/>
            <a:ext cx="2473960" cy="647192"/>
          </a:xfrm>
          <a:prstGeom prst="roundRect">
            <a:avLst/>
          </a:prstGeom>
          <a:solidFill>
            <a:srgbClr val="0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33127" y="-164592"/>
            <a:ext cx="24231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stitut Teknologi Sepuluh Nopember - 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228600"/>
            <a:ext cx="681238" cy="438912"/>
          </a:xfrm>
          <a:prstGeom prst="rect">
            <a:avLst/>
          </a:prstGeom>
        </p:spPr>
      </p:pic>
      <p:pic>
        <p:nvPicPr>
          <p:cNvPr id="7" name="Picture 6" descr="Elektro-tr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821" y="228600"/>
            <a:ext cx="445106" cy="438912"/>
          </a:xfrm>
          <a:prstGeom prst="rect">
            <a:avLst/>
          </a:prstGeom>
        </p:spPr>
      </p:pic>
      <p:pic>
        <p:nvPicPr>
          <p:cNvPr id="8" name="Picture 7" descr="ELKA b2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8655" y="228600"/>
            <a:ext cx="523260" cy="4389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1143000"/>
            <a:ext cx="63500" cy="19202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43000"/>
            <a:ext cx="8229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60"/>
              </a:lnSpc>
              <a:spcAft>
                <a:spcPts val="400"/>
              </a:spcAft>
              <a:defRPr sz="3000" b="1" i="0">
                <a:solidFill>
                  <a:srgbClr val="FFFFFF"/>
                </a:solidFill>
                <a:latin typeface="Montserrat"/>
              </a:defRPr>
            </a:pPr>
            <a:r>
              <a:t>NAVIGASI ROBOT BERBASIS</a:t>
            </a:r>
          </a:p>
          <a:p>
            <a:pPr algn="l">
              <a:lnSpc>
                <a:spcPts val="3660"/>
              </a:lnSpc>
              <a:spcAft>
                <a:spcPts val="400"/>
              </a:spcAft>
              <a:defRPr sz="3000" b="1" i="0">
                <a:solidFill>
                  <a:srgbClr val="FFFFFF"/>
                </a:solidFill>
                <a:latin typeface="Montserrat"/>
              </a:defRPr>
            </a:pPr>
            <a:r>
              <a:t>LAYERED COSTMAP</a:t>
            </a:r>
          </a:p>
          <a:p>
            <a:pPr algn="l">
              <a:lnSpc>
                <a:spcPts val="3660"/>
              </a:lnSpc>
              <a:spcAft>
                <a:spcPts val="400"/>
              </a:spcAft>
              <a:defRPr sz="3000" b="1" i="0">
                <a:solidFill>
                  <a:srgbClr val="C8DCEE"/>
                </a:solidFill>
                <a:latin typeface="Montserrat"/>
              </a:defRPr>
            </a:pPr>
            <a:r>
              <a:t>UNTUK PERGERAKAN ANTAR LANTAI</a:t>
            </a:r>
          </a:p>
          <a:p>
            <a:pPr algn="l">
              <a:lnSpc>
                <a:spcPts val="3900"/>
              </a:lnSpc>
              <a:spcAft>
                <a:spcPts val="2800"/>
              </a:spcAft>
              <a:defRPr sz="3000" b="1" i="0">
                <a:solidFill>
                  <a:srgbClr val="A0BEDA"/>
                </a:solidFill>
                <a:latin typeface="Montserrat"/>
              </a:defRPr>
            </a:pPr>
            <a:r>
              <a:t>PADA LINGKUNGAN INDOOR PASCA GEMPA BUMI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3200400"/>
            <a:ext cx="3291840" cy="3175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6400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529"/>
              </a:lnSpc>
              <a:spcAft>
                <a:spcPts val="400"/>
              </a:spcAft>
              <a:defRPr sz="2200" b="1" i="0">
                <a:solidFill>
                  <a:srgbClr val="FFFFFF"/>
                </a:solidFill>
                <a:latin typeface="Montserrat"/>
              </a:defRPr>
            </a:pPr>
            <a:r>
              <a:t>Bagas Surya Wirawan</a:t>
            </a:r>
          </a:p>
          <a:p>
            <a:pPr algn="l">
              <a:lnSpc>
                <a:spcPts val="1600"/>
              </a:lnSpc>
              <a:spcAft>
                <a:spcPts val="400"/>
              </a:spcAft>
              <a:defRPr sz="1600" b="0" i="0">
                <a:solidFill>
                  <a:srgbClr val="BBD5EC"/>
                </a:solidFill>
                <a:latin typeface="Lato"/>
              </a:defRPr>
            </a:pPr>
            <a:r>
              <a:t>NRP. 5022221026</a:t>
            </a:r>
          </a:p>
          <a:p>
            <a:pPr algn="l">
              <a:lnSpc>
                <a:spcPts val="800"/>
              </a:lnSpc>
              <a:spcAft>
                <a:spcPts val="400"/>
              </a:spcAft>
              <a:defRPr sz="800" b="0" i="0">
                <a:solidFill>
                  <a:srgbClr val="FFFFFF"/>
                </a:solidFill>
                <a:latin typeface="Lato"/>
              </a:defRPr>
            </a:pPr>
          </a:p>
          <a:p>
            <a:pPr algn="l">
              <a:lnSpc>
                <a:spcPts val="1470"/>
              </a:lnSpc>
              <a:spcAft>
                <a:spcPts val="400"/>
              </a:spcAft>
              <a:defRPr sz="1400" b="1" i="0">
                <a:solidFill>
                  <a:srgbClr val="CCCCCC"/>
                </a:solidFill>
                <a:latin typeface="Lato"/>
              </a:defRPr>
            </a:pPr>
            <a:r>
              <a:t>Dosen Pembimbing:</a:t>
            </a:r>
          </a:p>
          <a:p>
            <a:pPr algn="l">
              <a:lnSpc>
                <a:spcPts val="1330"/>
              </a:lnSpc>
              <a:spcAft>
                <a:spcPts val="400"/>
              </a:spcAft>
              <a:defRPr sz="1400" b="0" i="0">
                <a:solidFill>
                  <a:srgbClr val="BBD5EC"/>
                </a:solidFill>
                <a:latin typeface="Lato"/>
              </a:defRPr>
            </a:pPr>
            <a:r>
              <a:t>Dr. Ir. Djoko Purwanto, M.Eng.</a:t>
            </a:r>
          </a:p>
          <a:p>
            <a:pPr algn="l">
              <a:lnSpc>
                <a:spcPts val="1330"/>
              </a:lnSpc>
              <a:spcAft>
                <a:spcPts val="400"/>
              </a:spcAft>
              <a:defRPr sz="1400" b="0" i="0">
                <a:solidFill>
                  <a:srgbClr val="BBD5EC"/>
                </a:solidFill>
                <a:latin typeface="Lato"/>
              </a:defRPr>
            </a:pPr>
            <a:r>
              <a:t>Fajar Budiman, S.T., M.Sc.</a:t>
            </a:r>
          </a:p>
          <a:p>
            <a:pPr algn="l">
              <a:lnSpc>
                <a:spcPts val="800"/>
              </a:lnSpc>
              <a:spcAft>
                <a:spcPts val="400"/>
              </a:spcAft>
              <a:defRPr sz="800" b="0" i="0">
                <a:solidFill>
                  <a:srgbClr val="FFFFFF"/>
                </a:solidFill>
                <a:latin typeface="Lato"/>
              </a:defRPr>
            </a:pPr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9BBBDB"/>
                </a:solidFill>
                <a:latin typeface="Lato"/>
              </a:defRPr>
            </a:pPr>
            <a:r>
              <a:t>Departemen Teknik Elektro</a:t>
            </a:r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9BBBDB"/>
                </a:solidFill>
                <a:latin typeface="Lato"/>
              </a:defRPr>
            </a:pPr>
            <a:r>
              <a:t>Fakultas Teknologi Elektro dan Informatika Cerdas</a:t>
            </a:r>
          </a:p>
          <a:p>
            <a:pPr algn="l">
              <a:lnSpc>
                <a:spcPts val="1139"/>
              </a:lnSpc>
              <a:spcAft>
                <a:spcPts val="400"/>
              </a:spcAft>
              <a:defRPr sz="1200" b="0" i="0">
                <a:solidFill>
                  <a:srgbClr val="85A8CA"/>
                </a:solidFill>
                <a:latin typeface="Lato"/>
              </a:defRPr>
            </a:pPr>
            <a:r>
              <a:t>Institut Teknologi Sepuluh Nopember  ·  Surabaya  ·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2286000" cy="19050"/>
          </a:xfrm>
          <a:prstGeom prst="rect">
            <a:avLst/>
          </a:prstGeom>
          <a:solidFill>
            <a:srgbClr val="144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6576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DAFTAR 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868680"/>
            <a:ext cx="164592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234440"/>
            <a:ext cx="347472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1325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Latar Belakang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673352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Konteks gempa bumi di Indonesia dan urgensi robot SAR otonom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2267712"/>
            <a:ext cx="347472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359152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35915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Rumusan Masalah &amp; Tujuan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706624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Pertanyaan penelitian, batasan, dan tujuan yang ingin dicapai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234440"/>
            <a:ext cx="347472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25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Metodologi &amp; Desain Sistem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673352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Arsitektur navigasi: costmap, ICP, A*, dan DWA planner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2267712"/>
            <a:ext cx="347472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359152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35915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Hasil Pengujian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706624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Evaluasi ICP, costmap, dan navigasi penuh pada arena simulasi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1234440"/>
            <a:ext cx="3474720" cy="868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1325880"/>
            <a:ext cx="640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4A90D9"/>
                </a:solidFill>
                <a:latin typeface="Montserrat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3258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Kesimpulan &amp; Saran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1673352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Temuan utama dan arah pengembangan selanjutnya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" y="105156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1005840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INDONESIA RAWAN GEMPA BUMI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252728"/>
            <a:ext cx="571500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Terletak di pertemuan 4 lempeng tektonik (Pasifik, Eurasia, Indo-Australia, Laut Filipina). Rata-rata 18 gempa per hari (BMKG, 2020).</a:t>
            </a:r>
          </a:p>
        </p:txBody>
      </p:sp>
      <p:sp>
        <p:nvSpPr>
          <p:cNvPr id="7" name="Oval 6"/>
          <p:cNvSpPr/>
          <p:nvPr/>
        </p:nvSpPr>
        <p:spPr>
          <a:xfrm>
            <a:off x="850392" y="2039112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993392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OPERASI SAR BERISIKO TINGGI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40280"/>
            <a:ext cx="571500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Petugas SAR menghadapi ancaman keselamatan di area terdampak. Bangunan rusak, atap hampir roboh, struktur tidak stabil. Robot darat pernah digunakan pasca gempa Jepang untuk inspeksi bangunan (Lin et al., 2022).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3026664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980944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ROBOT OTONOM MEMBANTU MISI 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227832"/>
            <a:ext cx="571500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Robot UAV memberi gambaran medan dari udara. Robot darat (track/quadruped/hexapod) mengangkut barang berat dan inspeksi area berbahaya. Robot otonom krusial saat infrastruktur komunikasi rusak.</a:t>
            </a:r>
          </a:p>
        </p:txBody>
      </p:sp>
      <p:sp>
        <p:nvSpPr>
          <p:cNvPr id="13" name="Oval 12"/>
          <p:cNvSpPr/>
          <p:nvPr/>
        </p:nvSpPr>
        <p:spPr>
          <a:xfrm>
            <a:off x="850392" y="4014216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968496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TANTANGAN: NAVIGASI INDOOR PASCA GEMPA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4215384"/>
            <a:ext cx="571500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Lingkungan tidak terstruktur: puing, lantai tidak rata, tangga. Costmap 2D konvensional terbatas pada satu bidang datar. Robot perlu bernavigasi ANTAR LANTAI.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500176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956048"/>
            <a:ext cx="571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SOLUSI: LAYERED COSTMAP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202936"/>
            <a:ext cx="5715000" cy="6675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Menyederhanakan informasi 3D → beberapa bidang costmap 2D. Setiap layer mewakili satu lantai/region. Layer transisi menghubungkan antar lantai. Robot berpindah layer sesuai posisi di bangunan.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005840"/>
            <a:ext cx="438912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05156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B4C"/>
                </a:solidFill>
                <a:latin typeface="Montserrat"/>
              </a:defRPr>
            </a:pPr>
            <a:r>
              <a:t>Kondisi Geografis Indonesia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325880"/>
            <a:ext cx="4023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 i="0">
                <a:solidFill>
                  <a:srgbClr val="333333"/>
                </a:solidFill>
                <a:latin typeface="Lato"/>
              </a:defRPr>
            </a:pPr>
            <a:r>
              <a:t>4 Lempeng Tektonik Aktif</a:t>
            </a:r>
          </a:p>
          <a:p>
            <a:pPr algn="l">
              <a:lnSpc>
                <a:spcPts val="1264"/>
              </a:lnSpc>
              <a:spcAft>
                <a:spcPts val="40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Pasifik · Eurasia · Indo-Australia · Laut Filipina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± 18 gempa / hari (BMKG 2020)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560320"/>
            <a:ext cx="438912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260604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A2B4C"/>
                </a:solidFill>
                <a:latin typeface="Montserrat"/>
              </a:defRPr>
            </a:pPr>
            <a:r>
              <a:t>Pasca Gempa Bumi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80360"/>
            <a:ext cx="4023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 i="0">
                <a:solidFill>
                  <a:srgbClr val="333333"/>
                </a:solidFill>
                <a:latin typeface="Lato"/>
              </a:defRPr>
            </a:pPr>
            <a:r>
              <a:t>Dampak pada Bangunan:</a:t>
            </a:r>
          </a:p>
          <a:p>
            <a:pPr algn="l">
              <a:lnSpc>
                <a:spcPts val="1264"/>
              </a:lnSpc>
              <a:spcAft>
                <a:spcPts val="40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Puing dan reruntuhan • Lantai tidak rata</a:t>
            </a:r>
          </a:p>
          <a:p>
            <a:pPr algn="l">
              <a:lnSpc>
                <a:spcPts val="1264"/>
              </a:lnSpc>
              <a:spcAft>
                <a:spcPts val="40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Tangga rusak • Struktur multi-lantai tidak stabil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Robot darat digunakan di Jepang untuk inspeksi (Lin 2022)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4114800"/>
            <a:ext cx="4389120" cy="1371600"/>
          </a:xfrm>
          <a:prstGeom prst="round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16052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08C2E"/>
                </a:solidFill>
                <a:latin typeface="Montserrat"/>
              </a:defRPr>
            </a:pPr>
            <a:r>
              <a:t>Solusi: Layered Costmap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434840"/>
            <a:ext cx="40233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80"/>
              </a:lnSpc>
              <a:spcAft>
                <a:spcPts val="400"/>
              </a:spcAft>
              <a:defRPr sz="1200" b="1" i="0">
                <a:solidFill>
                  <a:srgbClr val="333333"/>
                </a:solidFill>
                <a:latin typeface="Lato"/>
              </a:defRPr>
            </a:pPr>
            <a:r>
              <a:t>3D → 2D Multi-Layer</a:t>
            </a:r>
          </a:p>
          <a:p>
            <a:pPr algn="l">
              <a:lnSpc>
                <a:spcPts val="1264"/>
              </a:lnSpc>
              <a:spcAft>
                <a:spcPts val="40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Setiap layer = 1 lantai/region pada bangunan</a:t>
            </a:r>
          </a:p>
          <a:p>
            <a:pPr algn="l">
              <a:lnSpc>
                <a:spcPts val="1264"/>
              </a:lnSpc>
              <a:spcAft>
                <a:spcPts val="40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Layer transisi = penghubung antar lantai</a:t>
            </a:r>
          </a:p>
          <a:p>
            <a:pPr algn="l">
              <a:lnSpc>
                <a:spcPts val="1430"/>
              </a:lnSpc>
              <a:spcAft>
                <a:spcPts val="40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Robot berpindah layer sesuai posisi di bangunan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" y="5989320"/>
            <a:ext cx="10515600" cy="411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392" y="5989320"/>
            <a:ext cx="50800" cy="41148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98932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333333"/>
                </a:solidFill>
                <a:latin typeface="Lato"/>
              </a:defRPr>
            </a:pPr>
            <a:r>
              <a:t>Pendekatan ini menyederhanakan kompleksitas 3D menjadi representasi 2D yang manageable, memungkinkan penggunaan sensor LiDAR 2D.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RUMUSAN MASALAH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10515600" cy="91440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6350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143000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4A90D9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124712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REPRESENTASI LINGKUNGAN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1435608"/>
            <a:ext cx="9509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Bagaimana merepresentasikan informasi lingkungan multi-lantai menggunakan layered costmap agar dapat digunakan pada algoritma navigasi antar lantai?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130552"/>
            <a:ext cx="10515600" cy="91440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130552"/>
            <a:ext cx="6350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221992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4A90D9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203704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ALGORITMA NAVIGASI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2514600"/>
            <a:ext cx="9509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Bagaimana merancang algoritma lokalisasi, path planning, dan path tracking yang bekerja pada sistem navigasi berbasis layered costmap?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209544"/>
            <a:ext cx="10515600" cy="914400"/>
          </a:xfrm>
          <a:prstGeom prst="roundRect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3209544"/>
            <a:ext cx="6350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300984"/>
            <a:ext cx="548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4A90D9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282696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VALIDASI 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93592"/>
            <a:ext cx="9509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Apakah robot darat otonom dapat melakukan navigasi hingga mencapai tujuan pada arena uji menggunakan metode navigasi antar lantai yang dikembangkan?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160520"/>
            <a:ext cx="10515600" cy="2103120"/>
          </a:xfrm>
          <a:prstGeom prst="round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251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08C2E"/>
                </a:solidFill>
                <a:latin typeface="Montserrat"/>
              </a:defRPr>
            </a:pPr>
            <a:r>
              <a:t>BATASAN PENELITIAN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1170432" y="4773168"/>
            <a:ext cx="182880" cy="164592"/>
          </a:xfrm>
          <a:prstGeom prst="triangle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0472" y="4663440"/>
            <a:ext cx="9418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Pengujian dilakukan pada SIMULASI (Mujoco) — bukan kondisi pasca gempa</a:t>
            </a:r>
            <a:br/>
            <a:r>
              <a:t>sebenarnya, melainkan rekayasa arena uji (rintangan tidak diketahui,</a:t>
            </a:r>
            <a:br/>
            <a:r>
              <a:t>tanjakan, permukaan tidak rata)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1170432" y="5276088"/>
            <a:ext cx="182880" cy="164592"/>
          </a:xfrm>
          <a:prstGeom prst="triangle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5166360"/>
            <a:ext cx="9418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Robot yang digunakan: HEXAPOD (6 kaki), navigasi otonom dari titik</a:t>
            </a:r>
            <a:br/>
            <a:r>
              <a:t>awal ke tujuan yang telah ditentukan</a:t>
            </a:r>
          </a:p>
        </p:txBody>
      </p:sp>
      <p:sp>
        <p:nvSpPr>
          <p:cNvPr id="25" name="Isosceles Triangle 24"/>
          <p:cNvSpPr/>
          <p:nvPr/>
        </p:nvSpPr>
        <p:spPr>
          <a:xfrm>
            <a:off x="1170432" y="5779008"/>
            <a:ext cx="182880" cy="164592"/>
          </a:xfrm>
          <a:prstGeom prst="triangle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5669280"/>
            <a:ext cx="9418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Algoritma navigasi bekerja pada kondisi rintangan statis yang SUDAH</a:t>
            </a:r>
            <a:br/>
            <a:r>
              <a:t>DIKETAHUI (known map)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4572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TUJUAN &amp; MANFAAT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Tujuan Penelitian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1481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463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Representasi Multi-Lantai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719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Mengembangkan metode representasi lingkungan menggunakan layered costmap untuk menyederhanakan informasi lingkungan multi-lantai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24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606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Algoritma Navigasi Antar Lantai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862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Merancang dan mengimplementasikan algoritma lokalisasi, path planning, dan path tracking yang menggunakan layered costmap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3767328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74904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Evaluasi di Simulasi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4005072"/>
            <a:ext cx="480060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Melakukan pengujian sistem di lingkungan simulasi untuk mengevaluasi efektivitas dan keterbatasan pendekatan yang diusulkan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05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Manfaat Penelitian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146304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44475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040880" y="169164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Kontribusi pada sistem navigasi robot otonom di lingkungan kompleks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33172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1343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040880" y="2560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Dasar awal navigasi robot di area bertingkat atau runtuh pasca gempa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200400"/>
            <a:ext cx="411480" cy="4114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8211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A2B4C"/>
                </a:solidFill>
                <a:latin typeface="Montserrat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7040880" y="3429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Fondasi penelitian lanjutan untuk robot SAR otonom di area bencana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TINJAUAN PUSTAKA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01168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512064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51206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1887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Layered Costmap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5544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Grid 2D bertingkat (0–255). Layers: static map, obstacle, inflation. Setiap layer menyimpan informasi lingkungan spesifik. (macenski 2023)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51560"/>
            <a:ext cx="512064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5352" y="105156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1887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ICP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5544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Scan matching berbasis point cloud. Iterative minimization MSD antara data sensor dan fixed map. Prekomputasi KNN untuk lookup O(1).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108960"/>
            <a:ext cx="512064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" y="3108960"/>
            <a:ext cx="5120640" cy="5080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246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A* Path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6118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BFS dengan fungsi heuristik f(n)=g(n)+h(n). Open/closed list. Kualitas path bergantung pada kualitas fungsi heuristik.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108960"/>
            <a:ext cx="512064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108960"/>
            <a:ext cx="5120640" cy="508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2461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A2B4C"/>
                </a:solidFill>
                <a:latin typeface="Montserrat"/>
              </a:defRPr>
            </a:pPr>
            <a:r>
              <a:t>DWA Local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611880"/>
            <a:ext cx="47548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Dynamic Window Approach. Sampling velocity → simulasi kinematik → scoring trajectory → pilih terbaik. Mampu menghindari obstacle tidak diketahui.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0749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State of the Art — Navigasi Antar Lantai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3949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Hu 2022: Adaptive slope navigation dengan multi-layer costmap · Kim 2024: Indoor delivery robot multi-floor dengan integrated nav map · Palacin 2023: Inter-floor navigation menggunakan elevator + ICP · Jung 2024: A* dengan realistic cost functions (elevator vs stairs)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GAMBARAN UMUM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56032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37160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37160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188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Sensor</a:t>
            </a:r>
            <a:br/>
            <a:r>
              <a:t>(LiDAR)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37160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13716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1188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Lokalisasi</a:t>
            </a:r>
            <a:br/>
            <a:r>
              <a:t>(ICP + Region</a:t>
            </a:r>
            <a:br/>
            <a:r>
              <a:t>Switcher)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137160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828800"/>
            <a:ext cx="13716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011680"/>
            <a:ext cx="1188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Costmap</a:t>
            </a:r>
            <a:br/>
            <a:r>
              <a:t>(Global / Local /</a:t>
            </a:r>
            <a:br/>
            <a:r>
              <a:t>Transition)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137160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828800"/>
            <a:ext cx="137160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011680"/>
            <a:ext cx="1188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Global Planner</a:t>
            </a:r>
            <a:br/>
            <a:r>
              <a:t>(A* + Path</a:t>
            </a:r>
            <a:br/>
            <a:r>
              <a:t>Interceptor)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828800"/>
            <a:ext cx="1371600" cy="14630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1828800"/>
            <a:ext cx="137160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011680"/>
            <a:ext cx="1188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A2B4C"/>
                </a:solidFill>
                <a:latin typeface="Montserrat"/>
              </a:defRPr>
            </a:pPr>
            <a:r>
              <a:t>Local Planner</a:t>
            </a:r>
            <a:br/>
            <a:r>
              <a:t>(DWA +</a:t>
            </a:r>
            <a:br/>
            <a:r>
              <a:t>Trajectory)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331720" y="2331720"/>
            <a:ext cx="502920" cy="27432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617720" y="2331720"/>
            <a:ext cx="502920" cy="27432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040880" y="2331720"/>
            <a:ext cx="502920" cy="27432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464040" y="2331720"/>
            <a:ext cx="502920" cy="27432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0792" y="365760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555555"/>
                </a:solidFill>
                <a:latin typeface="Lato"/>
              </a:defRPr>
            </a:pPr>
            <a:r>
              <a:t>← Feedback loop: odometry + sensor data → perbarui costmap lokal 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1920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Montserrat"/>
              </a:defRPr>
            </a:pPr>
            <a:r>
              <a:t>Occupancy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1920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Menyimpan peta lingkungan</a:t>
            </a:r>
            <a:br/>
            <a:r>
              <a:t>(static known map)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206240"/>
            <a:ext cx="1920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Montserrat"/>
              </a:defRPr>
            </a:pPr>
            <a:r>
              <a:t>Lokalisasi ICP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4434840"/>
            <a:ext cx="1920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Estimasi pose robot</a:t>
            </a:r>
            <a:br/>
            <a:r>
              <a:t>via scan 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206240"/>
            <a:ext cx="1920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Montserrat"/>
              </a:defRPr>
            </a:pPr>
            <a:r>
              <a:t>Costmap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434840"/>
            <a:ext cx="1920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Layer bertingkat: static,</a:t>
            </a:r>
            <a:br/>
            <a:r>
              <a:t>inflation, transition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206240"/>
            <a:ext cx="1920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Montserrat"/>
              </a:defRPr>
            </a:pPr>
            <a:r>
              <a:t>Path Planning (A*)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434840"/>
            <a:ext cx="1920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Rencana rute global</a:t>
            </a:r>
            <a:br/>
            <a:r>
              <a:t>multi-region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206240"/>
            <a:ext cx="1920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Montserrat"/>
              </a:defRPr>
            </a:pPr>
            <a:r>
              <a:t>Path Tracking (DWA)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434840"/>
            <a:ext cx="19202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Eksekusi trajectory</a:t>
            </a:r>
            <a:br/>
            <a:r>
              <a:t>dan obstacle avoidance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02920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33333"/>
                </a:solidFill>
                <a:latin typeface="Lato"/>
              </a:defRPr>
            </a:pPr>
            <a:r>
              <a:t>Alur Navigasi: Scan → Localize → Build Costmap → Plan Path → Execute Trajectory →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PENGOLAHAN DATA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8288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05840"/>
            <a:ext cx="329184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0515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Lingkungan 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37160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Lingkungan indoor bertingkat</a:t>
            </a:r>
            <a:br/>
            <a:r>
              <a:t>• Bangunan dengan beberapa lantai</a:t>
            </a:r>
            <a:br/>
            <a:r>
              <a:t>• Puing dan rintangan</a:t>
            </a:r>
            <a:br/>
            <a:r>
              <a:t>• Tangga / ramp penghubung</a:t>
            </a:r>
            <a:br/>
            <a:r>
              <a:t>• Data 3D occupancy grid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60520" y="1554480"/>
            <a:ext cx="237744" cy="201168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6552" y="1005840"/>
            <a:ext cx="329184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0515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Pembagian 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37160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Lingkungan 3D dibagi menjadi</a:t>
            </a:r>
            <a:br/>
            <a:r>
              <a:t>region 2D:</a:t>
            </a:r>
            <a:br/>
            <a:r>
              <a:t>• Region A — lorong &amp; ramp</a:t>
            </a:r>
            <a:br/>
            <a:r>
              <a:t>• Region B — lorong sempit</a:t>
            </a:r>
            <a:br/>
            <a:r>
              <a:t>• Region C — area terbuka</a:t>
            </a:r>
            <a:br/>
            <a:br/>
            <a:r>
              <a:t>ROI detection pada tiap</a:t>
            </a:r>
            <a:br/>
            <a:r>
              <a:t>peta pisah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26680" y="1554480"/>
            <a:ext cx="237744" cy="201168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82712" y="1005840"/>
            <a:ext cx="374904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0515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Combined &amp; Transition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1371600"/>
            <a:ext cx="3474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Combined Map:</a:t>
            </a:r>
            <a:br/>
            <a:r>
              <a:t>• Gabungan region A, B, C</a:t>
            </a:r>
            <a:br/>
            <a:r>
              <a:t>• Satu frame referensi</a:t>
            </a:r>
            <a:br/>
            <a:br/>
            <a:r>
              <a:t>Transition Map:</a:t>
            </a:r>
            <a:br/>
            <a:r>
              <a:t>• Koneksi spasial antar region</a:t>
            </a:r>
            <a:br/>
            <a:r>
              <a:t>• Koordinat konektor &amp; orientasi</a:t>
            </a:r>
            <a:br/>
            <a:r>
              <a:t>• Posisi awal robot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926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B4C"/>
                </a:solidFill>
                <a:latin typeface="Montserrat"/>
              </a:defRPr>
            </a:pPr>
            <a:r>
              <a:t>Detail Combined &amp; Transition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3291840"/>
            <a:ext cx="512064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33375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3A70"/>
                </a:solidFill>
                <a:latin typeface="Montserrat"/>
              </a:defRPr>
            </a:pPr>
            <a:r>
              <a:t>Combined Map — ROI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61188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ROI = {(x,y) : I(x,y) &lt; T}</a:t>
            </a:r>
            <a:br/>
            <a:r>
              <a:t>Di mana I(x,y) = intensitas piksel, T = threshold.</a:t>
            </a:r>
            <a:br/>
            <a:r>
              <a:t>Peta gabungan tersusun dari beberapa bagian,</a:t>
            </a:r>
            <a:br/>
            <a:r>
              <a:t>setiap bagian ditempati oleh satu region.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291840"/>
            <a:ext cx="512064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3375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08C2E"/>
                </a:solidFill>
                <a:latin typeface="Montserrat"/>
              </a:defRPr>
            </a:pPr>
            <a:r>
              <a:t>Transition Map —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611880"/>
            <a:ext cx="47548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Connection pairs: A↔B, B↔C</a:t>
            </a:r>
            <a:br/>
            <a:r>
              <a:t>Orientasi tiap region (quaternion)</a:t>
            </a:r>
            <a:br/>
            <a:r>
              <a:t>Posisi awal robot (375, 75) pixel</a:t>
            </a:r>
            <a:br/>
            <a:r>
              <a:t>Zona transisi: area di ujung region tempat</a:t>
            </a:r>
            <a:br/>
            <a:r>
              <a:t>robot berpindah ke region berikutnya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STRUKTUR LAYERED COSTMAP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05840"/>
            <a:ext cx="530352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05840"/>
            <a:ext cx="63500" cy="96012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07899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GLOBAL COSTMAP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35331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Static layer (obstacle tetap) + Inflation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107899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Cost Scaling Factor (CSF) mempengaruhi</a:t>
            </a:r>
            <a:br/>
            <a:r>
              <a:t>gradient biaya di sekitar obstacle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103120"/>
            <a:ext cx="530352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103120"/>
            <a:ext cx="63500" cy="9601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4A90D9"/>
                </a:solidFill>
                <a:latin typeface="Montserrat"/>
              </a:defRPr>
            </a:pPr>
            <a:r>
              <a:t>LOCAL COSTMAP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45059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Obstacle layer (LiDAR real-time) + Inflation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17627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Diperbarui secara dinamis dari</a:t>
            </a:r>
            <a:br/>
            <a:r>
              <a:t>data scan LiDAR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200400"/>
            <a:ext cx="5303520" cy="9601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3200400"/>
            <a:ext cx="63500" cy="96012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273552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08C2E"/>
                </a:solidFill>
                <a:latin typeface="Montserrat"/>
              </a:defRPr>
            </a:pPr>
            <a:r>
              <a:t>TRANSITION COSTMAP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547872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Menyimpan informasi koneksi antar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273552"/>
            <a:ext cx="1645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Memungkinkan robot berpindah</a:t>
            </a:r>
            <a:br/>
            <a:r>
              <a:t>region secara mulus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005840"/>
            <a:ext cx="5029200" cy="1188720"/>
          </a:xfrm>
          <a:prstGeom prst="round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05156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08C2E"/>
                </a:solidFill>
                <a:latin typeface="Montserrat"/>
              </a:defRPr>
            </a:pPr>
            <a:r>
              <a:t>Fungsi Inflasi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32588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C(d) = 253 · e^(-α · (d − r_inscribed))   untuk d ≤ R</a:t>
            </a:r>
            <a:br/>
            <a:r>
              <a:t>C(d) = 0                                            untuk d &gt; R</a:t>
            </a:r>
            <a:br/>
            <a:br/>
            <a:r>
              <a:t>Di mana d = jarak dari obstacle, R = radius inflasi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423160"/>
            <a:ext cx="502920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4688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Nilai Sel Costmap (Occupancy Grid)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FREE_SPACE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8892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bebas, dapat dilalui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044952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TRANSITION_CELL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44952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1–5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044952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Zona transisi antar region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300984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INFLATED_OBSTACLE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00984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6–252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300984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inflasi di sekitar obstacle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557016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LETHAL_OBSTACLE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557016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254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557016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Obstacle tidak dapat dilalui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813048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Lato"/>
              </a:defRPr>
            </a:pPr>
            <a:r>
              <a:t>NO_INFORMATION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813048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255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3813048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Area belum diketahui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LOKALISASI ICP &amp; REGION SWITCHER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t>ICP (Iterative Closest Point)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1417320"/>
            <a:ext cx="18288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Prekomputasi KNN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Hash table, lookup O(1)</a:t>
            </a:r>
            <a:br/>
            <a:r>
              <a:t>k=8, r=10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8833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6352" y="1417320"/>
            <a:ext cx="18288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6207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Correspondence</a:t>
            </a:r>
            <a:br/>
            <a:r>
              <a:t>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Pasangkan titik</a:t>
            </a:r>
            <a:br/>
            <a:r>
              <a:t>scan → map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5429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2312" y="1417320"/>
            <a:ext cx="18288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2803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SVD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Estimasi rotasi &amp;</a:t>
            </a:r>
            <a:br/>
            <a:r>
              <a:t>translasi optimal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20256" y="1920240"/>
            <a:ext cx="118872" cy="13716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48272" y="1417320"/>
            <a:ext cx="18288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93992" y="1463040"/>
            <a:ext cx="320040" cy="320040"/>
          </a:xfrm>
          <a:prstGeom prst="ellipse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1463040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Transformasi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1920240"/>
            <a:ext cx="15544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Perbarui pose robot</a:t>
            </a:r>
            <a:br/>
            <a:r>
              <a:t>(R, 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2880360"/>
            <a:ext cx="10515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555555"/>
                </a:solidFill>
                <a:latin typeface="Lato"/>
              </a:defRPr>
            </a:pPr>
            <a:r>
              <a:t>Parameter: max_iter=50, k=8, r=10, t_norm=0.01m, r_norm=0.01rad, s=2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2918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08C2E"/>
                </a:solidFill>
                <a:latin typeface="Montserrat"/>
              </a:defRPr>
            </a:pPr>
            <a:r>
              <a:t>Region Switcher &amp; Zona Transisi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07592" y="3749039"/>
            <a:ext cx="2560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9903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903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82312" y="3749039"/>
            <a:ext cx="2560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57032" y="3749039"/>
            <a:ext cx="2560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3840479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3A70"/>
                </a:solidFill>
                <a:latin typeface="Montserrat"/>
              </a:defRPr>
            </a:pPr>
            <a:r>
              <a:t>Region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416051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Peta 2D region</a:t>
            </a:r>
            <a:br/>
            <a:r>
              <a:t>Navigasi di dalam region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050792" y="4114799"/>
            <a:ext cx="502920" cy="22860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59352" y="4389119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08C2E"/>
                </a:solidFill>
                <a:latin typeface="Lato"/>
              </a:defRPr>
            </a:pPr>
            <a:r>
              <a:t>Transisi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525512" y="4114799"/>
            <a:ext cx="502920" cy="22860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4072" y="4389119"/>
            <a:ext cx="685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08C2E"/>
                </a:solidFill>
                <a:latin typeface="Lato"/>
              </a:defRPr>
            </a:pPr>
            <a:r>
              <a:t>Transisi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" y="5029200"/>
            <a:ext cx="10515600" cy="5486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" y="5029200"/>
            <a:ext cx="50800" cy="5486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5047488"/>
            <a:ext cx="10241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Zona transisi memerlukan radius minimal 0.26 m agar robot dapat berpindah region dengan aman sebelum kualitas lokalisasi ICP menurun signifikan.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PATH PLANNING — A* GLOBAL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Algoritma 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371600"/>
            <a:ext cx="4572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• f(n) = g(n) + h(n)</a:t>
            </a:r>
            <a:br/>
            <a:r>
              <a:t>    g(n) = biaya dari start ke node n</a:t>
            </a:r>
            <a:br/>
            <a:r>
              <a:t>    h(n) = estimasi heuristik dari n ke goal</a:t>
            </a:r>
            <a:br/>
            <a:br/>
            <a:r>
              <a:t>• Quadratic potential calculation untuk</a:t>
            </a:r>
            <a:br/>
            <a:r>
              <a:t>  menghitung cost gradient pada grid</a:t>
            </a:r>
            <a:br/>
            <a:br/>
            <a:r>
              <a:t>• Open list / Closed list untuk eksplorasi</a:t>
            </a:r>
            <a:br/>
            <a:r>
              <a:t>  node secara optimal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3291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08C2E"/>
                </a:solidFill>
                <a:latin typeface="Montserrat"/>
              </a:defRPr>
            </a:pPr>
            <a:r>
              <a:t>Path Interceptor (Multi-Region)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611880"/>
            <a:ext cx="4572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Memecah path multi-region menjadi segmen per region:</a:t>
            </a:r>
            <a:br/>
            <a:br/>
            <a:r>
              <a:t>Region A  →  Titik Transisi A-B  →  Region B  →</a:t>
            </a:r>
            <a:br/>
            <a:r>
              <a:t>Titik Transisi B-C  →  Region C  → 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Cost Scaling Factor (CSF)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029200" cy="777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0800" cy="77724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3A70"/>
                </a:solidFill>
                <a:latin typeface="Montserrat"/>
              </a:defRPr>
            </a:pPr>
            <a:r>
              <a:t>CSF =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2834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Path di tengah,</a:t>
            </a:r>
            <a:br/>
            <a:r>
              <a:t>konservatif, lebih</a:t>
            </a:r>
            <a:br/>
            <a:r>
              <a:t>aman tapi lebih</a:t>
            </a:r>
            <a:br/>
            <a:r>
              <a:t>panjang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5029200" cy="777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5080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4A90D9"/>
                </a:solidFill>
                <a:latin typeface="Montserrat"/>
              </a:defRPr>
            </a:pPr>
            <a:r>
              <a:t>CSF =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2834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Path transisi antara</a:t>
            </a:r>
            <a:br/>
            <a:r>
              <a:t>konservatif dan</a:t>
            </a:r>
            <a:br/>
            <a:r>
              <a:t>agresif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54680"/>
            <a:ext cx="5029200" cy="777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154680"/>
            <a:ext cx="50800" cy="77724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20040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08C2E"/>
                </a:solidFill>
                <a:latin typeface="Montserrat"/>
              </a:defRPr>
            </a:pPr>
            <a:r>
              <a:t>CSF =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28346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Path dekat obstacle,</a:t>
            </a:r>
            <a:br/>
            <a:r>
              <a:t>lebih pendek &amp;</a:t>
            </a:r>
            <a:br/>
            <a:r>
              <a:t>lurus (OPTIMAL)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60520"/>
            <a:ext cx="5029200" cy="6858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20624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CSF 100 menghasilkan path terpendek dengan</a:t>
            </a:r>
            <a:br/>
            <a:r>
              <a:t>clearance obstacle yang masih memadai.</a:t>
            </a:r>
            <a:br/>
            <a:r>
              <a:t>Region B (lorong sempit): CSF tidak signifikan berpengaruh.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PATH TRACKING — DWA LOCAL PLANNER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1920240" cy="1325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1. Velocity</a:t>
            </a:r>
            <a:br/>
            <a:r>
              <a:t>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6 vx × 6 vy × 30 ω</a:t>
            </a:r>
            <a:br/>
            <a:r>
              <a:t>= 1080 trajectory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08376" y="1051560"/>
            <a:ext cx="1920240" cy="1325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8376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2. Kinematic</a:t>
            </a:r>
            <a:br/>
            <a:r>
              <a:t>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Simulasi robot</a:t>
            </a:r>
            <a:br/>
            <a:r>
              <a:t>selama Δt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46904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60" y="1051560"/>
            <a:ext cx="1920240" cy="1325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60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3. Trajectory</a:t>
            </a:r>
            <a:br/>
            <a:r>
              <a:t>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7 kriteria</a:t>
            </a:r>
            <a:br/>
            <a:r>
              <a:t>penilaian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04888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24344" y="1051560"/>
            <a:ext cx="1920240" cy="1325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4344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4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4. Best</a:t>
            </a:r>
            <a:br/>
            <a:r>
              <a:t>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4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Pilih trajectory</a:t>
            </a:r>
            <a:br/>
            <a:r>
              <a:t>dengan biaya terendah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62872" y="1554480"/>
            <a:ext cx="201168" cy="182880"/>
          </a:xfrm>
          <a:prstGeom prst="rightArrow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82328" y="1051560"/>
            <a:ext cx="1920240" cy="13258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82328" y="1051560"/>
            <a:ext cx="19202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1143000"/>
            <a:ext cx="1737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A2B4C"/>
                </a:solidFill>
                <a:latin typeface="Montserrat"/>
              </a:defRPr>
            </a:pPr>
            <a:r>
              <a:t>5. Send to</a:t>
            </a:r>
            <a:br/>
            <a:r>
              <a:t>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164592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555555"/>
                </a:solidFill>
                <a:latin typeface="Lato"/>
              </a:defRPr>
            </a:pPr>
            <a:r>
              <a:t>Eksekusi gerakan</a:t>
            </a:r>
            <a:br/>
            <a:r>
              <a:t>pada hexapod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5603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A2B4C"/>
                </a:solidFill>
                <a:latin typeface="Montserrat"/>
              </a:defRPr>
            </a:pPr>
            <a:r>
              <a:t>7 Kriteria Scoring DWA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3A70"/>
                </a:solidFill>
                <a:latin typeface="Lato"/>
              </a:defRPr>
            </a:pPr>
            <a:r>
              <a:t>C_osc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Oscillation</a:t>
            </a:r>
            <a:br/>
            <a:r>
              <a:t>penalty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w_osc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0487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Obstacle</a:t>
            </a:r>
            <a:br/>
            <a:r>
              <a:t>distance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487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w_obs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6791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363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C_gf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Goal front</a:t>
            </a:r>
            <a:br/>
            <a:r>
              <a:t>alignment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363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w_gf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7667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2239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C_align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239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Path</a:t>
            </a:r>
            <a:br/>
            <a:r>
              <a:t>alignment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239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w_align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3115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C_path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Distance to</a:t>
            </a:r>
            <a:br/>
            <a:r>
              <a:t>global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3115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w_path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4A90D9"/>
                </a:solidFill>
                <a:latin typeface="Lato"/>
              </a:defRPr>
            </a:pPr>
            <a:r>
              <a:t>C_goal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Distance</a:t>
            </a:r>
            <a:br/>
            <a:r>
              <a:t>to goal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w_goal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02952" y="2971800"/>
            <a:ext cx="1417320" cy="10058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48672" y="3017520"/>
            <a:ext cx="1005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08C2E"/>
                </a:solidFill>
                <a:latin typeface="Lato"/>
              </a:defRPr>
            </a:pPr>
            <a:r>
              <a:t>C_twirl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3227832"/>
            <a:ext cx="1325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555555"/>
                </a:solidFill>
                <a:latin typeface="Lato"/>
              </a:defRPr>
            </a:pPr>
            <a:r>
              <a:t>Rotation</a:t>
            </a:r>
            <a:br/>
            <a:r>
              <a:t>penalty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3685032"/>
            <a:ext cx="1325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defRPr sz="700" b="0" i="0">
                <a:solidFill>
                  <a:srgbClr val="333333"/>
                </a:solidFill>
                <a:latin typeface="Lato"/>
              </a:defRPr>
            </a:pPr>
            <a:r>
              <a:t>w_twirl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160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Lato"/>
              </a:defRPr>
            </a:pPr>
            <a:r>
              <a:t>C_total = C_osc + Σ(wi · Ci)  →  Minimalkan total cost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0392" y="4709160"/>
            <a:ext cx="10515600" cy="5029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" y="4754880"/>
            <a:ext cx="10241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Mampu menghindari obstacle dinamis yang tidak ada di global path, tercermin dari peningkatan max cross track error pada kondisi gempa.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5486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1A2B4C"/>
                </a:solidFill>
                <a:latin typeface="Montserrat"/>
              </a:defRPr>
            </a:pPr>
            <a:r>
              <a:t>ARENA PENGUJIAN &amp; SKENARIO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97280"/>
            <a:ext cx="502920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97280"/>
            <a:ext cx="502920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18872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3A70"/>
                </a:solidFill>
                <a:latin typeface="Montserrat"/>
              </a:defRPr>
            </a:pPr>
            <a:r>
              <a:t>Region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600200"/>
            <a:ext cx="46634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Lorong dengan ramp.</a:t>
            </a:r>
            <a:br/>
            <a:r>
              <a:t>Area awal navigasi.</a:t>
            </a:r>
            <a:br/>
            <a:r>
              <a:t>Rintangan statis.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097280"/>
            <a:ext cx="502920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97280"/>
            <a:ext cx="50292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18872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4A90D9"/>
                </a:solidFill>
                <a:latin typeface="Montserrat"/>
              </a:defRPr>
            </a:pPr>
            <a:r>
              <a:t>Region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6634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Lorong sempit.</a:t>
            </a:r>
            <a:br/>
            <a:r>
              <a:t>Penghubung A dan C.</a:t>
            </a:r>
            <a:br/>
            <a:r>
              <a:t>Layout terbatas.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3154680"/>
            <a:ext cx="502920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" y="3154680"/>
            <a:ext cx="5029200" cy="508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24612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08C2E"/>
                </a:solidFill>
                <a:latin typeface="Montserrat"/>
              </a:defRPr>
            </a:pPr>
            <a:r>
              <a:t>Region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657600"/>
            <a:ext cx="46634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Area terbuka.</a:t>
            </a:r>
            <a:br/>
            <a:r>
              <a:t>Banyak obstacle.</a:t>
            </a:r>
            <a:br/>
            <a:r>
              <a:t>Trajectory kompleks.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154680"/>
            <a:ext cx="5029200" cy="18288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154680"/>
            <a:ext cx="5029200" cy="50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246120"/>
            <a:ext cx="4663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C3333"/>
                </a:solidFill>
                <a:latin typeface="Montserrat"/>
              </a:defRPr>
            </a:pPr>
            <a:r>
              <a:t>Rough Floor</a:t>
            </a:r>
            <a:br/>
            <a:r>
              <a:t>(Pasca Gempa)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657600"/>
            <a:ext cx="46634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Permukaan tidak rata.</a:t>
            </a:r>
            <a:br/>
            <a:r>
              <a:t>Obstacle tidak</a:t>
            </a:r>
            <a:br/>
            <a:r>
              <a:t>diketahui.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1206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555555"/>
                </a:solidFill>
                <a:latin typeface="Lato"/>
              </a:defRPr>
            </a:pPr>
            <a:r>
              <a:t>Platform: Mujoco Simulator  ·  Robot: Hexapod (6 kaki)  ·  Sensor: LiDAR 2D  ·  Peta: Known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2B4C"/>
                </a:solidFill>
                <a:latin typeface="Montserrat"/>
              </a:defRPr>
            </a:pPr>
            <a:r>
              <a:t>HASIL PENGUJIAN: ICP &amp; COSTMAP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t>Hasil ICP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1371600"/>
            <a:ext cx="502920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1371600"/>
            <a:ext cx="5080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E7D32"/>
                </a:solidFill>
                <a:latin typeface="Montserrat"/>
              </a:defRPr>
            </a:pPr>
            <a:r>
              <a:t>Region A (Rata)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627632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Error rendah &amp; stabil. Lonjakan</a:t>
            </a:r>
            <a:br/>
            <a:r>
              <a:t>error di t ≈ 50 detik (zona transisi)</a:t>
            </a:r>
            <a:br/>
            <a:r>
              <a:t>karena fitur LiDAR terbatas.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267712"/>
            <a:ext cx="502920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267712"/>
            <a:ext cx="50800" cy="8229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13432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57F17"/>
                </a:solidFill>
                <a:latin typeface="Montserrat"/>
              </a:defRPr>
            </a:pPr>
            <a:r>
              <a:t>Region A (Rough)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23744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Osilasi signifikan pada sumbu x</a:t>
            </a:r>
            <a:br/>
            <a:r>
              <a:t>dan yaw. Permukaan tidak rata →</a:t>
            </a:r>
            <a:br/>
            <a:r>
              <a:t>variasi vertikal scan LiDAR 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3163824"/>
            <a:ext cx="502920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" y="3163824"/>
            <a:ext cx="50800" cy="82296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09544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08C2E"/>
                </a:solidFill>
                <a:latin typeface="Montserrat"/>
              </a:defRPr>
            </a:pPr>
            <a:r>
              <a:t>Region C (Kompleks)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19856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Error lebih tinggi. Lebih banyak</a:t>
            </a:r>
            <a:br/>
            <a:r>
              <a:t>obstacle → KNN lookup lebih</a:t>
            </a:r>
            <a:br/>
            <a:r>
              <a:t>besar. Trajectory banyak rotasi.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" y="4059936"/>
            <a:ext cx="502920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" y="4059936"/>
            <a:ext cx="50800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105656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7B1FA2"/>
                </a:solidFill>
                <a:latin typeface="Montserrat"/>
              </a:defRPr>
            </a:pPr>
            <a:r>
              <a:t>Zona Transisi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15968"/>
            <a:ext cx="4754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Diameter minimal: 0.26 m.</a:t>
            </a:r>
            <a:br/>
            <a:r>
              <a:t>Kualitas ICP menurun saat robot</a:t>
            </a:r>
            <a:br/>
            <a:r>
              <a:t>&lt; 0.24 m dari ujung map.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05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08C2E"/>
                </a:solidFill>
                <a:latin typeface="Montserrat"/>
              </a:defRPr>
            </a:pPr>
            <a:r>
              <a:t>Hasil Costmap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0800" cy="914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41732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03A70"/>
                </a:solidFill>
                <a:latin typeface="Montserrat"/>
              </a:defRPr>
            </a:pPr>
            <a:r>
              <a:t>Region A — CSF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64592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Path terpendek dan lurus.</a:t>
            </a:r>
            <a:br/>
            <a:r>
              <a:t>CSF 10: path di tengah (konservatif),</a:t>
            </a:r>
            <a:br/>
            <a:r>
              <a:t>lebih panjang.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377440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377440"/>
            <a:ext cx="50800" cy="914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42316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4A90D9"/>
                </a:solidFill>
                <a:latin typeface="Montserrat"/>
              </a:defRPr>
            </a:pPr>
            <a:r>
              <a:t>Region B — CSF tidak signifikan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651760"/>
            <a:ext cx="4754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Layout lorong sempit → semua CSF</a:t>
            </a:r>
            <a:br/>
            <a:r>
              <a:t>menghasilkan path hampir identik.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83280"/>
            <a:ext cx="50292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383280"/>
            <a:ext cx="50800" cy="128016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429000"/>
            <a:ext cx="4754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08C2E"/>
                </a:solidFill>
                <a:latin typeface="Montserrat"/>
              </a:defRPr>
            </a:pPr>
            <a:r>
              <a:t>Region C — CSF 100 optimal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657600"/>
            <a:ext cx="47548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333333"/>
                </a:solidFill>
                <a:latin typeface="Lato"/>
              </a:defRPr>
            </a:pPr>
            <a:r>
              <a:t>CSF 100: path pendek &amp; lurus.</a:t>
            </a:r>
            <a:br/>
            <a:r>
              <a:t>CSF 10: di tengah, lebih panjang.</a:t>
            </a:r>
            <a:br/>
            <a:br/>
            <a:r>
              <a:t>Trade-off: path pendek vs deviasi</a:t>
            </a:r>
            <a:br/>
            <a:r>
              <a:t>ground truth. CSF 100 deviasi</a:t>
            </a:r>
            <a:br/>
            <a:r>
              <a:t>tertinggi tapi paling efisien.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6400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A2B4C"/>
                </a:solidFill>
                <a:latin typeface="Montserrat"/>
              </a:defRPr>
            </a:pPr>
            <a:r>
              <a:t>HASIL PENGUJIAN: DWA &amp; NAVIGASI PENUH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22860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0058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t>Hasil DWA Planner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" y="1417320"/>
            <a:ext cx="5303520" cy="10515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" y="1417320"/>
            <a:ext cx="50800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4630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2E7D32"/>
                </a:solidFill>
                <a:latin typeface="Montserrat"/>
              </a:defRPr>
            </a:pPr>
            <a:r>
              <a:t>✓  Kondisi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373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Mean &amp; max cross track error rendah.</a:t>
            </a:r>
            <a:br/>
            <a:r>
              <a:t>DWA mengikuti global path dengan baik.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560320"/>
            <a:ext cx="5303520" cy="10515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2560320"/>
            <a:ext cx="50800" cy="105156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06040"/>
            <a:ext cx="4114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08C2E"/>
                </a:solidFill>
                <a:latin typeface="Montserrat"/>
              </a:defRPr>
            </a:pPr>
            <a:r>
              <a:t>⚠  Kondisi Gempa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803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Max cross track error meningkat signifikan.</a:t>
            </a:r>
            <a:br/>
            <a:r>
              <a:t>Obstacle tidak diketahui di global path →</a:t>
            </a:r>
            <a:br/>
            <a:r>
              <a:t>DWA menyimpang untuk menghindari tabrakan.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005840"/>
            <a:ext cx="5029200" cy="2103120"/>
          </a:xfrm>
          <a:prstGeom prst="roundRect">
            <a:avLst/>
          </a:prstGeom>
          <a:solidFill>
            <a:srgbClr val="E3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005840"/>
            <a:ext cx="502920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097280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3A70"/>
                </a:solidFill>
                <a:latin typeface="Montserrat"/>
              </a:defRPr>
            </a:pPr>
            <a:r>
              <a:t>NAVIGASI PENUH (Region A → 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08760"/>
            <a:ext cx="4663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003A70"/>
                </a:solidFill>
                <a:latin typeface="Montserrat"/>
              </a:defRPr>
            </a:pPr>
            <a:r>
              <a:t>127.26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05740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3A70"/>
                </a:solidFill>
                <a:latin typeface="Montserrat"/>
              </a:defRPr>
            </a:pPr>
            <a:r>
              <a:t>DETIK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7744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Robot berhasil menavigasi dari Region A ke Region C</a:t>
            </a:r>
            <a:br/>
            <a:r>
              <a:t>melalui Region B secara otonom penuh.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337560"/>
            <a:ext cx="5029200" cy="12801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83280"/>
            <a:ext cx="4663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Semua Komponen Bekerja Terintegrasi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657600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✓  ICP Localization → estimasi pose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877056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✓  Costmap Transisi → perpindahan antar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96512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✓  A* Global Planner → rute multi-region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315968"/>
            <a:ext cx="4572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33333"/>
                </a:solidFill>
                <a:latin typeface="Lato"/>
              </a:defRPr>
            </a:pPr>
            <a:r>
              <a:t>✓  DWA Local Planner → trajectory + obstacle avoidance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3200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64592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3246120" cy="2011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05156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Layered costmap berhasil merepresentasikan lingkungan</a:t>
            </a:r>
            <a:br/>
            <a:r>
              <a:t>multi-lantai sebagai kumpulan peta 2D 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051560"/>
            <a:ext cx="3246120" cy="2011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25112" y="105156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ICP localization akurat untuk navigasi, dengan peningkatan</a:t>
            </a:r>
            <a:br/>
            <a:r>
              <a:t>error pada lantai tidak rata dan region kompleks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9832" y="1051560"/>
            <a:ext cx="3246120" cy="2011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99832" y="1051560"/>
            <a:ext cx="3246120" cy="54864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2" y="109728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78308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Cost Scaling Factor 100 menghasilkan jalur terpendek</a:t>
            </a:r>
            <a:br/>
            <a:r>
              <a:t>dengan tetap menghindari obstacle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7752" y="3291840"/>
            <a:ext cx="3246120" cy="2011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87752" y="3291840"/>
            <a:ext cx="324612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7752" y="333756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402336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Costmap transisi berhasil menggabungkan region pada</a:t>
            </a:r>
            <a:br/>
            <a:r>
              <a:t>radius transisi minimal 0.26 meter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291840"/>
            <a:ext cx="3246120" cy="20116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62472" y="3291840"/>
            <a:ext cx="3246120" cy="548640"/>
          </a:xfrm>
          <a:prstGeom prst="round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337560"/>
            <a:ext cx="3246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FFFFFF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4023360"/>
            <a:ext cx="28803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333333"/>
                </a:solidFill>
                <a:latin typeface="Lato"/>
              </a:defRPr>
            </a:pPr>
            <a:r>
              <a:t>DWA Planner mampu mengakomodasi obstacle tidak</a:t>
            </a:r>
            <a:br/>
            <a:r>
              <a:t>diketahui dan menghasilkan trajectory aman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0392" y="3200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A2B4C"/>
                </a:solidFill>
                <a:latin typeface="Montserrat"/>
              </a:defRPr>
            </a:pPr>
            <a:r>
              <a:t>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777240"/>
            <a:ext cx="18288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0392" y="1051560"/>
            <a:ext cx="5120640" cy="1920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051560"/>
            <a:ext cx="5120640" cy="508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1430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003A70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1143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Prekomputasi KNN per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6459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Parameter radius dan jumlah nearest neighbors</a:t>
            </a:r>
            <a:br/>
            <a:r>
              <a:t>dapat disetel independen per region untuk</a:t>
            </a:r>
            <a:br/>
            <a:r>
              <a:t>akurasi ICP yang lebih optimal.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051560"/>
            <a:ext cx="5120640" cy="1920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5352" y="105156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1430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4A90D9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114300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Fusion ICP + IMU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64592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Kompensasi lonjakan error ICP di zona transisi</a:t>
            </a:r>
            <a:br/>
            <a:r>
              <a:t>dengan data IMU saat fitur LiDAR terbatas.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3200400"/>
            <a:ext cx="5120640" cy="1920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3200400"/>
            <a:ext cx="512064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32918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4A90D9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2918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Integrasi Depth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79476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Keterbatasan LiDAR 2D dalam mendeteksi</a:t>
            </a:r>
            <a:br/>
            <a:r>
              <a:t>obstacle vertikal dapat dilengkapi dengan</a:t>
            </a:r>
            <a:br/>
            <a:r>
              <a:t>data visual dari depth sensor.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200400"/>
            <a:ext cx="5120640" cy="19202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200400"/>
            <a:ext cx="5120640" cy="508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29184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08C2E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2918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1A2B4C"/>
                </a:solidFill>
                <a:latin typeface="Montserrat"/>
              </a:defRPr>
            </a:pPr>
            <a:r>
              <a:t>Pengujian pada Robot Fisik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794760"/>
            <a:ext cx="475488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333333"/>
                </a:solidFill>
                <a:latin typeface="Lato"/>
              </a:defRPr>
            </a:pPr>
            <a:r>
              <a:t>Validasi sistem di lingkungan nyata setelah</a:t>
            </a:r>
            <a:br/>
            <a:r>
              <a:t>terbukti berhasil di lingkungan simulasi Mujoco.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4103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555555"/>
                </a:solidFill>
                <a:latin typeface="Lato"/>
              </a:defRPr>
            </a:pPr>
            <a: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1">
                <a:solidFill>
                  <a:srgbClr val="555555"/>
                </a:solidFill>
                <a:latin typeface="Lato"/>
              </a:defRPr>
            </a:pPr>
            <a:r>
              <a:t>Sidang Tugas Akhir  ·  Bagas Surya Wirawan  ·  5022221026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24247" y="1097280"/>
            <a:ext cx="2743200" cy="381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FFF"/>
                </a:solidFill>
                <a:latin typeface="Montserrat"/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BBD5EC"/>
                </a:solidFill>
                <a:latin typeface="Montserrat"/>
              </a:defRPr>
            </a:pPr>
            <a:r>
              <a:t>Bagas Surya Wirawan  ·  NRP. 5022221026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9BBDD"/>
                </a:solidFill>
                <a:latin typeface="Lato"/>
              </a:defRPr>
            </a:pPr>
            <a:r>
              <a:t>Dosen Pembimbing:</a:t>
            </a:r>
            <a:br/>
            <a:r>
              <a:t>Dr. Ir. Djoko Purwanto, M.Eng.</a:t>
            </a:r>
            <a:br/>
            <a:r>
              <a:t>Fajar Budiman, S.T., M.Sc.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463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88AACC"/>
                </a:solidFill>
                <a:latin typeface="Lato"/>
              </a:defRPr>
            </a:pPr>
            <a:r>
              <a:t>Departemen Teknik Elektro</a:t>
            </a:r>
            <a:br/>
            <a:r>
              <a:t>Fakultas Teknologi Elektro dan Informatika Cerdas</a:t>
            </a:r>
            <a:br/>
            <a:r>
              <a:t>Institut Teknologi Sepuluh Nopember</a:t>
            </a:r>
            <a:br/>
            <a:r>
              <a:t>Surabaya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0967" y="6537960"/>
            <a:ext cx="3200400" cy="254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2807" y="6537960"/>
            <a:ext cx="3200400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24647" y="6537960"/>
            <a:ext cx="3200400" cy="25400"/>
          </a:xfrm>
          <a:prstGeom prst="rect">
            <a:avLst/>
          </a:prstGeom>
          <a:solidFill>
            <a:srgbClr val="F08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