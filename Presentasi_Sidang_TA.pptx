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743200"/>
            <a:ext cx="8229600" cy="82296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91295" y="2743200"/>
            <a:ext cx="5486400" cy="5486400"/>
          </a:xfrm>
          <a:prstGeom prst="ellipse">
            <a:avLst/>
          </a:prstGeom>
          <a:solidFill>
            <a:srgbClr val="0A3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03535" y="-113792"/>
            <a:ext cx="2473960" cy="647192"/>
          </a:xfrm>
          <a:prstGeom prst="roundRect">
            <a:avLst/>
          </a:prstGeom>
          <a:solidFill>
            <a:srgbClr val="00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454335" y="-164592"/>
            <a:ext cx="242316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titut Teknologi Sepuluh Nopember - 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4063" y="53340"/>
            <a:ext cx="567698" cy="365760"/>
          </a:xfrm>
          <a:prstGeom prst="rect">
            <a:avLst/>
          </a:prstGeom>
        </p:spPr>
      </p:pic>
      <p:pic>
        <p:nvPicPr>
          <p:cNvPr id="7" name="Picture 6" descr="Elektro-tr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1489" y="53340"/>
            <a:ext cx="370921" cy="365760"/>
          </a:xfrm>
          <a:prstGeom prst="rect">
            <a:avLst/>
          </a:prstGeom>
        </p:spPr>
      </p:pic>
      <p:pic>
        <p:nvPicPr>
          <p:cNvPr id="8" name="Picture 7" descr="ELKA b2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2139" y="53340"/>
            <a:ext cx="436050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143000"/>
            <a:ext cx="63500" cy="19202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143000"/>
            <a:ext cx="82296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NAVIGASI ROBOT BERBASIS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FFFFFF"/>
                </a:solidFill>
                <a:latin typeface="Montserrat"/>
              </a:defRPr>
            </a:pPr>
            <a:r>
              <a:t>LAYERED COSTMAP</a:t>
            </a:r>
          </a:p>
          <a:p>
            <a:pPr algn="l">
              <a:lnSpc>
                <a:spcPts val="3660"/>
              </a:lnSpc>
              <a:spcAft>
                <a:spcPts val="400"/>
              </a:spcAft>
              <a:defRPr sz="3000" b="1" i="0">
                <a:solidFill>
                  <a:srgbClr val="C8DCEE"/>
                </a:solidFill>
                <a:latin typeface="Montserrat"/>
              </a:defRPr>
            </a:pPr>
            <a:r>
              <a:t>UNTUK PERGERAKAN ANTAR LANTAI</a:t>
            </a:r>
          </a:p>
          <a:p>
            <a:pPr algn="l">
              <a:lnSpc>
                <a:spcPts val="3900"/>
              </a:lnSpc>
              <a:spcAft>
                <a:spcPts val="2800"/>
              </a:spcAft>
              <a:defRPr sz="3000" b="1" i="0">
                <a:solidFill>
                  <a:srgbClr val="A0BEDA"/>
                </a:solidFill>
                <a:latin typeface="Montserrat"/>
              </a:defRPr>
            </a:pPr>
            <a:r>
              <a:t>PADA LINGKUNGAN INDOOR PASCA GEMPA BUMI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200400"/>
            <a:ext cx="3291840" cy="3175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6400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29"/>
              </a:lnSpc>
              <a:spcAft>
                <a:spcPts val="400"/>
              </a:spcAft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Bagas Surya Wirawan</a:t>
            </a:r>
          </a:p>
          <a:p>
            <a:pPr algn="l">
              <a:lnSpc>
                <a:spcPts val="1600"/>
              </a:lnSpc>
              <a:spcAft>
                <a:spcPts val="400"/>
              </a:spcAft>
              <a:defRPr sz="1600" b="0" i="0">
                <a:solidFill>
                  <a:srgbClr val="BBD5EC"/>
                </a:solidFill>
                <a:latin typeface="Lato"/>
              </a:defRPr>
            </a:pPr>
            <a:r>
              <a:t>NRP. 5022221026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470"/>
              </a:lnSpc>
              <a:spcAft>
                <a:spcPts val="400"/>
              </a:spcAft>
              <a:defRPr sz="1400" b="1" i="0">
                <a:solidFill>
                  <a:srgbClr val="CCCCCC"/>
                </a:solidFill>
                <a:latin typeface="Lato"/>
              </a:defRPr>
            </a:pPr>
            <a:r>
              <a:t>Dosen Pembimbing: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Dr. Ir. Djoko Purwanto, M.Eng.</a:t>
            </a:r>
          </a:p>
          <a:p>
            <a:pPr algn="l">
              <a:lnSpc>
                <a:spcPts val="1330"/>
              </a:lnSpc>
              <a:spcAft>
                <a:spcPts val="400"/>
              </a:spcAft>
              <a:defRPr sz="1400" b="0" i="0">
                <a:solidFill>
                  <a:srgbClr val="BBD5EC"/>
                </a:solidFill>
                <a:latin typeface="Lato"/>
              </a:defRPr>
            </a:pPr>
            <a:r>
              <a:t>Fajar Budiman, S.T., M.Sc.</a:t>
            </a:r>
          </a:p>
          <a:p>
            <a:pPr algn="l">
              <a:lnSpc>
                <a:spcPts val="800"/>
              </a:lnSpc>
              <a:spcAft>
                <a:spcPts val="400"/>
              </a:spcAft>
              <a:defRPr sz="800" b="0" i="0">
                <a:solidFill>
                  <a:srgbClr val="FFFFFF"/>
                </a:solidFill>
                <a:latin typeface="Lato"/>
              </a:defRPr>
            </a:pP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Departemen Teknik Elektro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9BBBDB"/>
                </a:solidFill>
                <a:latin typeface="Lato"/>
              </a:defRPr>
            </a:pPr>
            <a:r>
              <a:t>Fakultas Teknologi Elektro dan Informatika Cerdas</a:t>
            </a:r>
          </a:p>
          <a:p>
            <a:pPr algn="l">
              <a:lnSpc>
                <a:spcPts val="1139"/>
              </a:lnSpc>
              <a:spcAft>
                <a:spcPts val="400"/>
              </a:spcAft>
              <a:defRPr sz="1200" b="0" i="0">
                <a:solidFill>
                  <a:srgbClr val="85A8CA"/>
                </a:solidFill>
                <a:latin typeface="Lato"/>
              </a:defRPr>
            </a:pPr>
            <a:r>
              <a:t>Institut Teknologi Sepuluh Nopember  ·  Surabaya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37960"/>
            <a:ext cx="2286000" cy="19050"/>
          </a:xfrm>
          <a:prstGeom prst="rect">
            <a:avLst/>
          </a:prstGeom>
          <a:solidFill>
            <a:srgbClr val="144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2EEFC"/>
            </a:gs>
            <a:gs pos="100000">
              <a:srgbClr val="BED4EF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65760"/>
            <a:ext cx="3657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DAFTAR ISI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86868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Konteks gempa bumi di Indonesia dan urgensi robot SAR otonom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2267712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Rumusan Masalah &amp; Tujuan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Pertanyaan penelitian, batasan, dan tujuan yang ingin dicapai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371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095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Metodologi &amp; Desain Sistem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Arsitektur navigasi: costmap, ICP, A*, dan DWA planner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712" y="2267712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359152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2359152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Hasil Pengujian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2706624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Evaluasi ICP, costmap, dan navigasi penuh pada arena simulasi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1234440"/>
            <a:ext cx="347472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325880"/>
            <a:ext cx="640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4A90D9"/>
                </a:solidFill>
                <a:latin typeface="Montserrat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4272" y="1325880"/>
            <a:ext cx="2468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Kesimpulan &amp; Saran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1673352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Temuan utama dan arah pengembangan selanjutnya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LATAR BELAKANG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1051560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005840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INDONESIA RAWAN GEMPA BUMI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252728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Terletak di pertemuan 4 lempeng tektonik (Pasifik, Eurasia, Indo-Australia, Laut Filipina). Rata-rata 18 gempa per hari (BMKG, 2020).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" y="1993392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2039112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993392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OPERASI SAR BERISIKO TINGGI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40280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Petugas SAR menghadapi ancaman keselamatan di area terdampak. Bangunan rusak, atap hampir roboh, struktur tidak stabil. Robot darat pernah digunakan pasca gempa Jepang untuk inspeksi bangunan (Lin et al., 2022).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2980944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" y="3026664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980944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ROBOT OTONOM MEMBANTU MISI SAR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227832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UAV memberi gambaran medan dari udara. Robot darat (track/quadruped/hexapod) mengangkut barang berat dan inspeksi area berbahaya. Robot otonom krusial saat infrastruktur komunikasi rusak.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" y="3968496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4014216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968496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TANTANGAN: NAVIGASI INDOOR PASCA GEMPA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215384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Lingkungan tidak terstruktur: puing, lantai tidak rata, tangga. Costmap 2D konvensional terbatas pada satu bidang datar. Robot perlu bernavigasi ANTAR LANTAI.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" y="4956048"/>
            <a:ext cx="6217920" cy="9144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0392" y="500176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956048"/>
            <a:ext cx="571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SOLUSI: LAYERED COSTMAP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5202936"/>
            <a:ext cx="5715000" cy="667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Menyederhanakan informasi 3D → beberapa bidang costmap 2D. Setiap layer mewakili satu lantai/region. Layer transisi menghubungkan antar lantai. Robot berpindah layer sesuai posisi di bangunan.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005840"/>
            <a:ext cx="4389120" cy="13716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105156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A2B4C"/>
                </a:solidFill>
                <a:latin typeface="Montserrat"/>
              </a:defRPr>
            </a:pPr>
            <a:r>
              <a:t>Kondisi Geografis Indonesia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132588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4 Lempeng Tektonik Aktif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Pasifik · Eurasia · Indo-Australia · Laut Filipina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± 18 gempa / hari (BMKG 2020)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2560320"/>
            <a:ext cx="4389120" cy="13716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260604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A2B4C"/>
                </a:solidFill>
                <a:latin typeface="Montserrat"/>
              </a:defRPr>
            </a:pPr>
            <a:r>
              <a:t>Pasca Gempa Bumi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8036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Dampak pada Bangunan: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Puing dan reruntuhan • Lantai tidak rata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Tangga rusak • Struktur multi-lantai tidak stabil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darat digunakan di Jepang untuk inspeksi (Lin 2022)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114800"/>
            <a:ext cx="4389120" cy="1371600"/>
          </a:xfrm>
          <a:prstGeom prst="roundRect">
            <a:avLst/>
          </a:prstGeom>
          <a:solidFill>
            <a:srgbClr val="FDF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4160520"/>
            <a:ext cx="40233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F08C2E"/>
                </a:solidFill>
                <a:latin typeface="Montserrat"/>
              </a:defRPr>
            </a:pPr>
            <a:r>
              <a:t>Solusi: Layered Costmap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434840"/>
            <a:ext cx="402336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80"/>
              </a:lnSpc>
              <a:spcAft>
                <a:spcPts val="40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3D → 2D Multi-Layer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Setiap layer = 1 lantai/region pada bangunan</a:t>
            </a:r>
          </a:p>
          <a:p>
            <a:pPr algn="l">
              <a:lnSpc>
                <a:spcPts val="1264"/>
              </a:lnSpc>
              <a:spcAft>
                <a:spcPts val="40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Layer transisi = penghubung antar lantai</a:t>
            </a:r>
          </a:p>
          <a:p>
            <a:pPr algn="l">
              <a:lnSpc>
                <a:spcPts val="1430"/>
              </a:lnSpc>
              <a:spcAft>
                <a:spcPts val="40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berpindah layer sesuai posisi di bangunan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" y="5989320"/>
            <a:ext cx="10515600" cy="41148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" y="5989320"/>
            <a:ext cx="50800" cy="41148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989320"/>
            <a:ext cx="10332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333333"/>
                </a:solidFill>
                <a:latin typeface="Lato"/>
              </a:defRPr>
            </a:pPr>
            <a:r>
              <a:t>Pendekatan ini menyederhanakan kompleksitas 3D menjadi representasi 2D yang manageable, memungkinkan penggunaan sensor LiDAR 2D.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RUMUSAN MASALAH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43000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124712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REPRESENTASI LINGKUNGAN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1435608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Bagaimana merepresentasikan informasi lingkungan multi-lantai menggunakan layered costmap agar dapat digunakan pada algoritma navigasi antar lantai?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130552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130552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221992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203704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ALGORITMA NAVIGASI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514600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Bagaimana merancang algoritma lokalisasi, path planning, dan path tracking yang bekerja pada sistem navigasi berbasis layered costmap?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9544"/>
            <a:ext cx="10515600" cy="914400"/>
          </a:xfrm>
          <a:prstGeom prst="roundRect">
            <a:avLst/>
          </a:prstGeom>
          <a:solidFill>
            <a:srgbClr val="F5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9544"/>
            <a:ext cx="63500" cy="914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300984"/>
            <a:ext cx="548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4A90D9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282696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VALIDASI SISTEM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93592"/>
            <a:ext cx="9509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Apakah robot darat otonom dapat melakukan navigasi hingga mencapai tujuan pada arena uji menggunakan metode navigasi antar lantai yang dikembangkan?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" y="4160520"/>
            <a:ext cx="10515600" cy="210312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2519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BATASAN PENELITIAN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70432" y="477316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472" y="466344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Pengujian dilakukan pada SIMULASI (Mujoco) — bukan kondisi pasca gempa</a:t>
            </a:r>
            <a:br/>
            <a:r>
              <a:t>sebenarnya, melainkan rekayasa arena uji (rintangan tidak diketahui,</a:t>
            </a:r>
            <a:br/>
            <a:r>
              <a:t>tanjakan, permukaan tidak rata)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70432" y="527608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516636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Robot yang digunakan: HEXAPOD (6 kaki), navigasi otonom dari titik</a:t>
            </a:r>
            <a:br/>
            <a:r>
              <a:t>awal ke tujuan yang telah ditentukan</a:t>
            </a:r>
          </a:p>
        </p:txBody>
      </p:sp>
      <p:sp>
        <p:nvSpPr>
          <p:cNvPr id="25" name="Isosceles Triangle 24"/>
          <p:cNvSpPr/>
          <p:nvPr/>
        </p:nvSpPr>
        <p:spPr>
          <a:xfrm>
            <a:off x="1170432" y="5779008"/>
            <a:ext cx="182880" cy="164592"/>
          </a:xfrm>
          <a:prstGeom prst="triangle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5669280"/>
            <a:ext cx="9418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555555"/>
                </a:solidFill>
                <a:latin typeface="Lato"/>
              </a:defRPr>
            </a:pPr>
            <a:r>
              <a:t>Algoritma navigasi bekerja pada kondisi rintangan statis yang SUDAH</a:t>
            </a:r>
            <a:br/>
            <a:r>
              <a:t>DIKETAHUI (known map)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4F0FF"/>
            </a:gs>
            <a:gs pos="100000">
              <a:srgbClr val="C1D7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TUJUAN &amp; MANFAAT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Tujuan Penelitian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" y="1463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1481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" y="1463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Representasi Multi-Lantai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719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Mengembangkan metode representasi lingkungan menggunakan layered costmap untuk menyederhanakan informasi lingkungan multi-lantai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" y="2606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24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606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Algoritma Navigasi Antar Lantai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862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Merancang dan mengimplementasikan algoritma lokalisasi, path planning, dan path tracking yang menggunakan layered costmap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749040"/>
            <a:ext cx="53035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767328"/>
            <a:ext cx="365760" cy="36576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3749040"/>
            <a:ext cx="4800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Evaluasi di Simulasi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005072"/>
            <a:ext cx="480060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Melakukan pengujian sistem di lingkungan simulasi untuk mengevaluasi efektivitas dan keterbatasan pendekatan yang diusulkan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0058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Manfaat Penelitian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46304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146304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4475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040880" y="169164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Kontribusi pada sistem navigasi robot otonom di lingkungan kompleks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33172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0" y="233172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31343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7040880" y="256032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Dasar awal navigasi robot di area bertingkat atau runtuh pasca gempa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200400"/>
            <a:ext cx="5303520" cy="5029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92240" y="3200400"/>
            <a:ext cx="411480" cy="41148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82112"/>
            <a:ext cx="47548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A2B4C"/>
                </a:solidFill>
                <a:latin typeface="Montserrat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040880" y="3429000"/>
            <a:ext cx="4754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Fondasi penelitian lanjutan untuk robot SAR otonom di area bencana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TINJAUAN PUSTAKA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Layered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Grid 2D bertingkat (0–255). Layers: static map, obstacle, inflation. Setiap layer menyimpan informasi lingkungan spesifik. (macenski 2023)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515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1887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ICP Localization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5544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Scan matching berbasis point cloud. Iterative minimization MSD antara data sensor dan fixed map. Prekomputasi KNN untuk lookup O(1).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" y="31089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0392" y="3108960"/>
            <a:ext cx="5120640" cy="508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A* Path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BFS dengan fungsi heuristik f(n)=g(n)+h(n). Open/closed list. Kualitas path bergantung pada kualitas fungsi heuristik.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108960"/>
            <a:ext cx="512064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310896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246120"/>
            <a:ext cx="4754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A2B4C"/>
                </a:solidFill>
                <a:latin typeface="Montserrat"/>
              </a:defRPr>
            </a:pPr>
            <a:r>
              <a:t>DWA Local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611880"/>
            <a:ext cx="4754880" cy="1143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39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Dynamic Window Approach. Sampling velocity → simulasi kinematik → scoring trajectory → pilih terbaik. Mampu menghindari obstacle tidak diketahui.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0749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State of the Art — Navigasi Antar Lantai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3949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Hu 2022: Adaptive slope navigation dengan multi-layer costmap · Kim 2024: Indoor delivery robot multi-floor dengan integrated nav map · Palacin 2023: Inter-floor navigation menggunakan elevator + ICP · Jung 2024: A* dengan realistic cost functions (elevator vs stairs)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PENELITIAN TERDAHULU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50392" y="105156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868680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Pendekatan Unik pada Penelitian Terdahulu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Perbandingan dengan Penelitian Ini</a:t>
                      </a:r>
                    </a:p>
                  </a:txBody>
                  <a:tcPr anchor="ctr" marL="63500" marR="63500" marT="38100" marB="38100">
                    <a:solidFill>
                      <a:srgbClr val="003A7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Macenski et al. (2023)</a:t>
                      </a:r>
                      <a:br/>
                      <a:r>
                        <a:t>Layered Costmap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Mengusulkan arsitektur layered costmap pertama — membagi costmap menjadi layer semantik terpisah (static, obstacle, inflation) yang memperbarui master grid secara terstruktur.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Mengadopsi layered costmap dan memperluas dengan tiga layer spesifik: Global Costmap, Local Costmap, serta Transition Costmap yang menyimpan informasi koneksi dan zona transisi antar region.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Hu et al. (2022)</a:t>
                      </a:r>
                      <a:br/>
                      <a:r>
                        <a:t>Adaptive Slope Navigation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Multi-layer costmap adaptif untuk navigasi permukaan berkemiringan. Algoritma deteksi slope mengubah peta biaya agar kemiringan dianggap dapat dilalui (dengan biaya tambahan), bukan sebagai obstacle.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Fokus berbeda: Hu menangani variasi kemiringan, sedangkan penelitian ini menangani transisi antar lantai. Keduanya menyederhanakan informasi 3D menjadi representasi costmap 2D bertingkat.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Kim et al. (2024)</a:t>
                      </a:r>
                      <a:br/>
                      <a:r>
                        <a:t>Integrated Navigation Map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Membuat peta navigasi terintegrasi dengan menggabungkan point cloud multi-lantai dan topologi node graph. Mengandalkan elevator sebagai penghubung antar lantai pada gedung bertingkat.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Tidak bergantung pada elevator — menggunakan mekanisme region transition dan zona transisi yang terdeteksi dari combined map. Lebih adaptif untuk skenario pasca gempa.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Palacín et al. (2023)</a:t>
                      </a:r>
                      <a:br/>
                      <a:r>
                        <a:t>Inter-floor ICP + Elevator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Navigasi antar lantai menggunakan elevator dengan lokalisasi berbasis ICP. Evaluasi performa ICP dilakukan pada kondisi pintu lift terbuka maupun tertutup.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Menggunakan ICP yang sama dengan optimasi prekomputasi KNN (hash table, lookup O(1), k=8, r=10). Dilengkapi region switcher untuk mendeteksi perpindahan region secara otomatis dari pose robot.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  <a:defRPr sz="1000" b="1">
                          <a:solidFill>
                            <a:srgbClr val="003A70"/>
                          </a:solidFill>
                          <a:latin typeface="Montserrat"/>
                        </a:defRPr>
                      </a:pPr>
                      <a:r>
                        <a:t>Jung et al. (2024)</a:t>
                      </a:r>
                      <a:br/>
                      <a:r>
                        <a:t>A* dengan Realistic Cost</a:t>
                      </a:r>
                    </a:p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dengan fungsi biaya realistis — mempertimbangkan faktor seperti waktu tunggu lift. Robot dapat memilih antara lift atau tangga berdasarkan perhitungan biaya total.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 b="0">
                          <a:solidFill>
                            <a:srgbClr val="333333"/>
                          </a:solidFill>
                          <a:latin typeface="Lato"/>
                        </a:defRPr>
                      </a:pPr>
                      <a:r>
                        <a:t>A* dilengkapi Path Interceptor yang memecah jalur multi-region menjadi segmen per region. Cost Scaling Factor (CSF=100) menghasilkan jalur terpendek dengan tetap menjaga obstacle clearance optimal.</a:t>
                      </a:r>
                    </a:p>
                  </a:txBody>
                  <a:tcPr anchor="ctr" marL="63500" marR="63500" marT="38100" marB="38100"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4572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ARSITEKTUR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01168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02440" y="1051560"/>
            <a:ext cx="7786813" cy="5120640"/>
          </a:xfrm>
          <a:prstGeom prst="rect">
            <a:avLst/>
          </a:prstGeom>
          <a:noFill/>
          <a:ln w="38100">
            <a:solidFill>
              <a:srgbClr val="003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avig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440" y="1051560"/>
            <a:ext cx="778681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PENGOLAHAN DATA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69967" y="886968"/>
            <a:ext cx="2651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Combined Map — Gabungan Region A, B, C</a:t>
            </a:r>
          </a:p>
        </p:txBody>
      </p:sp>
      <p:pic>
        <p:nvPicPr>
          <p:cNvPr id="5" name="Picture 4" descr="combine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967" y="114300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80016" y="3794760"/>
            <a:ext cx="21488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03A70"/>
                </a:solidFill>
                <a:latin typeface="Montserrat"/>
              </a:defRPr>
            </a:pPr>
            <a:r>
              <a:t>Transition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7496" y="3794760"/>
            <a:ext cx="2134182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F08C2E"/>
                </a:solidFill>
                <a:latin typeface="Montserrat"/>
              </a:defRPr>
            </a:pPr>
            <a:r>
              <a:t>Transition Map Overlay</a:t>
            </a:r>
          </a:p>
        </p:txBody>
      </p:sp>
      <p:pic>
        <p:nvPicPr>
          <p:cNvPr id="8" name="Picture 7" descr="transi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016" y="4050792"/>
            <a:ext cx="2148840" cy="2148840"/>
          </a:xfrm>
          <a:prstGeom prst="rect">
            <a:avLst/>
          </a:prstGeom>
        </p:spPr>
      </p:pic>
      <p:pic>
        <p:nvPicPr>
          <p:cNvPr id="9" name="Picture 8" descr="transition_map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496" y="4050792"/>
            <a:ext cx="2134182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608076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Transition Map menyimpan koneksi spasial (A↔B, B↔C), orientasi region, dan pose awal robot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STRUKTUR LAYERED COSTMAP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0584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05840"/>
            <a:ext cx="63500" cy="96012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07899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GLOBAL COSTMAP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35331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Static layer (obstacle tetap) + Inflation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5112" y="107899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Cost Scaling Factor (CSF) mempengaruhi</a:t>
            </a:r>
            <a:br/>
            <a:r>
              <a:t>gradient biaya di sekitar obstacle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10312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103120"/>
            <a:ext cx="63500" cy="9601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7627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4A90D9"/>
                </a:solidFill>
                <a:latin typeface="Montserrat"/>
              </a:defRPr>
            </a:pPr>
            <a:r>
              <a:t>LOCAL COSTMAP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45059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Obstacle layer (LiDAR real-time) + Inflation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17627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Diperbarui secara dinamis dari</a:t>
            </a:r>
            <a:br/>
            <a:r>
              <a:t>data scan LiDAR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30352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63500" cy="9601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73552"/>
            <a:ext cx="4937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TRANSITION COSTMAP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3547872"/>
            <a:ext cx="320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Menyimpan informasi koneksi antar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273552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555555"/>
                </a:solidFill>
                <a:latin typeface="Lato"/>
              </a:defRPr>
            </a:pPr>
            <a:r>
              <a:t>Memungkinkan robot berpindah</a:t>
            </a:r>
            <a:br/>
            <a:r>
              <a:t>region secara mulus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005840"/>
            <a:ext cx="5029200" cy="1188720"/>
          </a:xfrm>
          <a:prstGeom prst="roundRect">
            <a:avLst/>
          </a:prstGeom>
          <a:solidFill>
            <a:srgbClr val="FDF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05156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Fungsi Inflasi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325880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C(d) = 253 · e^(-α · (d − r_inscribed))   untuk d ≤ R</a:t>
            </a:r>
            <a:br/>
            <a:r>
              <a:t>C(d) = 0                                            untuk d &gt; R</a:t>
            </a:r>
            <a:br/>
            <a:br/>
            <a:r>
              <a:t>Di mana d = jarak dari obstacle, R = radius inflasi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423160"/>
            <a:ext cx="5029200" cy="182880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46888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Nilai Sel Costmap (Occupancy Grid)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788920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FREE_SPACE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788920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788920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bebas, dapat dilalui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044952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TRANSITION_CELL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04495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1–5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044952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Zona transisi antar region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300984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INFLATED_OBSTACLE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300984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6–252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300984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inflasi di sekitar obstacle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557016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LETHAL_OBSTACLE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557016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3557016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Obstacle tidak dapat dilalui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13048"/>
            <a:ext cx="1645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Lato"/>
              </a:defRPr>
            </a:pPr>
            <a:r>
              <a:t>NO_INFORMATION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813048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813048"/>
            <a:ext cx="2103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Area belum diketahui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LOKALISASI ICP &amp; REGION SWITCHER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ICP (Iterative Closest Point)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Prekomputasi 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Hash table, lookup O(1)</a:t>
            </a:r>
            <a:br/>
            <a:r>
              <a:t>k=8, r=10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8833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1635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6207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Correspondence</a:t>
            </a:r>
            <a:br/>
            <a:r>
              <a:t>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Pasangkan titik</a:t>
            </a:r>
            <a:br/>
            <a:r>
              <a:t>scan → map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65429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231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SVD Solver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Estimasi rotasi &amp;</a:t>
            </a:r>
            <a:br/>
            <a:r>
              <a:t>translasi optimal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20256" y="1920240"/>
            <a:ext cx="118872" cy="13716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48272" y="1417320"/>
            <a:ext cx="18288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93992" y="1463040"/>
            <a:ext cx="320040" cy="32004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1463040"/>
            <a:ext cx="13258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Transformasi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2" y="1920240"/>
            <a:ext cx="155448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333333"/>
                </a:solidFill>
                <a:latin typeface="Lato"/>
              </a:defRPr>
            </a:pPr>
            <a:r>
              <a:t>Perbarui pose robot</a:t>
            </a:r>
            <a:br/>
            <a:r>
              <a:t>(R, 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2880360"/>
            <a:ext cx="10515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1">
                <a:solidFill>
                  <a:srgbClr val="333333"/>
                </a:solidFill>
                <a:latin typeface="Lato"/>
              </a:defRPr>
            </a:pPr>
            <a:r>
              <a:t>Parameter: max_iter=50, k=8, r=10, t_norm=0.01m, r_norm=0.01rad, s=2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329184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F08C2E"/>
                </a:solidFill>
                <a:latin typeface="Montserrat"/>
              </a:defRPr>
            </a:pPr>
            <a:r>
              <a:t>Region Switcher &amp; Zona Transisi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0759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9903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903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7375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375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3749039"/>
            <a:ext cx="2560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2" y="3840479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03A70"/>
                </a:solidFill>
                <a:latin typeface="Montserrat"/>
              </a:defRPr>
            </a:pPr>
            <a:r>
              <a:t>Region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2" y="4160519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555555"/>
                </a:solidFill>
                <a:latin typeface="Lato"/>
              </a:defRPr>
            </a:pPr>
            <a:r>
              <a:t>Peta 2D region</a:t>
            </a:r>
            <a:br/>
            <a:r>
              <a:t>Navigasi di dalam region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05079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5935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25512" y="4114799"/>
            <a:ext cx="502920" cy="22860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34072" y="4389119"/>
            <a:ext cx="685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1" i="0">
                <a:solidFill>
                  <a:srgbClr val="F08C2E"/>
                </a:solidFill>
                <a:latin typeface="Lato"/>
              </a:defRPr>
            </a:pPr>
            <a:r>
              <a:t>Transisi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5029200"/>
            <a:ext cx="10515600" cy="54864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0392" y="5029200"/>
            <a:ext cx="50800" cy="5486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047488"/>
            <a:ext cx="10241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Zona transisi memerlukan radius minimal 0.26 m agar robot dapat berpindah region dengan aman sebelum kualitas lokalisasi ICP menurun signifikan.</a:t>
            </a:r>
          </a:p>
        </p:txBody>
      </p:sp>
      <p:pic>
        <p:nvPicPr>
          <p:cNvPr id="42" name="Picture 41" descr="sim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520440"/>
            <a:ext cx="2972844" cy="1691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858000" y="3319272"/>
            <a:ext cx="29728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Arena Pengujian — Region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PLANNING — A* GLOBAL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Algoritma A*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325880"/>
            <a:ext cx="475488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71600"/>
            <a:ext cx="45720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• f(n) = g(n) + h(n)</a:t>
            </a:r>
            <a:br/>
            <a:r>
              <a:t>    g(n) = biaya dari start ke node n</a:t>
            </a:r>
            <a:br/>
            <a:r>
              <a:t>    h(n) = estimasi heuristik dari n ke goal</a:t>
            </a:r>
            <a:br/>
            <a:br/>
            <a:r>
              <a:t>• Quadratic potential calculation untuk</a:t>
            </a:r>
            <a:br/>
            <a:r>
              <a:t>  menghitung cost gradient pada grid</a:t>
            </a:r>
            <a:br/>
            <a:br/>
            <a:r>
              <a:t>• Open list / Closed list untuk eksplorasi</a:t>
            </a:r>
            <a:br/>
            <a:r>
              <a:t>  node secara optimal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29184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08C2E"/>
                </a:solidFill>
                <a:latin typeface="Montserrat"/>
              </a:defRPr>
            </a:pPr>
            <a:r>
              <a:t>Path Interceptor (Multi-Region)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520440"/>
            <a:ext cx="4754880" cy="15544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611880"/>
            <a:ext cx="4572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Memecah path multi-region menjadi segmen per region:</a:t>
            </a:r>
            <a:br/>
            <a:br/>
            <a:r>
              <a:t>Region A  →  Titik Transisi A-B  →  Region B  →</a:t>
            </a:r>
            <a:br/>
            <a:r>
              <a:t>Titik Transisi B-C  →  Region C  → 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0584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Cost Scaling Factor (CSF)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17320"/>
            <a:ext cx="5029200" cy="777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417320"/>
            <a:ext cx="50800" cy="7772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63040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CSF =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463040"/>
            <a:ext cx="283464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Path di tengah,</a:t>
            </a:r>
            <a:br/>
            <a:r>
              <a:t>konservatif, lebih</a:t>
            </a:r>
            <a:br/>
            <a:r>
              <a:t>aman tapi lebih</a:t>
            </a:r>
            <a:br/>
            <a:r>
              <a:t>panjang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286000"/>
            <a:ext cx="5029200" cy="777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286000"/>
            <a:ext cx="5080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331720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4A90D9"/>
                </a:solidFill>
                <a:latin typeface="Montserrat"/>
              </a:defRPr>
            </a:pPr>
            <a:r>
              <a:t>CSF = 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331720"/>
            <a:ext cx="283464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Path transisi antara</a:t>
            </a:r>
            <a:br/>
            <a:r>
              <a:t>konservatif dan</a:t>
            </a:r>
            <a:br/>
            <a:r>
              <a:t>agresif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154680"/>
            <a:ext cx="5029200" cy="777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154680"/>
            <a:ext cx="50800" cy="77724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200400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CSF = 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00400"/>
            <a:ext cx="283464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Path dekat obstacle,</a:t>
            </a:r>
            <a:br/>
            <a:r>
              <a:t>lebih pendek &amp;</a:t>
            </a:r>
            <a:br/>
            <a:r>
              <a:t>lurus (OPTIMAL)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160520"/>
            <a:ext cx="5029200" cy="6858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06240"/>
            <a:ext cx="4754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CSF 100 menghasilkan path terpendek dengan</a:t>
            </a:r>
            <a:br/>
            <a:r>
              <a:t>clearance obstacle yang masih memadai.</a:t>
            </a:r>
            <a:br/>
            <a:r>
              <a:t>Region B (lorong sempit): CSF tidak signifikan berpengaruh.</a:t>
            </a:r>
          </a:p>
        </p:txBody>
      </p:sp>
      <p:pic>
        <p:nvPicPr>
          <p:cNvPr id="25" name="Picture 24" descr="path_all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5029200"/>
            <a:ext cx="1120338" cy="1417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58000" y="4846320"/>
            <a:ext cx="1120338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CSF 10/20/50/100 — Region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DF4FC"/>
            </a:gs>
            <a:gs pos="100000">
              <a:srgbClr val="D2E3F3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PATH TRACKING — DWA LOCAL PLANNER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1. Velocity</a:t>
            </a:r>
            <a:br/>
            <a:r>
              <a:t>Sampling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6 vx × 6 vy × 30 ω</a:t>
            </a:r>
            <a:br/>
            <a:r>
              <a:t>= 1080 trajectory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88920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08376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8376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6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2. Kinematic</a:t>
            </a:r>
            <a:br/>
            <a:r>
              <a:t>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Simulasi robot</a:t>
            </a:r>
            <a:br/>
            <a:r>
              <a:t>selama Δt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46904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60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3. Trajectory</a:t>
            </a:r>
            <a:br/>
            <a:r>
              <a:t>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7 kriteria</a:t>
            </a:r>
            <a:br/>
            <a:r>
              <a:t>penilaian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04888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24344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24344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4. Best</a:t>
            </a:r>
            <a:br/>
            <a:r>
              <a:t>Selection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Pilih trajectory</a:t>
            </a:r>
            <a:br/>
            <a:r>
              <a:t>dengan biaya terendah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62872" y="1554480"/>
            <a:ext cx="201168" cy="182880"/>
          </a:xfrm>
          <a:prstGeom prst="rightArrow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82328" y="1051560"/>
            <a:ext cx="1920240" cy="13258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82328" y="1051560"/>
            <a:ext cx="19202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3768" y="114300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A2B4C"/>
                </a:solidFill>
                <a:latin typeface="Montserrat"/>
              </a:defRPr>
            </a:pPr>
            <a:r>
              <a:t>5. Send to</a:t>
            </a:r>
            <a:br/>
            <a:r>
              <a:t>Robot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8" y="1645920"/>
            <a:ext cx="1737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15"/>
              </a:lnSpc>
              <a:spcBef>
                <a:spcPts val="0"/>
              </a:spcBef>
              <a:spcAft>
                <a:spcPts val="0"/>
              </a:spcAft>
              <a:defRPr sz="900" b="0" i="0">
                <a:solidFill>
                  <a:srgbClr val="555555"/>
                </a:solidFill>
                <a:latin typeface="Lato"/>
              </a:defRPr>
            </a:pPr>
            <a:r>
              <a:t>Eksekusi gerakan</a:t>
            </a:r>
            <a:br/>
            <a:r>
              <a:t>pada hexapod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560320"/>
            <a:ext cx="10515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1A2B4C"/>
                </a:solidFill>
                <a:latin typeface="Montserrat"/>
              </a:defRPr>
            </a:pPr>
            <a:r>
              <a:t>7 Kriteria Scoring DWA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C_osc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Oscillation</a:t>
            </a:r>
            <a:br/>
            <a:r>
              <a:t>penalty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w_osc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5915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048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C_obs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048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Obstacle</a:t>
            </a:r>
            <a:br/>
            <a:r>
              <a:t>distance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048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w_obs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6791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Goal front</a:t>
            </a:r>
            <a:br/>
            <a:r>
              <a:t>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1363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7667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2239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C_align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2239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Path</a:t>
            </a:r>
            <a:br/>
            <a:r>
              <a:t>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2239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w_align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8543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3115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C_path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 to</a:t>
            </a:r>
            <a:br/>
            <a:r>
              <a:t>global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115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w_path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419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991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4A90D9"/>
                </a:solidFill>
                <a:latin typeface="Lato"/>
              </a:defRPr>
            </a:pPr>
            <a:r>
              <a:t>C_goal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3991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Distance</a:t>
            </a:r>
            <a:br/>
            <a:r>
              <a:t>to goal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991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w_goal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02952" y="2971800"/>
            <a:ext cx="1417320" cy="10058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3017520"/>
            <a:ext cx="10058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F08C2E"/>
                </a:solidFill>
                <a:latin typeface="Lato"/>
              </a:defRPr>
            </a:pPr>
            <a:r>
              <a:t>C_twirl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3227832"/>
            <a:ext cx="13258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555555"/>
                </a:solidFill>
                <a:latin typeface="Lato"/>
              </a:defRPr>
            </a:pPr>
            <a:r>
              <a:t>Rotation</a:t>
            </a:r>
            <a:br/>
            <a:r>
              <a:t>penalty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3685032"/>
            <a:ext cx="13258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defRPr sz="700" b="0" i="0">
                <a:solidFill>
                  <a:srgbClr val="333333"/>
                </a:solidFill>
                <a:latin typeface="Lato"/>
              </a:defRPr>
            </a:pPr>
            <a:r>
              <a:t>w_twirl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8952" y="4096512"/>
            <a:ext cx="10698480" cy="4114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" y="416052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333333"/>
                </a:solidFill>
                <a:latin typeface="Lato"/>
              </a:defRPr>
            </a:pPr>
            <a:r>
              <a:t>C_total = C_osc + Σ(wi · Ci)  →  Minimalkan total cost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0392" y="470916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7552" y="4754880"/>
            <a:ext cx="10241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Mampu menghindari obstacle dinamis yang tidak ada di global path, tercermin dari peningkatan max cross track error pada kondisi gempa.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5486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defRPr sz="2800" b="1" i="0">
                <a:solidFill>
                  <a:srgbClr val="1A2B4C"/>
                </a:solidFill>
                <a:latin typeface="Montserrat"/>
              </a:defRPr>
            </a:pPr>
            <a:r>
              <a:t>ARENA PENGUJIAN &amp; SKENARIO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54833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Lorong &amp; Ramp</a:t>
            </a:r>
          </a:p>
        </p:txBody>
      </p:sp>
      <p:pic>
        <p:nvPicPr>
          <p:cNvPr id="5" name="Picture 4" descr="sim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833" y="1097280"/>
            <a:ext cx="3535273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1587" y="89611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sim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1097280"/>
            <a:ext cx="3535273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54833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B — Lorong Sempit</a:t>
            </a:r>
          </a:p>
        </p:txBody>
      </p:sp>
      <p:pic>
        <p:nvPicPr>
          <p:cNvPr id="9" name="Picture 8" descr="sim_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833" y="3429000"/>
            <a:ext cx="3535273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1587" y="3227832"/>
            <a:ext cx="3535273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003A70"/>
                </a:solidFill>
                <a:latin typeface="Lato"/>
              </a:defRPr>
            </a:pPr>
            <a:r>
              <a:t>Region C — Area Terbuka</a:t>
            </a:r>
          </a:p>
        </p:txBody>
      </p:sp>
      <p:pic>
        <p:nvPicPr>
          <p:cNvPr id="11" name="Picture 10" descr="sim_R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7" y="3429000"/>
            <a:ext cx="3535273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5623560"/>
            <a:ext cx="10515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Platform: Mujoco Simulator  ·  Robot: Hexapod (6 kaki)  ·  Sensor: LiDAR 2D  ·  Peta: Known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HASIL PENGUJIAN: ICP LOCALIZATION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382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Normal Floor</a:t>
            </a:r>
          </a:p>
        </p:txBody>
      </p:sp>
      <p:pic>
        <p:nvPicPr>
          <p:cNvPr id="5" name="Picture 4" descr="icp_errors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051560"/>
            <a:ext cx="34290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24447" y="822960"/>
            <a:ext cx="3429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03A70"/>
                </a:solidFill>
                <a:latin typeface="Lato"/>
              </a:defRPr>
            </a:pPr>
            <a:r>
              <a:t>Region A — Rough Floor</a:t>
            </a:r>
          </a:p>
        </p:txBody>
      </p:sp>
      <p:pic>
        <p:nvPicPr>
          <p:cNvPr id="7" name="Picture 6" descr="icp_errors_RA_rou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051560"/>
            <a:ext cx="34290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" y="4114800"/>
            <a:ext cx="105156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4114800"/>
            <a:ext cx="50800" cy="5029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133087"/>
            <a:ext cx="10241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ICP akurat pada lantai normal. Rough floor menyebabkan osilasi signifikan pada sumbu x dan yaw akibat variasi vertikal scan LiDAR.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A2B4C"/>
                </a:solidFill>
                <a:latin typeface="Montserrat"/>
              </a:defRPr>
            </a:pPr>
            <a:r>
              <a:t>HASIL PENGUJIAN: PATH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th_all_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51560"/>
            <a:ext cx="2891195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1887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1A2B4C"/>
                </a:solidFill>
                <a:latin typeface="Montserrat"/>
              </a:defRPr>
            </a:pPr>
            <a:r>
              <a:t>Cost Scaling Factor (CSF) — Region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691640"/>
            <a:ext cx="64008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1691640"/>
            <a:ext cx="50800" cy="8686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1764792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03A70"/>
                </a:solidFill>
                <a:latin typeface="Montserrat"/>
              </a:defRPr>
            </a:pPr>
            <a:r>
              <a:t>CSF =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64792"/>
            <a:ext cx="4206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Path di tengah (konservatif),</a:t>
            </a:r>
            <a:br/>
            <a:r>
              <a:t>lebih panjang, clearance besar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679192"/>
            <a:ext cx="64008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679192"/>
            <a:ext cx="50800" cy="8686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752344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4A90D9"/>
                </a:solidFill>
                <a:latin typeface="Montserrat"/>
              </a:defRPr>
            </a:pPr>
            <a:r>
              <a:t>CSF =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752344"/>
            <a:ext cx="4206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Path transisi antara</a:t>
            </a:r>
            <a:br/>
            <a:r>
              <a:t>konservatif dan agresif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666744"/>
            <a:ext cx="64008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3666744"/>
            <a:ext cx="50800" cy="86868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3739896"/>
            <a:ext cx="1828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CSF =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39896"/>
            <a:ext cx="4206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8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Path terpendek &amp; paling lurus,</a:t>
            </a:r>
            <a:br/>
            <a:r>
              <a:t>optimal untuk efisiensi navigasi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4846320"/>
            <a:ext cx="6400800" cy="502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4846320"/>
            <a:ext cx="50800" cy="50292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4892040"/>
            <a:ext cx="6126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CSF 100 = path terpendek. Semua CSF efektif menghindari obstacle.</a:t>
            </a:r>
            <a:br/>
            <a:r>
              <a:t>Region B (lorong sempit): CSF tidak signifikan berpengaruh.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BF3E8"/>
            </a:gs>
            <a:gs pos="100000">
              <a:srgbClr val="E4D2B8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6400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1A2B4C"/>
                </a:solidFill>
                <a:latin typeface="Montserrat"/>
              </a:defRPr>
            </a:pPr>
            <a:r>
              <a:t>HASIL PENGUJIAN: DWA &amp; NAVIGASI PENUH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22860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0058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Hasil DWA Planner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417320"/>
            <a:ext cx="5303520" cy="10515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" y="1417320"/>
            <a:ext cx="508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63040"/>
            <a:ext cx="4114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2E7D32"/>
                </a:solidFill>
                <a:latin typeface="Montserrat"/>
              </a:defRPr>
            </a:pPr>
            <a:r>
              <a:t>✓  Kondisi 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73736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Mean &amp; max cross track error rendah.</a:t>
            </a:r>
            <a:br/>
            <a:r>
              <a:t>DWA mengikuti global path dengan baik.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560320"/>
            <a:ext cx="5303520" cy="10515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" y="2560320"/>
            <a:ext cx="50800" cy="105156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06040"/>
            <a:ext cx="4114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F08C2E"/>
                </a:solidFill>
                <a:latin typeface="Montserrat"/>
              </a:defRPr>
            </a:pPr>
            <a:r>
              <a:t>⚠  Kondisi Gempa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880360"/>
            <a:ext cx="502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Max cross track error meningkat signifikan.</a:t>
            </a:r>
            <a:br/>
            <a:r>
              <a:t>Obstacle tidak diketahui di global path →</a:t>
            </a:r>
            <a:br/>
            <a:r>
              <a:t>DWA menyimpang untuk menghindari tabrakan.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005840"/>
            <a:ext cx="5029200" cy="2103120"/>
          </a:xfrm>
          <a:prstGeom prst="roundRect">
            <a:avLst/>
          </a:prstGeom>
          <a:solidFill>
            <a:srgbClr val="E3F0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005840"/>
            <a:ext cx="502920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09728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03A70"/>
                </a:solidFill>
                <a:latin typeface="Montserrat"/>
              </a:defRPr>
            </a:pPr>
            <a:r>
              <a:t>NAVIGASI PENUH (Region A → 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66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 i="0">
                <a:solidFill>
                  <a:srgbClr val="003A70"/>
                </a:solidFill>
                <a:latin typeface="Montserrat"/>
              </a:defRPr>
            </a:pPr>
            <a:r>
              <a:t>127.26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05740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 i="0">
                <a:solidFill>
                  <a:srgbClr val="003A70"/>
                </a:solidFill>
                <a:latin typeface="Montserrat"/>
              </a:defRPr>
            </a:pPr>
            <a:r>
              <a:t>DETIK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3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Robot berhasil menavigasi dari Region A ke Region C</a:t>
            </a:r>
            <a:br/>
            <a:r>
              <a:t>melalui Region B secara otonom penuh.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337560"/>
            <a:ext cx="5029200" cy="128016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38328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Semua Komponen Bekerja Terintegrasi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572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✓  ICP Localization → estimasi pose real-time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877056"/>
            <a:ext cx="4572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✓  Costmap Transisi → perpindahan antar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96512"/>
            <a:ext cx="4572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✓  A* Global Planner → rute multi-region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15968"/>
            <a:ext cx="45720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✓  DWA Local Planner → trajectory + obstacle avoidance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2004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KESIMPULAN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64592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Layered costmap berhasil merepresentasikan lingkungan</a:t>
            </a:r>
            <a:br/>
            <a:r>
              <a:t>multi-lantai sebagai kumpulan peta 2D region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25112" y="105156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ICP localization akurat untuk navigasi, dengan peningkatan</a:t>
            </a:r>
            <a:br/>
            <a:r>
              <a:t>error pada lantai tidak rata dan region kompleks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9832" y="105156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99832" y="105156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9832" y="109728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178308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 Scaling Factor 100 menghasilkan jalur terpendek</a:t>
            </a:r>
            <a:br/>
            <a:r>
              <a:t>dengan tetap menghindari obstacle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87752" y="329184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7752" y="3291840"/>
            <a:ext cx="3246120" cy="54864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Costmap transisi berhasil menggabungkan region pada</a:t>
            </a:r>
            <a:br/>
            <a:r>
              <a:t>radius transisi minimal 0.26 meter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2472" y="3291840"/>
            <a:ext cx="3246120" cy="2011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62472" y="3291840"/>
            <a:ext cx="3246120" cy="54864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62472" y="333756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4023360"/>
            <a:ext cx="28803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333333"/>
                </a:solidFill>
                <a:latin typeface="Lato"/>
              </a:defRPr>
            </a:pPr>
            <a:r>
              <a:t>DWA Planner mampu mengakomodasi obstacle tidak</a:t>
            </a:r>
            <a:br/>
            <a:r>
              <a:t>diketahui dan menghasilkan trajectory 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1FC"/>
            </a:gs>
            <a:gs pos="100000">
              <a:srgbClr val="CDDFF1"/>
            </a:gs>
          </a:gsLst>
          <a:lin ang="81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320040"/>
            <a:ext cx="3657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1A2B4C"/>
                </a:solidFill>
                <a:latin typeface="Montserrat"/>
              </a:defRPr>
            </a:pPr>
            <a:r>
              <a:t>SARAN PENGEMBANGAN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777240"/>
            <a:ext cx="18288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0392" y="105156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" y="1051560"/>
            <a:ext cx="5120640" cy="508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003A70"/>
                </a:solidFill>
                <a:latin typeface="Montserrat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Prekomputasi KNN per Region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Parameter radius dan jumlah nearest neighbors</a:t>
            </a:r>
            <a:br/>
            <a:r>
              <a:t>dapat disetel independen per region untuk</a:t>
            </a:r>
            <a:br/>
            <a:r>
              <a:t>akurasi ICP yang lebih optimal.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05156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05156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14300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114300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Fusion ICP + 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164592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Kompensasi lonjakan error ICP di zona transisi</a:t>
            </a:r>
            <a:br/>
            <a:r>
              <a:t>dengan data IMU saat fitur LiDAR terbatas.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320040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200400"/>
            <a:ext cx="5120640" cy="50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4A90D9"/>
                </a:solidFill>
                <a:latin typeface="Montserrat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Integrasi Depth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Keterbatasan LiDAR 2D dalam mendeteksi</a:t>
            </a:r>
            <a:br/>
            <a:r>
              <a:t>obstacle vertikal dapat dilengkapi dengan</a:t>
            </a:r>
            <a:br/>
            <a:r>
              <a:t>data visual dari depth sensor.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200400"/>
            <a:ext cx="5120640" cy="19202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200400"/>
            <a:ext cx="5120640" cy="508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291840"/>
            <a:ext cx="365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 i="0">
                <a:solidFill>
                  <a:srgbClr val="F08C2E"/>
                </a:solidFill>
                <a:latin typeface="Montserrat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291840"/>
            <a:ext cx="4389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A2B4C"/>
                </a:solidFill>
                <a:latin typeface="Montserrat"/>
              </a:defRPr>
            </a:pPr>
            <a:r>
              <a:t>Pengujian pada Robot Fisik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794760"/>
            <a:ext cx="47548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333333"/>
                </a:solidFill>
                <a:latin typeface="Lato"/>
              </a:defRPr>
            </a:pPr>
            <a:r>
              <a:t>Validasi sistem di lingkungan nyata setelah</a:t>
            </a:r>
            <a:br/>
            <a:r>
              <a:t>terbukti berhasil di lingkungan simulasi Mujoco.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4103" y="644652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333333"/>
                </a:solidFill>
                <a:latin typeface="Lato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24247" y="1097280"/>
            <a:ext cx="2743200" cy="381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 i="0">
                <a:solidFill>
                  <a:srgbClr val="FFFFFF"/>
                </a:solidFill>
                <a:latin typeface="Montserrat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BBD5EC"/>
                </a:solidFill>
                <a:latin typeface="Montserrat"/>
              </a:defRPr>
            </a:pPr>
            <a:r>
              <a:t>Bagas Surya Wirawan  ·  NRP. 5022221026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959"/>
              </a:lnSpc>
              <a:spcBef>
                <a:spcPts val="0"/>
              </a:spcBef>
              <a:spcAft>
                <a:spcPts val="0"/>
              </a:spcAft>
              <a:defRPr sz="1400" b="0" i="0">
                <a:solidFill>
                  <a:srgbClr val="99BBDD"/>
                </a:solidFill>
                <a:latin typeface="Lato"/>
              </a:defRPr>
            </a:pPr>
            <a:r>
              <a:t>Dosen Pembimbing:</a:t>
            </a:r>
            <a:br/>
            <a:r>
              <a:t>Dr. Ir. Djoko Purwanto, M.Eng.</a:t>
            </a:r>
            <a:br/>
            <a:r>
              <a:t>Fajar Budiman, S.T., M.Sc.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88AACC"/>
                </a:solidFill>
                <a:latin typeface="Lato"/>
              </a:defRPr>
            </a:pPr>
            <a:r>
              <a:t>Departemen Teknik Elektro</a:t>
            </a:r>
            <a:br/>
            <a:r>
              <a:t>Fakultas Teknologi Elektro dan Informatika Cerdas</a:t>
            </a:r>
            <a:br/>
            <a:r>
              <a:t>Institut Teknologi Sepuluh Nopember</a:t>
            </a:r>
            <a:br/>
            <a:r>
              <a:t>Surabaya ·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0967" y="6537960"/>
            <a:ext cx="320040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2807" y="6537960"/>
            <a:ext cx="3200400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4647" y="6537960"/>
            <a:ext cx="3200400" cy="254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