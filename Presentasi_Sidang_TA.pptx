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4.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02B54"/>
        </a:solidFill>
        <a:effectLst/>
      </p:bgPr>
    </p:bg>
    <p:spTree>
      <p:nvGrpSpPr>
        <p:cNvPr id="1" name=""/>
        <p:cNvGrpSpPr/>
        <p:nvPr/>
      </p:nvGrpSpPr>
      <p:grpSpPr/>
      <p:sp>
        <p:nvSpPr>
          <p:cNvPr id="2" name="Oval 1"/>
          <p:cNvSpPr/>
          <p:nvPr/>
        </p:nvSpPr>
        <p:spPr>
          <a:xfrm>
            <a:off x="-2286000" y="-2743200"/>
            <a:ext cx="8229600" cy="8229600"/>
          </a:xfrm>
          <a:prstGeom prst="ellipse">
            <a:avLst/>
          </a:prstGeom>
          <a:solidFill>
            <a:srgbClr val="0A3C6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8991295" y="2743200"/>
            <a:ext cx="5486400" cy="5486400"/>
          </a:xfrm>
          <a:prstGeom prst="ellipse">
            <a:avLst/>
          </a:prstGeom>
          <a:solidFill>
            <a:srgbClr val="0A3C6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10403535" y="-113792"/>
            <a:ext cx="2473960" cy="647192"/>
          </a:xfrm>
          <a:prstGeom prst="roundRect">
            <a:avLst/>
          </a:prstGeom>
          <a:solidFill>
            <a:srgbClr val="001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0454335" y="-164592"/>
            <a:ext cx="2423160" cy="62179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nstitut Teknologi Sepuluh Nopember - Blue.png"/>
          <p:cNvPicPr>
            <a:picLocks noChangeAspect="1"/>
          </p:cNvPicPr>
          <p:nvPr/>
        </p:nvPicPr>
        <p:blipFill>
          <a:blip r:embed="rId2"/>
          <a:stretch>
            <a:fillRect/>
          </a:stretch>
        </p:blipFill>
        <p:spPr>
          <a:xfrm>
            <a:off x="10564063" y="53340"/>
            <a:ext cx="567698" cy="365760"/>
          </a:xfrm>
          <a:prstGeom prst="rect">
            <a:avLst/>
          </a:prstGeom>
        </p:spPr>
      </p:pic>
      <p:pic>
        <p:nvPicPr>
          <p:cNvPr id="7" name="Picture 6" descr="Elektro-trans.png"/>
          <p:cNvPicPr>
            <a:picLocks noChangeAspect="1"/>
          </p:cNvPicPr>
          <p:nvPr/>
        </p:nvPicPr>
        <p:blipFill>
          <a:blip r:embed="rId3"/>
          <a:stretch>
            <a:fillRect/>
          </a:stretch>
        </p:blipFill>
        <p:spPr>
          <a:xfrm>
            <a:off x="11241489" y="53340"/>
            <a:ext cx="370921" cy="365760"/>
          </a:xfrm>
          <a:prstGeom prst="rect">
            <a:avLst/>
          </a:prstGeom>
        </p:spPr>
      </p:pic>
      <p:pic>
        <p:nvPicPr>
          <p:cNvPr id="8" name="Picture 7" descr="ELKA b202.png"/>
          <p:cNvPicPr>
            <a:picLocks noChangeAspect="1"/>
          </p:cNvPicPr>
          <p:nvPr/>
        </p:nvPicPr>
        <p:blipFill>
          <a:blip r:embed="rId4"/>
          <a:stretch>
            <a:fillRect/>
          </a:stretch>
        </p:blipFill>
        <p:spPr>
          <a:xfrm>
            <a:off x="11722139" y="53340"/>
            <a:ext cx="436050" cy="365760"/>
          </a:xfrm>
          <a:prstGeom prst="rect">
            <a:avLst/>
          </a:prstGeom>
        </p:spPr>
      </p:pic>
      <p:sp>
        <p:nvSpPr>
          <p:cNvPr id="9" name="Rectangle 8"/>
          <p:cNvSpPr/>
          <p:nvPr/>
        </p:nvSpPr>
        <p:spPr>
          <a:xfrm>
            <a:off x="502920" y="1143000"/>
            <a:ext cx="63500" cy="1920240"/>
          </a:xfrm>
          <a:prstGeom prst="rect">
            <a:avLst/>
          </a:prstGeom>
          <a:solidFill>
            <a:srgbClr val="F08C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1143000"/>
            <a:ext cx="8229600" cy="2286000"/>
          </a:xfrm>
          <a:prstGeom prst="rect">
            <a:avLst/>
          </a:prstGeom>
          <a:noFill/>
        </p:spPr>
        <p:txBody>
          <a:bodyPr wrap="square"/>
          <a:lstStyle/>
          <a:p>
            <a:pPr algn="l">
              <a:lnSpc>
                <a:spcPts val="3660"/>
              </a:lnSpc>
              <a:spcAft>
                <a:spcPts val="400"/>
              </a:spcAft>
              <a:defRPr sz="3000" b="1" i="0">
                <a:solidFill>
                  <a:srgbClr val="FFFFFF"/>
                </a:solidFill>
                <a:latin typeface="Montserrat"/>
              </a:defRPr>
            </a:pPr>
            <a:r>
              <a:t>NAVIGASI ROBOT BERBASIS</a:t>
            </a:r>
          </a:p>
          <a:p>
            <a:pPr algn="l">
              <a:lnSpc>
                <a:spcPts val="3660"/>
              </a:lnSpc>
              <a:spcAft>
                <a:spcPts val="400"/>
              </a:spcAft>
              <a:defRPr sz="3000" b="1" i="0">
                <a:solidFill>
                  <a:srgbClr val="FFFFFF"/>
                </a:solidFill>
                <a:latin typeface="Montserrat"/>
              </a:defRPr>
            </a:pPr>
            <a:r>
              <a:t>LAYERED COSTMAP</a:t>
            </a:r>
          </a:p>
          <a:p>
            <a:pPr algn="l">
              <a:lnSpc>
                <a:spcPts val="3660"/>
              </a:lnSpc>
              <a:spcAft>
                <a:spcPts val="400"/>
              </a:spcAft>
              <a:defRPr sz="3000" b="1" i="0">
                <a:solidFill>
                  <a:srgbClr val="C8DCEE"/>
                </a:solidFill>
                <a:latin typeface="Montserrat"/>
              </a:defRPr>
            </a:pPr>
            <a:r>
              <a:t>UNTUK PERGERAKAN ANTAR LANTAI</a:t>
            </a:r>
          </a:p>
          <a:p>
            <a:pPr algn="l">
              <a:lnSpc>
                <a:spcPts val="3900"/>
              </a:lnSpc>
              <a:spcAft>
                <a:spcPts val="2800"/>
              </a:spcAft>
              <a:defRPr sz="3000" b="1" i="0">
                <a:solidFill>
                  <a:srgbClr val="A0BEDA"/>
                </a:solidFill>
                <a:latin typeface="Montserrat"/>
              </a:defRPr>
            </a:pPr>
            <a:r>
              <a:t>PADA LINGKUNGAN INDOOR PASCA GEMPA BUMI</a:t>
            </a:r>
          </a:p>
        </p:txBody>
      </p:sp>
      <p:sp>
        <p:nvSpPr>
          <p:cNvPr id="11" name="Rectangle 10"/>
          <p:cNvSpPr/>
          <p:nvPr/>
        </p:nvSpPr>
        <p:spPr>
          <a:xfrm>
            <a:off x="960120" y="3200400"/>
            <a:ext cx="3291840" cy="31750"/>
          </a:xfrm>
          <a:prstGeom prst="rect">
            <a:avLst/>
          </a:prstGeom>
          <a:solidFill>
            <a:srgbClr val="F08C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3611880"/>
            <a:ext cx="6400800" cy="1828800"/>
          </a:xfrm>
          <a:prstGeom prst="rect">
            <a:avLst/>
          </a:prstGeom>
          <a:noFill/>
        </p:spPr>
        <p:txBody>
          <a:bodyPr wrap="square"/>
          <a:lstStyle/>
          <a:p>
            <a:pPr algn="l">
              <a:lnSpc>
                <a:spcPts val="2529"/>
              </a:lnSpc>
              <a:spcAft>
                <a:spcPts val="400"/>
              </a:spcAft>
              <a:defRPr sz="2200" b="1" i="0">
                <a:solidFill>
                  <a:srgbClr val="FFFFFF"/>
                </a:solidFill>
                <a:latin typeface="Montserrat"/>
              </a:defRPr>
            </a:pPr>
            <a:r>
              <a:t>Bagas Surya Wirawan</a:t>
            </a:r>
          </a:p>
          <a:p>
            <a:pPr algn="l">
              <a:lnSpc>
                <a:spcPts val="1600"/>
              </a:lnSpc>
              <a:spcAft>
                <a:spcPts val="400"/>
              </a:spcAft>
              <a:defRPr sz="1600" b="0" i="0">
                <a:solidFill>
                  <a:srgbClr val="BBD5EC"/>
                </a:solidFill>
                <a:latin typeface="Lato"/>
              </a:defRPr>
            </a:pPr>
            <a:r>
              <a:t>NRP. 5022221026</a:t>
            </a:r>
          </a:p>
          <a:p>
            <a:pPr algn="l">
              <a:lnSpc>
                <a:spcPts val="800"/>
              </a:lnSpc>
              <a:spcAft>
                <a:spcPts val="400"/>
              </a:spcAft>
              <a:defRPr sz="800" b="0" i="0">
                <a:solidFill>
                  <a:srgbClr val="FFFFFF"/>
                </a:solidFill>
                <a:latin typeface="Lato"/>
              </a:defRPr>
            </a:pPr>
          </a:p>
          <a:p>
            <a:pPr algn="l">
              <a:lnSpc>
                <a:spcPts val="1470"/>
              </a:lnSpc>
              <a:spcAft>
                <a:spcPts val="400"/>
              </a:spcAft>
              <a:defRPr sz="1400" b="1" i="0">
                <a:solidFill>
                  <a:srgbClr val="CCCCCC"/>
                </a:solidFill>
                <a:latin typeface="Lato"/>
              </a:defRPr>
            </a:pPr>
            <a:r>
              <a:t>Dosen Pembimbing:</a:t>
            </a:r>
          </a:p>
          <a:p>
            <a:pPr algn="l">
              <a:lnSpc>
                <a:spcPts val="1330"/>
              </a:lnSpc>
              <a:spcAft>
                <a:spcPts val="400"/>
              </a:spcAft>
              <a:defRPr sz="1400" b="0" i="0">
                <a:solidFill>
                  <a:srgbClr val="BBD5EC"/>
                </a:solidFill>
                <a:latin typeface="Lato"/>
              </a:defRPr>
            </a:pPr>
            <a:r>
              <a:t>Dr. Ir. Djoko Purwanto, M.Eng.</a:t>
            </a:r>
          </a:p>
          <a:p>
            <a:pPr algn="l">
              <a:lnSpc>
                <a:spcPts val="1330"/>
              </a:lnSpc>
              <a:spcAft>
                <a:spcPts val="400"/>
              </a:spcAft>
              <a:defRPr sz="1400" b="0" i="0">
                <a:solidFill>
                  <a:srgbClr val="BBD5EC"/>
                </a:solidFill>
                <a:latin typeface="Lato"/>
              </a:defRPr>
            </a:pPr>
            <a:r>
              <a:t>Fajar Budiman, S.T., M.Sc.</a:t>
            </a:r>
          </a:p>
          <a:p>
            <a:pPr algn="l">
              <a:lnSpc>
                <a:spcPts val="800"/>
              </a:lnSpc>
              <a:spcAft>
                <a:spcPts val="400"/>
              </a:spcAft>
              <a:defRPr sz="800" b="0" i="0">
                <a:solidFill>
                  <a:srgbClr val="FFFFFF"/>
                </a:solidFill>
                <a:latin typeface="Lato"/>
              </a:defRPr>
            </a:pPr>
          </a:p>
          <a:p>
            <a:pPr algn="l">
              <a:lnSpc>
                <a:spcPts val="1139"/>
              </a:lnSpc>
              <a:spcAft>
                <a:spcPts val="400"/>
              </a:spcAft>
              <a:defRPr sz="1200" b="0" i="0">
                <a:solidFill>
                  <a:srgbClr val="9BBBDB"/>
                </a:solidFill>
                <a:latin typeface="Lato"/>
              </a:defRPr>
            </a:pPr>
            <a:r>
              <a:t>Departemen Teknik Elektro</a:t>
            </a:r>
          </a:p>
          <a:p>
            <a:pPr algn="l">
              <a:lnSpc>
                <a:spcPts val="1139"/>
              </a:lnSpc>
              <a:spcAft>
                <a:spcPts val="400"/>
              </a:spcAft>
              <a:defRPr sz="1200" b="0" i="0">
                <a:solidFill>
                  <a:srgbClr val="9BBBDB"/>
                </a:solidFill>
                <a:latin typeface="Lato"/>
              </a:defRPr>
            </a:pPr>
            <a:r>
              <a:t>Fakultas Teknologi Elektro dan Informatika Cerdas</a:t>
            </a:r>
          </a:p>
          <a:p>
            <a:pPr algn="l">
              <a:lnSpc>
                <a:spcPts val="1139"/>
              </a:lnSpc>
              <a:spcAft>
                <a:spcPts val="400"/>
              </a:spcAft>
              <a:defRPr sz="1200" b="0" i="0">
                <a:solidFill>
                  <a:srgbClr val="85A8CA"/>
                </a:solidFill>
                <a:latin typeface="Lato"/>
              </a:defRPr>
            </a:pPr>
            <a:r>
              <a:t>Institut Teknologi Sepuluh Nopember  ·  Surabaya  ·  2026</a:t>
            </a:r>
          </a:p>
        </p:txBody>
      </p:sp>
      <p:sp>
        <p:nvSpPr>
          <p:cNvPr id="13" name="Rectangle 12"/>
          <p:cNvSpPr/>
          <p:nvPr/>
        </p:nvSpPr>
        <p:spPr>
          <a:xfrm>
            <a:off x="502920" y="6537960"/>
            <a:ext cx="2286000" cy="19050"/>
          </a:xfrm>
          <a:prstGeom prst="rect">
            <a:avLst/>
          </a:prstGeom>
          <a:solidFill>
            <a:srgbClr val="144D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gradFill rotWithShape="1">
          <a:gsLst>
            <a:gs pos="0">
              <a:srgbClr val="E2EEFC"/>
            </a:gs>
            <a:gs pos="100000">
              <a:srgbClr val="BED4EF"/>
            </a:gs>
          </a:gsLst>
          <a:lin ang="8100000" scaled="0"/>
        </a:gradFill>
      </p:bgPr>
    </p:bg>
    <p:spTree>
      <p:nvGrpSpPr>
        <p:cNvPr id="1" name=""/>
        <p:cNvGrpSpPr/>
        <p:nvPr/>
      </p:nvGrpSpPr>
      <p:grpSpPr/>
      <p:sp>
        <p:nvSpPr>
          <p:cNvPr id="2" name="TextBox 1"/>
          <p:cNvSpPr txBox="1"/>
          <p:nvPr/>
        </p:nvSpPr>
        <p:spPr>
          <a:xfrm>
            <a:off x="850392" y="365760"/>
            <a:ext cx="3657600" cy="548640"/>
          </a:xfrm>
          <a:prstGeom prst="rect">
            <a:avLst/>
          </a:prstGeom>
          <a:noFill/>
        </p:spPr>
        <p:txBody>
          <a:bodyPr wrap="square"/>
          <a:lstStyle/>
          <a:p>
            <a:pPr algn="l">
              <a:lnSpc>
                <a:spcPts val="3600"/>
              </a:lnSpc>
              <a:spcBef>
                <a:spcPts val="0"/>
              </a:spcBef>
              <a:spcAft>
                <a:spcPts val="0"/>
              </a:spcAft>
              <a:defRPr sz="3000" b="1" i="0">
                <a:solidFill>
                  <a:srgbClr val="1A2B4C"/>
                </a:solidFill>
                <a:latin typeface="Montserrat"/>
              </a:defRPr>
            </a:pPr>
            <a:r>
              <a:t>DAFTAR ISI</a:t>
            </a:r>
          </a:p>
        </p:txBody>
      </p:sp>
      <p:sp>
        <p:nvSpPr>
          <p:cNvPr id="3" name="Rectangle 2"/>
          <p:cNvSpPr/>
          <p:nvPr/>
        </p:nvSpPr>
        <p:spPr>
          <a:xfrm>
            <a:off x="850392" y="868680"/>
            <a:ext cx="1645920" cy="25400"/>
          </a:xfrm>
          <a:prstGeom prst="rect">
            <a:avLst/>
          </a:prstGeom>
          <a:solidFill>
            <a:srgbClr val="F08C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850392" y="1234440"/>
            <a:ext cx="3474720" cy="868680"/>
          </a:xfrm>
          <a:prstGeom prst="roundRect">
            <a:avLst/>
          </a:prstGeom>
          <a:solidFill>
            <a:srgbClr val="FFF8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33272" y="1325880"/>
            <a:ext cx="640080" cy="548640"/>
          </a:xfrm>
          <a:prstGeom prst="rect">
            <a:avLst/>
          </a:prstGeom>
          <a:noFill/>
        </p:spPr>
        <p:txBody>
          <a:bodyPr wrap="square"/>
          <a:lstStyle/>
          <a:p>
            <a:pPr algn="l">
              <a:lnSpc>
                <a:spcPts val="3360"/>
              </a:lnSpc>
              <a:spcBef>
                <a:spcPts val="0"/>
              </a:spcBef>
              <a:spcAft>
                <a:spcPts val="0"/>
              </a:spcAft>
              <a:defRPr sz="2800" b="1" i="0">
                <a:solidFill>
                  <a:srgbClr val="4A90D9"/>
                </a:solidFill>
                <a:latin typeface="Montserrat"/>
              </a:defRPr>
            </a:pPr>
            <a:r>
              <a:t>01</a:t>
            </a:r>
          </a:p>
        </p:txBody>
      </p:sp>
      <p:sp>
        <p:nvSpPr>
          <p:cNvPr id="6" name="TextBox 5"/>
          <p:cNvSpPr txBox="1"/>
          <p:nvPr/>
        </p:nvSpPr>
        <p:spPr>
          <a:xfrm>
            <a:off x="1627632" y="1325880"/>
            <a:ext cx="2468880" cy="320040"/>
          </a:xfrm>
          <a:prstGeom prst="rect">
            <a:avLst/>
          </a:prstGeom>
          <a:noFill/>
        </p:spPr>
        <p:txBody>
          <a:bodyPr wrap="square"/>
          <a:lstStyle/>
          <a:p>
            <a:pPr algn="l">
              <a:lnSpc>
                <a:spcPts val="1800"/>
              </a:lnSpc>
              <a:spcBef>
                <a:spcPts val="0"/>
              </a:spcBef>
              <a:spcAft>
                <a:spcPts val="0"/>
              </a:spcAft>
              <a:defRPr sz="1500" b="1" i="0">
                <a:solidFill>
                  <a:srgbClr val="1A2B4C"/>
                </a:solidFill>
                <a:latin typeface="Montserrat"/>
              </a:defRPr>
            </a:pPr>
            <a:r>
              <a:t>Latar Belakang</a:t>
            </a:r>
          </a:p>
        </p:txBody>
      </p:sp>
      <p:sp>
        <p:nvSpPr>
          <p:cNvPr id="7" name="TextBox 6"/>
          <p:cNvSpPr txBox="1"/>
          <p:nvPr/>
        </p:nvSpPr>
        <p:spPr>
          <a:xfrm>
            <a:off x="1627632" y="1673352"/>
            <a:ext cx="2468880" cy="365760"/>
          </a:xfrm>
          <a:prstGeom prst="rect">
            <a:avLst/>
          </a:prstGeom>
          <a:noFill/>
        </p:spPr>
        <p:txBody>
          <a:bodyPr wrap="square"/>
          <a:lstStyle/>
          <a:p>
            <a:pPr algn="l">
              <a:lnSpc>
                <a:spcPts val="1375"/>
              </a:lnSpc>
              <a:spcBef>
                <a:spcPts val="0"/>
              </a:spcBef>
              <a:spcAft>
                <a:spcPts val="0"/>
              </a:spcAft>
              <a:defRPr sz="1100" b="0" i="0">
                <a:solidFill>
                  <a:srgbClr val="555555"/>
                </a:solidFill>
                <a:latin typeface="Lato"/>
              </a:defRPr>
            </a:pPr>
            <a:r>
              <a:t>Konteks gempa bumi di Indonesia dan urgensi robot SAR otonom</a:t>
            </a:r>
          </a:p>
        </p:txBody>
      </p:sp>
      <p:sp>
        <p:nvSpPr>
          <p:cNvPr id="8" name="Rounded Rectangle 7"/>
          <p:cNvSpPr/>
          <p:nvPr/>
        </p:nvSpPr>
        <p:spPr>
          <a:xfrm>
            <a:off x="850392" y="2267712"/>
            <a:ext cx="3474720" cy="868680"/>
          </a:xfrm>
          <a:prstGeom prst="roundRect">
            <a:avLst/>
          </a:prstGeom>
          <a:solidFill>
            <a:srgbClr val="FFF8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33272" y="2359152"/>
            <a:ext cx="640080" cy="548640"/>
          </a:xfrm>
          <a:prstGeom prst="rect">
            <a:avLst/>
          </a:prstGeom>
          <a:noFill/>
        </p:spPr>
        <p:txBody>
          <a:bodyPr wrap="square"/>
          <a:lstStyle/>
          <a:p>
            <a:pPr algn="l">
              <a:lnSpc>
                <a:spcPts val="3360"/>
              </a:lnSpc>
              <a:spcBef>
                <a:spcPts val="0"/>
              </a:spcBef>
              <a:spcAft>
                <a:spcPts val="0"/>
              </a:spcAft>
              <a:defRPr sz="2800" b="1" i="0">
                <a:solidFill>
                  <a:srgbClr val="4A90D9"/>
                </a:solidFill>
                <a:latin typeface="Montserrat"/>
              </a:defRPr>
            </a:pPr>
            <a:r>
              <a:t>02</a:t>
            </a:r>
          </a:p>
        </p:txBody>
      </p:sp>
      <p:sp>
        <p:nvSpPr>
          <p:cNvPr id="10" name="TextBox 9"/>
          <p:cNvSpPr txBox="1"/>
          <p:nvPr/>
        </p:nvSpPr>
        <p:spPr>
          <a:xfrm>
            <a:off x="1627632" y="2359152"/>
            <a:ext cx="2468880" cy="320040"/>
          </a:xfrm>
          <a:prstGeom prst="rect">
            <a:avLst/>
          </a:prstGeom>
          <a:noFill/>
        </p:spPr>
        <p:txBody>
          <a:bodyPr wrap="square"/>
          <a:lstStyle/>
          <a:p>
            <a:pPr algn="l">
              <a:lnSpc>
                <a:spcPts val="1800"/>
              </a:lnSpc>
              <a:spcBef>
                <a:spcPts val="0"/>
              </a:spcBef>
              <a:spcAft>
                <a:spcPts val="0"/>
              </a:spcAft>
              <a:defRPr sz="1500" b="1" i="0">
                <a:solidFill>
                  <a:srgbClr val="1A2B4C"/>
                </a:solidFill>
                <a:latin typeface="Montserrat"/>
              </a:defRPr>
            </a:pPr>
            <a:r>
              <a:t>Rumusan Masalah &amp; Tujuan</a:t>
            </a:r>
          </a:p>
        </p:txBody>
      </p:sp>
      <p:sp>
        <p:nvSpPr>
          <p:cNvPr id="11" name="TextBox 10"/>
          <p:cNvSpPr txBox="1"/>
          <p:nvPr/>
        </p:nvSpPr>
        <p:spPr>
          <a:xfrm>
            <a:off x="1627632" y="2706624"/>
            <a:ext cx="2468880" cy="365760"/>
          </a:xfrm>
          <a:prstGeom prst="rect">
            <a:avLst/>
          </a:prstGeom>
          <a:noFill/>
        </p:spPr>
        <p:txBody>
          <a:bodyPr wrap="square"/>
          <a:lstStyle/>
          <a:p>
            <a:pPr algn="l">
              <a:lnSpc>
                <a:spcPts val="1375"/>
              </a:lnSpc>
              <a:spcBef>
                <a:spcPts val="0"/>
              </a:spcBef>
              <a:spcAft>
                <a:spcPts val="0"/>
              </a:spcAft>
              <a:defRPr sz="1100" b="0" i="0">
                <a:solidFill>
                  <a:srgbClr val="555555"/>
                </a:solidFill>
                <a:latin typeface="Lato"/>
              </a:defRPr>
            </a:pPr>
            <a:r>
              <a:t>Pertanyaan penelitian, batasan, dan tujuan yang ingin dicapai</a:t>
            </a:r>
          </a:p>
        </p:txBody>
      </p:sp>
      <p:sp>
        <p:nvSpPr>
          <p:cNvPr id="12" name="Rounded Rectangle 11"/>
          <p:cNvSpPr/>
          <p:nvPr/>
        </p:nvSpPr>
        <p:spPr>
          <a:xfrm>
            <a:off x="4553712" y="1234440"/>
            <a:ext cx="3474720" cy="868680"/>
          </a:xfrm>
          <a:prstGeom prst="roundRect">
            <a:avLst/>
          </a:prstGeom>
          <a:solidFill>
            <a:srgbClr val="FFF8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36592" y="1325880"/>
            <a:ext cx="640080" cy="548640"/>
          </a:xfrm>
          <a:prstGeom prst="rect">
            <a:avLst/>
          </a:prstGeom>
          <a:noFill/>
        </p:spPr>
        <p:txBody>
          <a:bodyPr wrap="square"/>
          <a:lstStyle/>
          <a:p>
            <a:pPr algn="l">
              <a:lnSpc>
                <a:spcPts val="3360"/>
              </a:lnSpc>
              <a:spcBef>
                <a:spcPts val="0"/>
              </a:spcBef>
              <a:spcAft>
                <a:spcPts val="0"/>
              </a:spcAft>
              <a:defRPr sz="2800" b="1" i="0">
                <a:solidFill>
                  <a:srgbClr val="4A90D9"/>
                </a:solidFill>
                <a:latin typeface="Montserrat"/>
              </a:defRPr>
            </a:pPr>
            <a:r>
              <a:t>03</a:t>
            </a:r>
          </a:p>
        </p:txBody>
      </p:sp>
      <p:sp>
        <p:nvSpPr>
          <p:cNvPr id="14" name="TextBox 13"/>
          <p:cNvSpPr txBox="1"/>
          <p:nvPr/>
        </p:nvSpPr>
        <p:spPr>
          <a:xfrm>
            <a:off x="5330952" y="1325880"/>
            <a:ext cx="2468880" cy="320040"/>
          </a:xfrm>
          <a:prstGeom prst="rect">
            <a:avLst/>
          </a:prstGeom>
          <a:noFill/>
        </p:spPr>
        <p:txBody>
          <a:bodyPr wrap="square"/>
          <a:lstStyle/>
          <a:p>
            <a:pPr algn="l">
              <a:lnSpc>
                <a:spcPts val="1800"/>
              </a:lnSpc>
              <a:spcBef>
                <a:spcPts val="0"/>
              </a:spcBef>
              <a:spcAft>
                <a:spcPts val="0"/>
              </a:spcAft>
              <a:defRPr sz="1500" b="1" i="0">
                <a:solidFill>
                  <a:srgbClr val="1A2B4C"/>
                </a:solidFill>
                <a:latin typeface="Montserrat"/>
              </a:defRPr>
            </a:pPr>
            <a:r>
              <a:t>Metodologi &amp; Desain Sistem</a:t>
            </a:r>
          </a:p>
        </p:txBody>
      </p:sp>
      <p:sp>
        <p:nvSpPr>
          <p:cNvPr id="15" name="TextBox 14"/>
          <p:cNvSpPr txBox="1"/>
          <p:nvPr/>
        </p:nvSpPr>
        <p:spPr>
          <a:xfrm>
            <a:off x="5330952" y="1673352"/>
            <a:ext cx="2468880" cy="365760"/>
          </a:xfrm>
          <a:prstGeom prst="rect">
            <a:avLst/>
          </a:prstGeom>
          <a:noFill/>
        </p:spPr>
        <p:txBody>
          <a:bodyPr wrap="square"/>
          <a:lstStyle/>
          <a:p>
            <a:pPr algn="l">
              <a:lnSpc>
                <a:spcPts val="1375"/>
              </a:lnSpc>
              <a:spcBef>
                <a:spcPts val="0"/>
              </a:spcBef>
              <a:spcAft>
                <a:spcPts val="0"/>
              </a:spcAft>
              <a:defRPr sz="1100" b="0" i="0">
                <a:solidFill>
                  <a:srgbClr val="555555"/>
                </a:solidFill>
                <a:latin typeface="Lato"/>
              </a:defRPr>
            </a:pPr>
            <a:r>
              <a:t>Arsitektur navigasi: costmap, ICP, A*, dan DWA planner</a:t>
            </a:r>
          </a:p>
        </p:txBody>
      </p:sp>
      <p:sp>
        <p:nvSpPr>
          <p:cNvPr id="16" name="Rounded Rectangle 15"/>
          <p:cNvSpPr/>
          <p:nvPr/>
        </p:nvSpPr>
        <p:spPr>
          <a:xfrm>
            <a:off x="4553712" y="2267712"/>
            <a:ext cx="3474720" cy="868680"/>
          </a:xfrm>
          <a:prstGeom prst="roundRect">
            <a:avLst/>
          </a:prstGeom>
          <a:solidFill>
            <a:srgbClr val="FFF8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736592" y="2359152"/>
            <a:ext cx="640080" cy="548640"/>
          </a:xfrm>
          <a:prstGeom prst="rect">
            <a:avLst/>
          </a:prstGeom>
          <a:noFill/>
        </p:spPr>
        <p:txBody>
          <a:bodyPr wrap="square"/>
          <a:lstStyle/>
          <a:p>
            <a:pPr algn="l">
              <a:lnSpc>
                <a:spcPts val="3360"/>
              </a:lnSpc>
              <a:spcBef>
                <a:spcPts val="0"/>
              </a:spcBef>
              <a:spcAft>
                <a:spcPts val="0"/>
              </a:spcAft>
              <a:defRPr sz="2800" b="1" i="0">
                <a:solidFill>
                  <a:srgbClr val="4A90D9"/>
                </a:solidFill>
                <a:latin typeface="Montserrat"/>
              </a:defRPr>
            </a:pPr>
            <a:r>
              <a:t>04</a:t>
            </a:r>
          </a:p>
        </p:txBody>
      </p:sp>
      <p:sp>
        <p:nvSpPr>
          <p:cNvPr id="18" name="TextBox 17"/>
          <p:cNvSpPr txBox="1"/>
          <p:nvPr/>
        </p:nvSpPr>
        <p:spPr>
          <a:xfrm>
            <a:off x="5330952" y="2359152"/>
            <a:ext cx="2468880" cy="320040"/>
          </a:xfrm>
          <a:prstGeom prst="rect">
            <a:avLst/>
          </a:prstGeom>
          <a:noFill/>
        </p:spPr>
        <p:txBody>
          <a:bodyPr wrap="square"/>
          <a:lstStyle/>
          <a:p>
            <a:pPr algn="l">
              <a:lnSpc>
                <a:spcPts val="1800"/>
              </a:lnSpc>
              <a:spcBef>
                <a:spcPts val="0"/>
              </a:spcBef>
              <a:spcAft>
                <a:spcPts val="0"/>
              </a:spcAft>
              <a:defRPr sz="1500" b="1" i="0">
                <a:solidFill>
                  <a:srgbClr val="1A2B4C"/>
                </a:solidFill>
                <a:latin typeface="Montserrat"/>
              </a:defRPr>
            </a:pPr>
            <a:r>
              <a:t>Hasil Pengujian</a:t>
            </a:r>
          </a:p>
        </p:txBody>
      </p:sp>
      <p:sp>
        <p:nvSpPr>
          <p:cNvPr id="19" name="TextBox 18"/>
          <p:cNvSpPr txBox="1"/>
          <p:nvPr/>
        </p:nvSpPr>
        <p:spPr>
          <a:xfrm>
            <a:off x="5330952" y="2706624"/>
            <a:ext cx="2468880" cy="365760"/>
          </a:xfrm>
          <a:prstGeom prst="rect">
            <a:avLst/>
          </a:prstGeom>
          <a:noFill/>
        </p:spPr>
        <p:txBody>
          <a:bodyPr wrap="square"/>
          <a:lstStyle/>
          <a:p>
            <a:pPr algn="l">
              <a:lnSpc>
                <a:spcPts val="1375"/>
              </a:lnSpc>
              <a:spcBef>
                <a:spcPts val="0"/>
              </a:spcBef>
              <a:spcAft>
                <a:spcPts val="0"/>
              </a:spcAft>
              <a:defRPr sz="1100" b="0" i="0">
                <a:solidFill>
                  <a:srgbClr val="555555"/>
                </a:solidFill>
                <a:latin typeface="Lato"/>
              </a:defRPr>
            </a:pPr>
            <a:r>
              <a:t>Evaluasi ICP, costmap, dan navigasi penuh pada arena simulasi</a:t>
            </a:r>
          </a:p>
        </p:txBody>
      </p:sp>
      <p:sp>
        <p:nvSpPr>
          <p:cNvPr id="20" name="Rounded Rectangle 19"/>
          <p:cNvSpPr/>
          <p:nvPr/>
        </p:nvSpPr>
        <p:spPr>
          <a:xfrm>
            <a:off x="8257032" y="1234440"/>
            <a:ext cx="3474720" cy="868680"/>
          </a:xfrm>
          <a:prstGeom prst="roundRect">
            <a:avLst/>
          </a:prstGeom>
          <a:solidFill>
            <a:srgbClr val="FFF8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39912" y="1325880"/>
            <a:ext cx="640080" cy="548640"/>
          </a:xfrm>
          <a:prstGeom prst="rect">
            <a:avLst/>
          </a:prstGeom>
          <a:noFill/>
        </p:spPr>
        <p:txBody>
          <a:bodyPr wrap="square"/>
          <a:lstStyle/>
          <a:p>
            <a:pPr algn="l">
              <a:lnSpc>
                <a:spcPts val="3360"/>
              </a:lnSpc>
              <a:spcBef>
                <a:spcPts val="0"/>
              </a:spcBef>
              <a:spcAft>
                <a:spcPts val="0"/>
              </a:spcAft>
              <a:defRPr sz="2800" b="1" i="0">
                <a:solidFill>
                  <a:srgbClr val="4A90D9"/>
                </a:solidFill>
                <a:latin typeface="Montserrat"/>
              </a:defRPr>
            </a:pPr>
            <a:r>
              <a:t>05</a:t>
            </a:r>
          </a:p>
        </p:txBody>
      </p:sp>
      <p:sp>
        <p:nvSpPr>
          <p:cNvPr id="22" name="TextBox 21"/>
          <p:cNvSpPr txBox="1"/>
          <p:nvPr/>
        </p:nvSpPr>
        <p:spPr>
          <a:xfrm>
            <a:off x="9034272" y="1325880"/>
            <a:ext cx="2468880" cy="320040"/>
          </a:xfrm>
          <a:prstGeom prst="rect">
            <a:avLst/>
          </a:prstGeom>
          <a:noFill/>
        </p:spPr>
        <p:txBody>
          <a:bodyPr wrap="square"/>
          <a:lstStyle/>
          <a:p>
            <a:pPr algn="l">
              <a:lnSpc>
                <a:spcPts val="1800"/>
              </a:lnSpc>
              <a:spcBef>
                <a:spcPts val="0"/>
              </a:spcBef>
              <a:spcAft>
                <a:spcPts val="0"/>
              </a:spcAft>
              <a:defRPr sz="1500" b="1" i="0">
                <a:solidFill>
                  <a:srgbClr val="1A2B4C"/>
                </a:solidFill>
                <a:latin typeface="Montserrat"/>
              </a:defRPr>
            </a:pPr>
            <a:r>
              <a:t>Kesimpulan &amp; Saran</a:t>
            </a:r>
          </a:p>
        </p:txBody>
      </p:sp>
      <p:sp>
        <p:nvSpPr>
          <p:cNvPr id="23" name="TextBox 22"/>
          <p:cNvSpPr txBox="1"/>
          <p:nvPr/>
        </p:nvSpPr>
        <p:spPr>
          <a:xfrm>
            <a:off x="9034272" y="1673352"/>
            <a:ext cx="2468880" cy="365760"/>
          </a:xfrm>
          <a:prstGeom prst="rect">
            <a:avLst/>
          </a:prstGeom>
          <a:noFill/>
        </p:spPr>
        <p:txBody>
          <a:bodyPr wrap="square"/>
          <a:lstStyle/>
          <a:p>
            <a:pPr algn="l">
              <a:lnSpc>
                <a:spcPts val="1375"/>
              </a:lnSpc>
              <a:spcBef>
                <a:spcPts val="0"/>
              </a:spcBef>
              <a:spcAft>
                <a:spcPts val="0"/>
              </a:spcAft>
              <a:defRPr sz="1100" b="0" i="0">
                <a:solidFill>
                  <a:srgbClr val="555555"/>
                </a:solidFill>
                <a:latin typeface="Lato"/>
              </a:defRPr>
            </a:pPr>
            <a:r>
              <a:t>Temuan utama dan arah pengembangan selanjutnya</a:t>
            </a:r>
          </a:p>
        </p:txBody>
      </p:sp>
      <p:sp>
        <p:nvSpPr>
          <p:cNvPr id="24" name="TextBox 23"/>
          <p:cNvSpPr txBox="1"/>
          <p:nvPr/>
        </p:nvSpPr>
        <p:spPr>
          <a:xfrm>
            <a:off x="10884103" y="6446520"/>
            <a:ext cx="457200" cy="274320"/>
          </a:xfrm>
          <a:prstGeom prst="rect">
            <a:avLst/>
          </a:prstGeom>
          <a:noFill/>
        </p:spPr>
        <p:txBody>
          <a:bodyPr wrap="square"/>
          <a:lstStyle/>
          <a:p>
            <a:pPr algn="r">
              <a:lnSpc>
                <a:spcPts val="1200"/>
              </a:lnSpc>
              <a:spcBef>
                <a:spcPts val="0"/>
              </a:spcBef>
              <a:spcAft>
                <a:spcPts val="0"/>
              </a:spcAft>
              <a:defRPr sz="1000" b="0" i="0">
                <a:solidFill>
                  <a:srgbClr val="333333"/>
                </a:solidFill>
                <a:latin typeface="Lato"/>
              </a:defRPr>
            </a:pPr>
            <a: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gradFill rotWithShape="1">
          <a:gsLst>
            <a:gs pos="0">
              <a:srgbClr val="E4F0FF"/>
            </a:gs>
            <a:gs pos="100000">
              <a:srgbClr val="C1D7F3"/>
            </a:gs>
          </a:gsLst>
          <a:lin ang="8100000" scaled="0"/>
        </a:gradFill>
      </p:bgPr>
    </p:bg>
    <p:spTree>
      <p:nvGrpSpPr>
        <p:cNvPr id="1" name=""/>
        <p:cNvGrpSpPr/>
        <p:nvPr/>
      </p:nvGrpSpPr>
      <p:grpSpPr/>
      <p:sp>
        <p:nvSpPr>
          <p:cNvPr id="2" name="TextBox 1"/>
          <p:cNvSpPr txBox="1"/>
          <p:nvPr/>
        </p:nvSpPr>
        <p:spPr>
          <a:xfrm>
            <a:off x="850392" y="320040"/>
            <a:ext cx="4572000" cy="502920"/>
          </a:xfrm>
          <a:prstGeom prst="rect">
            <a:avLst/>
          </a:prstGeom>
          <a:noFill/>
        </p:spPr>
        <p:txBody>
          <a:bodyPr wrap="square"/>
          <a:lstStyle/>
          <a:p>
            <a:pPr algn="l">
              <a:lnSpc>
                <a:spcPts val="3600"/>
              </a:lnSpc>
              <a:spcBef>
                <a:spcPts val="0"/>
              </a:spcBef>
              <a:spcAft>
                <a:spcPts val="0"/>
              </a:spcAft>
              <a:defRPr sz="3000" b="1" i="0">
                <a:solidFill>
                  <a:srgbClr val="1A2B4C"/>
                </a:solidFill>
                <a:latin typeface="Montserrat"/>
              </a:defRPr>
            </a:pPr>
            <a:r>
              <a:t>LATAR BELAKANG</a:t>
            </a:r>
          </a:p>
        </p:txBody>
      </p:sp>
      <p:sp>
        <p:nvSpPr>
          <p:cNvPr id="3" name="Rectangle 2"/>
          <p:cNvSpPr/>
          <p:nvPr/>
        </p:nvSpPr>
        <p:spPr>
          <a:xfrm>
            <a:off x="850392" y="777240"/>
            <a:ext cx="2011680" cy="25400"/>
          </a:xfrm>
          <a:prstGeom prst="rect">
            <a:avLst/>
          </a:prstGeom>
          <a:solidFill>
            <a:srgbClr val="F08C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850392" y="1005840"/>
            <a:ext cx="10515600" cy="914400"/>
          </a:xfrm>
          <a:prstGeom prst="roundRect">
            <a:avLst/>
          </a:prstGeom>
          <a:solidFill>
            <a:srgbClr val="FFF8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50392" y="1051560"/>
            <a:ext cx="365760" cy="365760"/>
          </a:xfrm>
          <a:prstGeom prst="ellipse">
            <a:avLst/>
          </a:prstGeom>
          <a:solidFill>
            <a:srgbClr val="4A90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Montserrat"/>
              </a:defRPr>
            </a:pPr>
            <a:r>
              <a:t>1</a:t>
            </a:r>
          </a:p>
        </p:txBody>
      </p:sp>
      <p:sp>
        <p:nvSpPr>
          <p:cNvPr id="6" name="TextBox 5"/>
          <p:cNvSpPr txBox="1"/>
          <p:nvPr/>
        </p:nvSpPr>
        <p:spPr>
          <a:xfrm>
            <a:off x="1353312" y="1005840"/>
            <a:ext cx="10012680" cy="228600"/>
          </a:xfrm>
          <a:prstGeom prst="rect">
            <a:avLst/>
          </a:prstGeom>
          <a:noFill/>
        </p:spPr>
        <p:txBody>
          <a:bodyPr wrap="square"/>
          <a:lstStyle/>
          <a:p>
            <a:pPr algn="l">
              <a:lnSpc>
                <a:spcPts val="1560"/>
              </a:lnSpc>
              <a:spcBef>
                <a:spcPts val="0"/>
              </a:spcBef>
              <a:spcAft>
                <a:spcPts val="0"/>
              </a:spcAft>
              <a:defRPr sz="1300" b="1" i="0">
                <a:solidFill>
                  <a:srgbClr val="1A2B4C"/>
                </a:solidFill>
                <a:latin typeface="Montserrat"/>
              </a:defRPr>
            </a:pPr>
            <a:r>
              <a:t>INDONESIA RAWAN GEMPA BUMI</a:t>
            </a:r>
          </a:p>
        </p:txBody>
      </p:sp>
      <p:sp>
        <p:nvSpPr>
          <p:cNvPr id="7" name="TextBox 6"/>
          <p:cNvSpPr txBox="1"/>
          <p:nvPr/>
        </p:nvSpPr>
        <p:spPr>
          <a:xfrm>
            <a:off x="1353312" y="1252728"/>
            <a:ext cx="10012680" cy="667512"/>
          </a:xfrm>
          <a:prstGeom prst="rect">
            <a:avLst/>
          </a:prstGeom>
          <a:noFill/>
        </p:spPr>
        <p:txBody>
          <a:bodyPr wrap="square"/>
          <a:lstStyle/>
          <a:p>
            <a:pPr algn="l">
              <a:lnSpc>
                <a:spcPts val="1430"/>
              </a:lnSpc>
              <a:spcBef>
                <a:spcPts val="0"/>
              </a:spcBef>
              <a:spcAft>
                <a:spcPts val="0"/>
              </a:spcAft>
              <a:defRPr sz="1100" b="0" i="0">
                <a:solidFill>
                  <a:srgbClr val="333333"/>
                </a:solidFill>
                <a:latin typeface="Lato"/>
              </a:defRPr>
            </a:pPr>
            <a:r>
              <a:t>Terletak di 4 lempeng tektonik (Pasifik, Eurasia, Indo-Australia, Laut Filipina). Rata-rata 18 gempa/hari (BMKG, Sabtaji 2020).</a:t>
            </a:r>
          </a:p>
        </p:txBody>
      </p:sp>
      <p:sp>
        <p:nvSpPr>
          <p:cNvPr id="8" name="Rounded Rectangle 7"/>
          <p:cNvSpPr/>
          <p:nvPr/>
        </p:nvSpPr>
        <p:spPr>
          <a:xfrm>
            <a:off x="850392" y="1993392"/>
            <a:ext cx="10515600" cy="914400"/>
          </a:xfrm>
          <a:prstGeom prst="roundRect">
            <a:avLst/>
          </a:prstGeom>
          <a:solidFill>
            <a:srgbClr val="FFF8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50392" y="2039112"/>
            <a:ext cx="365760" cy="365760"/>
          </a:xfrm>
          <a:prstGeom prst="ellipse">
            <a:avLst/>
          </a:prstGeom>
          <a:solidFill>
            <a:srgbClr val="4A90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Montserrat"/>
              </a:defRPr>
            </a:pPr>
            <a:r>
              <a:t>2</a:t>
            </a:r>
          </a:p>
        </p:txBody>
      </p:sp>
      <p:sp>
        <p:nvSpPr>
          <p:cNvPr id="10" name="TextBox 9"/>
          <p:cNvSpPr txBox="1"/>
          <p:nvPr/>
        </p:nvSpPr>
        <p:spPr>
          <a:xfrm>
            <a:off x="1353312" y="1993392"/>
            <a:ext cx="10012680" cy="228600"/>
          </a:xfrm>
          <a:prstGeom prst="rect">
            <a:avLst/>
          </a:prstGeom>
          <a:noFill/>
        </p:spPr>
        <p:txBody>
          <a:bodyPr wrap="square"/>
          <a:lstStyle/>
          <a:p>
            <a:pPr algn="l">
              <a:lnSpc>
                <a:spcPts val="1560"/>
              </a:lnSpc>
              <a:spcBef>
                <a:spcPts val="0"/>
              </a:spcBef>
              <a:spcAft>
                <a:spcPts val="0"/>
              </a:spcAft>
              <a:defRPr sz="1300" b="1" i="0">
                <a:solidFill>
                  <a:srgbClr val="1A2B4C"/>
                </a:solidFill>
                <a:latin typeface="Montserrat"/>
              </a:defRPr>
            </a:pPr>
            <a:r>
              <a:t>OPERASI SAR &amp; PERAN ROBOT</a:t>
            </a:r>
          </a:p>
        </p:txBody>
      </p:sp>
      <p:sp>
        <p:nvSpPr>
          <p:cNvPr id="11" name="TextBox 10"/>
          <p:cNvSpPr txBox="1"/>
          <p:nvPr/>
        </p:nvSpPr>
        <p:spPr>
          <a:xfrm>
            <a:off x="1353312" y="2240280"/>
            <a:ext cx="10012680" cy="667512"/>
          </a:xfrm>
          <a:prstGeom prst="rect">
            <a:avLst/>
          </a:prstGeom>
          <a:noFill/>
        </p:spPr>
        <p:txBody>
          <a:bodyPr wrap="square"/>
          <a:lstStyle/>
          <a:p>
            <a:pPr algn="l">
              <a:lnSpc>
                <a:spcPts val="1430"/>
              </a:lnSpc>
              <a:spcBef>
                <a:spcPts val="0"/>
              </a:spcBef>
              <a:spcAft>
                <a:spcPts val="0"/>
              </a:spcAft>
              <a:defRPr sz="1100" b="0" i="0">
                <a:solidFill>
                  <a:srgbClr val="333333"/>
                </a:solidFill>
                <a:latin typeface="Lato"/>
              </a:defRPr>
            </a:pPr>
            <a:r>
              <a:t>Petugas SAR hadapi ancaman keselamatan. Robot darat digunakan pasca gempa Jepang untuk inspeksi (Lin et al., 2022). Robot UAV memberi gambaran medan. Robot otonom krusial saat infrastruktur komunikasi rusak.</a:t>
            </a:r>
          </a:p>
        </p:txBody>
      </p:sp>
      <p:sp>
        <p:nvSpPr>
          <p:cNvPr id="12" name="Rounded Rectangle 11"/>
          <p:cNvSpPr/>
          <p:nvPr/>
        </p:nvSpPr>
        <p:spPr>
          <a:xfrm>
            <a:off x="850392" y="2980944"/>
            <a:ext cx="10515600" cy="914400"/>
          </a:xfrm>
          <a:prstGeom prst="roundRect">
            <a:avLst/>
          </a:prstGeom>
          <a:solidFill>
            <a:srgbClr val="FFF8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50392" y="3026664"/>
            <a:ext cx="365760" cy="365760"/>
          </a:xfrm>
          <a:prstGeom prst="ellipse">
            <a:avLst/>
          </a:prstGeom>
          <a:solidFill>
            <a:srgbClr val="4A90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Montserrat"/>
              </a:defRPr>
            </a:pPr>
            <a:r>
              <a:t>3</a:t>
            </a:r>
          </a:p>
        </p:txBody>
      </p:sp>
      <p:sp>
        <p:nvSpPr>
          <p:cNvPr id="14" name="TextBox 13"/>
          <p:cNvSpPr txBox="1"/>
          <p:nvPr/>
        </p:nvSpPr>
        <p:spPr>
          <a:xfrm>
            <a:off x="1353312" y="2980944"/>
            <a:ext cx="10012680" cy="228600"/>
          </a:xfrm>
          <a:prstGeom prst="rect">
            <a:avLst/>
          </a:prstGeom>
          <a:noFill/>
        </p:spPr>
        <p:txBody>
          <a:bodyPr wrap="square"/>
          <a:lstStyle/>
          <a:p>
            <a:pPr algn="l">
              <a:lnSpc>
                <a:spcPts val="1560"/>
              </a:lnSpc>
              <a:spcBef>
                <a:spcPts val="0"/>
              </a:spcBef>
              <a:spcAft>
                <a:spcPts val="0"/>
              </a:spcAft>
              <a:defRPr sz="1300" b="1" i="0">
                <a:solidFill>
                  <a:srgbClr val="1A2B4C"/>
                </a:solidFill>
                <a:latin typeface="Montserrat"/>
              </a:defRPr>
            </a:pPr>
            <a:r>
              <a:t>TANTANGAN NAVIGASI INDOOR</a:t>
            </a:r>
          </a:p>
        </p:txBody>
      </p:sp>
      <p:sp>
        <p:nvSpPr>
          <p:cNvPr id="15" name="TextBox 14"/>
          <p:cNvSpPr txBox="1"/>
          <p:nvPr/>
        </p:nvSpPr>
        <p:spPr>
          <a:xfrm>
            <a:off x="1353312" y="3227832"/>
            <a:ext cx="10012680" cy="667512"/>
          </a:xfrm>
          <a:prstGeom prst="rect">
            <a:avLst/>
          </a:prstGeom>
          <a:noFill/>
        </p:spPr>
        <p:txBody>
          <a:bodyPr wrap="square"/>
          <a:lstStyle/>
          <a:p>
            <a:pPr algn="l">
              <a:lnSpc>
                <a:spcPts val="1430"/>
              </a:lnSpc>
              <a:spcBef>
                <a:spcPts val="0"/>
              </a:spcBef>
              <a:spcAft>
                <a:spcPts val="0"/>
              </a:spcAft>
              <a:defRPr sz="1100" b="0" i="0">
                <a:solidFill>
                  <a:srgbClr val="333333"/>
                </a:solidFill>
                <a:latin typeface="Lato"/>
              </a:defRPr>
            </a:pPr>
            <a:r>
              <a:t>Puing, lantai tidak rata, tangga. Robot perlu lokalisasi, path planning, dan mencapai tujuan di lingkungan tidak terstruktur. Navigasi indoor masih menjadi permasalahan robot otonom.</a:t>
            </a:r>
          </a:p>
        </p:txBody>
      </p:sp>
      <p:sp>
        <p:nvSpPr>
          <p:cNvPr id="16" name="Rounded Rectangle 15"/>
          <p:cNvSpPr/>
          <p:nvPr/>
        </p:nvSpPr>
        <p:spPr>
          <a:xfrm>
            <a:off x="850392" y="3968496"/>
            <a:ext cx="10515600" cy="914400"/>
          </a:xfrm>
          <a:prstGeom prst="roundRect">
            <a:avLst/>
          </a:prstGeom>
          <a:solidFill>
            <a:srgbClr val="FFF8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850392" y="4014216"/>
            <a:ext cx="365760" cy="365760"/>
          </a:xfrm>
          <a:prstGeom prst="ellipse">
            <a:avLst/>
          </a:prstGeom>
          <a:solidFill>
            <a:srgbClr val="4A90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Montserrat"/>
              </a:defRPr>
            </a:pPr>
            <a:r>
              <a:t>4</a:t>
            </a:r>
          </a:p>
        </p:txBody>
      </p:sp>
      <p:sp>
        <p:nvSpPr>
          <p:cNvPr id="18" name="TextBox 17"/>
          <p:cNvSpPr txBox="1"/>
          <p:nvPr/>
        </p:nvSpPr>
        <p:spPr>
          <a:xfrm>
            <a:off x="1353312" y="3968496"/>
            <a:ext cx="10012680" cy="228600"/>
          </a:xfrm>
          <a:prstGeom prst="rect">
            <a:avLst/>
          </a:prstGeom>
          <a:noFill/>
        </p:spPr>
        <p:txBody>
          <a:bodyPr wrap="square"/>
          <a:lstStyle/>
          <a:p>
            <a:pPr algn="l">
              <a:lnSpc>
                <a:spcPts val="1560"/>
              </a:lnSpc>
              <a:spcBef>
                <a:spcPts val="0"/>
              </a:spcBef>
              <a:spcAft>
                <a:spcPts val="0"/>
              </a:spcAft>
              <a:defRPr sz="1300" b="1" i="0">
                <a:solidFill>
                  <a:srgbClr val="1A2B4C"/>
                </a:solidFill>
                <a:latin typeface="Montserrat"/>
              </a:defRPr>
            </a:pPr>
            <a:r>
              <a:t>SIMULASI ARENA KRSRI 2024</a:t>
            </a:r>
          </a:p>
        </p:txBody>
      </p:sp>
      <p:sp>
        <p:nvSpPr>
          <p:cNvPr id="19" name="TextBox 18"/>
          <p:cNvSpPr txBox="1"/>
          <p:nvPr/>
        </p:nvSpPr>
        <p:spPr>
          <a:xfrm>
            <a:off x="1353312" y="4215384"/>
            <a:ext cx="10012680" cy="667512"/>
          </a:xfrm>
          <a:prstGeom prst="rect">
            <a:avLst/>
          </a:prstGeom>
          <a:noFill/>
        </p:spPr>
        <p:txBody>
          <a:bodyPr wrap="square"/>
          <a:lstStyle/>
          <a:p>
            <a:pPr algn="l">
              <a:lnSpc>
                <a:spcPts val="1430"/>
              </a:lnSpc>
              <a:spcBef>
                <a:spcPts val="0"/>
              </a:spcBef>
              <a:spcAft>
                <a:spcPts val="0"/>
              </a:spcAft>
              <a:defRPr sz="1100" b="0" i="0">
                <a:solidFill>
                  <a:srgbClr val="333333"/>
                </a:solidFill>
                <a:latin typeface="Lato"/>
              </a:defRPr>
            </a:pPr>
            <a:r>
              <a:t>Sulit diuji di kondisi nyata → simulasi Mujoco. Arena dari Kontes Robot SAR Indonesia (KRSRI) 2024. Platform: robot hexapod + LiDAR 2D. Keterbatasan LiDAR 2D pada lingkungan bertingkat.</a:t>
            </a:r>
          </a:p>
        </p:txBody>
      </p:sp>
      <p:sp>
        <p:nvSpPr>
          <p:cNvPr id="20" name="Rounded Rectangle 19"/>
          <p:cNvSpPr/>
          <p:nvPr/>
        </p:nvSpPr>
        <p:spPr>
          <a:xfrm>
            <a:off x="850392" y="4956048"/>
            <a:ext cx="10515600" cy="914400"/>
          </a:xfrm>
          <a:prstGeom prst="roundRect">
            <a:avLst/>
          </a:prstGeom>
          <a:solidFill>
            <a:srgbClr val="FFF8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850392" y="5001768"/>
            <a:ext cx="365760" cy="365760"/>
          </a:xfrm>
          <a:prstGeom prst="ellipse">
            <a:avLst/>
          </a:prstGeom>
          <a:solidFill>
            <a:srgbClr val="4A90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Montserrat"/>
              </a:defRPr>
            </a:pPr>
            <a:r>
              <a:t>5</a:t>
            </a:r>
          </a:p>
        </p:txBody>
      </p:sp>
      <p:sp>
        <p:nvSpPr>
          <p:cNvPr id="22" name="TextBox 21"/>
          <p:cNvSpPr txBox="1"/>
          <p:nvPr/>
        </p:nvSpPr>
        <p:spPr>
          <a:xfrm>
            <a:off x="1353312" y="4956048"/>
            <a:ext cx="10012680" cy="228600"/>
          </a:xfrm>
          <a:prstGeom prst="rect">
            <a:avLst/>
          </a:prstGeom>
          <a:noFill/>
        </p:spPr>
        <p:txBody>
          <a:bodyPr wrap="square"/>
          <a:lstStyle/>
          <a:p>
            <a:pPr algn="l">
              <a:lnSpc>
                <a:spcPts val="1560"/>
              </a:lnSpc>
              <a:spcBef>
                <a:spcPts val="0"/>
              </a:spcBef>
              <a:spcAft>
                <a:spcPts val="0"/>
              </a:spcAft>
              <a:defRPr sz="1300" b="1" i="0">
                <a:solidFill>
                  <a:srgbClr val="1A2B4C"/>
                </a:solidFill>
                <a:latin typeface="Montserrat"/>
              </a:defRPr>
            </a:pPr>
            <a:r>
              <a:t>SOLUSI: LAYERED COSTMAP</a:t>
            </a:r>
          </a:p>
        </p:txBody>
      </p:sp>
      <p:sp>
        <p:nvSpPr>
          <p:cNvPr id="23" name="TextBox 22"/>
          <p:cNvSpPr txBox="1"/>
          <p:nvPr/>
        </p:nvSpPr>
        <p:spPr>
          <a:xfrm>
            <a:off x="1353312" y="5202936"/>
            <a:ext cx="10012680" cy="667512"/>
          </a:xfrm>
          <a:prstGeom prst="rect">
            <a:avLst/>
          </a:prstGeom>
          <a:noFill/>
        </p:spPr>
        <p:txBody>
          <a:bodyPr wrap="square"/>
          <a:lstStyle/>
          <a:p>
            <a:pPr algn="l">
              <a:lnSpc>
                <a:spcPts val="1430"/>
              </a:lnSpc>
              <a:spcBef>
                <a:spcPts val="0"/>
              </a:spcBef>
              <a:spcAft>
                <a:spcPts val="0"/>
              </a:spcAft>
              <a:defRPr sz="1100" b="0" i="0">
                <a:solidFill>
                  <a:srgbClr val="333333"/>
                </a:solidFill>
                <a:latin typeface="Lato"/>
              </a:defRPr>
            </a:pPr>
            <a:r>
              <a:t>Informasi 3D → occupancy grid + beberapa costmap 2D. Setiap layer = satu lantai/region. Layer transisi menghubungkan antar lantai. Robot berpindah layer sesuai posisi di bangunan.</a:t>
            </a:r>
          </a:p>
        </p:txBody>
      </p:sp>
      <p:sp>
        <p:nvSpPr>
          <p:cNvPr id="24" name="Rounded Rectangle 23"/>
          <p:cNvSpPr/>
          <p:nvPr/>
        </p:nvSpPr>
        <p:spPr>
          <a:xfrm>
            <a:off x="850392" y="5989320"/>
            <a:ext cx="10515600" cy="411480"/>
          </a:xfrm>
          <a:prstGeom prst="round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50392" y="5989320"/>
            <a:ext cx="50800" cy="411480"/>
          </a:xfrm>
          <a:prstGeom prst="rect">
            <a:avLst/>
          </a:prstGeom>
          <a:solidFill>
            <a:srgbClr val="F08C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60120" y="5989320"/>
            <a:ext cx="10332720" cy="411480"/>
          </a:xfrm>
          <a:prstGeom prst="rect">
            <a:avLst/>
          </a:prstGeom>
          <a:noFill/>
        </p:spPr>
        <p:txBody>
          <a:bodyPr wrap="square"/>
          <a:lstStyle/>
          <a:p>
            <a:pPr algn="l">
              <a:lnSpc>
                <a:spcPts val="1320"/>
              </a:lnSpc>
              <a:spcBef>
                <a:spcPts val="0"/>
              </a:spcBef>
              <a:spcAft>
                <a:spcPts val="0"/>
              </a:spcAft>
              <a:defRPr sz="1100" b="0" i="1">
                <a:solidFill>
                  <a:srgbClr val="333333"/>
                </a:solidFill>
                <a:latin typeface="Lato"/>
              </a:defRPr>
            </a:pPr>
            <a:r>
              <a:t>Layered costmap menyederhanakan kompleksitas 3D menjadi representasi 2D yang manageable dengan sensor LiDAR 2D pada robot hexapod.</a:t>
            </a:r>
          </a:p>
        </p:txBody>
      </p:sp>
      <p:sp>
        <p:nvSpPr>
          <p:cNvPr id="27" name="TextBox 26"/>
          <p:cNvSpPr txBox="1"/>
          <p:nvPr/>
        </p:nvSpPr>
        <p:spPr>
          <a:xfrm>
            <a:off x="10884103" y="6446520"/>
            <a:ext cx="457200" cy="274320"/>
          </a:xfrm>
          <a:prstGeom prst="rect">
            <a:avLst/>
          </a:prstGeom>
          <a:noFill/>
        </p:spPr>
        <p:txBody>
          <a:bodyPr wrap="square"/>
          <a:lstStyle/>
          <a:p>
            <a:pPr algn="r">
              <a:lnSpc>
                <a:spcPts val="1200"/>
              </a:lnSpc>
              <a:spcBef>
                <a:spcPts val="0"/>
              </a:spcBef>
              <a:spcAft>
                <a:spcPts val="0"/>
              </a:spcAft>
              <a:defRPr sz="1000" b="0" i="0">
                <a:solidFill>
                  <a:srgbClr val="333333"/>
                </a:solidFill>
                <a:latin typeface="Lato"/>
              </a:defRPr>
            </a:pPr>
            <a: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gradFill rotWithShape="1">
          <a:gsLst>
            <a:gs pos="0">
              <a:srgbClr val="E4F0FF"/>
            </a:gs>
            <a:gs pos="100000">
              <a:srgbClr val="C1D7F3"/>
            </a:gs>
          </a:gsLst>
          <a:lin ang="8100000" scaled="0"/>
        </a:gradFill>
      </p:bgPr>
    </p:bg>
    <p:spTree>
      <p:nvGrpSpPr>
        <p:cNvPr id="1" name=""/>
        <p:cNvGrpSpPr/>
        <p:nvPr/>
      </p:nvGrpSpPr>
      <p:grpSpPr/>
      <p:sp>
        <p:nvSpPr>
          <p:cNvPr id="2" name="TextBox 1"/>
          <p:cNvSpPr txBox="1"/>
          <p:nvPr/>
        </p:nvSpPr>
        <p:spPr>
          <a:xfrm>
            <a:off x="850392" y="320040"/>
            <a:ext cx="4572000" cy="502920"/>
          </a:xfrm>
          <a:prstGeom prst="rect">
            <a:avLst/>
          </a:prstGeom>
          <a:noFill/>
        </p:spPr>
        <p:txBody>
          <a:bodyPr wrap="square"/>
          <a:lstStyle/>
          <a:p>
            <a:pPr algn="l">
              <a:lnSpc>
                <a:spcPts val="3600"/>
              </a:lnSpc>
              <a:spcBef>
                <a:spcPts val="0"/>
              </a:spcBef>
              <a:spcAft>
                <a:spcPts val="0"/>
              </a:spcAft>
              <a:defRPr sz="3000" b="1" i="0">
                <a:solidFill>
                  <a:srgbClr val="1A2B4C"/>
                </a:solidFill>
                <a:latin typeface="Montserrat"/>
              </a:defRPr>
            </a:pPr>
            <a:r>
              <a:t>RUMUSAN MASALAH</a:t>
            </a:r>
          </a:p>
        </p:txBody>
      </p:sp>
      <p:sp>
        <p:nvSpPr>
          <p:cNvPr id="3" name="Rectangle 2"/>
          <p:cNvSpPr/>
          <p:nvPr/>
        </p:nvSpPr>
        <p:spPr>
          <a:xfrm>
            <a:off x="850392" y="777240"/>
            <a:ext cx="2286000" cy="25400"/>
          </a:xfrm>
          <a:prstGeom prst="rect">
            <a:avLst/>
          </a:prstGeom>
          <a:solidFill>
            <a:srgbClr val="F08C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850392" y="1051560"/>
            <a:ext cx="10515600" cy="1234440"/>
          </a:xfrm>
          <a:prstGeom prst="roundRect">
            <a:avLst/>
          </a:prstGeom>
          <a:solidFill>
            <a:srgbClr val="F5F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50392" y="1051560"/>
            <a:ext cx="63500" cy="1234440"/>
          </a:xfrm>
          <a:prstGeom prst="rect">
            <a:avLst/>
          </a:prstGeom>
          <a:solidFill>
            <a:srgbClr val="4A90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33272" y="1188720"/>
            <a:ext cx="548640" cy="502920"/>
          </a:xfrm>
          <a:prstGeom prst="rect">
            <a:avLst/>
          </a:prstGeom>
          <a:noFill/>
        </p:spPr>
        <p:txBody>
          <a:bodyPr wrap="square"/>
          <a:lstStyle/>
          <a:p>
            <a:pPr algn="l">
              <a:lnSpc>
                <a:spcPts val="3360"/>
              </a:lnSpc>
              <a:spcBef>
                <a:spcPts val="0"/>
              </a:spcBef>
              <a:spcAft>
                <a:spcPts val="0"/>
              </a:spcAft>
              <a:defRPr sz="2800" b="1" i="0">
                <a:solidFill>
                  <a:srgbClr val="4A90D9"/>
                </a:solidFill>
                <a:latin typeface="Montserrat"/>
              </a:defRPr>
            </a:pPr>
            <a:r>
              <a:t>01</a:t>
            </a:r>
          </a:p>
        </p:txBody>
      </p:sp>
      <p:sp>
        <p:nvSpPr>
          <p:cNvPr id="7" name="TextBox 6"/>
          <p:cNvSpPr txBox="1"/>
          <p:nvPr/>
        </p:nvSpPr>
        <p:spPr>
          <a:xfrm>
            <a:off x="1581912" y="1161288"/>
            <a:ext cx="3657600" cy="365760"/>
          </a:xfrm>
          <a:prstGeom prst="rect">
            <a:avLst/>
          </a:prstGeom>
          <a:noFill/>
        </p:spPr>
        <p:txBody>
          <a:bodyPr wrap="square"/>
          <a:lstStyle/>
          <a:p>
            <a:pPr algn="l">
              <a:lnSpc>
                <a:spcPts val="1800"/>
              </a:lnSpc>
              <a:spcBef>
                <a:spcPts val="0"/>
              </a:spcBef>
              <a:spcAft>
                <a:spcPts val="0"/>
              </a:spcAft>
              <a:defRPr sz="1500" b="1" i="0">
                <a:solidFill>
                  <a:srgbClr val="1A2B4C"/>
                </a:solidFill>
                <a:latin typeface="Montserrat"/>
              </a:defRPr>
            </a:pPr>
            <a:r>
              <a:t>REPRESENTASI LINGKUNGAN 3D</a:t>
            </a:r>
          </a:p>
        </p:txBody>
      </p:sp>
      <p:sp>
        <p:nvSpPr>
          <p:cNvPr id="8" name="TextBox 7"/>
          <p:cNvSpPr txBox="1"/>
          <p:nvPr/>
        </p:nvSpPr>
        <p:spPr>
          <a:xfrm>
            <a:off x="1581912" y="1554480"/>
            <a:ext cx="9509760" cy="640080"/>
          </a:xfrm>
          <a:prstGeom prst="rect">
            <a:avLst/>
          </a:prstGeom>
          <a:noFill/>
        </p:spPr>
        <p:txBody>
          <a:bodyPr wrap="square"/>
          <a:lstStyle/>
          <a:p>
            <a:pPr algn="l">
              <a:lnSpc>
                <a:spcPts val="1755"/>
              </a:lnSpc>
              <a:spcBef>
                <a:spcPts val="0"/>
              </a:spcBef>
              <a:spcAft>
                <a:spcPts val="0"/>
              </a:spcAft>
              <a:defRPr sz="1300" b="0" i="0">
                <a:solidFill>
                  <a:srgbClr val="333333"/>
                </a:solidFill>
                <a:latin typeface="Lato"/>
              </a:defRPr>
            </a:pPr>
            <a:r>
              <a:t>Bagaimana cara menggunakan layered costmap untuk mewakilkan informasi lingkungan 3D yang terdiri dari beberapa lantai sehingga bisa digunakan pada algoritma navigasi 2D?</a:t>
            </a:r>
          </a:p>
        </p:txBody>
      </p:sp>
      <p:sp>
        <p:nvSpPr>
          <p:cNvPr id="9" name="Rounded Rectangle 8"/>
          <p:cNvSpPr/>
          <p:nvPr/>
        </p:nvSpPr>
        <p:spPr>
          <a:xfrm>
            <a:off x="850392" y="2514600"/>
            <a:ext cx="10515600" cy="1234440"/>
          </a:xfrm>
          <a:prstGeom prst="roundRect">
            <a:avLst/>
          </a:prstGeom>
          <a:solidFill>
            <a:srgbClr val="F5F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50392" y="2514600"/>
            <a:ext cx="63500" cy="1234440"/>
          </a:xfrm>
          <a:prstGeom prst="rect">
            <a:avLst/>
          </a:prstGeom>
          <a:solidFill>
            <a:srgbClr val="4A90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33272" y="2651760"/>
            <a:ext cx="548640" cy="502920"/>
          </a:xfrm>
          <a:prstGeom prst="rect">
            <a:avLst/>
          </a:prstGeom>
          <a:noFill/>
        </p:spPr>
        <p:txBody>
          <a:bodyPr wrap="square"/>
          <a:lstStyle/>
          <a:p>
            <a:pPr algn="l">
              <a:lnSpc>
                <a:spcPts val="3360"/>
              </a:lnSpc>
              <a:spcBef>
                <a:spcPts val="0"/>
              </a:spcBef>
              <a:spcAft>
                <a:spcPts val="0"/>
              </a:spcAft>
              <a:defRPr sz="2800" b="1" i="0">
                <a:solidFill>
                  <a:srgbClr val="4A90D9"/>
                </a:solidFill>
                <a:latin typeface="Montserrat"/>
              </a:defRPr>
            </a:pPr>
            <a:r>
              <a:t>02</a:t>
            </a:r>
          </a:p>
        </p:txBody>
      </p:sp>
      <p:sp>
        <p:nvSpPr>
          <p:cNvPr id="12" name="TextBox 11"/>
          <p:cNvSpPr txBox="1"/>
          <p:nvPr/>
        </p:nvSpPr>
        <p:spPr>
          <a:xfrm>
            <a:off x="1581912" y="2624328"/>
            <a:ext cx="3657600" cy="365760"/>
          </a:xfrm>
          <a:prstGeom prst="rect">
            <a:avLst/>
          </a:prstGeom>
          <a:noFill/>
        </p:spPr>
        <p:txBody>
          <a:bodyPr wrap="square"/>
          <a:lstStyle/>
          <a:p>
            <a:pPr algn="l">
              <a:lnSpc>
                <a:spcPts val="1800"/>
              </a:lnSpc>
              <a:spcBef>
                <a:spcPts val="0"/>
              </a:spcBef>
              <a:spcAft>
                <a:spcPts val="0"/>
              </a:spcAft>
              <a:defRPr sz="1500" b="1" i="0">
                <a:solidFill>
                  <a:srgbClr val="1A2B4C"/>
                </a:solidFill>
                <a:latin typeface="Montserrat"/>
              </a:defRPr>
            </a:pPr>
            <a:r>
              <a:t>ALGORITMA NAVIGASI</a:t>
            </a:r>
          </a:p>
        </p:txBody>
      </p:sp>
      <p:sp>
        <p:nvSpPr>
          <p:cNvPr id="13" name="TextBox 12"/>
          <p:cNvSpPr txBox="1"/>
          <p:nvPr/>
        </p:nvSpPr>
        <p:spPr>
          <a:xfrm>
            <a:off x="1581912" y="3017520"/>
            <a:ext cx="9509760" cy="640080"/>
          </a:xfrm>
          <a:prstGeom prst="rect">
            <a:avLst/>
          </a:prstGeom>
          <a:noFill/>
        </p:spPr>
        <p:txBody>
          <a:bodyPr wrap="square"/>
          <a:lstStyle/>
          <a:p>
            <a:pPr algn="l">
              <a:lnSpc>
                <a:spcPts val="1755"/>
              </a:lnSpc>
              <a:spcBef>
                <a:spcPts val="0"/>
              </a:spcBef>
              <a:spcAft>
                <a:spcPts val="0"/>
              </a:spcAft>
              <a:defRPr sz="1300" b="0" i="0">
                <a:solidFill>
                  <a:srgbClr val="333333"/>
                </a:solidFill>
                <a:latin typeface="Lato"/>
              </a:defRPr>
            </a:pPr>
            <a:r>
              <a:t>Bagaimana merancang algoritma lokalisasi, path planning, dan path tracking yang bekerja pada sistem navigasi berbasis layered costmap?</a:t>
            </a:r>
          </a:p>
        </p:txBody>
      </p:sp>
      <p:sp>
        <p:nvSpPr>
          <p:cNvPr id="14" name="Rounded Rectangle 13"/>
          <p:cNvSpPr/>
          <p:nvPr/>
        </p:nvSpPr>
        <p:spPr>
          <a:xfrm>
            <a:off x="850392" y="3977640"/>
            <a:ext cx="10515600" cy="1234440"/>
          </a:xfrm>
          <a:prstGeom prst="roundRect">
            <a:avLst/>
          </a:prstGeom>
          <a:solidFill>
            <a:srgbClr val="F5F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50392" y="3977640"/>
            <a:ext cx="63500" cy="1234440"/>
          </a:xfrm>
          <a:prstGeom prst="rect">
            <a:avLst/>
          </a:prstGeom>
          <a:solidFill>
            <a:srgbClr val="4A90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33272" y="4114800"/>
            <a:ext cx="548640" cy="502920"/>
          </a:xfrm>
          <a:prstGeom prst="rect">
            <a:avLst/>
          </a:prstGeom>
          <a:noFill/>
        </p:spPr>
        <p:txBody>
          <a:bodyPr wrap="square"/>
          <a:lstStyle/>
          <a:p>
            <a:pPr algn="l">
              <a:lnSpc>
                <a:spcPts val="3360"/>
              </a:lnSpc>
              <a:spcBef>
                <a:spcPts val="0"/>
              </a:spcBef>
              <a:spcAft>
                <a:spcPts val="0"/>
              </a:spcAft>
              <a:defRPr sz="2800" b="1" i="0">
                <a:solidFill>
                  <a:srgbClr val="4A90D9"/>
                </a:solidFill>
                <a:latin typeface="Montserrat"/>
              </a:defRPr>
            </a:pPr>
            <a:r>
              <a:t>03</a:t>
            </a:r>
          </a:p>
        </p:txBody>
      </p:sp>
      <p:sp>
        <p:nvSpPr>
          <p:cNvPr id="17" name="TextBox 16"/>
          <p:cNvSpPr txBox="1"/>
          <p:nvPr/>
        </p:nvSpPr>
        <p:spPr>
          <a:xfrm>
            <a:off x="1581912" y="4087368"/>
            <a:ext cx="3657600" cy="365760"/>
          </a:xfrm>
          <a:prstGeom prst="rect">
            <a:avLst/>
          </a:prstGeom>
          <a:noFill/>
        </p:spPr>
        <p:txBody>
          <a:bodyPr wrap="square"/>
          <a:lstStyle/>
          <a:p>
            <a:pPr algn="l">
              <a:lnSpc>
                <a:spcPts val="1800"/>
              </a:lnSpc>
              <a:spcBef>
                <a:spcPts val="0"/>
              </a:spcBef>
              <a:spcAft>
                <a:spcPts val="0"/>
              </a:spcAft>
              <a:defRPr sz="1500" b="1" i="0">
                <a:solidFill>
                  <a:srgbClr val="1A2B4C"/>
                </a:solidFill>
                <a:latin typeface="Montserrat"/>
              </a:defRPr>
            </a:pPr>
            <a:r>
              <a:t>VALIDASI SISTEM</a:t>
            </a:r>
          </a:p>
        </p:txBody>
      </p:sp>
      <p:sp>
        <p:nvSpPr>
          <p:cNvPr id="18" name="TextBox 17"/>
          <p:cNvSpPr txBox="1"/>
          <p:nvPr/>
        </p:nvSpPr>
        <p:spPr>
          <a:xfrm>
            <a:off x="1581912" y="4480560"/>
            <a:ext cx="9509760" cy="640080"/>
          </a:xfrm>
          <a:prstGeom prst="rect">
            <a:avLst/>
          </a:prstGeom>
          <a:noFill/>
        </p:spPr>
        <p:txBody>
          <a:bodyPr wrap="square"/>
          <a:lstStyle/>
          <a:p>
            <a:pPr algn="l">
              <a:lnSpc>
                <a:spcPts val="1755"/>
              </a:lnSpc>
              <a:spcBef>
                <a:spcPts val="0"/>
              </a:spcBef>
              <a:spcAft>
                <a:spcPts val="0"/>
              </a:spcAft>
              <a:defRPr sz="1300" b="0" i="0">
                <a:solidFill>
                  <a:srgbClr val="333333"/>
                </a:solidFill>
                <a:latin typeface="Lato"/>
              </a:defRPr>
            </a:pPr>
            <a:r>
              <a:t>Apakah robot darat otonom dapat melakukan navigasi hingga mencapai tujuan pada lingkungan simulasi menggunakan metode navigasi antar lantai yang dikembangkan?</a:t>
            </a:r>
          </a:p>
        </p:txBody>
      </p:sp>
      <p:sp>
        <p:nvSpPr>
          <p:cNvPr id="19" name="TextBox 18"/>
          <p:cNvSpPr txBox="1"/>
          <p:nvPr/>
        </p:nvSpPr>
        <p:spPr>
          <a:xfrm>
            <a:off x="10884103" y="6446520"/>
            <a:ext cx="457200" cy="274320"/>
          </a:xfrm>
          <a:prstGeom prst="rect">
            <a:avLst/>
          </a:prstGeom>
          <a:noFill/>
        </p:spPr>
        <p:txBody>
          <a:bodyPr wrap="square"/>
          <a:lstStyle/>
          <a:p>
            <a:pPr algn="r">
              <a:lnSpc>
                <a:spcPts val="1200"/>
              </a:lnSpc>
              <a:spcBef>
                <a:spcPts val="0"/>
              </a:spcBef>
              <a:spcAft>
                <a:spcPts val="0"/>
              </a:spcAft>
              <a:defRPr sz="1000" b="0" i="0">
                <a:solidFill>
                  <a:srgbClr val="333333"/>
                </a:solidFill>
                <a:latin typeface="Lato"/>
              </a:defRPr>
            </a:pPr>
            <a: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gradFill rotWithShape="1">
          <a:gsLst>
            <a:gs pos="0">
              <a:srgbClr val="E4F0FF"/>
            </a:gs>
            <a:gs pos="100000">
              <a:srgbClr val="C1D7F3"/>
            </a:gs>
          </a:gsLst>
          <a:lin ang="8100000" scaled="0"/>
        </a:gradFill>
      </p:bgPr>
    </p:bg>
    <p:spTree>
      <p:nvGrpSpPr>
        <p:cNvPr id="1" name=""/>
        <p:cNvGrpSpPr/>
        <p:nvPr/>
      </p:nvGrpSpPr>
      <p:grpSpPr/>
      <p:sp>
        <p:nvSpPr>
          <p:cNvPr id="2" name="TextBox 1"/>
          <p:cNvSpPr txBox="1"/>
          <p:nvPr/>
        </p:nvSpPr>
        <p:spPr>
          <a:xfrm>
            <a:off x="850392" y="320040"/>
            <a:ext cx="4572000" cy="502920"/>
          </a:xfrm>
          <a:prstGeom prst="rect">
            <a:avLst/>
          </a:prstGeom>
          <a:noFill/>
        </p:spPr>
        <p:txBody>
          <a:bodyPr wrap="square"/>
          <a:lstStyle/>
          <a:p>
            <a:pPr algn="l">
              <a:lnSpc>
                <a:spcPts val="3600"/>
              </a:lnSpc>
              <a:spcBef>
                <a:spcPts val="0"/>
              </a:spcBef>
              <a:spcAft>
                <a:spcPts val="0"/>
              </a:spcAft>
              <a:defRPr sz="3000" b="1" i="0">
                <a:solidFill>
                  <a:srgbClr val="1A2B4C"/>
                </a:solidFill>
                <a:latin typeface="Montserrat"/>
              </a:defRPr>
            </a:pPr>
            <a:r>
              <a:t>BATASAN PENELITIAN</a:t>
            </a:r>
          </a:p>
        </p:txBody>
      </p:sp>
      <p:sp>
        <p:nvSpPr>
          <p:cNvPr id="3" name="Rectangle 2"/>
          <p:cNvSpPr/>
          <p:nvPr/>
        </p:nvSpPr>
        <p:spPr>
          <a:xfrm>
            <a:off x="850392" y="777240"/>
            <a:ext cx="2286000" cy="25400"/>
          </a:xfrm>
          <a:prstGeom prst="rect">
            <a:avLst/>
          </a:prstGeom>
          <a:solidFill>
            <a:srgbClr val="F08C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850392" y="1097280"/>
            <a:ext cx="10515600" cy="1417320"/>
          </a:xfrm>
          <a:prstGeom prst="roundRect">
            <a:avLst/>
          </a:prstGeom>
          <a:solidFill>
            <a:srgbClr val="FFF8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50392" y="1097280"/>
            <a:ext cx="63500" cy="1417320"/>
          </a:xfrm>
          <a:prstGeom prst="rect">
            <a:avLst/>
          </a:prstGeom>
          <a:solidFill>
            <a:srgbClr val="003A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Isosceles Triangle 5"/>
          <p:cNvSpPr/>
          <p:nvPr/>
        </p:nvSpPr>
        <p:spPr>
          <a:xfrm>
            <a:off x="1078992" y="1280160"/>
            <a:ext cx="320040" cy="292608"/>
          </a:xfrm>
          <a:prstGeom prst="triangle">
            <a:avLst/>
          </a:prstGeom>
          <a:solidFill>
            <a:srgbClr val="003A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Montserrat"/>
              </a:defRPr>
            </a:pPr>
            <a:r>
              <a:t>!</a:t>
            </a:r>
          </a:p>
        </p:txBody>
      </p:sp>
      <p:sp>
        <p:nvSpPr>
          <p:cNvPr id="7" name="TextBox 6"/>
          <p:cNvSpPr txBox="1"/>
          <p:nvPr/>
        </p:nvSpPr>
        <p:spPr>
          <a:xfrm>
            <a:off x="1581912" y="1207008"/>
            <a:ext cx="4572000" cy="320040"/>
          </a:xfrm>
          <a:prstGeom prst="rect">
            <a:avLst/>
          </a:prstGeom>
          <a:noFill/>
        </p:spPr>
        <p:txBody>
          <a:bodyPr wrap="square"/>
          <a:lstStyle/>
          <a:p>
            <a:pPr algn="l">
              <a:lnSpc>
                <a:spcPts val="1920"/>
              </a:lnSpc>
              <a:spcBef>
                <a:spcPts val="0"/>
              </a:spcBef>
              <a:spcAft>
                <a:spcPts val="0"/>
              </a:spcAft>
              <a:defRPr sz="1600" b="1" i="0">
                <a:solidFill>
                  <a:srgbClr val="003A70"/>
                </a:solidFill>
                <a:latin typeface="Montserrat"/>
              </a:defRPr>
            </a:pPr>
            <a:r>
              <a:t>Simulasi Arena KRSRI 2024 (Mujoco)</a:t>
            </a:r>
          </a:p>
        </p:txBody>
      </p:sp>
      <p:sp>
        <p:nvSpPr>
          <p:cNvPr id="8" name="TextBox 7"/>
          <p:cNvSpPr txBox="1"/>
          <p:nvPr/>
        </p:nvSpPr>
        <p:spPr>
          <a:xfrm>
            <a:off x="1581912" y="1536192"/>
            <a:ext cx="9509760" cy="914400"/>
          </a:xfrm>
          <a:prstGeom prst="rect">
            <a:avLst/>
          </a:prstGeom>
          <a:noFill/>
        </p:spPr>
        <p:txBody>
          <a:bodyPr wrap="square"/>
          <a:lstStyle/>
          <a:p>
            <a:pPr algn="l">
              <a:lnSpc>
                <a:spcPts val="1620"/>
              </a:lnSpc>
              <a:spcBef>
                <a:spcPts val="0"/>
              </a:spcBef>
              <a:spcAft>
                <a:spcPts val="0"/>
              </a:spcAft>
              <a:defRPr sz="1200" b="0" i="0">
                <a:solidFill>
                  <a:srgbClr val="333333"/>
                </a:solidFill>
                <a:latin typeface="Lato"/>
              </a:defRPr>
            </a:pPr>
            <a:r>
              <a:t>Merekayasa kondisi pasca gempa dengan rintangan tidak diketahui,</a:t>
            </a:r>
            <a:br/>
            <a:r>
              <a:t>tanjakan, dan permukaan tidak rata pada SKALA LEBIH KECIL.</a:t>
            </a:r>
            <a:br/>
            <a:br/>
            <a:r>
              <a:t>Bukan kondisi gempa sebenarnya → validasi awal metode.</a:t>
            </a:r>
          </a:p>
        </p:txBody>
      </p:sp>
      <p:sp>
        <p:nvSpPr>
          <p:cNvPr id="9" name="Rounded Rectangle 8"/>
          <p:cNvSpPr/>
          <p:nvPr/>
        </p:nvSpPr>
        <p:spPr>
          <a:xfrm>
            <a:off x="850392" y="2743200"/>
            <a:ext cx="10515600" cy="1417320"/>
          </a:xfrm>
          <a:prstGeom prst="roundRect">
            <a:avLst/>
          </a:prstGeom>
          <a:solidFill>
            <a:srgbClr val="FFF8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50392" y="2743200"/>
            <a:ext cx="63500" cy="1417320"/>
          </a:xfrm>
          <a:prstGeom prst="rect">
            <a:avLst/>
          </a:prstGeom>
          <a:solidFill>
            <a:srgbClr val="4A90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Isosceles Triangle 10"/>
          <p:cNvSpPr/>
          <p:nvPr/>
        </p:nvSpPr>
        <p:spPr>
          <a:xfrm>
            <a:off x="1078992" y="2926080"/>
            <a:ext cx="320040" cy="292608"/>
          </a:xfrm>
          <a:prstGeom prst="triangle">
            <a:avLst/>
          </a:prstGeom>
          <a:solidFill>
            <a:srgbClr val="4A90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Montserrat"/>
              </a:defRPr>
            </a:pPr>
            <a:r>
              <a:t>!</a:t>
            </a:r>
          </a:p>
        </p:txBody>
      </p:sp>
      <p:sp>
        <p:nvSpPr>
          <p:cNvPr id="12" name="TextBox 11"/>
          <p:cNvSpPr txBox="1"/>
          <p:nvPr/>
        </p:nvSpPr>
        <p:spPr>
          <a:xfrm>
            <a:off x="1581912" y="2852928"/>
            <a:ext cx="4572000" cy="320040"/>
          </a:xfrm>
          <a:prstGeom prst="rect">
            <a:avLst/>
          </a:prstGeom>
          <a:noFill/>
        </p:spPr>
        <p:txBody>
          <a:bodyPr wrap="square"/>
          <a:lstStyle/>
          <a:p>
            <a:pPr algn="l">
              <a:lnSpc>
                <a:spcPts val="1920"/>
              </a:lnSpc>
              <a:spcBef>
                <a:spcPts val="0"/>
              </a:spcBef>
              <a:spcAft>
                <a:spcPts val="0"/>
              </a:spcAft>
              <a:defRPr sz="1600" b="1" i="0">
                <a:solidFill>
                  <a:srgbClr val="4A90D9"/>
                </a:solidFill>
                <a:latin typeface="Montserrat"/>
              </a:defRPr>
            </a:pPr>
            <a:r>
              <a:t>Platform Robot Hexapod + LiDAR 2D</a:t>
            </a:r>
          </a:p>
        </p:txBody>
      </p:sp>
      <p:sp>
        <p:nvSpPr>
          <p:cNvPr id="13" name="TextBox 12"/>
          <p:cNvSpPr txBox="1"/>
          <p:nvPr/>
        </p:nvSpPr>
        <p:spPr>
          <a:xfrm>
            <a:off x="1581912" y="3182112"/>
            <a:ext cx="9509760" cy="914400"/>
          </a:xfrm>
          <a:prstGeom prst="rect">
            <a:avLst/>
          </a:prstGeom>
          <a:noFill/>
        </p:spPr>
        <p:txBody>
          <a:bodyPr wrap="square"/>
          <a:lstStyle/>
          <a:p>
            <a:pPr algn="l">
              <a:lnSpc>
                <a:spcPts val="1620"/>
              </a:lnSpc>
              <a:spcBef>
                <a:spcPts val="0"/>
              </a:spcBef>
              <a:spcAft>
                <a:spcPts val="0"/>
              </a:spcAft>
              <a:defRPr sz="1200" b="0" i="0">
                <a:solidFill>
                  <a:srgbClr val="333333"/>
                </a:solidFill>
                <a:latin typeface="Lato"/>
              </a:defRPr>
            </a:pPr>
            <a:r>
              <a:t>Robot hexapod 6 kaki bernavigasi secara OTONOM penuh dari</a:t>
            </a:r>
            <a:br/>
            <a:r>
              <a:t>titik awal ke tujuan yang telah ditentukan.</a:t>
            </a:r>
            <a:br/>
            <a:br/>
            <a:r>
              <a:t>Keterbatasan LiDAR 2D pada lingkungan bertingkat</a:t>
            </a:r>
            <a:br/>
            <a:r>
              <a:t>menjadi tantangan dalam sistem navigasi.</a:t>
            </a:r>
          </a:p>
        </p:txBody>
      </p:sp>
      <p:sp>
        <p:nvSpPr>
          <p:cNvPr id="14" name="Rounded Rectangle 13"/>
          <p:cNvSpPr/>
          <p:nvPr/>
        </p:nvSpPr>
        <p:spPr>
          <a:xfrm>
            <a:off x="850392" y="4389120"/>
            <a:ext cx="10515600" cy="1417320"/>
          </a:xfrm>
          <a:prstGeom prst="roundRect">
            <a:avLst/>
          </a:prstGeom>
          <a:solidFill>
            <a:srgbClr val="FFF8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50392" y="4389120"/>
            <a:ext cx="63500" cy="1417320"/>
          </a:xfrm>
          <a:prstGeom prst="rect">
            <a:avLst/>
          </a:prstGeom>
          <a:solidFill>
            <a:srgbClr val="F08C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Isosceles Triangle 15"/>
          <p:cNvSpPr/>
          <p:nvPr/>
        </p:nvSpPr>
        <p:spPr>
          <a:xfrm>
            <a:off x="1078992" y="4572000"/>
            <a:ext cx="320040" cy="292608"/>
          </a:xfrm>
          <a:prstGeom prst="triangle">
            <a:avLst/>
          </a:prstGeom>
          <a:solidFill>
            <a:srgbClr val="F08C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Montserrat"/>
              </a:defRPr>
            </a:pPr>
            <a:r>
              <a:t>!</a:t>
            </a:r>
          </a:p>
        </p:txBody>
      </p:sp>
      <p:sp>
        <p:nvSpPr>
          <p:cNvPr id="17" name="TextBox 16"/>
          <p:cNvSpPr txBox="1"/>
          <p:nvPr/>
        </p:nvSpPr>
        <p:spPr>
          <a:xfrm>
            <a:off x="1581912" y="4498848"/>
            <a:ext cx="4572000" cy="320040"/>
          </a:xfrm>
          <a:prstGeom prst="rect">
            <a:avLst/>
          </a:prstGeom>
          <a:noFill/>
        </p:spPr>
        <p:txBody>
          <a:bodyPr wrap="square"/>
          <a:lstStyle/>
          <a:p>
            <a:pPr algn="l">
              <a:lnSpc>
                <a:spcPts val="1920"/>
              </a:lnSpc>
              <a:spcBef>
                <a:spcPts val="0"/>
              </a:spcBef>
              <a:spcAft>
                <a:spcPts val="0"/>
              </a:spcAft>
              <a:defRPr sz="1600" b="1" i="0">
                <a:solidFill>
                  <a:srgbClr val="F08C2E"/>
                </a:solidFill>
                <a:latin typeface="Montserrat"/>
              </a:defRPr>
            </a:pPr>
            <a:r>
              <a:t>Lingkungan Statis Diketahui (Known Map)</a:t>
            </a:r>
          </a:p>
        </p:txBody>
      </p:sp>
      <p:sp>
        <p:nvSpPr>
          <p:cNvPr id="18" name="TextBox 17"/>
          <p:cNvSpPr txBox="1"/>
          <p:nvPr/>
        </p:nvSpPr>
        <p:spPr>
          <a:xfrm>
            <a:off x="1581912" y="4828032"/>
            <a:ext cx="9509760" cy="914400"/>
          </a:xfrm>
          <a:prstGeom prst="rect">
            <a:avLst/>
          </a:prstGeom>
          <a:noFill/>
        </p:spPr>
        <p:txBody>
          <a:bodyPr wrap="square"/>
          <a:lstStyle/>
          <a:p>
            <a:pPr algn="l">
              <a:lnSpc>
                <a:spcPts val="1620"/>
              </a:lnSpc>
              <a:spcBef>
                <a:spcPts val="0"/>
              </a:spcBef>
              <a:spcAft>
                <a:spcPts val="0"/>
              </a:spcAft>
              <a:defRPr sz="1200" b="0" i="0">
                <a:solidFill>
                  <a:srgbClr val="333333"/>
                </a:solidFill>
                <a:latin typeface="Lato"/>
              </a:defRPr>
            </a:pPr>
            <a:r>
              <a:t>Algoritma navigasi bekerja pada kondisi lingkungan DENGAN</a:t>
            </a:r>
            <a:br/>
            <a:r>
              <a:t>rintangan statis yang SUDAH DIKETAHUI.</a:t>
            </a:r>
            <a:br/>
            <a:br/>
            <a:r>
              <a:t>Rintangan dinamis tidak termasuk dalam cakupan</a:t>
            </a:r>
            <a:br/>
            <a:r>
              <a:t>pengujian tugas akhir ini.</a:t>
            </a:r>
          </a:p>
        </p:txBody>
      </p:sp>
      <p:sp>
        <p:nvSpPr>
          <p:cNvPr id="19" name="Rounded Rectangle 18"/>
          <p:cNvSpPr/>
          <p:nvPr/>
        </p:nvSpPr>
        <p:spPr>
          <a:xfrm>
            <a:off x="850392" y="5989320"/>
            <a:ext cx="10515600" cy="411480"/>
          </a:xfrm>
          <a:prstGeom prst="round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50392" y="5989320"/>
            <a:ext cx="50800" cy="411480"/>
          </a:xfrm>
          <a:prstGeom prst="rect">
            <a:avLst/>
          </a:prstGeom>
          <a:solidFill>
            <a:srgbClr val="F08C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60120" y="5989320"/>
            <a:ext cx="10332720" cy="411480"/>
          </a:xfrm>
          <a:prstGeom prst="rect">
            <a:avLst/>
          </a:prstGeom>
          <a:noFill/>
        </p:spPr>
        <p:txBody>
          <a:bodyPr wrap="square"/>
          <a:lstStyle/>
          <a:p>
            <a:pPr algn="l">
              <a:lnSpc>
                <a:spcPts val="1320"/>
              </a:lnSpc>
              <a:spcBef>
                <a:spcPts val="0"/>
              </a:spcBef>
              <a:spcAft>
                <a:spcPts val="0"/>
              </a:spcAft>
              <a:defRPr sz="1100" b="0" i="1">
                <a:solidFill>
                  <a:srgbClr val="333333"/>
                </a:solidFill>
                <a:latin typeface="Lato"/>
              </a:defRPr>
            </a:pPr>
            <a:r>
              <a:t>Metode yang dikembangkan TIDAK dirancang untuk langsung digunakan di kondisi pasca gempa. Pengujian dilakukan pada simulasi untuk validasi awal sebelum penerapan di skenario nyata.</a:t>
            </a:r>
          </a:p>
        </p:txBody>
      </p:sp>
      <p:sp>
        <p:nvSpPr>
          <p:cNvPr id="22" name="TextBox 21"/>
          <p:cNvSpPr txBox="1"/>
          <p:nvPr/>
        </p:nvSpPr>
        <p:spPr>
          <a:xfrm>
            <a:off x="10884103" y="6446520"/>
            <a:ext cx="457200" cy="274320"/>
          </a:xfrm>
          <a:prstGeom prst="rect">
            <a:avLst/>
          </a:prstGeom>
          <a:noFill/>
        </p:spPr>
        <p:txBody>
          <a:bodyPr wrap="square"/>
          <a:lstStyle/>
          <a:p>
            <a:pPr algn="r">
              <a:lnSpc>
                <a:spcPts val="1200"/>
              </a:lnSpc>
              <a:spcBef>
                <a:spcPts val="0"/>
              </a:spcBef>
              <a:spcAft>
                <a:spcPts val="0"/>
              </a:spcAft>
              <a:defRPr sz="1000" b="0" i="0">
                <a:solidFill>
                  <a:srgbClr val="333333"/>
                </a:solidFill>
                <a:latin typeface="Lato"/>
              </a:defRPr>
            </a:pPr>
            <a: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gradFill rotWithShape="1">
          <a:gsLst>
            <a:gs pos="0">
              <a:srgbClr val="E4F0FF"/>
            </a:gs>
            <a:gs pos="100000">
              <a:srgbClr val="C1D7F3"/>
            </a:gs>
          </a:gsLst>
          <a:lin ang="8100000" scaled="0"/>
        </a:gradFill>
      </p:bgPr>
    </p:bg>
    <p:spTree>
      <p:nvGrpSpPr>
        <p:cNvPr id="1" name=""/>
        <p:cNvGrpSpPr/>
        <p:nvPr/>
      </p:nvGrpSpPr>
      <p:grpSpPr/>
      <p:sp>
        <p:nvSpPr>
          <p:cNvPr id="2" name="TextBox 1"/>
          <p:cNvSpPr txBox="1"/>
          <p:nvPr/>
        </p:nvSpPr>
        <p:spPr>
          <a:xfrm>
            <a:off x="850392" y="320040"/>
            <a:ext cx="4572000" cy="502920"/>
          </a:xfrm>
          <a:prstGeom prst="rect">
            <a:avLst/>
          </a:prstGeom>
          <a:noFill/>
        </p:spPr>
        <p:txBody>
          <a:bodyPr wrap="square"/>
          <a:lstStyle/>
          <a:p>
            <a:pPr algn="l">
              <a:lnSpc>
                <a:spcPts val="3600"/>
              </a:lnSpc>
              <a:spcBef>
                <a:spcPts val="0"/>
              </a:spcBef>
              <a:spcAft>
                <a:spcPts val="0"/>
              </a:spcAft>
              <a:defRPr sz="3000" b="1" i="0">
                <a:solidFill>
                  <a:srgbClr val="1A2B4C"/>
                </a:solidFill>
                <a:latin typeface="Montserrat"/>
              </a:defRPr>
            </a:pPr>
            <a:r>
              <a:t>TUJUAN &amp; MANFAAT</a:t>
            </a:r>
          </a:p>
        </p:txBody>
      </p:sp>
      <p:sp>
        <p:nvSpPr>
          <p:cNvPr id="3" name="Rectangle 2"/>
          <p:cNvSpPr/>
          <p:nvPr/>
        </p:nvSpPr>
        <p:spPr>
          <a:xfrm>
            <a:off x="850392" y="777240"/>
            <a:ext cx="2011680" cy="25400"/>
          </a:xfrm>
          <a:prstGeom prst="rect">
            <a:avLst/>
          </a:prstGeom>
          <a:solidFill>
            <a:srgbClr val="F08C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0392" y="1005840"/>
            <a:ext cx="2286000" cy="365760"/>
          </a:xfrm>
          <a:prstGeom prst="rect">
            <a:avLst/>
          </a:prstGeom>
          <a:noFill/>
        </p:spPr>
        <p:txBody>
          <a:bodyPr wrap="square"/>
          <a:lstStyle/>
          <a:p>
            <a:pPr algn="l">
              <a:lnSpc>
                <a:spcPts val="2160"/>
              </a:lnSpc>
              <a:spcBef>
                <a:spcPts val="0"/>
              </a:spcBef>
              <a:spcAft>
                <a:spcPts val="0"/>
              </a:spcAft>
              <a:defRPr sz="1800" b="1" i="0">
                <a:solidFill>
                  <a:srgbClr val="003A70"/>
                </a:solidFill>
                <a:latin typeface="Montserrat"/>
              </a:defRPr>
            </a:pPr>
            <a:r>
              <a:t>Tujuan Penelitian</a:t>
            </a:r>
          </a:p>
        </p:txBody>
      </p:sp>
      <p:sp>
        <p:nvSpPr>
          <p:cNvPr id="5" name="Rounded Rectangle 4"/>
          <p:cNvSpPr/>
          <p:nvPr/>
        </p:nvSpPr>
        <p:spPr>
          <a:xfrm>
            <a:off x="941832" y="1463040"/>
            <a:ext cx="5303520" cy="1005840"/>
          </a:xfrm>
          <a:prstGeom prst="roundRect">
            <a:avLst/>
          </a:prstGeom>
          <a:solidFill>
            <a:srgbClr val="FFF8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941832" y="1481328"/>
            <a:ext cx="365760" cy="365760"/>
          </a:xfrm>
          <a:prstGeom prst="ellipse">
            <a:avLst/>
          </a:prstGeom>
          <a:solidFill>
            <a:srgbClr val="4A90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FFFFFF"/>
                </a:solidFill>
              </a:defRPr>
            </a:pPr>
            <a:r>
              <a:t>•</a:t>
            </a:r>
          </a:p>
        </p:txBody>
      </p:sp>
      <p:sp>
        <p:nvSpPr>
          <p:cNvPr id="7" name="TextBox 6"/>
          <p:cNvSpPr txBox="1"/>
          <p:nvPr/>
        </p:nvSpPr>
        <p:spPr>
          <a:xfrm>
            <a:off x="1444752" y="1463040"/>
            <a:ext cx="4800600" cy="228600"/>
          </a:xfrm>
          <a:prstGeom prst="rect">
            <a:avLst/>
          </a:prstGeom>
          <a:noFill/>
        </p:spPr>
        <p:txBody>
          <a:bodyPr wrap="square"/>
          <a:lstStyle/>
          <a:p>
            <a:pPr algn="l">
              <a:lnSpc>
                <a:spcPts val="1560"/>
              </a:lnSpc>
              <a:spcBef>
                <a:spcPts val="0"/>
              </a:spcBef>
              <a:spcAft>
                <a:spcPts val="0"/>
              </a:spcAft>
              <a:defRPr sz="1300" b="1" i="0">
                <a:solidFill>
                  <a:srgbClr val="1A2B4C"/>
                </a:solidFill>
                <a:latin typeface="Montserrat"/>
              </a:defRPr>
            </a:pPr>
            <a:r>
              <a:t>Representasi Multi-Lantai</a:t>
            </a:r>
          </a:p>
        </p:txBody>
      </p:sp>
      <p:sp>
        <p:nvSpPr>
          <p:cNvPr id="8" name="TextBox 7"/>
          <p:cNvSpPr txBox="1"/>
          <p:nvPr/>
        </p:nvSpPr>
        <p:spPr>
          <a:xfrm>
            <a:off x="1444752" y="1719072"/>
            <a:ext cx="4800600" cy="749808"/>
          </a:xfrm>
          <a:prstGeom prst="rect">
            <a:avLst/>
          </a:prstGeom>
          <a:noFill/>
        </p:spPr>
        <p:txBody>
          <a:bodyPr wrap="square"/>
          <a:lstStyle/>
          <a:p>
            <a:pPr algn="l">
              <a:lnSpc>
                <a:spcPts val="1485"/>
              </a:lnSpc>
              <a:spcBef>
                <a:spcPts val="0"/>
              </a:spcBef>
              <a:spcAft>
                <a:spcPts val="0"/>
              </a:spcAft>
              <a:defRPr sz="1100" b="0" i="0">
                <a:solidFill>
                  <a:srgbClr val="333333"/>
                </a:solidFill>
                <a:latin typeface="Lato"/>
              </a:defRPr>
            </a:pPr>
            <a:r>
              <a:t>Mengembangkan metode representasi lingkungan menggunakan layered costmap untuk menyederhanakan informasi lingkungan multi-lantai</a:t>
            </a:r>
          </a:p>
        </p:txBody>
      </p:sp>
      <p:sp>
        <p:nvSpPr>
          <p:cNvPr id="9" name="Rounded Rectangle 8"/>
          <p:cNvSpPr/>
          <p:nvPr/>
        </p:nvSpPr>
        <p:spPr>
          <a:xfrm>
            <a:off x="941832" y="2606040"/>
            <a:ext cx="5303520" cy="1005840"/>
          </a:xfrm>
          <a:prstGeom prst="roundRect">
            <a:avLst/>
          </a:prstGeom>
          <a:solidFill>
            <a:srgbClr val="FFF8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941832" y="2624328"/>
            <a:ext cx="365760" cy="365760"/>
          </a:xfrm>
          <a:prstGeom prst="ellipse">
            <a:avLst/>
          </a:prstGeom>
          <a:solidFill>
            <a:srgbClr val="4A90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FFFFFF"/>
                </a:solidFill>
              </a:defRPr>
            </a:pPr>
            <a:r>
              <a:t>•</a:t>
            </a:r>
          </a:p>
        </p:txBody>
      </p:sp>
      <p:sp>
        <p:nvSpPr>
          <p:cNvPr id="11" name="TextBox 10"/>
          <p:cNvSpPr txBox="1"/>
          <p:nvPr/>
        </p:nvSpPr>
        <p:spPr>
          <a:xfrm>
            <a:off x="1444752" y="2606040"/>
            <a:ext cx="4800600" cy="228600"/>
          </a:xfrm>
          <a:prstGeom prst="rect">
            <a:avLst/>
          </a:prstGeom>
          <a:noFill/>
        </p:spPr>
        <p:txBody>
          <a:bodyPr wrap="square"/>
          <a:lstStyle/>
          <a:p>
            <a:pPr algn="l">
              <a:lnSpc>
                <a:spcPts val="1560"/>
              </a:lnSpc>
              <a:spcBef>
                <a:spcPts val="0"/>
              </a:spcBef>
              <a:spcAft>
                <a:spcPts val="0"/>
              </a:spcAft>
              <a:defRPr sz="1300" b="1" i="0">
                <a:solidFill>
                  <a:srgbClr val="1A2B4C"/>
                </a:solidFill>
                <a:latin typeface="Montserrat"/>
              </a:defRPr>
            </a:pPr>
            <a:r>
              <a:t>Algoritma Navigasi Antar Lantai</a:t>
            </a:r>
          </a:p>
        </p:txBody>
      </p:sp>
      <p:sp>
        <p:nvSpPr>
          <p:cNvPr id="12" name="TextBox 11"/>
          <p:cNvSpPr txBox="1"/>
          <p:nvPr/>
        </p:nvSpPr>
        <p:spPr>
          <a:xfrm>
            <a:off x="1444752" y="2862072"/>
            <a:ext cx="4800600" cy="749808"/>
          </a:xfrm>
          <a:prstGeom prst="rect">
            <a:avLst/>
          </a:prstGeom>
          <a:noFill/>
        </p:spPr>
        <p:txBody>
          <a:bodyPr wrap="square"/>
          <a:lstStyle/>
          <a:p>
            <a:pPr algn="l">
              <a:lnSpc>
                <a:spcPts val="1485"/>
              </a:lnSpc>
              <a:spcBef>
                <a:spcPts val="0"/>
              </a:spcBef>
              <a:spcAft>
                <a:spcPts val="0"/>
              </a:spcAft>
              <a:defRPr sz="1100" b="0" i="0">
                <a:solidFill>
                  <a:srgbClr val="333333"/>
                </a:solidFill>
                <a:latin typeface="Lato"/>
              </a:defRPr>
            </a:pPr>
            <a:r>
              <a:t>Merancang dan mengimplementasikan algoritma lokalisasi, path planning, dan path tracking yang menggunakan layered costmap</a:t>
            </a:r>
          </a:p>
        </p:txBody>
      </p:sp>
      <p:sp>
        <p:nvSpPr>
          <p:cNvPr id="13" name="Rounded Rectangle 12"/>
          <p:cNvSpPr/>
          <p:nvPr/>
        </p:nvSpPr>
        <p:spPr>
          <a:xfrm>
            <a:off x="941832" y="3749040"/>
            <a:ext cx="5303520" cy="1005840"/>
          </a:xfrm>
          <a:prstGeom prst="roundRect">
            <a:avLst/>
          </a:prstGeom>
          <a:solidFill>
            <a:srgbClr val="FFF8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941832" y="3767328"/>
            <a:ext cx="365760" cy="365760"/>
          </a:xfrm>
          <a:prstGeom prst="ellipse">
            <a:avLst/>
          </a:prstGeom>
          <a:solidFill>
            <a:srgbClr val="4A90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FFFFFF"/>
                </a:solidFill>
              </a:defRPr>
            </a:pPr>
            <a:r>
              <a:t>•</a:t>
            </a:r>
          </a:p>
        </p:txBody>
      </p:sp>
      <p:sp>
        <p:nvSpPr>
          <p:cNvPr id="15" name="TextBox 14"/>
          <p:cNvSpPr txBox="1"/>
          <p:nvPr/>
        </p:nvSpPr>
        <p:spPr>
          <a:xfrm>
            <a:off x="1444752" y="3749040"/>
            <a:ext cx="4800600" cy="228600"/>
          </a:xfrm>
          <a:prstGeom prst="rect">
            <a:avLst/>
          </a:prstGeom>
          <a:noFill/>
        </p:spPr>
        <p:txBody>
          <a:bodyPr wrap="square"/>
          <a:lstStyle/>
          <a:p>
            <a:pPr algn="l">
              <a:lnSpc>
                <a:spcPts val="1560"/>
              </a:lnSpc>
              <a:spcBef>
                <a:spcPts val="0"/>
              </a:spcBef>
              <a:spcAft>
                <a:spcPts val="0"/>
              </a:spcAft>
              <a:defRPr sz="1300" b="1" i="0">
                <a:solidFill>
                  <a:srgbClr val="1A2B4C"/>
                </a:solidFill>
                <a:latin typeface="Montserrat"/>
              </a:defRPr>
            </a:pPr>
            <a:r>
              <a:t>Evaluasi di Simulasi</a:t>
            </a:r>
          </a:p>
        </p:txBody>
      </p:sp>
      <p:sp>
        <p:nvSpPr>
          <p:cNvPr id="16" name="TextBox 15"/>
          <p:cNvSpPr txBox="1"/>
          <p:nvPr/>
        </p:nvSpPr>
        <p:spPr>
          <a:xfrm>
            <a:off x="1444752" y="4005072"/>
            <a:ext cx="4800600" cy="749808"/>
          </a:xfrm>
          <a:prstGeom prst="rect">
            <a:avLst/>
          </a:prstGeom>
          <a:noFill/>
        </p:spPr>
        <p:txBody>
          <a:bodyPr wrap="square"/>
          <a:lstStyle/>
          <a:p>
            <a:pPr algn="l">
              <a:lnSpc>
                <a:spcPts val="1485"/>
              </a:lnSpc>
              <a:spcBef>
                <a:spcPts val="0"/>
              </a:spcBef>
              <a:spcAft>
                <a:spcPts val="0"/>
              </a:spcAft>
              <a:defRPr sz="1100" b="0" i="0">
                <a:solidFill>
                  <a:srgbClr val="333333"/>
                </a:solidFill>
                <a:latin typeface="Lato"/>
              </a:defRPr>
            </a:pPr>
            <a:r>
              <a:t>Melakukan pengujian sistem di lingkungan simulasi untuk mengevaluasi efektivitas dan keterbatasan pendekatan yang diusulkan</a:t>
            </a:r>
          </a:p>
        </p:txBody>
      </p:sp>
      <p:sp>
        <p:nvSpPr>
          <p:cNvPr id="17" name="TextBox 16"/>
          <p:cNvSpPr txBox="1"/>
          <p:nvPr/>
        </p:nvSpPr>
        <p:spPr>
          <a:xfrm>
            <a:off x="6400800" y="1005840"/>
            <a:ext cx="2286000" cy="365760"/>
          </a:xfrm>
          <a:prstGeom prst="rect">
            <a:avLst/>
          </a:prstGeom>
          <a:noFill/>
        </p:spPr>
        <p:txBody>
          <a:bodyPr wrap="square"/>
          <a:lstStyle/>
          <a:p>
            <a:pPr algn="l">
              <a:lnSpc>
                <a:spcPts val="2160"/>
              </a:lnSpc>
              <a:spcBef>
                <a:spcPts val="0"/>
              </a:spcBef>
              <a:spcAft>
                <a:spcPts val="0"/>
              </a:spcAft>
              <a:defRPr sz="1800" b="1" i="0">
                <a:solidFill>
                  <a:srgbClr val="003A70"/>
                </a:solidFill>
                <a:latin typeface="Montserrat"/>
              </a:defRPr>
            </a:pPr>
            <a:r>
              <a:t>Manfaat Penelitian</a:t>
            </a:r>
          </a:p>
        </p:txBody>
      </p:sp>
      <p:sp>
        <p:nvSpPr>
          <p:cNvPr id="18" name="Rounded Rectangle 17"/>
          <p:cNvSpPr/>
          <p:nvPr/>
        </p:nvSpPr>
        <p:spPr>
          <a:xfrm>
            <a:off x="6492240" y="1463040"/>
            <a:ext cx="5303520" cy="502920"/>
          </a:xfrm>
          <a:prstGeom prst="roundRect">
            <a:avLst/>
          </a:prstGeom>
          <a:solidFill>
            <a:srgbClr val="FFF8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492240" y="1463040"/>
            <a:ext cx="411480" cy="411480"/>
          </a:xfrm>
          <a:prstGeom prst="ellipse">
            <a:avLst/>
          </a:prstGeom>
          <a:solidFill>
            <a:srgbClr val="4A90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a:solidFill>
                  <a:srgbClr val="FFFFFF"/>
                </a:solidFill>
              </a:defRPr>
            </a:pPr>
            <a:r>
              <a:t>⭐</a:t>
            </a:r>
          </a:p>
        </p:txBody>
      </p:sp>
      <p:sp>
        <p:nvSpPr>
          <p:cNvPr id="20" name="TextBox 19"/>
          <p:cNvSpPr txBox="1"/>
          <p:nvPr/>
        </p:nvSpPr>
        <p:spPr>
          <a:xfrm>
            <a:off x="7040880" y="1444752"/>
            <a:ext cx="4754880" cy="228600"/>
          </a:xfrm>
          <a:prstGeom prst="rect">
            <a:avLst/>
          </a:prstGeom>
          <a:noFill/>
        </p:spPr>
        <p:txBody>
          <a:bodyPr wrap="square"/>
          <a:lstStyle/>
          <a:p>
            <a:pPr algn="l">
              <a:lnSpc>
                <a:spcPts val="1680"/>
              </a:lnSpc>
              <a:spcBef>
                <a:spcPts val="0"/>
              </a:spcBef>
              <a:spcAft>
                <a:spcPts val="0"/>
              </a:spcAft>
              <a:defRPr sz="1400" b="1" i="0">
                <a:solidFill>
                  <a:srgbClr val="1A2B4C"/>
                </a:solidFill>
                <a:latin typeface="Montserrat"/>
              </a:defRPr>
            </a:pPr>
          </a:p>
        </p:txBody>
      </p:sp>
      <p:sp>
        <p:nvSpPr>
          <p:cNvPr id="21" name="TextBox 20"/>
          <p:cNvSpPr txBox="1"/>
          <p:nvPr/>
        </p:nvSpPr>
        <p:spPr>
          <a:xfrm>
            <a:off x="7040880" y="1691640"/>
            <a:ext cx="4754880" cy="274320"/>
          </a:xfrm>
          <a:prstGeom prst="rect">
            <a:avLst/>
          </a:prstGeom>
          <a:noFill/>
        </p:spPr>
        <p:txBody>
          <a:bodyPr wrap="square"/>
          <a:lstStyle/>
          <a:p>
            <a:pPr algn="l">
              <a:lnSpc>
                <a:spcPts val="1560"/>
              </a:lnSpc>
              <a:spcBef>
                <a:spcPts val="0"/>
              </a:spcBef>
              <a:spcAft>
                <a:spcPts val="0"/>
              </a:spcAft>
              <a:defRPr sz="1200" b="0" i="0">
                <a:solidFill>
                  <a:srgbClr val="333333"/>
                </a:solidFill>
                <a:latin typeface="Lato"/>
              </a:defRPr>
            </a:pPr>
            <a:r>
              <a:t>Kontribusi pada sistem navigasi robot otonom di lingkungan kompleks</a:t>
            </a:r>
          </a:p>
        </p:txBody>
      </p:sp>
      <p:sp>
        <p:nvSpPr>
          <p:cNvPr id="22" name="Rounded Rectangle 21"/>
          <p:cNvSpPr/>
          <p:nvPr/>
        </p:nvSpPr>
        <p:spPr>
          <a:xfrm>
            <a:off x="6492240" y="2331720"/>
            <a:ext cx="5303520" cy="502920"/>
          </a:xfrm>
          <a:prstGeom prst="roundRect">
            <a:avLst/>
          </a:prstGeom>
          <a:solidFill>
            <a:srgbClr val="FFF8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492240" y="2331720"/>
            <a:ext cx="411480" cy="411480"/>
          </a:xfrm>
          <a:prstGeom prst="ellipse">
            <a:avLst/>
          </a:prstGeom>
          <a:solidFill>
            <a:srgbClr val="4A90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a:solidFill>
                  <a:srgbClr val="FFFFFF"/>
                </a:solidFill>
              </a:defRPr>
            </a:pPr>
            <a:r>
              <a:t>⭐</a:t>
            </a:r>
          </a:p>
        </p:txBody>
      </p:sp>
      <p:sp>
        <p:nvSpPr>
          <p:cNvPr id="24" name="TextBox 23"/>
          <p:cNvSpPr txBox="1"/>
          <p:nvPr/>
        </p:nvSpPr>
        <p:spPr>
          <a:xfrm>
            <a:off x="7040880" y="2313432"/>
            <a:ext cx="4754880" cy="228600"/>
          </a:xfrm>
          <a:prstGeom prst="rect">
            <a:avLst/>
          </a:prstGeom>
          <a:noFill/>
        </p:spPr>
        <p:txBody>
          <a:bodyPr wrap="square"/>
          <a:lstStyle/>
          <a:p>
            <a:pPr algn="l">
              <a:lnSpc>
                <a:spcPts val="1680"/>
              </a:lnSpc>
              <a:spcBef>
                <a:spcPts val="0"/>
              </a:spcBef>
              <a:spcAft>
                <a:spcPts val="0"/>
              </a:spcAft>
              <a:defRPr sz="1400" b="1" i="0">
                <a:solidFill>
                  <a:srgbClr val="1A2B4C"/>
                </a:solidFill>
                <a:latin typeface="Montserrat"/>
              </a:defRPr>
            </a:pPr>
          </a:p>
        </p:txBody>
      </p:sp>
      <p:sp>
        <p:nvSpPr>
          <p:cNvPr id="25" name="TextBox 24"/>
          <p:cNvSpPr txBox="1"/>
          <p:nvPr/>
        </p:nvSpPr>
        <p:spPr>
          <a:xfrm>
            <a:off x="7040880" y="2560320"/>
            <a:ext cx="4754880" cy="274320"/>
          </a:xfrm>
          <a:prstGeom prst="rect">
            <a:avLst/>
          </a:prstGeom>
          <a:noFill/>
        </p:spPr>
        <p:txBody>
          <a:bodyPr wrap="square"/>
          <a:lstStyle/>
          <a:p>
            <a:pPr algn="l">
              <a:lnSpc>
                <a:spcPts val="1560"/>
              </a:lnSpc>
              <a:spcBef>
                <a:spcPts val="0"/>
              </a:spcBef>
              <a:spcAft>
                <a:spcPts val="0"/>
              </a:spcAft>
              <a:defRPr sz="1200" b="0" i="0">
                <a:solidFill>
                  <a:srgbClr val="333333"/>
                </a:solidFill>
                <a:latin typeface="Lato"/>
              </a:defRPr>
            </a:pPr>
            <a:r>
              <a:t>Dasar awal navigasi robot di area bertingkat atau runtuh pasca gempa</a:t>
            </a:r>
          </a:p>
        </p:txBody>
      </p:sp>
      <p:sp>
        <p:nvSpPr>
          <p:cNvPr id="26" name="Rounded Rectangle 25"/>
          <p:cNvSpPr/>
          <p:nvPr/>
        </p:nvSpPr>
        <p:spPr>
          <a:xfrm>
            <a:off x="6492240" y="3200400"/>
            <a:ext cx="5303520" cy="502920"/>
          </a:xfrm>
          <a:prstGeom prst="roundRect">
            <a:avLst/>
          </a:prstGeom>
          <a:solidFill>
            <a:srgbClr val="FFF8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92240" y="3200400"/>
            <a:ext cx="411480" cy="411480"/>
          </a:xfrm>
          <a:prstGeom prst="ellipse">
            <a:avLst/>
          </a:prstGeom>
          <a:solidFill>
            <a:srgbClr val="4A90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a:solidFill>
                  <a:srgbClr val="FFFFFF"/>
                </a:solidFill>
              </a:defRPr>
            </a:pPr>
            <a:r>
              <a:t>⭐</a:t>
            </a:r>
          </a:p>
        </p:txBody>
      </p:sp>
      <p:sp>
        <p:nvSpPr>
          <p:cNvPr id="28" name="TextBox 27"/>
          <p:cNvSpPr txBox="1"/>
          <p:nvPr/>
        </p:nvSpPr>
        <p:spPr>
          <a:xfrm>
            <a:off x="7040880" y="3182112"/>
            <a:ext cx="4754880" cy="228600"/>
          </a:xfrm>
          <a:prstGeom prst="rect">
            <a:avLst/>
          </a:prstGeom>
          <a:noFill/>
        </p:spPr>
        <p:txBody>
          <a:bodyPr wrap="square"/>
          <a:lstStyle/>
          <a:p>
            <a:pPr algn="l">
              <a:lnSpc>
                <a:spcPts val="1680"/>
              </a:lnSpc>
              <a:spcBef>
                <a:spcPts val="0"/>
              </a:spcBef>
              <a:spcAft>
                <a:spcPts val="0"/>
              </a:spcAft>
              <a:defRPr sz="1400" b="1" i="0">
                <a:solidFill>
                  <a:srgbClr val="1A2B4C"/>
                </a:solidFill>
                <a:latin typeface="Montserrat"/>
              </a:defRPr>
            </a:pPr>
          </a:p>
        </p:txBody>
      </p:sp>
      <p:sp>
        <p:nvSpPr>
          <p:cNvPr id="29" name="TextBox 28"/>
          <p:cNvSpPr txBox="1"/>
          <p:nvPr/>
        </p:nvSpPr>
        <p:spPr>
          <a:xfrm>
            <a:off x="7040880" y="3429000"/>
            <a:ext cx="4754880" cy="274320"/>
          </a:xfrm>
          <a:prstGeom prst="rect">
            <a:avLst/>
          </a:prstGeom>
          <a:noFill/>
        </p:spPr>
        <p:txBody>
          <a:bodyPr wrap="square"/>
          <a:lstStyle/>
          <a:p>
            <a:pPr algn="l">
              <a:lnSpc>
                <a:spcPts val="1560"/>
              </a:lnSpc>
              <a:spcBef>
                <a:spcPts val="0"/>
              </a:spcBef>
              <a:spcAft>
                <a:spcPts val="0"/>
              </a:spcAft>
              <a:defRPr sz="1200" b="0" i="0">
                <a:solidFill>
                  <a:srgbClr val="333333"/>
                </a:solidFill>
                <a:latin typeface="Lato"/>
              </a:defRPr>
            </a:pPr>
            <a:r>
              <a:t>Fondasi penelitian lanjutan untuk robot SAR otonom di area bencana</a:t>
            </a:r>
          </a:p>
        </p:txBody>
      </p:sp>
      <p:sp>
        <p:nvSpPr>
          <p:cNvPr id="30" name="TextBox 29"/>
          <p:cNvSpPr txBox="1"/>
          <p:nvPr/>
        </p:nvSpPr>
        <p:spPr>
          <a:xfrm>
            <a:off x="10884103" y="6446520"/>
            <a:ext cx="457200" cy="274320"/>
          </a:xfrm>
          <a:prstGeom prst="rect">
            <a:avLst/>
          </a:prstGeom>
          <a:noFill/>
        </p:spPr>
        <p:txBody>
          <a:bodyPr wrap="square"/>
          <a:lstStyle/>
          <a:p>
            <a:pPr algn="r">
              <a:lnSpc>
                <a:spcPts val="1200"/>
              </a:lnSpc>
              <a:spcBef>
                <a:spcPts val="0"/>
              </a:spcBef>
              <a:spcAft>
                <a:spcPts val="0"/>
              </a:spcAft>
              <a:defRPr sz="1000" b="0" i="0">
                <a:solidFill>
                  <a:srgbClr val="333333"/>
                </a:solidFill>
                <a:latin typeface="Lato"/>
              </a:defRPr>
            </a:pPr>
            <a: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gradFill rotWithShape="1">
          <a:gsLst>
            <a:gs pos="0">
              <a:srgbClr val="EDF4FC"/>
            </a:gs>
            <a:gs pos="100000">
              <a:srgbClr val="D2E3F3"/>
            </a:gs>
          </a:gsLst>
          <a:lin ang="8100000" scaled="0"/>
        </a:gradFill>
      </p:bgPr>
    </p:bg>
    <p:spTree>
      <p:nvGrpSpPr>
        <p:cNvPr id="1" name=""/>
        <p:cNvGrpSpPr/>
        <p:nvPr/>
      </p:nvGrpSpPr>
      <p:grpSpPr/>
      <p:sp>
        <p:nvSpPr>
          <p:cNvPr id="2" name="TextBox 1"/>
          <p:cNvSpPr txBox="1"/>
          <p:nvPr/>
        </p:nvSpPr>
        <p:spPr>
          <a:xfrm>
            <a:off x="850392" y="320040"/>
            <a:ext cx="4572000" cy="502920"/>
          </a:xfrm>
          <a:prstGeom prst="rect">
            <a:avLst/>
          </a:prstGeom>
          <a:noFill/>
        </p:spPr>
        <p:txBody>
          <a:bodyPr wrap="square"/>
          <a:lstStyle/>
          <a:p>
            <a:pPr algn="l">
              <a:lnSpc>
                <a:spcPts val="3600"/>
              </a:lnSpc>
              <a:spcBef>
                <a:spcPts val="0"/>
              </a:spcBef>
              <a:spcAft>
                <a:spcPts val="0"/>
              </a:spcAft>
              <a:defRPr sz="3000" b="1" i="0">
                <a:solidFill>
                  <a:srgbClr val="1A2B4C"/>
                </a:solidFill>
                <a:latin typeface="Montserrat"/>
              </a:defRPr>
            </a:pPr>
            <a:r>
              <a:t>DASAR TEORI</a:t>
            </a:r>
          </a:p>
        </p:txBody>
      </p:sp>
      <p:sp>
        <p:nvSpPr>
          <p:cNvPr id="3" name="Rectangle 2"/>
          <p:cNvSpPr/>
          <p:nvPr/>
        </p:nvSpPr>
        <p:spPr>
          <a:xfrm>
            <a:off x="850392" y="777240"/>
            <a:ext cx="2011680" cy="25400"/>
          </a:xfrm>
          <a:prstGeom prst="rect">
            <a:avLst/>
          </a:prstGeom>
          <a:solidFill>
            <a:srgbClr val="F08C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850392" y="1097280"/>
            <a:ext cx="5029200" cy="1005840"/>
          </a:xfrm>
          <a:prstGeom prst="roundRect">
            <a:avLst/>
          </a:prstGeom>
          <a:solidFill>
            <a:srgbClr val="FFF8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50392" y="1097280"/>
            <a:ext cx="63500" cy="1005840"/>
          </a:xfrm>
          <a:prstGeom prst="rect">
            <a:avLst/>
          </a:prstGeom>
          <a:solidFill>
            <a:srgbClr val="003A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87552" y="1207008"/>
            <a:ext cx="548640" cy="411480"/>
          </a:xfrm>
          <a:prstGeom prst="rect">
            <a:avLst/>
          </a:prstGeom>
          <a:noFill/>
        </p:spPr>
        <p:txBody>
          <a:bodyPr wrap="square"/>
          <a:lstStyle/>
          <a:p>
            <a:pPr algn="l">
              <a:lnSpc>
                <a:spcPts val="2879"/>
              </a:lnSpc>
              <a:spcBef>
                <a:spcPts val="0"/>
              </a:spcBef>
              <a:spcAft>
                <a:spcPts val="0"/>
              </a:spcAft>
              <a:defRPr sz="2400" b="1" i="0">
                <a:solidFill>
                  <a:srgbClr val="003A70"/>
                </a:solidFill>
                <a:latin typeface="Montserrat"/>
              </a:defRPr>
            </a:pPr>
            <a:r>
              <a:t>01</a:t>
            </a:r>
          </a:p>
        </p:txBody>
      </p:sp>
      <p:sp>
        <p:nvSpPr>
          <p:cNvPr id="7" name="TextBox 6"/>
          <p:cNvSpPr txBox="1"/>
          <p:nvPr/>
        </p:nvSpPr>
        <p:spPr>
          <a:xfrm>
            <a:off x="1581912" y="1207008"/>
            <a:ext cx="4114800" cy="777240"/>
          </a:xfrm>
          <a:prstGeom prst="rect">
            <a:avLst/>
          </a:prstGeom>
          <a:noFill/>
        </p:spPr>
        <p:txBody>
          <a:bodyPr wrap="square"/>
          <a:lstStyle/>
          <a:p>
            <a:pPr algn="l">
              <a:lnSpc>
                <a:spcPts val="1920"/>
              </a:lnSpc>
              <a:spcBef>
                <a:spcPts val="0"/>
              </a:spcBef>
              <a:spcAft>
                <a:spcPts val="0"/>
              </a:spcAft>
              <a:defRPr sz="1600" b="1" i="0">
                <a:solidFill>
                  <a:srgbClr val="1A2B4C"/>
                </a:solidFill>
                <a:latin typeface="Montserrat"/>
              </a:defRPr>
            </a:pPr>
            <a:r>
              <a:t>Occupancy Grid</a:t>
            </a:r>
          </a:p>
        </p:txBody>
      </p:sp>
      <p:sp>
        <p:nvSpPr>
          <p:cNvPr id="8" name="Rounded Rectangle 7"/>
          <p:cNvSpPr/>
          <p:nvPr/>
        </p:nvSpPr>
        <p:spPr>
          <a:xfrm>
            <a:off x="6245352" y="1097280"/>
            <a:ext cx="5029200" cy="1005840"/>
          </a:xfrm>
          <a:prstGeom prst="roundRect">
            <a:avLst/>
          </a:prstGeom>
          <a:solidFill>
            <a:srgbClr val="FFF8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45352" y="1097280"/>
            <a:ext cx="63500" cy="1005840"/>
          </a:xfrm>
          <a:prstGeom prst="rect">
            <a:avLst/>
          </a:prstGeom>
          <a:solidFill>
            <a:srgbClr val="003A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82512" y="1207008"/>
            <a:ext cx="548640" cy="411480"/>
          </a:xfrm>
          <a:prstGeom prst="rect">
            <a:avLst/>
          </a:prstGeom>
          <a:noFill/>
        </p:spPr>
        <p:txBody>
          <a:bodyPr wrap="square"/>
          <a:lstStyle/>
          <a:p>
            <a:pPr algn="l">
              <a:lnSpc>
                <a:spcPts val="2879"/>
              </a:lnSpc>
              <a:spcBef>
                <a:spcPts val="0"/>
              </a:spcBef>
              <a:spcAft>
                <a:spcPts val="0"/>
              </a:spcAft>
              <a:defRPr sz="2400" b="1" i="0">
                <a:solidFill>
                  <a:srgbClr val="003A70"/>
                </a:solidFill>
                <a:latin typeface="Montserrat"/>
              </a:defRPr>
            </a:pPr>
            <a:r>
              <a:t>02</a:t>
            </a:r>
          </a:p>
        </p:txBody>
      </p:sp>
      <p:sp>
        <p:nvSpPr>
          <p:cNvPr id="11" name="TextBox 10"/>
          <p:cNvSpPr txBox="1"/>
          <p:nvPr/>
        </p:nvSpPr>
        <p:spPr>
          <a:xfrm>
            <a:off x="6976872" y="1207008"/>
            <a:ext cx="4114800" cy="777240"/>
          </a:xfrm>
          <a:prstGeom prst="rect">
            <a:avLst/>
          </a:prstGeom>
          <a:noFill/>
        </p:spPr>
        <p:txBody>
          <a:bodyPr wrap="square"/>
          <a:lstStyle/>
          <a:p>
            <a:pPr algn="l">
              <a:lnSpc>
                <a:spcPts val="1920"/>
              </a:lnSpc>
              <a:spcBef>
                <a:spcPts val="0"/>
              </a:spcBef>
              <a:spcAft>
                <a:spcPts val="0"/>
              </a:spcAft>
              <a:defRPr sz="1600" b="1" i="0">
                <a:solidFill>
                  <a:srgbClr val="1A2B4C"/>
                </a:solidFill>
                <a:latin typeface="Montserrat"/>
              </a:defRPr>
            </a:pPr>
            <a:r>
              <a:t>Layered Costmap</a:t>
            </a:r>
          </a:p>
        </p:txBody>
      </p:sp>
      <p:sp>
        <p:nvSpPr>
          <p:cNvPr id="12" name="Rounded Rectangle 11"/>
          <p:cNvSpPr/>
          <p:nvPr/>
        </p:nvSpPr>
        <p:spPr>
          <a:xfrm>
            <a:off x="850392" y="2331720"/>
            <a:ext cx="5029200" cy="1005840"/>
          </a:xfrm>
          <a:prstGeom prst="roundRect">
            <a:avLst/>
          </a:prstGeom>
          <a:solidFill>
            <a:srgbClr val="FFF8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50392" y="2331720"/>
            <a:ext cx="63500" cy="1005840"/>
          </a:xfrm>
          <a:prstGeom prst="rect">
            <a:avLst/>
          </a:prstGeom>
          <a:solidFill>
            <a:srgbClr val="4A90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87552" y="2441448"/>
            <a:ext cx="548640" cy="411480"/>
          </a:xfrm>
          <a:prstGeom prst="rect">
            <a:avLst/>
          </a:prstGeom>
          <a:noFill/>
        </p:spPr>
        <p:txBody>
          <a:bodyPr wrap="square"/>
          <a:lstStyle/>
          <a:p>
            <a:pPr algn="l">
              <a:lnSpc>
                <a:spcPts val="2879"/>
              </a:lnSpc>
              <a:spcBef>
                <a:spcPts val="0"/>
              </a:spcBef>
              <a:spcAft>
                <a:spcPts val="0"/>
              </a:spcAft>
              <a:defRPr sz="2400" b="1" i="0">
                <a:solidFill>
                  <a:srgbClr val="4A90D9"/>
                </a:solidFill>
                <a:latin typeface="Montserrat"/>
              </a:defRPr>
            </a:pPr>
            <a:r>
              <a:t>03</a:t>
            </a:r>
          </a:p>
        </p:txBody>
      </p:sp>
      <p:sp>
        <p:nvSpPr>
          <p:cNvPr id="15" name="TextBox 14"/>
          <p:cNvSpPr txBox="1"/>
          <p:nvPr/>
        </p:nvSpPr>
        <p:spPr>
          <a:xfrm>
            <a:off x="1581912" y="2441448"/>
            <a:ext cx="4114800" cy="777240"/>
          </a:xfrm>
          <a:prstGeom prst="rect">
            <a:avLst/>
          </a:prstGeom>
          <a:noFill/>
        </p:spPr>
        <p:txBody>
          <a:bodyPr wrap="square"/>
          <a:lstStyle/>
          <a:p>
            <a:pPr algn="l">
              <a:lnSpc>
                <a:spcPts val="1920"/>
              </a:lnSpc>
              <a:spcBef>
                <a:spcPts val="0"/>
              </a:spcBef>
              <a:spcAft>
                <a:spcPts val="0"/>
              </a:spcAft>
              <a:defRPr sz="1600" b="1" i="0">
                <a:solidFill>
                  <a:srgbClr val="1A2B4C"/>
                </a:solidFill>
                <a:latin typeface="Montserrat"/>
              </a:defRPr>
            </a:pPr>
            <a:r>
              <a:t>Lokalisasi Iterative Closest Point (ICP)</a:t>
            </a:r>
          </a:p>
        </p:txBody>
      </p:sp>
      <p:sp>
        <p:nvSpPr>
          <p:cNvPr id="16" name="Rounded Rectangle 15"/>
          <p:cNvSpPr/>
          <p:nvPr/>
        </p:nvSpPr>
        <p:spPr>
          <a:xfrm>
            <a:off x="6245352" y="2331720"/>
            <a:ext cx="5029200" cy="1005840"/>
          </a:xfrm>
          <a:prstGeom prst="roundRect">
            <a:avLst/>
          </a:prstGeom>
          <a:solidFill>
            <a:srgbClr val="FFF8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45352" y="2331720"/>
            <a:ext cx="63500" cy="1005840"/>
          </a:xfrm>
          <a:prstGeom prst="rect">
            <a:avLst/>
          </a:prstGeom>
          <a:solidFill>
            <a:srgbClr val="4A90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82512" y="2441448"/>
            <a:ext cx="548640" cy="411480"/>
          </a:xfrm>
          <a:prstGeom prst="rect">
            <a:avLst/>
          </a:prstGeom>
          <a:noFill/>
        </p:spPr>
        <p:txBody>
          <a:bodyPr wrap="square"/>
          <a:lstStyle/>
          <a:p>
            <a:pPr algn="l">
              <a:lnSpc>
                <a:spcPts val="2879"/>
              </a:lnSpc>
              <a:spcBef>
                <a:spcPts val="0"/>
              </a:spcBef>
              <a:spcAft>
                <a:spcPts val="0"/>
              </a:spcAft>
              <a:defRPr sz="2400" b="1" i="0">
                <a:solidFill>
                  <a:srgbClr val="4A90D9"/>
                </a:solidFill>
                <a:latin typeface="Montserrat"/>
              </a:defRPr>
            </a:pPr>
            <a:r>
              <a:t>04</a:t>
            </a:r>
          </a:p>
        </p:txBody>
      </p:sp>
      <p:sp>
        <p:nvSpPr>
          <p:cNvPr id="19" name="TextBox 18"/>
          <p:cNvSpPr txBox="1"/>
          <p:nvPr/>
        </p:nvSpPr>
        <p:spPr>
          <a:xfrm>
            <a:off x="6976872" y="2441448"/>
            <a:ext cx="4114800" cy="777240"/>
          </a:xfrm>
          <a:prstGeom prst="rect">
            <a:avLst/>
          </a:prstGeom>
          <a:noFill/>
        </p:spPr>
        <p:txBody>
          <a:bodyPr wrap="square"/>
          <a:lstStyle/>
          <a:p>
            <a:pPr algn="l">
              <a:lnSpc>
                <a:spcPts val="1920"/>
              </a:lnSpc>
              <a:spcBef>
                <a:spcPts val="0"/>
              </a:spcBef>
              <a:spcAft>
                <a:spcPts val="0"/>
              </a:spcAft>
              <a:defRPr sz="1600" b="1" i="0">
                <a:solidFill>
                  <a:srgbClr val="1A2B4C"/>
                </a:solidFill>
                <a:latin typeface="Montserrat"/>
              </a:defRPr>
            </a:pPr>
            <a:r>
              <a:t>Path Planning A*</a:t>
            </a:r>
          </a:p>
        </p:txBody>
      </p:sp>
      <p:sp>
        <p:nvSpPr>
          <p:cNvPr id="20" name="Rounded Rectangle 19"/>
          <p:cNvSpPr/>
          <p:nvPr/>
        </p:nvSpPr>
        <p:spPr>
          <a:xfrm>
            <a:off x="850392" y="3566160"/>
            <a:ext cx="5029200" cy="1005840"/>
          </a:xfrm>
          <a:prstGeom prst="roundRect">
            <a:avLst/>
          </a:prstGeom>
          <a:solidFill>
            <a:srgbClr val="FFF8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50392" y="3566160"/>
            <a:ext cx="63500" cy="1005840"/>
          </a:xfrm>
          <a:prstGeom prst="rect">
            <a:avLst/>
          </a:prstGeom>
          <a:solidFill>
            <a:srgbClr val="F08C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87552" y="3675888"/>
            <a:ext cx="548640" cy="411480"/>
          </a:xfrm>
          <a:prstGeom prst="rect">
            <a:avLst/>
          </a:prstGeom>
          <a:noFill/>
        </p:spPr>
        <p:txBody>
          <a:bodyPr wrap="square"/>
          <a:lstStyle/>
          <a:p>
            <a:pPr algn="l">
              <a:lnSpc>
                <a:spcPts val="2879"/>
              </a:lnSpc>
              <a:spcBef>
                <a:spcPts val="0"/>
              </a:spcBef>
              <a:spcAft>
                <a:spcPts val="0"/>
              </a:spcAft>
              <a:defRPr sz="2400" b="1" i="0">
                <a:solidFill>
                  <a:srgbClr val="F08C2E"/>
                </a:solidFill>
                <a:latin typeface="Montserrat"/>
              </a:defRPr>
            </a:pPr>
            <a:r>
              <a:t>05</a:t>
            </a:r>
          </a:p>
        </p:txBody>
      </p:sp>
      <p:sp>
        <p:nvSpPr>
          <p:cNvPr id="23" name="TextBox 22"/>
          <p:cNvSpPr txBox="1"/>
          <p:nvPr/>
        </p:nvSpPr>
        <p:spPr>
          <a:xfrm>
            <a:off x="1581912" y="3675888"/>
            <a:ext cx="4114800" cy="777240"/>
          </a:xfrm>
          <a:prstGeom prst="rect">
            <a:avLst/>
          </a:prstGeom>
          <a:noFill/>
        </p:spPr>
        <p:txBody>
          <a:bodyPr wrap="square"/>
          <a:lstStyle/>
          <a:p>
            <a:pPr algn="l">
              <a:lnSpc>
                <a:spcPts val="1920"/>
              </a:lnSpc>
              <a:spcBef>
                <a:spcPts val="0"/>
              </a:spcBef>
              <a:spcAft>
                <a:spcPts val="0"/>
              </a:spcAft>
              <a:defRPr sz="1600" b="1" i="0">
                <a:solidFill>
                  <a:srgbClr val="1A2B4C"/>
                </a:solidFill>
                <a:latin typeface="Montserrat"/>
              </a:defRPr>
            </a:pPr>
            <a:r>
              <a:t>Path Tracking</a:t>
            </a:r>
          </a:p>
        </p:txBody>
      </p:sp>
      <p:sp>
        <p:nvSpPr>
          <p:cNvPr id="24" name="TextBox 23"/>
          <p:cNvSpPr txBox="1"/>
          <p:nvPr/>
        </p:nvSpPr>
        <p:spPr>
          <a:xfrm>
            <a:off x="10884103" y="6446520"/>
            <a:ext cx="457200" cy="274320"/>
          </a:xfrm>
          <a:prstGeom prst="rect">
            <a:avLst/>
          </a:prstGeom>
          <a:noFill/>
        </p:spPr>
        <p:txBody>
          <a:bodyPr wrap="square"/>
          <a:lstStyle/>
          <a:p>
            <a:pPr algn="r">
              <a:lnSpc>
                <a:spcPts val="1200"/>
              </a:lnSpc>
              <a:spcBef>
                <a:spcPts val="0"/>
              </a:spcBef>
              <a:spcAft>
                <a:spcPts val="0"/>
              </a:spcAft>
              <a:defRPr sz="1000" b="0" i="0">
                <a:solidFill>
                  <a:srgbClr val="333333"/>
                </a:solidFill>
                <a:latin typeface="Lato"/>
              </a:defRPr>
            </a:pPr>
            <a: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gradFill rotWithShape="1">
          <a:gsLst>
            <a:gs pos="0">
              <a:srgbClr val="EDF4FC"/>
            </a:gs>
            <a:gs pos="100000">
              <a:srgbClr val="D2E3F3"/>
            </a:gs>
          </a:gsLst>
          <a:lin ang="8100000" scaled="0"/>
        </a:gradFill>
      </p:bgPr>
    </p:bg>
    <p:spTree>
      <p:nvGrpSpPr>
        <p:cNvPr id="1" name=""/>
        <p:cNvGrpSpPr/>
        <p:nvPr/>
      </p:nvGrpSpPr>
      <p:grpSpPr/>
      <p:sp>
        <p:nvSpPr>
          <p:cNvPr id="2" name="TextBox 1"/>
          <p:cNvSpPr txBox="1"/>
          <p:nvPr/>
        </p:nvSpPr>
        <p:spPr>
          <a:xfrm>
            <a:off x="850392" y="320040"/>
            <a:ext cx="7315200" cy="502920"/>
          </a:xfrm>
          <a:prstGeom prst="rect">
            <a:avLst/>
          </a:prstGeom>
          <a:noFill/>
        </p:spPr>
        <p:txBody>
          <a:bodyPr wrap="square"/>
          <a:lstStyle/>
          <a:p>
            <a:pPr algn="l">
              <a:lnSpc>
                <a:spcPts val="3360"/>
              </a:lnSpc>
              <a:spcBef>
                <a:spcPts val="0"/>
              </a:spcBef>
              <a:spcAft>
                <a:spcPts val="0"/>
              </a:spcAft>
              <a:defRPr sz="2800" b="1" i="0">
                <a:solidFill>
                  <a:srgbClr val="1A2B4C"/>
                </a:solidFill>
                <a:latin typeface="Montserrat"/>
              </a:defRPr>
            </a:pPr>
            <a:r>
              <a:t>PENELITIAN TERDAHULU</a:t>
            </a:r>
          </a:p>
        </p:txBody>
      </p:sp>
      <p:sp>
        <p:nvSpPr>
          <p:cNvPr id="3" name="Rectangle 2"/>
          <p:cNvSpPr/>
          <p:nvPr/>
        </p:nvSpPr>
        <p:spPr>
          <a:xfrm>
            <a:off x="850392" y="777240"/>
            <a:ext cx="2286000" cy="25400"/>
          </a:xfrm>
          <a:prstGeom prst="rect">
            <a:avLst/>
          </a:prstGeom>
          <a:solidFill>
            <a:srgbClr val="F08C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850392" y="1051560"/>
          <a:ext cx="10515600" cy="5212080"/>
        </p:xfrm>
        <a:graphic>
          <a:graphicData uri="http://schemas.openxmlformats.org/drawingml/2006/table">
            <a:tbl>
              <a:tblPr firstRow="1" bandRow="1">
                <a:tableStyleId>{5C22544A-7EE6-4342-B048-85BDC9FD1C3A}</a:tableStyleId>
              </a:tblPr>
              <a:tblGrid>
                <a:gridCol w="4937760"/>
                <a:gridCol w="5577840"/>
              </a:tblGrid>
              <a:tr h="868680">
                <a:tc>
                  <a:txBody>
                    <a:bodyPr wrap="square"/>
                    <a:lstStyle/>
                    <a:p>
                      <a:pPr algn="ctr">
                        <a:defRPr sz="1100" b="1">
                          <a:solidFill>
                            <a:srgbClr val="FFFFFF"/>
                          </a:solidFill>
                          <a:latin typeface="Lato"/>
                        </a:defRPr>
                      </a:pPr>
                      <a:r>
                        <a:t>Pendekatan Unik pada Penelitian Terdahulu</a:t>
                      </a:r>
                    </a:p>
                  </a:txBody>
                  <a:tcPr anchor="ctr" marL="63500" marR="63500" marT="38100" marB="38100">
                    <a:solidFill>
                      <a:srgbClr val="003A70"/>
                    </a:solidFill>
                  </a:tcPr>
                </a:tc>
                <a:tc>
                  <a:txBody>
                    <a:bodyPr wrap="square"/>
                    <a:lstStyle/>
                    <a:p>
                      <a:pPr algn="ctr">
                        <a:defRPr sz="1100" b="1">
                          <a:solidFill>
                            <a:srgbClr val="FFFFFF"/>
                          </a:solidFill>
                          <a:latin typeface="Lato"/>
                        </a:defRPr>
                      </a:pPr>
                      <a:r>
                        <a:t>Perbandingan dengan Penelitian Ini</a:t>
                      </a:r>
                    </a:p>
                  </a:txBody>
                  <a:tcPr anchor="ctr" marL="63500" marR="63500" marT="38100" marB="38100">
                    <a:solidFill>
                      <a:srgbClr val="003A70"/>
                    </a:solidFill>
                  </a:tcPr>
                </a:tc>
              </a:tr>
              <a:tr h="868680">
                <a:tc>
                  <a:txBody>
                    <a:bodyPr wrap="square"/>
                    <a:lstStyle/>
                    <a:p>
                      <a:pPr algn="l">
                        <a:spcAft>
                          <a:spcPts val="200"/>
                        </a:spcAft>
                        <a:defRPr sz="1000" b="1">
                          <a:solidFill>
                            <a:srgbClr val="003A70"/>
                          </a:solidFill>
                          <a:latin typeface="Montserrat"/>
                        </a:defRPr>
                      </a:pPr>
                      <a:r>
                        <a:t>Macenski et al. (2023)</a:t>
                      </a:r>
                      <a:br/>
                      <a:r>
                        <a:t>Layered Costmap</a:t>
                      </a:r>
                    </a:p>
                    <a:p>
                      <a:pPr algn="l">
                        <a:defRPr sz="900" b="0">
                          <a:solidFill>
                            <a:srgbClr val="333333"/>
                          </a:solidFill>
                          <a:latin typeface="Lato"/>
                        </a:defRPr>
                      </a:pPr>
                      <a:r>
                        <a:t>Mengusulkan arsitektur layered costmap pertama — membagi costmap menjadi layer semantik terpisah (static, obstacle, inflation) yang memperbarui master grid secara terstruktur.</a:t>
                      </a:r>
                    </a:p>
                  </a:txBody>
                  <a:tcPr anchor="ctr" marL="63500" marR="63500" marT="38100" marB="38100">
                    <a:solidFill>
                      <a:srgbClr val="F2F7FC"/>
                    </a:solidFill>
                  </a:tcPr>
                </a:tc>
                <a:tc>
                  <a:txBody>
                    <a:bodyPr wrap="square"/>
                    <a:lstStyle/>
                    <a:p>
                      <a:pPr algn="l">
                        <a:defRPr sz="900" b="0">
                          <a:solidFill>
                            <a:srgbClr val="333333"/>
                          </a:solidFill>
                          <a:latin typeface="Lato"/>
                        </a:defRPr>
                      </a:pPr>
                      <a:r>
                        <a:t>Mengadopsi layered costmap dan memperluas dengan tiga layer spesifik: Global Costmap, Local Costmap, serta Transition Costmap yang menyimpan informasi koneksi dan zona transisi antar region.</a:t>
                      </a:r>
                    </a:p>
                  </a:txBody>
                  <a:tcPr anchor="ctr" marL="63500" marR="63500" marT="38100" marB="38100">
                    <a:solidFill>
                      <a:srgbClr val="F2F7FC"/>
                    </a:solidFill>
                  </a:tcPr>
                </a:tc>
              </a:tr>
              <a:tr h="868680">
                <a:tc>
                  <a:txBody>
                    <a:bodyPr wrap="square"/>
                    <a:lstStyle/>
                    <a:p>
                      <a:pPr algn="l">
                        <a:spcAft>
                          <a:spcPts val="200"/>
                        </a:spcAft>
                        <a:defRPr sz="1000" b="1">
                          <a:solidFill>
                            <a:srgbClr val="003A70"/>
                          </a:solidFill>
                          <a:latin typeface="Montserrat"/>
                        </a:defRPr>
                      </a:pPr>
                      <a:r>
                        <a:t>Hu et al. (2022)</a:t>
                      </a:r>
                      <a:br/>
                      <a:r>
                        <a:t>Adaptive Slope Navigation</a:t>
                      </a:r>
                    </a:p>
                    <a:p>
                      <a:pPr algn="l">
                        <a:defRPr sz="900" b="0">
                          <a:solidFill>
                            <a:srgbClr val="333333"/>
                          </a:solidFill>
                          <a:latin typeface="Lato"/>
                        </a:defRPr>
                      </a:pPr>
                      <a:r>
                        <a:t>Multi-layer costmap adaptif untuk navigasi permukaan berkemiringan. Algoritma deteksi slope mengubah peta biaya agar kemiringan dianggap dapat dilalui (dengan biaya tambahan), bukan sebagai obstacle.</a:t>
                      </a:r>
                    </a:p>
                  </a:txBody>
                  <a:tcPr anchor="ctr" marL="63500" marR="63500" marT="38100" marB="38100">
                    <a:solidFill>
                      <a:srgbClr val="FFFFFF"/>
                    </a:solidFill>
                  </a:tcPr>
                </a:tc>
                <a:tc>
                  <a:txBody>
                    <a:bodyPr wrap="square"/>
                    <a:lstStyle/>
                    <a:p>
                      <a:pPr algn="l">
                        <a:defRPr sz="900" b="0">
                          <a:solidFill>
                            <a:srgbClr val="333333"/>
                          </a:solidFill>
                          <a:latin typeface="Lato"/>
                        </a:defRPr>
                      </a:pPr>
                      <a:r>
                        <a:t>Fokus berbeda: Hu menangani variasi kemiringan, sedangkan penelitian ini menangani transisi antar lantai. Keduanya menyederhanakan informasi 3D menjadi representasi costmap 2D bertingkat.</a:t>
                      </a:r>
                    </a:p>
                  </a:txBody>
                  <a:tcPr anchor="ctr" marL="63500" marR="63500" marT="38100" marB="38100">
                    <a:solidFill>
                      <a:srgbClr val="FFFFFF"/>
                    </a:solidFill>
                  </a:tcPr>
                </a:tc>
              </a:tr>
              <a:tr h="868680">
                <a:tc>
                  <a:txBody>
                    <a:bodyPr wrap="square"/>
                    <a:lstStyle/>
                    <a:p>
                      <a:pPr algn="l">
                        <a:spcAft>
                          <a:spcPts val="200"/>
                        </a:spcAft>
                        <a:defRPr sz="1000" b="1">
                          <a:solidFill>
                            <a:srgbClr val="003A70"/>
                          </a:solidFill>
                          <a:latin typeface="Montserrat"/>
                        </a:defRPr>
                      </a:pPr>
                      <a:r>
                        <a:t>Kim et al. (2024)</a:t>
                      </a:r>
                      <a:br/>
                      <a:r>
                        <a:t>Integrated Navigation Map</a:t>
                      </a:r>
                    </a:p>
                    <a:p>
                      <a:pPr algn="l">
                        <a:defRPr sz="900" b="0">
                          <a:solidFill>
                            <a:srgbClr val="333333"/>
                          </a:solidFill>
                          <a:latin typeface="Lato"/>
                        </a:defRPr>
                      </a:pPr>
                      <a:r>
                        <a:t>Membuat peta navigasi terintegrasi dengan menggabungkan point cloud multi-lantai dan topologi node graph. Mengandalkan elevator sebagai penghubung antar lantai pada gedung bertingkat.</a:t>
                      </a:r>
                    </a:p>
                  </a:txBody>
                  <a:tcPr anchor="ctr" marL="63500" marR="63500" marT="38100" marB="38100">
                    <a:solidFill>
                      <a:srgbClr val="F2F7FC"/>
                    </a:solidFill>
                  </a:tcPr>
                </a:tc>
                <a:tc>
                  <a:txBody>
                    <a:bodyPr wrap="square"/>
                    <a:lstStyle/>
                    <a:p>
                      <a:pPr algn="l">
                        <a:defRPr sz="900" b="0">
                          <a:solidFill>
                            <a:srgbClr val="333333"/>
                          </a:solidFill>
                          <a:latin typeface="Lato"/>
                        </a:defRPr>
                      </a:pPr>
                      <a:r>
                        <a:t>Tidak bergantung pada elevator — menggunakan mekanisme region transition dan zona transisi yang terdeteksi dari combined map. Lebih adaptif untuk skenario pasca gempa.</a:t>
                      </a:r>
                    </a:p>
                  </a:txBody>
                  <a:tcPr anchor="ctr" marL="63500" marR="63500" marT="38100" marB="38100">
                    <a:solidFill>
                      <a:srgbClr val="F2F7FC"/>
                    </a:solidFill>
                  </a:tcPr>
                </a:tc>
              </a:tr>
              <a:tr h="868680">
                <a:tc>
                  <a:txBody>
                    <a:bodyPr wrap="square"/>
                    <a:lstStyle/>
                    <a:p>
                      <a:pPr algn="l">
                        <a:spcAft>
                          <a:spcPts val="200"/>
                        </a:spcAft>
                        <a:defRPr sz="1000" b="1">
                          <a:solidFill>
                            <a:srgbClr val="003A70"/>
                          </a:solidFill>
                          <a:latin typeface="Montserrat"/>
                        </a:defRPr>
                      </a:pPr>
                      <a:r>
                        <a:t>Palacín et al. (2023)</a:t>
                      </a:r>
                      <a:br/>
                      <a:r>
                        <a:t>Inter-floor ICP + Elevator</a:t>
                      </a:r>
                    </a:p>
                    <a:p>
                      <a:pPr algn="l">
                        <a:defRPr sz="900" b="0">
                          <a:solidFill>
                            <a:srgbClr val="333333"/>
                          </a:solidFill>
                          <a:latin typeface="Lato"/>
                        </a:defRPr>
                      </a:pPr>
                      <a:r>
                        <a:t>Navigasi antar lantai menggunakan elevator dengan lokalisasi berbasis ICP. Evaluasi performa ICP dilakukan pada kondisi pintu lift terbuka maupun tertutup.</a:t>
                      </a:r>
                    </a:p>
                  </a:txBody>
                  <a:tcPr anchor="ctr" marL="63500" marR="63500" marT="38100" marB="38100">
                    <a:solidFill>
                      <a:srgbClr val="FFFFFF"/>
                    </a:solidFill>
                  </a:tcPr>
                </a:tc>
                <a:tc>
                  <a:txBody>
                    <a:bodyPr wrap="square"/>
                    <a:lstStyle/>
                    <a:p>
                      <a:pPr algn="l">
                        <a:defRPr sz="900" b="0">
                          <a:solidFill>
                            <a:srgbClr val="333333"/>
                          </a:solidFill>
                          <a:latin typeface="Lato"/>
                        </a:defRPr>
                      </a:pPr>
                      <a:r>
                        <a:t>Menggunakan ICP yang sama dengan optimasi prekomputasi KNN (hash table, lookup O(1), k=8, r=10). Dilengkapi region switcher untuk mendeteksi perpindahan region secara otomatis dari pose robot.</a:t>
                      </a:r>
                    </a:p>
                  </a:txBody>
                  <a:tcPr anchor="ctr" marL="63500" marR="63500" marT="38100" marB="38100">
                    <a:solidFill>
                      <a:srgbClr val="FFFFFF"/>
                    </a:solidFill>
                  </a:tcPr>
                </a:tc>
              </a:tr>
              <a:tr h="868680">
                <a:tc>
                  <a:txBody>
                    <a:bodyPr wrap="square"/>
                    <a:lstStyle/>
                    <a:p>
                      <a:pPr algn="l">
                        <a:spcAft>
                          <a:spcPts val="200"/>
                        </a:spcAft>
                        <a:defRPr sz="1000" b="1">
                          <a:solidFill>
                            <a:srgbClr val="003A70"/>
                          </a:solidFill>
                          <a:latin typeface="Montserrat"/>
                        </a:defRPr>
                      </a:pPr>
                      <a:r>
                        <a:t>Jung et al. (2024)</a:t>
                      </a:r>
                      <a:br/>
                      <a:r>
                        <a:t>A* dengan Realistic Cost</a:t>
                      </a:r>
                    </a:p>
                    <a:p>
                      <a:pPr algn="l">
                        <a:defRPr sz="900" b="0">
                          <a:solidFill>
                            <a:srgbClr val="333333"/>
                          </a:solidFill>
                          <a:latin typeface="Lato"/>
                        </a:defRPr>
                      </a:pPr>
                      <a:r>
                        <a:t>A* dengan fungsi biaya realistis — mempertimbangkan faktor seperti waktu tunggu lift. Robot dapat memilih antara lift atau tangga berdasarkan perhitungan biaya total.</a:t>
                      </a:r>
                    </a:p>
                  </a:txBody>
                  <a:tcPr anchor="ctr" marL="63500" marR="63500" marT="38100" marB="38100">
                    <a:solidFill>
                      <a:srgbClr val="F2F7FC"/>
                    </a:solidFill>
                  </a:tcPr>
                </a:tc>
                <a:tc>
                  <a:txBody>
                    <a:bodyPr wrap="square"/>
                    <a:lstStyle/>
                    <a:p>
                      <a:pPr algn="l">
                        <a:defRPr sz="900" b="0">
                          <a:solidFill>
                            <a:srgbClr val="333333"/>
                          </a:solidFill>
                          <a:latin typeface="Lato"/>
                        </a:defRPr>
                      </a:pPr>
                      <a:r>
                        <a:t>A* dilengkapi Path Interceptor yang memecah jalur multi-region menjadi segmen per region. Cost Scaling Factor (CSF=100) menghasilkan jalur terpendek dengan tetap menjaga obstacle clearance optimal.</a:t>
                      </a:r>
                    </a:p>
                  </a:txBody>
                  <a:tcPr anchor="ctr" marL="63500" marR="63500" marT="38100" marB="38100">
                    <a:solidFill>
                      <a:srgbClr val="F2F7FC"/>
                    </a:solidFill>
                  </a:tcPr>
                </a:tc>
              </a:tr>
            </a:tbl>
          </a:graphicData>
        </a:graphic>
      </p:graphicFrame>
      <p:sp>
        <p:nvSpPr>
          <p:cNvPr id="5" name="TextBox 4"/>
          <p:cNvSpPr txBox="1"/>
          <p:nvPr/>
        </p:nvSpPr>
        <p:spPr>
          <a:xfrm>
            <a:off x="10884103" y="6446520"/>
            <a:ext cx="457200" cy="274320"/>
          </a:xfrm>
          <a:prstGeom prst="rect">
            <a:avLst/>
          </a:prstGeom>
          <a:noFill/>
        </p:spPr>
        <p:txBody>
          <a:bodyPr wrap="square"/>
          <a:lstStyle/>
          <a:p>
            <a:pPr algn="r">
              <a:lnSpc>
                <a:spcPts val="1200"/>
              </a:lnSpc>
              <a:spcBef>
                <a:spcPts val="0"/>
              </a:spcBef>
              <a:spcAft>
                <a:spcPts val="0"/>
              </a:spcAft>
              <a:defRPr sz="1000" b="0" i="0">
                <a:solidFill>
                  <a:srgbClr val="333333"/>
                </a:solidFill>
                <a:latin typeface="Lato"/>
              </a:defRPr>
            </a:pPr>
            <a: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gradFill rotWithShape="1">
          <a:gsLst>
            <a:gs pos="0">
              <a:srgbClr val="EDF4FC"/>
            </a:gs>
            <a:gs pos="100000">
              <a:srgbClr val="D2E3F3"/>
            </a:gs>
          </a:gsLst>
          <a:lin ang="8100000" scaled="0"/>
        </a:gradFill>
      </p:bgPr>
    </p:bg>
    <p:spTree>
      <p:nvGrpSpPr>
        <p:cNvPr id="1" name=""/>
        <p:cNvGrpSpPr/>
        <p:nvPr/>
      </p:nvGrpSpPr>
      <p:grpSpPr/>
      <p:sp>
        <p:nvSpPr>
          <p:cNvPr id="2" name="TextBox 1"/>
          <p:cNvSpPr txBox="1"/>
          <p:nvPr/>
        </p:nvSpPr>
        <p:spPr>
          <a:xfrm>
            <a:off x="850392" y="320040"/>
            <a:ext cx="4572000" cy="502920"/>
          </a:xfrm>
          <a:prstGeom prst="rect">
            <a:avLst/>
          </a:prstGeom>
          <a:noFill/>
        </p:spPr>
        <p:txBody>
          <a:bodyPr wrap="square"/>
          <a:lstStyle/>
          <a:p>
            <a:pPr algn="l">
              <a:lnSpc>
                <a:spcPts val="3600"/>
              </a:lnSpc>
              <a:spcBef>
                <a:spcPts val="0"/>
              </a:spcBef>
              <a:spcAft>
                <a:spcPts val="0"/>
              </a:spcAft>
              <a:defRPr sz="3000" b="1" i="0">
                <a:solidFill>
                  <a:srgbClr val="1A2B4C"/>
                </a:solidFill>
                <a:latin typeface="Montserrat"/>
              </a:defRPr>
            </a:pPr>
            <a:r>
              <a:t>ARSITEKTUR SISTEM</a:t>
            </a:r>
          </a:p>
        </p:txBody>
      </p:sp>
      <p:sp>
        <p:nvSpPr>
          <p:cNvPr id="3" name="Rectangle 2"/>
          <p:cNvSpPr/>
          <p:nvPr/>
        </p:nvSpPr>
        <p:spPr>
          <a:xfrm>
            <a:off x="850392" y="777240"/>
            <a:ext cx="2011680" cy="25400"/>
          </a:xfrm>
          <a:prstGeom prst="rect">
            <a:avLst/>
          </a:prstGeom>
          <a:solidFill>
            <a:srgbClr val="F08C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202441" y="1051560"/>
            <a:ext cx="7786813" cy="5120640"/>
          </a:xfrm>
          <a:prstGeom prst="rect">
            <a:avLst/>
          </a:prstGeom>
          <a:noFill/>
          <a:ln w="38100">
            <a:solidFill>
              <a:srgbClr val="003A7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navigation_architecture.png"/>
          <p:cNvPicPr>
            <a:picLocks noChangeAspect="1"/>
          </p:cNvPicPr>
          <p:nvPr/>
        </p:nvPicPr>
        <p:blipFill>
          <a:blip r:embed="rId2"/>
          <a:stretch>
            <a:fillRect/>
          </a:stretch>
        </p:blipFill>
        <p:spPr>
          <a:xfrm>
            <a:off x="2202441" y="1051560"/>
            <a:ext cx="7786813" cy="5120640"/>
          </a:xfrm>
          <a:prstGeom prst="rect">
            <a:avLst/>
          </a:prstGeom>
        </p:spPr>
      </p:pic>
      <p:sp>
        <p:nvSpPr>
          <p:cNvPr id="6" name="TextBox 5"/>
          <p:cNvSpPr txBox="1"/>
          <p:nvPr/>
        </p:nvSpPr>
        <p:spPr>
          <a:xfrm>
            <a:off x="10884103" y="6446520"/>
            <a:ext cx="457200" cy="274320"/>
          </a:xfrm>
          <a:prstGeom prst="rect">
            <a:avLst/>
          </a:prstGeom>
          <a:noFill/>
        </p:spPr>
        <p:txBody>
          <a:bodyPr wrap="square"/>
          <a:lstStyle/>
          <a:p>
            <a:pPr algn="r">
              <a:lnSpc>
                <a:spcPts val="1200"/>
              </a:lnSpc>
              <a:spcBef>
                <a:spcPts val="0"/>
              </a:spcBef>
              <a:spcAft>
                <a:spcPts val="0"/>
              </a:spcAft>
              <a:defRPr sz="1000" b="0" i="0">
                <a:solidFill>
                  <a:srgbClr val="333333"/>
                </a:solidFill>
                <a:latin typeface="Lato"/>
              </a:defRPr>
            </a:pPr>
            <a: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gradFill rotWithShape="1">
          <a:gsLst>
            <a:gs pos="0">
              <a:srgbClr val="EDF4FC"/>
            </a:gs>
            <a:gs pos="100000">
              <a:srgbClr val="D2E3F3"/>
            </a:gs>
          </a:gsLst>
          <a:lin ang="8100000" scaled="0"/>
        </a:gradFill>
      </p:bgPr>
    </p:bg>
    <p:spTree>
      <p:nvGrpSpPr>
        <p:cNvPr id="1" name=""/>
        <p:cNvGrpSpPr/>
        <p:nvPr/>
      </p:nvGrpSpPr>
      <p:grpSpPr/>
      <p:sp>
        <p:nvSpPr>
          <p:cNvPr id="2" name="TextBox 1"/>
          <p:cNvSpPr txBox="1"/>
          <p:nvPr/>
        </p:nvSpPr>
        <p:spPr>
          <a:xfrm>
            <a:off x="850392" y="320040"/>
            <a:ext cx="6400800" cy="502920"/>
          </a:xfrm>
          <a:prstGeom prst="rect">
            <a:avLst/>
          </a:prstGeom>
          <a:noFill/>
        </p:spPr>
        <p:txBody>
          <a:bodyPr wrap="square"/>
          <a:lstStyle/>
          <a:p>
            <a:pPr algn="l">
              <a:lnSpc>
                <a:spcPts val="3120"/>
              </a:lnSpc>
              <a:spcBef>
                <a:spcPts val="0"/>
              </a:spcBef>
              <a:spcAft>
                <a:spcPts val="0"/>
              </a:spcAft>
              <a:defRPr sz="2600" b="1" i="0">
                <a:solidFill>
                  <a:srgbClr val="1A2B4C"/>
                </a:solidFill>
                <a:latin typeface="Montserrat"/>
              </a:defRPr>
            </a:pPr>
            <a:r>
              <a:t>DETAIL ALUR NAVIGASI</a:t>
            </a:r>
          </a:p>
        </p:txBody>
      </p:sp>
      <p:sp>
        <p:nvSpPr>
          <p:cNvPr id="3" name="Rectangle 2"/>
          <p:cNvSpPr/>
          <p:nvPr/>
        </p:nvSpPr>
        <p:spPr>
          <a:xfrm>
            <a:off x="850392" y="777240"/>
            <a:ext cx="2286000" cy="25400"/>
          </a:xfrm>
          <a:prstGeom prst="rect">
            <a:avLst/>
          </a:prstGeom>
          <a:solidFill>
            <a:srgbClr val="F08C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606956" y="1097280"/>
            <a:ext cx="6977783" cy="5029200"/>
          </a:xfrm>
          <a:prstGeom prst="rect">
            <a:avLst/>
          </a:prstGeom>
          <a:noFill/>
          <a:ln w="38100">
            <a:solidFill>
              <a:srgbClr val="003A7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main_nav_flow_split.png"/>
          <p:cNvPicPr>
            <a:picLocks noChangeAspect="1"/>
          </p:cNvPicPr>
          <p:nvPr/>
        </p:nvPicPr>
        <p:blipFill>
          <a:blip r:embed="rId2"/>
          <a:stretch>
            <a:fillRect/>
          </a:stretch>
        </p:blipFill>
        <p:spPr>
          <a:xfrm>
            <a:off x="2606956" y="1097280"/>
            <a:ext cx="6977783" cy="5029200"/>
          </a:xfrm>
          <a:prstGeom prst="rect">
            <a:avLst/>
          </a:prstGeom>
        </p:spPr>
      </p:pic>
      <p:sp>
        <p:nvSpPr>
          <p:cNvPr id="6" name="TextBox 5"/>
          <p:cNvSpPr txBox="1"/>
          <p:nvPr/>
        </p:nvSpPr>
        <p:spPr>
          <a:xfrm>
            <a:off x="10884103" y="6446520"/>
            <a:ext cx="457200" cy="274320"/>
          </a:xfrm>
          <a:prstGeom prst="rect">
            <a:avLst/>
          </a:prstGeom>
          <a:noFill/>
        </p:spPr>
        <p:txBody>
          <a:bodyPr wrap="square"/>
          <a:lstStyle/>
          <a:p>
            <a:pPr algn="r">
              <a:lnSpc>
                <a:spcPts val="1200"/>
              </a:lnSpc>
              <a:spcBef>
                <a:spcPts val="0"/>
              </a:spcBef>
              <a:spcAft>
                <a:spcPts val="0"/>
              </a:spcAft>
              <a:defRPr sz="1000" b="0" i="0">
                <a:solidFill>
                  <a:srgbClr val="333333"/>
                </a:solidFill>
                <a:latin typeface="Lato"/>
              </a:defRPr>
            </a:pPr>
            <a: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gradFill rotWithShape="1">
          <a:gsLst>
            <a:gs pos="0">
              <a:srgbClr val="EDF4FC"/>
            </a:gs>
            <a:gs pos="100000">
              <a:srgbClr val="D2E3F3"/>
            </a:gs>
          </a:gsLst>
          <a:lin ang="8100000" scaled="0"/>
        </a:gradFill>
      </p:bgPr>
    </p:bg>
    <p:spTree>
      <p:nvGrpSpPr>
        <p:cNvPr id="1" name=""/>
        <p:cNvGrpSpPr/>
        <p:nvPr/>
      </p:nvGrpSpPr>
      <p:grpSpPr/>
      <p:sp>
        <p:nvSpPr>
          <p:cNvPr id="2" name="TextBox 1"/>
          <p:cNvSpPr txBox="1"/>
          <p:nvPr/>
        </p:nvSpPr>
        <p:spPr>
          <a:xfrm>
            <a:off x="850392" y="320040"/>
            <a:ext cx="6400800" cy="502920"/>
          </a:xfrm>
          <a:prstGeom prst="rect">
            <a:avLst/>
          </a:prstGeom>
          <a:noFill/>
        </p:spPr>
        <p:txBody>
          <a:bodyPr wrap="square"/>
          <a:lstStyle/>
          <a:p>
            <a:pPr algn="l">
              <a:lnSpc>
                <a:spcPts val="3360"/>
              </a:lnSpc>
              <a:spcBef>
                <a:spcPts val="0"/>
              </a:spcBef>
              <a:spcAft>
                <a:spcPts val="0"/>
              </a:spcAft>
              <a:defRPr sz="2800" b="1" i="0">
                <a:solidFill>
                  <a:srgbClr val="1A2B4C"/>
                </a:solidFill>
                <a:latin typeface="Montserrat"/>
              </a:defRPr>
            </a:pPr>
            <a:r>
              <a:t>PENGOLAHAN DATA MAP</a:t>
            </a:r>
          </a:p>
        </p:txBody>
      </p:sp>
      <p:sp>
        <p:nvSpPr>
          <p:cNvPr id="3" name="Rectangle 2"/>
          <p:cNvSpPr/>
          <p:nvPr/>
        </p:nvSpPr>
        <p:spPr>
          <a:xfrm>
            <a:off x="850392" y="777240"/>
            <a:ext cx="1828800" cy="25400"/>
          </a:xfrm>
          <a:prstGeom prst="rect">
            <a:avLst/>
          </a:prstGeom>
          <a:solidFill>
            <a:srgbClr val="F08C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769967" y="886968"/>
            <a:ext cx="2651760" cy="228600"/>
          </a:xfrm>
          <a:prstGeom prst="rect">
            <a:avLst/>
          </a:prstGeom>
          <a:noFill/>
        </p:spPr>
        <p:txBody>
          <a:bodyPr wrap="square"/>
          <a:lstStyle/>
          <a:p>
            <a:pPr algn="ctr">
              <a:lnSpc>
                <a:spcPts val="1320"/>
              </a:lnSpc>
              <a:spcBef>
                <a:spcPts val="0"/>
              </a:spcBef>
              <a:spcAft>
                <a:spcPts val="0"/>
              </a:spcAft>
              <a:defRPr sz="1100" b="1" i="0">
                <a:solidFill>
                  <a:srgbClr val="003A70"/>
                </a:solidFill>
                <a:latin typeface="Montserrat"/>
              </a:defRPr>
            </a:pPr>
            <a:r>
              <a:t>Combined Map — Gabungan Region A, B, C</a:t>
            </a:r>
          </a:p>
        </p:txBody>
      </p:sp>
      <p:pic>
        <p:nvPicPr>
          <p:cNvPr id="5" name="Picture 4" descr="combined_map.png"/>
          <p:cNvPicPr>
            <a:picLocks noChangeAspect="1"/>
          </p:cNvPicPr>
          <p:nvPr/>
        </p:nvPicPr>
        <p:blipFill>
          <a:blip r:embed="rId2"/>
          <a:stretch>
            <a:fillRect/>
          </a:stretch>
        </p:blipFill>
        <p:spPr>
          <a:xfrm>
            <a:off x="4769967" y="1143000"/>
            <a:ext cx="2651760" cy="2651760"/>
          </a:xfrm>
          <a:prstGeom prst="rect">
            <a:avLst/>
          </a:prstGeom>
        </p:spPr>
      </p:pic>
      <p:sp>
        <p:nvSpPr>
          <p:cNvPr id="6" name="TextBox 5"/>
          <p:cNvSpPr txBox="1"/>
          <p:nvPr/>
        </p:nvSpPr>
        <p:spPr>
          <a:xfrm>
            <a:off x="3680016" y="3794760"/>
            <a:ext cx="2148840" cy="228600"/>
          </a:xfrm>
          <a:prstGeom prst="rect">
            <a:avLst/>
          </a:prstGeom>
          <a:noFill/>
        </p:spPr>
        <p:txBody>
          <a:bodyPr wrap="square"/>
          <a:lstStyle/>
          <a:p>
            <a:pPr algn="ctr">
              <a:lnSpc>
                <a:spcPts val="1320"/>
              </a:lnSpc>
              <a:spcBef>
                <a:spcPts val="0"/>
              </a:spcBef>
              <a:spcAft>
                <a:spcPts val="0"/>
              </a:spcAft>
              <a:defRPr sz="1100" b="1" i="0">
                <a:solidFill>
                  <a:srgbClr val="003A70"/>
                </a:solidFill>
                <a:latin typeface="Montserrat"/>
              </a:defRPr>
            </a:pPr>
            <a:r>
              <a:t>Transition Map</a:t>
            </a:r>
          </a:p>
        </p:txBody>
      </p:sp>
      <p:sp>
        <p:nvSpPr>
          <p:cNvPr id="7" name="TextBox 6"/>
          <p:cNvSpPr txBox="1"/>
          <p:nvPr/>
        </p:nvSpPr>
        <p:spPr>
          <a:xfrm>
            <a:off x="6377496" y="3794760"/>
            <a:ext cx="2134182" cy="228600"/>
          </a:xfrm>
          <a:prstGeom prst="rect">
            <a:avLst/>
          </a:prstGeom>
          <a:noFill/>
        </p:spPr>
        <p:txBody>
          <a:bodyPr wrap="square"/>
          <a:lstStyle/>
          <a:p>
            <a:pPr algn="ctr">
              <a:lnSpc>
                <a:spcPts val="1320"/>
              </a:lnSpc>
              <a:spcBef>
                <a:spcPts val="0"/>
              </a:spcBef>
              <a:spcAft>
                <a:spcPts val="0"/>
              </a:spcAft>
              <a:defRPr sz="1100" b="1" i="0">
                <a:solidFill>
                  <a:srgbClr val="F08C2E"/>
                </a:solidFill>
                <a:latin typeface="Montserrat"/>
              </a:defRPr>
            </a:pPr>
            <a:r>
              <a:t>Transition Map Overlay</a:t>
            </a:r>
          </a:p>
        </p:txBody>
      </p:sp>
      <p:pic>
        <p:nvPicPr>
          <p:cNvPr id="8" name="Picture 7" descr="transition_map.png"/>
          <p:cNvPicPr>
            <a:picLocks noChangeAspect="1"/>
          </p:cNvPicPr>
          <p:nvPr/>
        </p:nvPicPr>
        <p:blipFill>
          <a:blip r:embed="rId3"/>
          <a:stretch>
            <a:fillRect/>
          </a:stretch>
        </p:blipFill>
        <p:spPr>
          <a:xfrm>
            <a:off x="3680016" y="4050792"/>
            <a:ext cx="2148840" cy="2148840"/>
          </a:xfrm>
          <a:prstGeom prst="rect">
            <a:avLst/>
          </a:prstGeom>
        </p:spPr>
      </p:pic>
      <p:pic>
        <p:nvPicPr>
          <p:cNvPr id="9" name="Picture 8" descr="transition_map_overlay.png"/>
          <p:cNvPicPr>
            <a:picLocks noChangeAspect="1"/>
          </p:cNvPicPr>
          <p:nvPr/>
        </p:nvPicPr>
        <p:blipFill>
          <a:blip r:embed="rId4"/>
          <a:stretch>
            <a:fillRect/>
          </a:stretch>
        </p:blipFill>
        <p:spPr>
          <a:xfrm>
            <a:off x="6377496" y="4050792"/>
            <a:ext cx="2134182" cy="2148840"/>
          </a:xfrm>
          <a:prstGeom prst="rect">
            <a:avLst/>
          </a:prstGeom>
        </p:spPr>
      </p:pic>
      <p:sp>
        <p:nvSpPr>
          <p:cNvPr id="10" name="TextBox 9"/>
          <p:cNvSpPr txBox="1"/>
          <p:nvPr/>
        </p:nvSpPr>
        <p:spPr>
          <a:xfrm>
            <a:off x="850392" y="6236208"/>
            <a:ext cx="10515600" cy="182880"/>
          </a:xfrm>
          <a:prstGeom prst="rect">
            <a:avLst/>
          </a:prstGeom>
          <a:noFill/>
        </p:spPr>
        <p:txBody>
          <a:bodyPr wrap="square"/>
          <a:lstStyle/>
          <a:p>
            <a:pPr algn="ctr">
              <a:lnSpc>
                <a:spcPts val="1080"/>
              </a:lnSpc>
              <a:spcBef>
                <a:spcPts val="0"/>
              </a:spcBef>
              <a:spcAft>
                <a:spcPts val="0"/>
              </a:spcAft>
              <a:defRPr sz="900" b="0" i="0">
                <a:solidFill>
                  <a:srgbClr val="333333"/>
                </a:solidFill>
                <a:latin typeface="Lato"/>
              </a:defRPr>
            </a:pPr>
            <a:r>
              <a:t>Transition Map menyimpan koneksi spasial (A↔B, B↔C), orientasi region, dan pose awal robot</a:t>
            </a:r>
          </a:p>
        </p:txBody>
      </p:sp>
      <p:sp>
        <p:nvSpPr>
          <p:cNvPr id="11" name="TextBox 10"/>
          <p:cNvSpPr txBox="1"/>
          <p:nvPr/>
        </p:nvSpPr>
        <p:spPr>
          <a:xfrm>
            <a:off x="10884103" y="6446520"/>
            <a:ext cx="457200" cy="274320"/>
          </a:xfrm>
          <a:prstGeom prst="rect">
            <a:avLst/>
          </a:prstGeom>
          <a:noFill/>
        </p:spPr>
        <p:txBody>
          <a:bodyPr wrap="square"/>
          <a:lstStyle/>
          <a:p>
            <a:pPr algn="r">
              <a:lnSpc>
                <a:spcPts val="1200"/>
              </a:lnSpc>
              <a:spcBef>
                <a:spcPts val="0"/>
              </a:spcBef>
              <a:spcAft>
                <a:spcPts val="0"/>
              </a:spcAft>
              <a:defRPr sz="1000" b="0" i="0">
                <a:solidFill>
                  <a:srgbClr val="333333"/>
                </a:solidFill>
                <a:latin typeface="Lato"/>
              </a:defRPr>
            </a:pPr>
            <a: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gradFill rotWithShape="1">
          <a:gsLst>
            <a:gs pos="0">
              <a:srgbClr val="EDF4FC"/>
            </a:gs>
            <a:gs pos="100000">
              <a:srgbClr val="D2E3F3"/>
            </a:gs>
          </a:gsLst>
          <a:lin ang="8100000" scaled="0"/>
        </a:gradFill>
      </p:bgPr>
    </p:bg>
    <p:spTree>
      <p:nvGrpSpPr>
        <p:cNvPr id="1" name=""/>
        <p:cNvGrpSpPr/>
        <p:nvPr/>
      </p:nvGrpSpPr>
      <p:grpSpPr/>
      <p:sp>
        <p:nvSpPr>
          <p:cNvPr id="2" name="TextBox 1"/>
          <p:cNvSpPr txBox="1"/>
          <p:nvPr/>
        </p:nvSpPr>
        <p:spPr>
          <a:xfrm>
            <a:off x="850392" y="320040"/>
            <a:ext cx="6400800" cy="502920"/>
          </a:xfrm>
          <a:prstGeom prst="rect">
            <a:avLst/>
          </a:prstGeom>
          <a:noFill/>
        </p:spPr>
        <p:txBody>
          <a:bodyPr wrap="square"/>
          <a:lstStyle/>
          <a:p>
            <a:pPr algn="l">
              <a:lnSpc>
                <a:spcPts val="3120"/>
              </a:lnSpc>
              <a:spcBef>
                <a:spcPts val="0"/>
              </a:spcBef>
              <a:spcAft>
                <a:spcPts val="0"/>
              </a:spcAft>
              <a:defRPr sz="2600" b="1" i="0">
                <a:solidFill>
                  <a:srgbClr val="1A2B4C"/>
                </a:solidFill>
                <a:latin typeface="Montserrat"/>
              </a:defRPr>
            </a:pPr>
            <a:r>
              <a:t>COSTMAP — REPRESENTASI BIAYA NAVIGASI</a:t>
            </a:r>
          </a:p>
        </p:txBody>
      </p:sp>
      <p:sp>
        <p:nvSpPr>
          <p:cNvPr id="3" name="Rectangle 2"/>
          <p:cNvSpPr/>
          <p:nvPr/>
        </p:nvSpPr>
        <p:spPr>
          <a:xfrm>
            <a:off x="850392" y="777240"/>
            <a:ext cx="2286000" cy="25400"/>
          </a:xfrm>
          <a:prstGeom prst="rect">
            <a:avLst/>
          </a:prstGeom>
          <a:solidFill>
            <a:srgbClr val="F08C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0392" y="1005840"/>
            <a:ext cx="5943600" cy="731520"/>
          </a:xfrm>
          <a:prstGeom prst="rect">
            <a:avLst/>
          </a:prstGeom>
          <a:noFill/>
        </p:spPr>
        <p:txBody>
          <a:bodyPr wrap="square"/>
          <a:lstStyle/>
          <a:p>
            <a:pPr algn="l">
              <a:lnSpc>
                <a:spcPts val="1485"/>
              </a:lnSpc>
              <a:spcBef>
                <a:spcPts val="0"/>
              </a:spcBef>
              <a:spcAft>
                <a:spcPts val="0"/>
              </a:spcAft>
              <a:defRPr sz="1100" b="0" i="0">
                <a:solidFill>
                  <a:srgbClr val="333333"/>
                </a:solidFill>
                <a:latin typeface="Lato"/>
              </a:defRPr>
            </a:pPr>
            <a:r>
              <a:t>Costmap adalah grid 2D yang menyimpan informasi biaya navigasi. Nilai rendah menandakan area aman, nilai tinggi menandakan area berbahaya atau terlarang. Sistem ini membagi costmap menjadi tiga lapisan dengan fungsi berbeda:</a:t>
            </a:r>
          </a:p>
        </p:txBody>
      </p:sp>
      <p:sp>
        <p:nvSpPr>
          <p:cNvPr id="5" name="Rounded Rectangle 4"/>
          <p:cNvSpPr/>
          <p:nvPr/>
        </p:nvSpPr>
        <p:spPr>
          <a:xfrm>
            <a:off x="850392" y="1828800"/>
            <a:ext cx="5943600" cy="685800"/>
          </a:xfrm>
          <a:prstGeom prst="roundRect">
            <a:avLst/>
          </a:prstGeom>
          <a:solidFill>
            <a:srgbClr val="FFF8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50392" y="1828800"/>
            <a:ext cx="63500" cy="685800"/>
          </a:xfrm>
          <a:prstGeom prst="rect">
            <a:avLst/>
          </a:prstGeom>
          <a:solidFill>
            <a:srgbClr val="003A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33272" y="1874520"/>
            <a:ext cx="2286000" cy="274320"/>
          </a:xfrm>
          <a:prstGeom prst="rect">
            <a:avLst/>
          </a:prstGeom>
          <a:noFill/>
        </p:spPr>
        <p:txBody>
          <a:bodyPr wrap="square"/>
          <a:lstStyle/>
          <a:p>
            <a:pPr algn="l">
              <a:lnSpc>
                <a:spcPts val="1439"/>
              </a:lnSpc>
              <a:spcBef>
                <a:spcPts val="0"/>
              </a:spcBef>
              <a:spcAft>
                <a:spcPts val="0"/>
              </a:spcAft>
              <a:defRPr sz="1200" b="1" i="0">
                <a:solidFill>
                  <a:srgbClr val="003A70"/>
                </a:solidFill>
                <a:latin typeface="Montserrat"/>
              </a:defRPr>
            </a:pPr>
            <a:r>
              <a:t>GLOBAL COSTMAP</a:t>
            </a:r>
          </a:p>
        </p:txBody>
      </p:sp>
      <p:sp>
        <p:nvSpPr>
          <p:cNvPr id="8" name="TextBox 7"/>
          <p:cNvSpPr txBox="1"/>
          <p:nvPr/>
        </p:nvSpPr>
        <p:spPr>
          <a:xfrm>
            <a:off x="3410712" y="1874520"/>
            <a:ext cx="3200400" cy="274320"/>
          </a:xfrm>
          <a:prstGeom prst="rect">
            <a:avLst/>
          </a:prstGeom>
          <a:noFill/>
        </p:spPr>
        <p:txBody>
          <a:bodyPr wrap="square"/>
          <a:lstStyle/>
          <a:p>
            <a:pPr algn="l">
              <a:lnSpc>
                <a:spcPts val="1200"/>
              </a:lnSpc>
              <a:spcBef>
                <a:spcPts val="0"/>
              </a:spcBef>
              <a:spcAft>
                <a:spcPts val="0"/>
              </a:spcAft>
              <a:defRPr sz="1000" b="1" i="0">
                <a:solidFill>
                  <a:srgbClr val="1A2B4C"/>
                </a:solidFill>
                <a:latin typeface="Lato"/>
              </a:defRPr>
            </a:pPr>
            <a:r>
              <a:t>Static Layer + Inflation Layer</a:t>
            </a:r>
          </a:p>
        </p:txBody>
      </p:sp>
      <p:sp>
        <p:nvSpPr>
          <p:cNvPr id="9" name="TextBox 8"/>
          <p:cNvSpPr txBox="1"/>
          <p:nvPr/>
        </p:nvSpPr>
        <p:spPr>
          <a:xfrm>
            <a:off x="1033272" y="2176272"/>
            <a:ext cx="5577840" cy="274320"/>
          </a:xfrm>
          <a:prstGeom prst="rect">
            <a:avLst/>
          </a:prstGeom>
          <a:noFill/>
        </p:spPr>
        <p:txBody>
          <a:bodyPr wrap="square"/>
          <a:lstStyle/>
          <a:p>
            <a:pPr algn="l">
              <a:lnSpc>
                <a:spcPts val="1080"/>
              </a:lnSpc>
              <a:spcBef>
                <a:spcPts val="0"/>
              </a:spcBef>
              <a:spcAft>
                <a:spcPts val="0"/>
              </a:spcAft>
              <a:defRPr sz="900" b="0" i="0">
                <a:solidFill>
                  <a:srgbClr val="555555"/>
                </a:solidFill>
                <a:latin typeface="Lato"/>
              </a:defRPr>
            </a:pPr>
            <a:r>
              <a:t>Perencanaan path skala luas dari peta tetap</a:t>
            </a:r>
          </a:p>
        </p:txBody>
      </p:sp>
      <p:sp>
        <p:nvSpPr>
          <p:cNvPr id="10" name="Rounded Rectangle 9"/>
          <p:cNvSpPr/>
          <p:nvPr/>
        </p:nvSpPr>
        <p:spPr>
          <a:xfrm>
            <a:off x="850392" y="2606040"/>
            <a:ext cx="5943600" cy="685800"/>
          </a:xfrm>
          <a:prstGeom prst="roundRect">
            <a:avLst/>
          </a:prstGeom>
          <a:solidFill>
            <a:srgbClr val="FFF8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50392" y="2606040"/>
            <a:ext cx="63500" cy="685800"/>
          </a:xfrm>
          <a:prstGeom prst="rect">
            <a:avLst/>
          </a:prstGeom>
          <a:solidFill>
            <a:srgbClr val="4A90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33272" y="2651760"/>
            <a:ext cx="2286000" cy="274320"/>
          </a:xfrm>
          <a:prstGeom prst="rect">
            <a:avLst/>
          </a:prstGeom>
          <a:noFill/>
        </p:spPr>
        <p:txBody>
          <a:bodyPr wrap="square"/>
          <a:lstStyle/>
          <a:p>
            <a:pPr algn="l">
              <a:lnSpc>
                <a:spcPts val="1439"/>
              </a:lnSpc>
              <a:spcBef>
                <a:spcPts val="0"/>
              </a:spcBef>
              <a:spcAft>
                <a:spcPts val="0"/>
              </a:spcAft>
              <a:defRPr sz="1200" b="1" i="0">
                <a:solidFill>
                  <a:srgbClr val="4A90D9"/>
                </a:solidFill>
                <a:latin typeface="Montserrat"/>
              </a:defRPr>
            </a:pPr>
            <a:r>
              <a:t>LOCAL COSTMAP</a:t>
            </a:r>
          </a:p>
        </p:txBody>
      </p:sp>
      <p:sp>
        <p:nvSpPr>
          <p:cNvPr id="13" name="TextBox 12"/>
          <p:cNvSpPr txBox="1"/>
          <p:nvPr/>
        </p:nvSpPr>
        <p:spPr>
          <a:xfrm>
            <a:off x="3410712" y="2651760"/>
            <a:ext cx="3200400" cy="274320"/>
          </a:xfrm>
          <a:prstGeom prst="rect">
            <a:avLst/>
          </a:prstGeom>
          <a:noFill/>
        </p:spPr>
        <p:txBody>
          <a:bodyPr wrap="square"/>
          <a:lstStyle/>
          <a:p>
            <a:pPr algn="l">
              <a:lnSpc>
                <a:spcPts val="1200"/>
              </a:lnSpc>
              <a:spcBef>
                <a:spcPts val="0"/>
              </a:spcBef>
              <a:spcAft>
                <a:spcPts val="0"/>
              </a:spcAft>
              <a:defRPr sz="1000" b="1" i="0">
                <a:solidFill>
                  <a:srgbClr val="1A2B4C"/>
                </a:solidFill>
                <a:latin typeface="Lato"/>
              </a:defRPr>
            </a:pPr>
            <a:r>
              <a:t>Obstacle Layer + Inflation Layer</a:t>
            </a:r>
          </a:p>
        </p:txBody>
      </p:sp>
      <p:sp>
        <p:nvSpPr>
          <p:cNvPr id="14" name="TextBox 13"/>
          <p:cNvSpPr txBox="1"/>
          <p:nvPr/>
        </p:nvSpPr>
        <p:spPr>
          <a:xfrm>
            <a:off x="1033272" y="2953512"/>
            <a:ext cx="5577840" cy="274320"/>
          </a:xfrm>
          <a:prstGeom prst="rect">
            <a:avLst/>
          </a:prstGeom>
          <a:noFill/>
        </p:spPr>
        <p:txBody>
          <a:bodyPr wrap="square"/>
          <a:lstStyle/>
          <a:p>
            <a:pPr algn="l">
              <a:lnSpc>
                <a:spcPts val="1080"/>
              </a:lnSpc>
              <a:spcBef>
                <a:spcPts val="0"/>
              </a:spcBef>
              <a:spcAft>
                <a:spcPts val="0"/>
              </a:spcAft>
              <a:defRPr sz="900" b="0" i="0">
                <a:solidFill>
                  <a:srgbClr val="555555"/>
                </a:solidFill>
                <a:latin typeface="Lato"/>
              </a:defRPr>
            </a:pPr>
            <a:r>
              <a:t>Navigasi jangka pendek, real-time dari LiDAR</a:t>
            </a:r>
          </a:p>
        </p:txBody>
      </p:sp>
      <p:sp>
        <p:nvSpPr>
          <p:cNvPr id="15" name="Rounded Rectangle 14"/>
          <p:cNvSpPr/>
          <p:nvPr/>
        </p:nvSpPr>
        <p:spPr>
          <a:xfrm>
            <a:off x="850392" y="3383280"/>
            <a:ext cx="5943600" cy="685800"/>
          </a:xfrm>
          <a:prstGeom prst="roundRect">
            <a:avLst/>
          </a:prstGeom>
          <a:solidFill>
            <a:srgbClr val="FFF8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50392" y="3383280"/>
            <a:ext cx="63500" cy="685800"/>
          </a:xfrm>
          <a:prstGeom prst="rect">
            <a:avLst/>
          </a:prstGeom>
          <a:solidFill>
            <a:srgbClr val="F08C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33272" y="3429000"/>
            <a:ext cx="2286000" cy="274320"/>
          </a:xfrm>
          <a:prstGeom prst="rect">
            <a:avLst/>
          </a:prstGeom>
          <a:noFill/>
        </p:spPr>
        <p:txBody>
          <a:bodyPr wrap="square"/>
          <a:lstStyle/>
          <a:p>
            <a:pPr algn="l">
              <a:lnSpc>
                <a:spcPts val="1439"/>
              </a:lnSpc>
              <a:spcBef>
                <a:spcPts val="0"/>
              </a:spcBef>
              <a:spcAft>
                <a:spcPts val="0"/>
              </a:spcAft>
              <a:defRPr sz="1200" b="1" i="0">
                <a:solidFill>
                  <a:srgbClr val="F08C2E"/>
                </a:solidFill>
                <a:latin typeface="Montserrat"/>
              </a:defRPr>
            </a:pPr>
            <a:r>
              <a:t>TRANSITION COSTMAP</a:t>
            </a:r>
          </a:p>
        </p:txBody>
      </p:sp>
      <p:sp>
        <p:nvSpPr>
          <p:cNvPr id="18" name="TextBox 17"/>
          <p:cNvSpPr txBox="1"/>
          <p:nvPr/>
        </p:nvSpPr>
        <p:spPr>
          <a:xfrm>
            <a:off x="3410712" y="3429000"/>
            <a:ext cx="3200400" cy="274320"/>
          </a:xfrm>
          <a:prstGeom prst="rect">
            <a:avLst/>
          </a:prstGeom>
          <a:noFill/>
        </p:spPr>
        <p:txBody>
          <a:bodyPr wrap="square"/>
          <a:lstStyle/>
          <a:p>
            <a:pPr algn="l">
              <a:lnSpc>
                <a:spcPts val="1200"/>
              </a:lnSpc>
              <a:spcBef>
                <a:spcPts val="0"/>
              </a:spcBef>
              <a:spcAft>
                <a:spcPts val="0"/>
              </a:spcAft>
              <a:defRPr sz="1000" b="1" i="0">
                <a:solidFill>
                  <a:srgbClr val="1A2B4C"/>
                </a:solidFill>
                <a:latin typeface="Lato"/>
              </a:defRPr>
            </a:pPr>
            <a:r>
              <a:t>Static Layer + Transition Layer</a:t>
            </a:r>
          </a:p>
        </p:txBody>
      </p:sp>
      <p:sp>
        <p:nvSpPr>
          <p:cNvPr id="19" name="TextBox 18"/>
          <p:cNvSpPr txBox="1"/>
          <p:nvPr/>
        </p:nvSpPr>
        <p:spPr>
          <a:xfrm>
            <a:off x="1033272" y="3730752"/>
            <a:ext cx="5577840" cy="274320"/>
          </a:xfrm>
          <a:prstGeom prst="rect">
            <a:avLst/>
          </a:prstGeom>
          <a:noFill/>
        </p:spPr>
        <p:txBody>
          <a:bodyPr wrap="square"/>
          <a:lstStyle/>
          <a:p>
            <a:pPr algn="l">
              <a:lnSpc>
                <a:spcPts val="1080"/>
              </a:lnSpc>
              <a:spcBef>
                <a:spcPts val="0"/>
              </a:spcBef>
              <a:spcAft>
                <a:spcPts val="0"/>
              </a:spcAft>
              <a:defRPr sz="900" b="0" i="0">
                <a:solidFill>
                  <a:srgbClr val="555555"/>
                </a:solidFill>
                <a:latin typeface="Lato"/>
              </a:defRPr>
            </a:pPr>
            <a:r>
              <a:t>Perpindahan antar region, zona transisi</a:t>
            </a:r>
          </a:p>
        </p:txBody>
      </p:sp>
      <p:sp>
        <p:nvSpPr>
          <p:cNvPr id="20" name="Rounded Rectangle 19"/>
          <p:cNvSpPr/>
          <p:nvPr/>
        </p:nvSpPr>
        <p:spPr>
          <a:xfrm>
            <a:off x="6858000" y="1005840"/>
            <a:ext cx="4846320" cy="4754880"/>
          </a:xfrm>
          <a:prstGeom prst="roundRect">
            <a:avLst/>
          </a:prstGeom>
          <a:solidFill>
            <a:srgbClr val="FFF8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040880" y="1051560"/>
            <a:ext cx="4480560" cy="274320"/>
          </a:xfrm>
          <a:prstGeom prst="rect">
            <a:avLst/>
          </a:prstGeom>
          <a:noFill/>
        </p:spPr>
        <p:txBody>
          <a:bodyPr wrap="square"/>
          <a:lstStyle/>
          <a:p>
            <a:pPr algn="l">
              <a:lnSpc>
                <a:spcPts val="1680"/>
              </a:lnSpc>
              <a:spcBef>
                <a:spcPts val="0"/>
              </a:spcBef>
              <a:spcAft>
                <a:spcPts val="0"/>
              </a:spcAft>
              <a:defRPr sz="1400" b="1" i="0">
                <a:solidFill>
                  <a:srgbClr val="1A2B4C"/>
                </a:solidFill>
                <a:latin typeface="Montserrat"/>
              </a:defRPr>
            </a:pPr>
            <a:r>
              <a:t>Nilai Konstanta Costmap</a:t>
            </a:r>
          </a:p>
        </p:txBody>
      </p:sp>
      <p:sp>
        <p:nvSpPr>
          <p:cNvPr id="22" name="TextBox 21"/>
          <p:cNvSpPr txBox="1"/>
          <p:nvPr/>
        </p:nvSpPr>
        <p:spPr>
          <a:xfrm>
            <a:off x="7040880" y="1463040"/>
            <a:ext cx="1828800" cy="201168"/>
          </a:xfrm>
          <a:prstGeom prst="rect">
            <a:avLst/>
          </a:prstGeom>
          <a:noFill/>
        </p:spPr>
        <p:txBody>
          <a:bodyPr wrap="square"/>
          <a:lstStyle/>
          <a:p>
            <a:pPr algn="l">
              <a:lnSpc>
                <a:spcPts val="960"/>
              </a:lnSpc>
              <a:spcBef>
                <a:spcPts val="0"/>
              </a:spcBef>
              <a:spcAft>
                <a:spcPts val="0"/>
              </a:spcAft>
              <a:defRPr sz="800" b="1" i="0">
                <a:solidFill>
                  <a:srgbClr val="1A2B4C"/>
                </a:solidFill>
                <a:latin typeface="Lato"/>
              </a:defRPr>
            </a:pPr>
            <a:r>
              <a:t>NO_INFORMATION</a:t>
            </a:r>
          </a:p>
        </p:txBody>
      </p:sp>
      <p:sp>
        <p:nvSpPr>
          <p:cNvPr id="23" name="TextBox 22"/>
          <p:cNvSpPr txBox="1"/>
          <p:nvPr/>
        </p:nvSpPr>
        <p:spPr>
          <a:xfrm>
            <a:off x="8961120" y="1463040"/>
            <a:ext cx="731520" cy="201168"/>
          </a:xfrm>
          <a:prstGeom prst="rect">
            <a:avLst/>
          </a:prstGeom>
          <a:noFill/>
        </p:spPr>
        <p:txBody>
          <a:bodyPr wrap="square"/>
          <a:lstStyle/>
          <a:p>
            <a:pPr algn="ctr">
              <a:lnSpc>
                <a:spcPts val="1080"/>
              </a:lnSpc>
              <a:spcBef>
                <a:spcPts val="0"/>
              </a:spcBef>
              <a:spcAft>
                <a:spcPts val="0"/>
              </a:spcAft>
              <a:defRPr sz="900" b="1" i="0">
                <a:solidFill>
                  <a:srgbClr val="003A70"/>
                </a:solidFill>
                <a:latin typeface="Lato"/>
              </a:defRPr>
            </a:pPr>
            <a:r>
              <a:t>255</a:t>
            </a:r>
          </a:p>
        </p:txBody>
      </p:sp>
      <p:sp>
        <p:nvSpPr>
          <p:cNvPr id="24" name="TextBox 23"/>
          <p:cNvSpPr txBox="1"/>
          <p:nvPr/>
        </p:nvSpPr>
        <p:spPr>
          <a:xfrm>
            <a:off x="9784080" y="1463040"/>
            <a:ext cx="1645920" cy="201168"/>
          </a:xfrm>
          <a:prstGeom prst="rect">
            <a:avLst/>
          </a:prstGeom>
          <a:noFill/>
        </p:spPr>
        <p:txBody>
          <a:bodyPr wrap="square"/>
          <a:lstStyle/>
          <a:p>
            <a:pPr algn="l">
              <a:lnSpc>
                <a:spcPts val="960"/>
              </a:lnSpc>
              <a:spcBef>
                <a:spcPts val="0"/>
              </a:spcBef>
              <a:spcAft>
                <a:spcPts val="0"/>
              </a:spcAft>
              <a:defRPr sz="800" b="0" i="0">
                <a:solidFill>
                  <a:srgbClr val="555555"/>
                </a:solidFill>
                <a:latin typeface="Lato"/>
              </a:defRPr>
            </a:pPr>
            <a:r>
              <a:t>Area tidak diketahui</a:t>
            </a:r>
          </a:p>
        </p:txBody>
      </p:sp>
      <p:sp>
        <p:nvSpPr>
          <p:cNvPr id="25" name="TextBox 24"/>
          <p:cNvSpPr txBox="1"/>
          <p:nvPr/>
        </p:nvSpPr>
        <p:spPr>
          <a:xfrm>
            <a:off x="7040880" y="1719072"/>
            <a:ext cx="1828800" cy="201168"/>
          </a:xfrm>
          <a:prstGeom prst="rect">
            <a:avLst/>
          </a:prstGeom>
          <a:noFill/>
        </p:spPr>
        <p:txBody>
          <a:bodyPr wrap="square"/>
          <a:lstStyle/>
          <a:p>
            <a:pPr algn="l">
              <a:lnSpc>
                <a:spcPts val="960"/>
              </a:lnSpc>
              <a:spcBef>
                <a:spcPts val="0"/>
              </a:spcBef>
              <a:spcAft>
                <a:spcPts val="0"/>
              </a:spcAft>
              <a:defRPr sz="800" b="1" i="0">
                <a:solidFill>
                  <a:srgbClr val="1A2B4C"/>
                </a:solidFill>
                <a:latin typeface="Lato"/>
              </a:defRPr>
            </a:pPr>
            <a:r>
              <a:t>LETHAL_OBSTACLE</a:t>
            </a:r>
          </a:p>
        </p:txBody>
      </p:sp>
      <p:sp>
        <p:nvSpPr>
          <p:cNvPr id="26" name="TextBox 25"/>
          <p:cNvSpPr txBox="1"/>
          <p:nvPr/>
        </p:nvSpPr>
        <p:spPr>
          <a:xfrm>
            <a:off x="8961120" y="1719072"/>
            <a:ext cx="731520" cy="201168"/>
          </a:xfrm>
          <a:prstGeom prst="rect">
            <a:avLst/>
          </a:prstGeom>
          <a:noFill/>
        </p:spPr>
        <p:txBody>
          <a:bodyPr wrap="square"/>
          <a:lstStyle/>
          <a:p>
            <a:pPr algn="ctr">
              <a:lnSpc>
                <a:spcPts val="1080"/>
              </a:lnSpc>
              <a:spcBef>
                <a:spcPts val="0"/>
              </a:spcBef>
              <a:spcAft>
                <a:spcPts val="0"/>
              </a:spcAft>
              <a:defRPr sz="900" b="1" i="0">
                <a:solidFill>
                  <a:srgbClr val="003A70"/>
                </a:solidFill>
                <a:latin typeface="Lato"/>
              </a:defRPr>
            </a:pPr>
            <a:r>
              <a:t>254</a:t>
            </a:r>
          </a:p>
        </p:txBody>
      </p:sp>
      <p:sp>
        <p:nvSpPr>
          <p:cNvPr id="27" name="TextBox 26"/>
          <p:cNvSpPr txBox="1"/>
          <p:nvPr/>
        </p:nvSpPr>
        <p:spPr>
          <a:xfrm>
            <a:off x="9784080" y="1719072"/>
            <a:ext cx="1645920" cy="201168"/>
          </a:xfrm>
          <a:prstGeom prst="rect">
            <a:avLst/>
          </a:prstGeom>
          <a:noFill/>
        </p:spPr>
        <p:txBody>
          <a:bodyPr wrap="square"/>
          <a:lstStyle/>
          <a:p>
            <a:pPr algn="l">
              <a:lnSpc>
                <a:spcPts val="960"/>
              </a:lnSpc>
              <a:spcBef>
                <a:spcPts val="0"/>
              </a:spcBef>
              <a:spcAft>
                <a:spcPts val="0"/>
              </a:spcAft>
              <a:defRPr sz="800" b="0" i="0">
                <a:solidFill>
                  <a:srgbClr val="555555"/>
                </a:solidFill>
                <a:latin typeface="Lato"/>
              </a:defRPr>
            </a:pPr>
            <a:r>
              <a:t>Obstacle mematikan</a:t>
            </a:r>
          </a:p>
        </p:txBody>
      </p:sp>
      <p:sp>
        <p:nvSpPr>
          <p:cNvPr id="28" name="TextBox 27"/>
          <p:cNvSpPr txBox="1"/>
          <p:nvPr/>
        </p:nvSpPr>
        <p:spPr>
          <a:xfrm>
            <a:off x="7040880" y="1975104"/>
            <a:ext cx="1828800" cy="201168"/>
          </a:xfrm>
          <a:prstGeom prst="rect">
            <a:avLst/>
          </a:prstGeom>
          <a:noFill/>
        </p:spPr>
        <p:txBody>
          <a:bodyPr wrap="square"/>
          <a:lstStyle/>
          <a:p>
            <a:pPr algn="l">
              <a:lnSpc>
                <a:spcPts val="960"/>
              </a:lnSpc>
              <a:spcBef>
                <a:spcPts val="0"/>
              </a:spcBef>
              <a:spcAft>
                <a:spcPts val="0"/>
              </a:spcAft>
              <a:defRPr sz="800" b="1" i="0">
                <a:solidFill>
                  <a:srgbClr val="1A2B4C"/>
                </a:solidFill>
                <a:latin typeface="Lato"/>
              </a:defRPr>
            </a:pPr>
            <a:r>
              <a:t>INSCRIBED_INFLATED</a:t>
            </a:r>
          </a:p>
        </p:txBody>
      </p:sp>
      <p:sp>
        <p:nvSpPr>
          <p:cNvPr id="29" name="TextBox 28"/>
          <p:cNvSpPr txBox="1"/>
          <p:nvPr/>
        </p:nvSpPr>
        <p:spPr>
          <a:xfrm>
            <a:off x="8961120" y="1975104"/>
            <a:ext cx="731520" cy="201168"/>
          </a:xfrm>
          <a:prstGeom prst="rect">
            <a:avLst/>
          </a:prstGeom>
          <a:noFill/>
        </p:spPr>
        <p:txBody>
          <a:bodyPr wrap="square"/>
          <a:lstStyle/>
          <a:p>
            <a:pPr algn="ctr">
              <a:lnSpc>
                <a:spcPts val="1080"/>
              </a:lnSpc>
              <a:spcBef>
                <a:spcPts val="0"/>
              </a:spcBef>
              <a:spcAft>
                <a:spcPts val="0"/>
              </a:spcAft>
              <a:defRPr sz="900" b="1" i="0">
                <a:solidFill>
                  <a:srgbClr val="003A70"/>
                </a:solidFill>
                <a:latin typeface="Lato"/>
              </a:defRPr>
            </a:pPr>
            <a:r>
              <a:t>253</a:t>
            </a:r>
          </a:p>
        </p:txBody>
      </p:sp>
      <p:sp>
        <p:nvSpPr>
          <p:cNvPr id="30" name="TextBox 29"/>
          <p:cNvSpPr txBox="1"/>
          <p:nvPr/>
        </p:nvSpPr>
        <p:spPr>
          <a:xfrm>
            <a:off x="9784080" y="1975104"/>
            <a:ext cx="1645920" cy="201168"/>
          </a:xfrm>
          <a:prstGeom prst="rect">
            <a:avLst/>
          </a:prstGeom>
          <a:noFill/>
        </p:spPr>
        <p:txBody>
          <a:bodyPr wrap="square"/>
          <a:lstStyle/>
          <a:p>
            <a:pPr algn="l">
              <a:lnSpc>
                <a:spcPts val="960"/>
              </a:lnSpc>
              <a:spcBef>
                <a:spcPts val="0"/>
              </a:spcBef>
              <a:spcAft>
                <a:spcPts val="0"/>
              </a:spcAft>
              <a:defRPr sz="800" b="0" i="0">
                <a:solidFill>
                  <a:srgbClr val="555555"/>
                </a:solidFill>
                <a:latin typeface="Lato"/>
              </a:defRPr>
            </a:pPr>
            <a:r>
              <a:t>Batas inflasi maksimal</a:t>
            </a:r>
          </a:p>
        </p:txBody>
      </p:sp>
      <p:sp>
        <p:nvSpPr>
          <p:cNvPr id="31" name="TextBox 30"/>
          <p:cNvSpPr txBox="1"/>
          <p:nvPr/>
        </p:nvSpPr>
        <p:spPr>
          <a:xfrm>
            <a:off x="7040880" y="2231136"/>
            <a:ext cx="1828800" cy="201168"/>
          </a:xfrm>
          <a:prstGeom prst="rect">
            <a:avLst/>
          </a:prstGeom>
          <a:noFill/>
        </p:spPr>
        <p:txBody>
          <a:bodyPr wrap="square"/>
          <a:lstStyle/>
          <a:p>
            <a:pPr algn="l">
              <a:lnSpc>
                <a:spcPts val="960"/>
              </a:lnSpc>
              <a:spcBef>
                <a:spcPts val="0"/>
              </a:spcBef>
              <a:spcAft>
                <a:spcPts val="0"/>
              </a:spcAft>
              <a:defRPr sz="800" b="1" i="0">
                <a:solidFill>
                  <a:srgbClr val="1A2B4C"/>
                </a:solidFill>
                <a:latin typeface="Lato"/>
              </a:defRPr>
            </a:pPr>
            <a:r>
              <a:t>INFLATED_OBSTACLE</a:t>
            </a:r>
          </a:p>
        </p:txBody>
      </p:sp>
      <p:sp>
        <p:nvSpPr>
          <p:cNvPr id="32" name="TextBox 31"/>
          <p:cNvSpPr txBox="1"/>
          <p:nvPr/>
        </p:nvSpPr>
        <p:spPr>
          <a:xfrm>
            <a:off x="8961120" y="2231136"/>
            <a:ext cx="731520" cy="201168"/>
          </a:xfrm>
          <a:prstGeom prst="rect">
            <a:avLst/>
          </a:prstGeom>
          <a:noFill/>
        </p:spPr>
        <p:txBody>
          <a:bodyPr wrap="square"/>
          <a:lstStyle/>
          <a:p>
            <a:pPr algn="ctr">
              <a:lnSpc>
                <a:spcPts val="1080"/>
              </a:lnSpc>
              <a:spcBef>
                <a:spcPts val="0"/>
              </a:spcBef>
              <a:spcAft>
                <a:spcPts val="0"/>
              </a:spcAft>
              <a:defRPr sz="900" b="1" i="0">
                <a:solidFill>
                  <a:srgbClr val="003A70"/>
                </a:solidFill>
                <a:latin typeface="Lato"/>
              </a:defRPr>
            </a:pPr>
            <a:r>
              <a:t>1–252</a:t>
            </a:r>
          </a:p>
        </p:txBody>
      </p:sp>
      <p:sp>
        <p:nvSpPr>
          <p:cNvPr id="33" name="TextBox 32"/>
          <p:cNvSpPr txBox="1"/>
          <p:nvPr/>
        </p:nvSpPr>
        <p:spPr>
          <a:xfrm>
            <a:off x="9784080" y="2231136"/>
            <a:ext cx="1645920" cy="201168"/>
          </a:xfrm>
          <a:prstGeom prst="rect">
            <a:avLst/>
          </a:prstGeom>
          <a:noFill/>
        </p:spPr>
        <p:txBody>
          <a:bodyPr wrap="square"/>
          <a:lstStyle/>
          <a:p>
            <a:pPr algn="l">
              <a:lnSpc>
                <a:spcPts val="960"/>
              </a:lnSpc>
              <a:spcBef>
                <a:spcPts val="0"/>
              </a:spcBef>
              <a:spcAft>
                <a:spcPts val="0"/>
              </a:spcAft>
              <a:defRPr sz="800" b="0" i="0">
                <a:solidFill>
                  <a:srgbClr val="555555"/>
                </a:solidFill>
                <a:latin typeface="Lato"/>
              </a:defRPr>
            </a:pPr>
            <a:r>
              <a:t>Area inflasi obstacle</a:t>
            </a:r>
          </a:p>
        </p:txBody>
      </p:sp>
      <p:sp>
        <p:nvSpPr>
          <p:cNvPr id="34" name="TextBox 33"/>
          <p:cNvSpPr txBox="1"/>
          <p:nvPr/>
        </p:nvSpPr>
        <p:spPr>
          <a:xfrm>
            <a:off x="7040880" y="2487168"/>
            <a:ext cx="1828800" cy="201168"/>
          </a:xfrm>
          <a:prstGeom prst="rect">
            <a:avLst/>
          </a:prstGeom>
          <a:noFill/>
        </p:spPr>
        <p:txBody>
          <a:bodyPr wrap="square"/>
          <a:lstStyle/>
          <a:p>
            <a:pPr algn="l">
              <a:lnSpc>
                <a:spcPts val="960"/>
              </a:lnSpc>
              <a:spcBef>
                <a:spcPts val="0"/>
              </a:spcBef>
              <a:spcAft>
                <a:spcPts val="0"/>
              </a:spcAft>
              <a:defRPr sz="800" b="1" i="0">
                <a:solidFill>
                  <a:srgbClr val="1A2B4C"/>
                </a:solidFill>
                <a:latin typeface="Lato"/>
              </a:defRPr>
            </a:pPr>
            <a:r>
              <a:t>TRANSITION_CELL</a:t>
            </a:r>
          </a:p>
        </p:txBody>
      </p:sp>
      <p:sp>
        <p:nvSpPr>
          <p:cNvPr id="35" name="TextBox 34"/>
          <p:cNvSpPr txBox="1"/>
          <p:nvPr/>
        </p:nvSpPr>
        <p:spPr>
          <a:xfrm>
            <a:off x="8961120" y="2487168"/>
            <a:ext cx="731520" cy="201168"/>
          </a:xfrm>
          <a:prstGeom prst="rect">
            <a:avLst/>
          </a:prstGeom>
          <a:noFill/>
        </p:spPr>
        <p:txBody>
          <a:bodyPr wrap="square"/>
          <a:lstStyle/>
          <a:p>
            <a:pPr algn="ctr">
              <a:lnSpc>
                <a:spcPts val="1080"/>
              </a:lnSpc>
              <a:spcBef>
                <a:spcPts val="0"/>
              </a:spcBef>
              <a:spcAft>
                <a:spcPts val="0"/>
              </a:spcAft>
              <a:defRPr sz="900" b="1" i="0">
                <a:solidFill>
                  <a:srgbClr val="003A70"/>
                </a:solidFill>
                <a:latin typeface="Lato"/>
              </a:defRPr>
            </a:pPr>
            <a:r>
              <a:t>1–5</a:t>
            </a:r>
          </a:p>
        </p:txBody>
      </p:sp>
      <p:sp>
        <p:nvSpPr>
          <p:cNvPr id="36" name="TextBox 35"/>
          <p:cNvSpPr txBox="1"/>
          <p:nvPr/>
        </p:nvSpPr>
        <p:spPr>
          <a:xfrm>
            <a:off x="9784080" y="2487168"/>
            <a:ext cx="1645920" cy="201168"/>
          </a:xfrm>
          <a:prstGeom prst="rect">
            <a:avLst/>
          </a:prstGeom>
          <a:noFill/>
        </p:spPr>
        <p:txBody>
          <a:bodyPr wrap="square"/>
          <a:lstStyle/>
          <a:p>
            <a:pPr algn="l">
              <a:lnSpc>
                <a:spcPts val="960"/>
              </a:lnSpc>
              <a:spcBef>
                <a:spcPts val="0"/>
              </a:spcBef>
              <a:spcAft>
                <a:spcPts val="0"/>
              </a:spcAft>
              <a:defRPr sz="800" b="0" i="0">
                <a:solidFill>
                  <a:srgbClr val="555555"/>
                </a:solidFill>
                <a:latin typeface="Lato"/>
              </a:defRPr>
            </a:pPr>
            <a:r>
              <a:t>Zona transisi region</a:t>
            </a:r>
          </a:p>
        </p:txBody>
      </p:sp>
      <p:sp>
        <p:nvSpPr>
          <p:cNvPr id="37" name="TextBox 36"/>
          <p:cNvSpPr txBox="1"/>
          <p:nvPr/>
        </p:nvSpPr>
        <p:spPr>
          <a:xfrm>
            <a:off x="7040880" y="2743200"/>
            <a:ext cx="1828800" cy="201168"/>
          </a:xfrm>
          <a:prstGeom prst="rect">
            <a:avLst/>
          </a:prstGeom>
          <a:noFill/>
        </p:spPr>
        <p:txBody>
          <a:bodyPr wrap="square"/>
          <a:lstStyle/>
          <a:p>
            <a:pPr algn="l">
              <a:lnSpc>
                <a:spcPts val="960"/>
              </a:lnSpc>
              <a:spcBef>
                <a:spcPts val="0"/>
              </a:spcBef>
              <a:spcAft>
                <a:spcPts val="0"/>
              </a:spcAft>
              <a:defRPr sz="800" b="1" i="0">
                <a:solidFill>
                  <a:srgbClr val="1A2B4C"/>
                </a:solidFill>
                <a:latin typeface="Lato"/>
              </a:defRPr>
            </a:pPr>
            <a:r>
              <a:t>FREE_SPACE</a:t>
            </a:r>
          </a:p>
        </p:txBody>
      </p:sp>
      <p:sp>
        <p:nvSpPr>
          <p:cNvPr id="38" name="TextBox 37"/>
          <p:cNvSpPr txBox="1"/>
          <p:nvPr/>
        </p:nvSpPr>
        <p:spPr>
          <a:xfrm>
            <a:off x="8961120" y="2743200"/>
            <a:ext cx="731520" cy="201168"/>
          </a:xfrm>
          <a:prstGeom prst="rect">
            <a:avLst/>
          </a:prstGeom>
          <a:noFill/>
        </p:spPr>
        <p:txBody>
          <a:bodyPr wrap="square"/>
          <a:lstStyle/>
          <a:p>
            <a:pPr algn="ctr">
              <a:lnSpc>
                <a:spcPts val="1080"/>
              </a:lnSpc>
              <a:spcBef>
                <a:spcPts val="0"/>
              </a:spcBef>
              <a:spcAft>
                <a:spcPts val="0"/>
              </a:spcAft>
              <a:defRPr sz="900" b="1" i="0">
                <a:solidFill>
                  <a:srgbClr val="003A70"/>
                </a:solidFill>
                <a:latin typeface="Lato"/>
              </a:defRPr>
            </a:pPr>
            <a:r>
              <a:t>0</a:t>
            </a:r>
          </a:p>
        </p:txBody>
      </p:sp>
      <p:sp>
        <p:nvSpPr>
          <p:cNvPr id="39" name="TextBox 38"/>
          <p:cNvSpPr txBox="1"/>
          <p:nvPr/>
        </p:nvSpPr>
        <p:spPr>
          <a:xfrm>
            <a:off x="9784080" y="2743200"/>
            <a:ext cx="1645920" cy="201168"/>
          </a:xfrm>
          <a:prstGeom prst="rect">
            <a:avLst/>
          </a:prstGeom>
          <a:noFill/>
        </p:spPr>
        <p:txBody>
          <a:bodyPr wrap="square"/>
          <a:lstStyle/>
          <a:p>
            <a:pPr algn="l">
              <a:lnSpc>
                <a:spcPts val="960"/>
              </a:lnSpc>
              <a:spcBef>
                <a:spcPts val="0"/>
              </a:spcBef>
              <a:spcAft>
                <a:spcPts val="0"/>
              </a:spcAft>
              <a:defRPr sz="800" b="0" i="0">
                <a:solidFill>
                  <a:srgbClr val="555555"/>
                </a:solidFill>
                <a:latin typeface="Lato"/>
              </a:defRPr>
            </a:pPr>
            <a:r>
              <a:t>Ruang bebas</a:t>
            </a:r>
          </a:p>
        </p:txBody>
      </p:sp>
      <p:sp>
        <p:nvSpPr>
          <p:cNvPr id="40" name="Rounded Rectangle 39"/>
          <p:cNvSpPr/>
          <p:nvPr/>
        </p:nvSpPr>
        <p:spPr>
          <a:xfrm>
            <a:off x="7040880" y="3090672"/>
            <a:ext cx="4480560" cy="594360"/>
          </a:xfrm>
          <a:prstGeom prst="roundRect">
            <a:avLst/>
          </a:prstGeom>
          <a:solidFill>
            <a:srgbClr val="FDF2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178040" y="3136392"/>
            <a:ext cx="4206240" cy="502920"/>
          </a:xfrm>
          <a:prstGeom prst="rect">
            <a:avLst/>
          </a:prstGeom>
          <a:noFill/>
        </p:spPr>
        <p:txBody>
          <a:bodyPr wrap="square"/>
          <a:lstStyle/>
          <a:p>
            <a:pPr algn="l">
              <a:lnSpc>
                <a:spcPts val="1040"/>
              </a:lnSpc>
              <a:spcBef>
                <a:spcPts val="0"/>
              </a:spcBef>
              <a:spcAft>
                <a:spcPts val="0"/>
              </a:spcAft>
              <a:defRPr sz="800" b="0" i="0">
                <a:solidFill>
                  <a:srgbClr val="555555"/>
                </a:solidFill>
                <a:latin typeface="Lato"/>
              </a:defRPr>
            </a:pPr>
            <a:r>
              <a:t>Inscribed radius adalah jarak dari pusat robot ke batas footprint. Sel dalam radius ini dianggap terlalu dekat dan diberi cost maksimal 253.</a:t>
            </a:r>
          </a:p>
        </p:txBody>
      </p:sp>
      <p:sp>
        <p:nvSpPr>
          <p:cNvPr id="42" name="TextBox 41"/>
          <p:cNvSpPr txBox="1"/>
          <p:nvPr/>
        </p:nvSpPr>
        <p:spPr>
          <a:xfrm>
            <a:off x="10884103" y="6446520"/>
            <a:ext cx="457200" cy="274320"/>
          </a:xfrm>
          <a:prstGeom prst="rect">
            <a:avLst/>
          </a:prstGeom>
          <a:noFill/>
        </p:spPr>
        <p:txBody>
          <a:bodyPr wrap="square"/>
          <a:lstStyle/>
          <a:p>
            <a:pPr algn="r">
              <a:lnSpc>
                <a:spcPts val="1200"/>
              </a:lnSpc>
              <a:spcBef>
                <a:spcPts val="0"/>
              </a:spcBef>
              <a:spcAft>
                <a:spcPts val="0"/>
              </a:spcAft>
              <a:defRPr sz="1000" b="0" i="0">
                <a:solidFill>
                  <a:srgbClr val="333333"/>
                </a:solidFill>
                <a:latin typeface="Lato"/>
              </a:defRPr>
            </a:pPr>
            <a: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gradFill rotWithShape="1">
          <a:gsLst>
            <a:gs pos="0">
              <a:srgbClr val="EDF4FC"/>
            </a:gs>
            <a:gs pos="100000">
              <a:srgbClr val="D2E3F3"/>
            </a:gs>
          </a:gsLst>
          <a:lin ang="8100000" scaled="0"/>
        </a:gradFill>
      </p:bgPr>
    </p:bg>
    <p:spTree>
      <p:nvGrpSpPr>
        <p:cNvPr id="1" name=""/>
        <p:cNvGrpSpPr/>
        <p:nvPr/>
      </p:nvGrpSpPr>
      <p:grpSpPr/>
      <p:sp>
        <p:nvSpPr>
          <p:cNvPr id="2" name="TextBox 1"/>
          <p:cNvSpPr txBox="1"/>
          <p:nvPr/>
        </p:nvSpPr>
        <p:spPr>
          <a:xfrm>
            <a:off x="850392" y="320040"/>
            <a:ext cx="6400800" cy="502920"/>
          </a:xfrm>
          <a:prstGeom prst="rect">
            <a:avLst/>
          </a:prstGeom>
          <a:noFill/>
        </p:spPr>
        <p:txBody>
          <a:bodyPr wrap="square"/>
          <a:lstStyle/>
          <a:p>
            <a:pPr algn="l">
              <a:lnSpc>
                <a:spcPts val="3120"/>
              </a:lnSpc>
              <a:spcBef>
                <a:spcPts val="0"/>
              </a:spcBef>
              <a:spcAft>
                <a:spcPts val="0"/>
              </a:spcAft>
              <a:defRPr sz="2600" b="1" i="0">
                <a:solidFill>
                  <a:srgbClr val="1A2B4C"/>
                </a:solidFill>
                <a:latin typeface="Montserrat"/>
              </a:defRPr>
            </a:pPr>
            <a:r>
              <a:t>GLOBAL COSTMAP — PERENCANAAN JALUR SKALA LUAS</a:t>
            </a:r>
          </a:p>
        </p:txBody>
      </p:sp>
      <p:sp>
        <p:nvSpPr>
          <p:cNvPr id="3" name="Rectangle 2"/>
          <p:cNvSpPr/>
          <p:nvPr/>
        </p:nvSpPr>
        <p:spPr>
          <a:xfrm>
            <a:off x="850392" y="777240"/>
            <a:ext cx="2286000" cy="25400"/>
          </a:xfrm>
          <a:prstGeom prst="rect">
            <a:avLst/>
          </a:prstGeom>
          <a:solidFill>
            <a:srgbClr val="F08C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0392" y="1005840"/>
            <a:ext cx="5943600" cy="411480"/>
          </a:xfrm>
          <a:prstGeom prst="rect">
            <a:avLst/>
          </a:prstGeom>
          <a:noFill/>
        </p:spPr>
        <p:txBody>
          <a:bodyPr wrap="square"/>
          <a:lstStyle/>
          <a:p>
            <a:pPr algn="l">
              <a:lnSpc>
                <a:spcPts val="1485"/>
              </a:lnSpc>
              <a:spcBef>
                <a:spcPts val="0"/>
              </a:spcBef>
              <a:spcAft>
                <a:spcPts val="0"/>
              </a:spcAft>
              <a:defRPr sz="1100" b="0" i="0">
                <a:solidFill>
                  <a:srgbClr val="333333"/>
                </a:solidFill>
                <a:latin typeface="Lato"/>
              </a:defRPr>
            </a:pPr>
            <a:r>
              <a:t>Global costmap mencakup seluruh area yang diketahui dari peta. Digunakan oleh global planner (A*) untuk merencanakan path dari posisi robot menuju tujuan dalam skala luas. Costmap ini tidak berubah secara dinamis selama navigasi.</a:t>
            </a:r>
          </a:p>
        </p:txBody>
      </p:sp>
      <p:sp>
        <p:nvSpPr>
          <p:cNvPr id="5" name="Rounded Rectangle 4"/>
          <p:cNvSpPr/>
          <p:nvPr/>
        </p:nvSpPr>
        <p:spPr>
          <a:xfrm>
            <a:off x="850392" y="1554480"/>
            <a:ext cx="5943600" cy="1005840"/>
          </a:xfrm>
          <a:prstGeom prst="roundRect">
            <a:avLst/>
          </a:prstGeom>
          <a:solidFill>
            <a:srgbClr val="FFF8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50392" y="1554480"/>
            <a:ext cx="63500" cy="1005840"/>
          </a:xfrm>
          <a:prstGeom prst="rect">
            <a:avLst/>
          </a:prstGeom>
          <a:solidFill>
            <a:srgbClr val="003A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33272" y="1600200"/>
            <a:ext cx="2743200" cy="274320"/>
          </a:xfrm>
          <a:prstGeom prst="rect">
            <a:avLst/>
          </a:prstGeom>
          <a:noFill/>
        </p:spPr>
        <p:txBody>
          <a:bodyPr wrap="square"/>
          <a:lstStyle/>
          <a:p>
            <a:pPr algn="l">
              <a:lnSpc>
                <a:spcPts val="1680"/>
              </a:lnSpc>
              <a:spcBef>
                <a:spcPts val="0"/>
              </a:spcBef>
              <a:spcAft>
                <a:spcPts val="0"/>
              </a:spcAft>
              <a:defRPr sz="1400" b="1" i="0">
                <a:solidFill>
                  <a:srgbClr val="003A70"/>
                </a:solidFill>
                <a:latin typeface="Montserrat"/>
              </a:defRPr>
            </a:pPr>
            <a:r>
              <a:t>Static Layer</a:t>
            </a:r>
          </a:p>
        </p:txBody>
      </p:sp>
      <p:sp>
        <p:nvSpPr>
          <p:cNvPr id="8" name="TextBox 7"/>
          <p:cNvSpPr txBox="1"/>
          <p:nvPr/>
        </p:nvSpPr>
        <p:spPr>
          <a:xfrm>
            <a:off x="1033272" y="1874519"/>
            <a:ext cx="5577840" cy="548640"/>
          </a:xfrm>
          <a:prstGeom prst="rect">
            <a:avLst/>
          </a:prstGeom>
          <a:noFill/>
        </p:spPr>
        <p:txBody>
          <a:bodyPr wrap="square"/>
          <a:lstStyle/>
          <a:p>
            <a:pPr algn="l">
              <a:lnSpc>
                <a:spcPts val="1300"/>
              </a:lnSpc>
              <a:spcBef>
                <a:spcPts val="0"/>
              </a:spcBef>
              <a:spcAft>
                <a:spcPts val="0"/>
              </a:spcAft>
              <a:defRPr sz="1000" b="0" i="0">
                <a:solidFill>
                  <a:srgbClr val="333333"/>
                </a:solidFill>
                <a:latin typeface="Lato"/>
              </a:defRPr>
            </a:pPr>
            <a:r>
              <a:t>Menyimpan obstacle tetap dari peta. Mengkonversi nilai occupancy grid (0–100) ke cost internal (0–255): unknown=255, free=0, occupied=254. Bersumber dari combined map dan tidak berubah.</a:t>
            </a:r>
          </a:p>
        </p:txBody>
      </p:sp>
      <p:sp>
        <p:nvSpPr>
          <p:cNvPr id="9" name="Rounded Rectangle 8"/>
          <p:cNvSpPr/>
          <p:nvPr/>
        </p:nvSpPr>
        <p:spPr>
          <a:xfrm>
            <a:off x="850392" y="2697480"/>
            <a:ext cx="5943600" cy="1005840"/>
          </a:xfrm>
          <a:prstGeom prst="roundRect">
            <a:avLst/>
          </a:prstGeom>
          <a:solidFill>
            <a:srgbClr val="FFF8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50392" y="2697480"/>
            <a:ext cx="63500" cy="1005840"/>
          </a:xfrm>
          <a:prstGeom prst="rect">
            <a:avLst/>
          </a:prstGeom>
          <a:solidFill>
            <a:srgbClr val="003A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33272" y="2743200"/>
            <a:ext cx="2743200" cy="274320"/>
          </a:xfrm>
          <a:prstGeom prst="rect">
            <a:avLst/>
          </a:prstGeom>
          <a:noFill/>
        </p:spPr>
        <p:txBody>
          <a:bodyPr wrap="square"/>
          <a:lstStyle/>
          <a:p>
            <a:pPr algn="l">
              <a:lnSpc>
                <a:spcPts val="1680"/>
              </a:lnSpc>
              <a:spcBef>
                <a:spcPts val="0"/>
              </a:spcBef>
              <a:spcAft>
                <a:spcPts val="0"/>
              </a:spcAft>
              <a:defRPr sz="1400" b="1" i="0">
                <a:solidFill>
                  <a:srgbClr val="003A70"/>
                </a:solidFill>
                <a:latin typeface="Montserrat"/>
              </a:defRPr>
            </a:pPr>
            <a:r>
              <a:t>Inflation Layer</a:t>
            </a:r>
          </a:p>
        </p:txBody>
      </p:sp>
      <p:sp>
        <p:nvSpPr>
          <p:cNvPr id="12" name="TextBox 11"/>
          <p:cNvSpPr txBox="1"/>
          <p:nvPr/>
        </p:nvSpPr>
        <p:spPr>
          <a:xfrm>
            <a:off x="1033272" y="3017520"/>
            <a:ext cx="5577840" cy="548640"/>
          </a:xfrm>
          <a:prstGeom prst="rect">
            <a:avLst/>
          </a:prstGeom>
          <a:noFill/>
        </p:spPr>
        <p:txBody>
          <a:bodyPr wrap="square"/>
          <a:lstStyle/>
          <a:p>
            <a:pPr algn="l">
              <a:lnSpc>
                <a:spcPts val="1300"/>
              </a:lnSpc>
              <a:spcBef>
                <a:spcPts val="0"/>
              </a:spcBef>
              <a:spcAft>
                <a:spcPts val="0"/>
              </a:spcAft>
              <a:defRPr sz="1000" b="0" i="0">
                <a:solidFill>
                  <a:srgbClr val="333333"/>
                </a:solidFill>
                <a:latin typeface="Lato"/>
              </a:defRPr>
            </a:pPr>
            <a:r>
              <a:t>Memperluas obstacle dengan gradient cost untuk menjaga jarak aman. Cost Scaling Factor (CSF) memengaruhi kecuraman gradien: CSF tinggi = penurunan cost lebih curam, path lebih mepet ke obstacle. CSF rendah = gradien landai, path menjauhi obstacle.</a:t>
            </a:r>
          </a:p>
        </p:txBody>
      </p:sp>
      <p:sp>
        <p:nvSpPr>
          <p:cNvPr id="13" name="Rounded Rectangle 12"/>
          <p:cNvSpPr/>
          <p:nvPr/>
        </p:nvSpPr>
        <p:spPr>
          <a:xfrm>
            <a:off x="6858000" y="1005840"/>
            <a:ext cx="4846320" cy="2743200"/>
          </a:xfrm>
          <a:prstGeom prst="roundRect">
            <a:avLst/>
          </a:prstGeom>
          <a:solidFill>
            <a:srgbClr val="FDF2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0880" y="1051560"/>
            <a:ext cx="4480560" cy="274320"/>
          </a:xfrm>
          <a:prstGeom prst="rect">
            <a:avLst/>
          </a:prstGeom>
          <a:noFill/>
        </p:spPr>
        <p:txBody>
          <a:bodyPr wrap="square"/>
          <a:lstStyle/>
          <a:p>
            <a:pPr algn="l">
              <a:lnSpc>
                <a:spcPts val="1680"/>
              </a:lnSpc>
              <a:spcBef>
                <a:spcPts val="0"/>
              </a:spcBef>
              <a:spcAft>
                <a:spcPts val="0"/>
              </a:spcAft>
              <a:defRPr sz="1400" b="1" i="0">
                <a:solidFill>
                  <a:srgbClr val="F08C2E"/>
                </a:solidFill>
                <a:latin typeface="Montserrat"/>
              </a:defRPr>
            </a:pPr>
            <a:r>
              <a:t>Fungsi Inflasi</a:t>
            </a:r>
          </a:p>
        </p:txBody>
      </p:sp>
      <p:sp>
        <p:nvSpPr>
          <p:cNvPr id="15" name="TextBox 14"/>
          <p:cNvSpPr txBox="1"/>
          <p:nvPr/>
        </p:nvSpPr>
        <p:spPr>
          <a:xfrm>
            <a:off x="7040880" y="1417320"/>
            <a:ext cx="4480560" cy="1371600"/>
          </a:xfrm>
          <a:prstGeom prst="rect">
            <a:avLst/>
          </a:prstGeom>
          <a:noFill/>
        </p:spPr>
        <p:txBody>
          <a:bodyPr wrap="square"/>
          <a:lstStyle/>
          <a:p>
            <a:pPr algn="l">
              <a:lnSpc>
                <a:spcPts val="1485"/>
              </a:lnSpc>
              <a:spcBef>
                <a:spcPts val="0"/>
              </a:spcBef>
              <a:spcAft>
                <a:spcPts val="0"/>
              </a:spcAft>
              <a:defRPr sz="1100" b="0" i="0">
                <a:solidFill>
                  <a:srgbClr val="333333"/>
                </a:solidFill>
                <a:latin typeface="Lato"/>
              </a:defRPr>
            </a:pPr>
            <a:r>
              <a:t>C(d) = 253 · e^(−α · (d − r_inscribed))</a:t>
            </a:r>
            <a:br/>
            <a:r>
              <a:t>untuk r_inscribed &lt; d ≤ R</a:t>
            </a:r>
            <a:br/>
            <a:br/>
            <a:r>
              <a:t>d = jarak dari obstacle</a:t>
            </a:r>
            <a:br/>
            <a:r>
              <a:t>R = inflation radius</a:t>
            </a:r>
            <a:br/>
            <a:r>
              <a:t>r_inscribed = inscribed radius (cost = 253)</a:t>
            </a:r>
            <a:br/>
            <a:r>
              <a:t>α = scaling factor (kontrol kecuraman)</a:t>
            </a:r>
            <a:br/>
            <a:br/>
            <a:r>
              <a:t>C(d) = 253 untuk d ≤ r_inscribed</a:t>
            </a:r>
            <a:br/>
            <a:r>
              <a:t>C(d) = 0 untuk d &gt; R</a:t>
            </a:r>
          </a:p>
        </p:txBody>
      </p:sp>
      <p:sp>
        <p:nvSpPr>
          <p:cNvPr id="16" name="Rounded Rectangle 15"/>
          <p:cNvSpPr/>
          <p:nvPr/>
        </p:nvSpPr>
        <p:spPr>
          <a:xfrm>
            <a:off x="6858000" y="3977639"/>
            <a:ext cx="4846320" cy="457200"/>
          </a:xfrm>
          <a:prstGeom prst="roundRect">
            <a:avLst/>
          </a:prstGeom>
          <a:solidFill>
            <a:srgbClr val="FFF8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995160" y="4005072"/>
            <a:ext cx="4572000" cy="411480"/>
          </a:xfrm>
          <a:prstGeom prst="rect">
            <a:avLst/>
          </a:prstGeom>
          <a:noFill/>
        </p:spPr>
        <p:txBody>
          <a:bodyPr wrap="square"/>
          <a:lstStyle/>
          <a:p>
            <a:pPr algn="l">
              <a:lnSpc>
                <a:spcPts val="1170"/>
              </a:lnSpc>
              <a:spcBef>
                <a:spcPts val="0"/>
              </a:spcBef>
              <a:spcAft>
                <a:spcPts val="0"/>
              </a:spcAft>
              <a:defRPr sz="900" b="0" i="0">
                <a:solidFill>
                  <a:srgbClr val="333333"/>
                </a:solidFill>
                <a:latin typeface="Lato"/>
              </a:defRPr>
            </a:pPr>
            <a:r>
              <a:t>Cost Scaling Factor (CSF) mengalikan costmap sebelum inflasi. Nilai uji: 10, 20, 50, 100. CSF = 100 menghasilkan path terpendek.</a:t>
            </a:r>
          </a:p>
        </p:txBody>
      </p:sp>
      <p:sp>
        <p:nvSpPr>
          <p:cNvPr id="18" name="TextBox 17"/>
          <p:cNvSpPr txBox="1"/>
          <p:nvPr/>
        </p:nvSpPr>
        <p:spPr>
          <a:xfrm>
            <a:off x="10884103" y="6446520"/>
            <a:ext cx="457200" cy="274320"/>
          </a:xfrm>
          <a:prstGeom prst="rect">
            <a:avLst/>
          </a:prstGeom>
          <a:noFill/>
        </p:spPr>
        <p:txBody>
          <a:bodyPr wrap="square"/>
          <a:lstStyle/>
          <a:p>
            <a:pPr algn="r">
              <a:lnSpc>
                <a:spcPts val="1200"/>
              </a:lnSpc>
              <a:spcBef>
                <a:spcPts val="0"/>
              </a:spcBef>
              <a:spcAft>
                <a:spcPts val="0"/>
              </a:spcAft>
              <a:defRPr sz="1000" b="0" i="0">
                <a:solidFill>
                  <a:srgbClr val="333333"/>
                </a:solidFill>
                <a:latin typeface="Lato"/>
              </a:defRPr>
            </a:pPr>
            <a: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gradFill rotWithShape="1">
          <a:gsLst>
            <a:gs pos="0">
              <a:srgbClr val="EDF4FC"/>
            </a:gs>
            <a:gs pos="100000">
              <a:srgbClr val="D2E3F3"/>
            </a:gs>
          </a:gsLst>
          <a:lin ang="8100000" scaled="0"/>
        </a:gradFill>
      </p:bgPr>
    </p:bg>
    <p:spTree>
      <p:nvGrpSpPr>
        <p:cNvPr id="1" name=""/>
        <p:cNvGrpSpPr/>
        <p:nvPr/>
      </p:nvGrpSpPr>
      <p:grpSpPr/>
      <p:sp>
        <p:nvSpPr>
          <p:cNvPr id="2" name="TextBox 1"/>
          <p:cNvSpPr txBox="1"/>
          <p:nvPr/>
        </p:nvSpPr>
        <p:spPr>
          <a:xfrm>
            <a:off x="850392" y="320040"/>
            <a:ext cx="6400800" cy="502920"/>
          </a:xfrm>
          <a:prstGeom prst="rect">
            <a:avLst/>
          </a:prstGeom>
          <a:noFill/>
        </p:spPr>
        <p:txBody>
          <a:bodyPr wrap="square"/>
          <a:lstStyle/>
          <a:p>
            <a:pPr algn="l">
              <a:lnSpc>
                <a:spcPts val="3120"/>
              </a:lnSpc>
              <a:spcBef>
                <a:spcPts val="0"/>
              </a:spcBef>
              <a:spcAft>
                <a:spcPts val="0"/>
              </a:spcAft>
              <a:defRPr sz="2600" b="1" i="0">
                <a:solidFill>
                  <a:srgbClr val="1A2B4C"/>
                </a:solidFill>
                <a:latin typeface="Montserrat"/>
              </a:defRPr>
            </a:pPr>
            <a:r>
              <a:t>LOCAL COSTMAP — NAVIGASI JANGKA PENDEK REAL-TIME</a:t>
            </a:r>
          </a:p>
        </p:txBody>
      </p:sp>
      <p:sp>
        <p:nvSpPr>
          <p:cNvPr id="3" name="Rectangle 2"/>
          <p:cNvSpPr/>
          <p:nvPr/>
        </p:nvSpPr>
        <p:spPr>
          <a:xfrm>
            <a:off x="850392" y="777240"/>
            <a:ext cx="2286000" cy="25400"/>
          </a:xfrm>
          <a:prstGeom prst="rect">
            <a:avLst/>
          </a:prstGeom>
          <a:solidFill>
            <a:srgbClr val="F08C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0392" y="1005840"/>
            <a:ext cx="5943600" cy="411480"/>
          </a:xfrm>
          <a:prstGeom prst="rect">
            <a:avLst/>
          </a:prstGeom>
          <a:noFill/>
        </p:spPr>
        <p:txBody>
          <a:bodyPr wrap="square"/>
          <a:lstStyle/>
          <a:p>
            <a:pPr algn="l">
              <a:lnSpc>
                <a:spcPts val="1485"/>
              </a:lnSpc>
              <a:spcBef>
                <a:spcPts val="0"/>
              </a:spcBef>
              <a:spcAft>
                <a:spcPts val="0"/>
              </a:spcAft>
              <a:defRPr sz="1100" b="0" i="0">
                <a:solidFill>
                  <a:srgbClr val="333333"/>
                </a:solidFill>
                <a:latin typeface="Lato"/>
              </a:defRPr>
            </a:pPr>
            <a:r>
              <a:t>Local costmap mencakup area di sekitar robot dalam radius tertentu dan bergerak mengikuti robot (rolling window). Digunakan oleh DWA local planner untuk perencanaan gerak jangka pendek dan menghindari rintangan real-time.</a:t>
            </a:r>
          </a:p>
        </p:txBody>
      </p:sp>
      <p:sp>
        <p:nvSpPr>
          <p:cNvPr id="5" name="Rounded Rectangle 4"/>
          <p:cNvSpPr/>
          <p:nvPr/>
        </p:nvSpPr>
        <p:spPr>
          <a:xfrm>
            <a:off x="850392" y="1554480"/>
            <a:ext cx="5943600" cy="777240"/>
          </a:xfrm>
          <a:prstGeom prst="roundRect">
            <a:avLst/>
          </a:prstGeom>
          <a:solidFill>
            <a:srgbClr val="FFF8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50392" y="1554480"/>
            <a:ext cx="63500" cy="777240"/>
          </a:xfrm>
          <a:prstGeom prst="rect">
            <a:avLst/>
          </a:prstGeom>
          <a:solidFill>
            <a:srgbClr val="4A90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87552" y="1581912"/>
            <a:ext cx="2743200" cy="228600"/>
          </a:xfrm>
          <a:prstGeom prst="rect">
            <a:avLst/>
          </a:prstGeom>
          <a:noFill/>
        </p:spPr>
        <p:txBody>
          <a:bodyPr wrap="square"/>
          <a:lstStyle/>
          <a:p>
            <a:pPr algn="l">
              <a:lnSpc>
                <a:spcPts val="1560"/>
              </a:lnSpc>
              <a:spcBef>
                <a:spcPts val="0"/>
              </a:spcBef>
              <a:spcAft>
                <a:spcPts val="0"/>
              </a:spcAft>
              <a:defRPr sz="1300" b="1" i="0">
                <a:solidFill>
                  <a:srgbClr val="4A90D9"/>
                </a:solidFill>
                <a:latin typeface="Montserrat"/>
              </a:defRPr>
            </a:pPr>
            <a:r>
              <a:t>Rolling Window</a:t>
            </a:r>
          </a:p>
        </p:txBody>
      </p:sp>
      <p:sp>
        <p:nvSpPr>
          <p:cNvPr id="8" name="TextBox 7"/>
          <p:cNvSpPr txBox="1"/>
          <p:nvPr/>
        </p:nvSpPr>
        <p:spPr>
          <a:xfrm>
            <a:off x="987552" y="1810512"/>
            <a:ext cx="5669280" cy="457200"/>
          </a:xfrm>
          <a:prstGeom prst="rect">
            <a:avLst/>
          </a:prstGeom>
          <a:noFill/>
        </p:spPr>
        <p:txBody>
          <a:bodyPr wrap="square"/>
          <a:lstStyle/>
          <a:p>
            <a:pPr algn="l">
              <a:lnSpc>
                <a:spcPts val="1250"/>
              </a:lnSpc>
              <a:spcBef>
                <a:spcPts val="0"/>
              </a:spcBef>
              <a:spcAft>
                <a:spcPts val="0"/>
              </a:spcAft>
              <a:defRPr sz="1000" b="0" i="0">
                <a:solidFill>
                  <a:srgbClr val="333333"/>
                </a:solidFill>
                <a:latin typeface="Lato"/>
              </a:defRPr>
            </a:pPr>
            <a:r>
              <a:t>Grid bergerak mengikuti posisi robot. Origin digeser setiap kali robot berpindah sehingga robot selalu di dekat pusat. Sel baru yang muncul di area belum tercakup diisi dari data LiDAR.</a:t>
            </a:r>
          </a:p>
        </p:txBody>
      </p:sp>
      <p:sp>
        <p:nvSpPr>
          <p:cNvPr id="9" name="Rounded Rectangle 8"/>
          <p:cNvSpPr/>
          <p:nvPr/>
        </p:nvSpPr>
        <p:spPr>
          <a:xfrm>
            <a:off x="850392" y="2468880"/>
            <a:ext cx="5943600" cy="1234440"/>
          </a:xfrm>
          <a:prstGeom prst="roundRect">
            <a:avLst/>
          </a:prstGeom>
          <a:solidFill>
            <a:srgbClr val="FFF8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50392" y="2468880"/>
            <a:ext cx="63500" cy="1234440"/>
          </a:xfrm>
          <a:prstGeom prst="rect">
            <a:avLst/>
          </a:prstGeom>
          <a:solidFill>
            <a:srgbClr val="4A90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87552" y="2514600"/>
            <a:ext cx="2743200" cy="228600"/>
          </a:xfrm>
          <a:prstGeom prst="rect">
            <a:avLst/>
          </a:prstGeom>
          <a:noFill/>
        </p:spPr>
        <p:txBody>
          <a:bodyPr wrap="square"/>
          <a:lstStyle/>
          <a:p>
            <a:pPr algn="l">
              <a:lnSpc>
                <a:spcPts val="1560"/>
              </a:lnSpc>
              <a:spcBef>
                <a:spcPts val="0"/>
              </a:spcBef>
              <a:spcAft>
                <a:spcPts val="0"/>
              </a:spcAft>
              <a:defRPr sz="1300" b="1" i="0">
                <a:solidFill>
                  <a:srgbClr val="4A90D9"/>
                </a:solidFill>
                <a:latin typeface="Montserrat"/>
              </a:defRPr>
            </a:pPr>
            <a:r>
              <a:t>Obstacle Layer</a:t>
            </a:r>
          </a:p>
        </p:txBody>
      </p:sp>
      <p:sp>
        <p:nvSpPr>
          <p:cNvPr id="12" name="TextBox 11"/>
          <p:cNvSpPr txBox="1"/>
          <p:nvPr/>
        </p:nvSpPr>
        <p:spPr>
          <a:xfrm>
            <a:off x="987552" y="2743200"/>
            <a:ext cx="5669280" cy="822960"/>
          </a:xfrm>
          <a:prstGeom prst="rect">
            <a:avLst/>
          </a:prstGeom>
          <a:noFill/>
        </p:spPr>
        <p:txBody>
          <a:bodyPr wrap="square"/>
          <a:lstStyle/>
          <a:p>
            <a:pPr algn="l">
              <a:lnSpc>
                <a:spcPts val="1250"/>
              </a:lnSpc>
              <a:spcBef>
                <a:spcPts val="0"/>
              </a:spcBef>
              <a:spcAft>
                <a:spcPts val="0"/>
              </a:spcAft>
              <a:defRPr sz="1000" b="0" i="0">
                <a:solidFill>
                  <a:srgbClr val="333333"/>
                </a:solidFill>
                <a:latin typeface="Lato"/>
              </a:defRPr>
            </a:pPr>
            <a:r>
              <a:t>Rintangan dinamis dari data scan LiDAR real-time:</a:t>
            </a:r>
            <a:br/>
            <a:r>
              <a:t>• Konversi endpoint laser ke koordinat sensor</a:t>
            </a:r>
            <a:br/>
            <a:r>
              <a:t>• Transformasi ke frame peta</a:t>
            </a:r>
            <a:br/>
            <a:r>
              <a:t>• Markasi occupied → cost 254 (LETHAL)</a:t>
            </a:r>
            <a:br/>
            <a:r>
              <a:t>• Bresenham ray tracing untuk clear area antara robot dan endpoint (set cost = 0 di sepanjang ray)</a:t>
            </a:r>
          </a:p>
        </p:txBody>
      </p:sp>
      <p:sp>
        <p:nvSpPr>
          <p:cNvPr id="13" name="Rounded Rectangle 12"/>
          <p:cNvSpPr/>
          <p:nvPr/>
        </p:nvSpPr>
        <p:spPr>
          <a:xfrm>
            <a:off x="850392" y="3840480"/>
            <a:ext cx="5943600" cy="777240"/>
          </a:xfrm>
          <a:prstGeom prst="roundRect">
            <a:avLst/>
          </a:prstGeom>
          <a:solidFill>
            <a:srgbClr val="FFF8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50392" y="3840480"/>
            <a:ext cx="63500" cy="777240"/>
          </a:xfrm>
          <a:prstGeom prst="rect">
            <a:avLst/>
          </a:prstGeom>
          <a:solidFill>
            <a:srgbClr val="4A90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87552" y="3867912"/>
            <a:ext cx="2743200" cy="228600"/>
          </a:xfrm>
          <a:prstGeom prst="rect">
            <a:avLst/>
          </a:prstGeom>
          <a:noFill/>
        </p:spPr>
        <p:txBody>
          <a:bodyPr wrap="square"/>
          <a:lstStyle/>
          <a:p>
            <a:pPr algn="l">
              <a:lnSpc>
                <a:spcPts val="1560"/>
              </a:lnSpc>
              <a:spcBef>
                <a:spcPts val="0"/>
              </a:spcBef>
              <a:spcAft>
                <a:spcPts val="0"/>
              </a:spcAft>
              <a:defRPr sz="1300" b="1" i="0">
                <a:solidFill>
                  <a:srgbClr val="4A90D9"/>
                </a:solidFill>
                <a:latin typeface="Montserrat"/>
              </a:defRPr>
            </a:pPr>
            <a:r>
              <a:t>Inflation Layer</a:t>
            </a:r>
          </a:p>
        </p:txBody>
      </p:sp>
      <p:sp>
        <p:nvSpPr>
          <p:cNvPr id="16" name="TextBox 15"/>
          <p:cNvSpPr txBox="1"/>
          <p:nvPr/>
        </p:nvSpPr>
        <p:spPr>
          <a:xfrm>
            <a:off x="987552" y="4096512"/>
            <a:ext cx="5669280" cy="457200"/>
          </a:xfrm>
          <a:prstGeom prst="rect">
            <a:avLst/>
          </a:prstGeom>
          <a:noFill/>
        </p:spPr>
        <p:txBody>
          <a:bodyPr wrap="square"/>
          <a:lstStyle/>
          <a:p>
            <a:pPr algn="l">
              <a:lnSpc>
                <a:spcPts val="1250"/>
              </a:lnSpc>
              <a:spcBef>
                <a:spcPts val="0"/>
              </a:spcBef>
              <a:spcAft>
                <a:spcPts val="0"/>
              </a:spcAft>
              <a:defRPr sz="1000" b="0" i="0">
                <a:solidFill>
                  <a:srgbClr val="333333"/>
                </a:solidFill>
                <a:latin typeface="Lato"/>
              </a:defRPr>
            </a:pPr>
            <a:r>
              <a:t>Fungsi inflasi sama dengan global costmap, namun diterapkan pada obstacle dari scan LiDAR real-time, bukan dari peta tetap.</a:t>
            </a:r>
          </a:p>
        </p:txBody>
      </p:sp>
      <p:sp>
        <p:nvSpPr>
          <p:cNvPr id="17" name="Rounded Rectangle 16"/>
          <p:cNvSpPr/>
          <p:nvPr/>
        </p:nvSpPr>
        <p:spPr>
          <a:xfrm>
            <a:off x="6858000" y="1005840"/>
            <a:ext cx="4846320" cy="1371600"/>
          </a:xfrm>
          <a:prstGeom prst="roundRect">
            <a:avLst/>
          </a:prstGeom>
          <a:solidFill>
            <a:srgbClr val="FFF8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995160" y="1051560"/>
            <a:ext cx="4572000" cy="228600"/>
          </a:xfrm>
          <a:prstGeom prst="rect">
            <a:avLst/>
          </a:prstGeom>
          <a:noFill/>
        </p:spPr>
        <p:txBody>
          <a:bodyPr wrap="square"/>
          <a:lstStyle/>
          <a:p>
            <a:pPr algn="l">
              <a:lnSpc>
                <a:spcPts val="1560"/>
              </a:lnSpc>
              <a:spcBef>
                <a:spcPts val="0"/>
              </a:spcBef>
              <a:spcAft>
                <a:spcPts val="0"/>
              </a:spcAft>
              <a:defRPr sz="1300" b="1" i="0">
                <a:solidFill>
                  <a:srgbClr val="1A2B4C"/>
                </a:solidFill>
                <a:latin typeface="Montserrat"/>
              </a:defRPr>
            </a:pPr>
            <a:r>
              <a:t>Perbandingan Global vs Local</a:t>
            </a:r>
          </a:p>
        </p:txBody>
      </p:sp>
      <p:sp>
        <p:nvSpPr>
          <p:cNvPr id="19" name="TextBox 18"/>
          <p:cNvSpPr txBox="1"/>
          <p:nvPr/>
        </p:nvSpPr>
        <p:spPr>
          <a:xfrm>
            <a:off x="6995160" y="1325880"/>
            <a:ext cx="4572000" cy="914400"/>
          </a:xfrm>
          <a:prstGeom prst="rect">
            <a:avLst/>
          </a:prstGeom>
          <a:noFill/>
        </p:spPr>
        <p:txBody>
          <a:bodyPr wrap="square"/>
          <a:lstStyle/>
          <a:p>
            <a:pPr algn="l">
              <a:lnSpc>
                <a:spcPts val="1300"/>
              </a:lnSpc>
              <a:spcBef>
                <a:spcPts val="0"/>
              </a:spcBef>
              <a:spcAft>
                <a:spcPts val="0"/>
              </a:spcAft>
              <a:defRPr sz="1000" b="0" i="0">
                <a:solidFill>
                  <a:srgbClr val="333333"/>
                </a:solidFill>
                <a:latin typeface="Lato"/>
              </a:defRPr>
            </a:pPr>
            <a:r>
              <a:t>Global Costmap:</a:t>
            </a:r>
            <a:br/>
            <a:r>
              <a:t>• Sumber: peta tetap (static layer)</a:t>
            </a:r>
            <a:br/>
            <a:r>
              <a:t>• Cakupan: seluruh area</a:t>
            </a:r>
            <a:br/>
            <a:r>
              <a:t>• Statis selama navigasi</a:t>
            </a:r>
            <a:br/>
            <a:br/>
            <a:r>
              <a:t>Local Costmap:</a:t>
            </a:r>
            <a:br/>
            <a:r>
              <a:t>• Sumber: scan LiDAR real-time (obstacle layer)</a:t>
            </a:r>
            <a:br/>
            <a:r>
              <a:t>• Cakupan: rolling window di sekitar robot</a:t>
            </a:r>
            <a:br/>
            <a:r>
              <a:t>• Diperbarui setiap siklus kendali</a:t>
            </a:r>
          </a:p>
        </p:txBody>
      </p:sp>
      <p:sp>
        <p:nvSpPr>
          <p:cNvPr id="20" name="Rounded Rectangle 19"/>
          <p:cNvSpPr/>
          <p:nvPr/>
        </p:nvSpPr>
        <p:spPr>
          <a:xfrm>
            <a:off x="6858000" y="2606040"/>
            <a:ext cx="4846320" cy="2011680"/>
          </a:xfrm>
          <a:prstGeom prst="round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858000" y="2606040"/>
            <a:ext cx="50800" cy="2011680"/>
          </a:xfrm>
          <a:prstGeom prst="rect">
            <a:avLst/>
          </a:prstGeom>
          <a:solidFill>
            <a:srgbClr val="F08C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995160" y="2651760"/>
            <a:ext cx="4572000" cy="228600"/>
          </a:xfrm>
          <a:prstGeom prst="rect">
            <a:avLst/>
          </a:prstGeom>
          <a:noFill/>
        </p:spPr>
        <p:txBody>
          <a:bodyPr wrap="square"/>
          <a:lstStyle/>
          <a:p>
            <a:pPr algn="l">
              <a:lnSpc>
                <a:spcPts val="1439"/>
              </a:lnSpc>
              <a:spcBef>
                <a:spcPts val="0"/>
              </a:spcBef>
              <a:spcAft>
                <a:spcPts val="0"/>
              </a:spcAft>
              <a:defRPr sz="1200" b="1" i="0">
                <a:solidFill>
                  <a:srgbClr val="F08C2E"/>
                </a:solidFill>
                <a:latin typeface="Montserrat"/>
              </a:defRPr>
            </a:pPr>
            <a:r>
              <a:t>Bresenham Ray Tracing</a:t>
            </a:r>
          </a:p>
        </p:txBody>
      </p:sp>
      <p:sp>
        <p:nvSpPr>
          <p:cNvPr id="23" name="TextBox 22"/>
          <p:cNvSpPr txBox="1"/>
          <p:nvPr/>
        </p:nvSpPr>
        <p:spPr>
          <a:xfrm>
            <a:off x="6995160" y="2926080"/>
            <a:ext cx="4572000" cy="1554480"/>
          </a:xfrm>
          <a:prstGeom prst="rect">
            <a:avLst/>
          </a:prstGeom>
          <a:noFill/>
        </p:spPr>
        <p:txBody>
          <a:bodyPr wrap="square"/>
          <a:lstStyle/>
          <a:p>
            <a:pPr algn="l">
              <a:lnSpc>
                <a:spcPts val="1170"/>
              </a:lnSpc>
              <a:spcBef>
                <a:spcPts val="0"/>
              </a:spcBef>
              <a:spcAft>
                <a:spcPts val="0"/>
              </a:spcAft>
              <a:defRPr sz="900" b="0" i="0">
                <a:solidFill>
                  <a:srgbClr val="333333"/>
                </a:solidFill>
                <a:latin typeface="Lato"/>
              </a:defRPr>
            </a:pPr>
            <a:r>
              <a:t>Setiap sinar laser dari robot ke endpoint ditelusuri menggunakan algoritma Bresenham 2D:</a:t>
            </a:r>
            <a:br/>
            <a:br/>
            <a:r>
              <a:t>1. Inisialisasi error = Δx − Δy</a:t>
            </a:r>
            <a:br/>
            <a:r>
              <a:t>2. Iterasi sepanjang ray dari (x₀, y₀) ke (x₁, y₁)</a:t>
            </a:r>
            <a:br/>
            <a:r>
              <a:t>3. Setiap sel yang dilewati diberi cost = 0 (FREE_SPACE)</a:t>
            </a:r>
            <a:br/>
            <a:r>
              <a:t>4. Endpoint diberi cost = 254 (LETHAL_OBSTACLE)</a:t>
            </a:r>
            <a:br/>
            <a:br/>
            <a:r>
              <a:t>Memastikan area antara robot dan obstacle terdeteksi sebagai ruang bebas, bukan rintangan.</a:t>
            </a:r>
          </a:p>
        </p:txBody>
      </p:sp>
      <p:sp>
        <p:nvSpPr>
          <p:cNvPr id="24" name="TextBox 23"/>
          <p:cNvSpPr txBox="1"/>
          <p:nvPr/>
        </p:nvSpPr>
        <p:spPr>
          <a:xfrm>
            <a:off x="10884103" y="6446520"/>
            <a:ext cx="457200" cy="274320"/>
          </a:xfrm>
          <a:prstGeom prst="rect">
            <a:avLst/>
          </a:prstGeom>
          <a:noFill/>
        </p:spPr>
        <p:txBody>
          <a:bodyPr wrap="square"/>
          <a:lstStyle/>
          <a:p>
            <a:pPr algn="r">
              <a:lnSpc>
                <a:spcPts val="1200"/>
              </a:lnSpc>
              <a:spcBef>
                <a:spcPts val="0"/>
              </a:spcBef>
              <a:spcAft>
                <a:spcPts val="0"/>
              </a:spcAft>
              <a:defRPr sz="1000" b="0" i="0">
                <a:solidFill>
                  <a:srgbClr val="333333"/>
                </a:solidFill>
                <a:latin typeface="Lato"/>
              </a:defRPr>
            </a:pPr>
            <a: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gradFill rotWithShape="1">
          <a:gsLst>
            <a:gs pos="0">
              <a:srgbClr val="EDF4FC"/>
            </a:gs>
            <a:gs pos="100000">
              <a:srgbClr val="D2E3F3"/>
            </a:gs>
          </a:gsLst>
          <a:lin ang="8100000" scaled="0"/>
        </a:gradFill>
      </p:bgPr>
    </p:bg>
    <p:spTree>
      <p:nvGrpSpPr>
        <p:cNvPr id="1" name=""/>
        <p:cNvGrpSpPr/>
        <p:nvPr/>
      </p:nvGrpSpPr>
      <p:grpSpPr/>
      <p:sp>
        <p:nvSpPr>
          <p:cNvPr id="2" name="TextBox 1"/>
          <p:cNvSpPr txBox="1"/>
          <p:nvPr/>
        </p:nvSpPr>
        <p:spPr>
          <a:xfrm>
            <a:off x="850392" y="320040"/>
            <a:ext cx="6400800" cy="502920"/>
          </a:xfrm>
          <a:prstGeom prst="rect">
            <a:avLst/>
          </a:prstGeom>
          <a:noFill/>
        </p:spPr>
        <p:txBody>
          <a:bodyPr wrap="square"/>
          <a:lstStyle/>
          <a:p>
            <a:pPr algn="l">
              <a:lnSpc>
                <a:spcPts val="3120"/>
              </a:lnSpc>
              <a:spcBef>
                <a:spcPts val="0"/>
              </a:spcBef>
              <a:spcAft>
                <a:spcPts val="0"/>
              </a:spcAft>
              <a:defRPr sz="2600" b="1" i="0">
                <a:solidFill>
                  <a:srgbClr val="1A2B4C"/>
                </a:solidFill>
                <a:latin typeface="Montserrat"/>
              </a:defRPr>
            </a:pPr>
            <a:r>
              <a:t>TRANSITION COSTMAP — PERPINDAHAN ANTAR REGION</a:t>
            </a:r>
          </a:p>
        </p:txBody>
      </p:sp>
      <p:sp>
        <p:nvSpPr>
          <p:cNvPr id="3" name="Rectangle 2"/>
          <p:cNvSpPr/>
          <p:nvPr/>
        </p:nvSpPr>
        <p:spPr>
          <a:xfrm>
            <a:off x="850392" y="777240"/>
            <a:ext cx="2286000" cy="25400"/>
          </a:xfrm>
          <a:prstGeom prst="rect">
            <a:avLst/>
          </a:prstGeom>
          <a:solidFill>
            <a:srgbClr val="F08C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0392" y="1005840"/>
            <a:ext cx="5943600" cy="457200"/>
          </a:xfrm>
          <a:prstGeom prst="rect">
            <a:avLst/>
          </a:prstGeom>
          <a:noFill/>
        </p:spPr>
        <p:txBody>
          <a:bodyPr wrap="square"/>
          <a:lstStyle/>
          <a:p>
            <a:pPr algn="l">
              <a:lnSpc>
                <a:spcPts val="1485"/>
              </a:lnSpc>
              <a:spcBef>
                <a:spcPts val="0"/>
              </a:spcBef>
              <a:spcAft>
                <a:spcPts val="0"/>
              </a:spcAft>
              <a:defRPr sz="1100" b="0" i="0">
                <a:solidFill>
                  <a:srgbClr val="333333"/>
                </a:solidFill>
                <a:latin typeface="Lato"/>
              </a:defRPr>
            </a:pPr>
            <a:r>
              <a:t>Transition costmap menggabungkan data transisi dengan peta statis. Digunakan oleh region switcher untuk mendeteksi kapan robot memasuki perbatasan antar region dan melakukan lompatan pose.</a:t>
            </a:r>
          </a:p>
        </p:txBody>
      </p:sp>
      <p:sp>
        <p:nvSpPr>
          <p:cNvPr id="5" name="Rounded Rectangle 4"/>
          <p:cNvSpPr/>
          <p:nvPr/>
        </p:nvSpPr>
        <p:spPr>
          <a:xfrm>
            <a:off x="850392" y="1600200"/>
            <a:ext cx="5943600" cy="1188720"/>
          </a:xfrm>
          <a:prstGeom prst="roundRect">
            <a:avLst/>
          </a:prstGeom>
          <a:solidFill>
            <a:srgbClr val="FFF8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50392" y="1600200"/>
            <a:ext cx="63500" cy="1188720"/>
          </a:xfrm>
          <a:prstGeom prst="rect">
            <a:avLst/>
          </a:prstGeom>
          <a:solidFill>
            <a:srgbClr val="F08C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87552" y="1645920"/>
            <a:ext cx="2743200" cy="228600"/>
          </a:xfrm>
          <a:prstGeom prst="rect">
            <a:avLst/>
          </a:prstGeom>
          <a:noFill/>
        </p:spPr>
        <p:txBody>
          <a:bodyPr wrap="square"/>
          <a:lstStyle/>
          <a:p>
            <a:pPr algn="l">
              <a:lnSpc>
                <a:spcPts val="1560"/>
              </a:lnSpc>
              <a:spcBef>
                <a:spcPts val="0"/>
              </a:spcBef>
              <a:spcAft>
                <a:spcPts val="0"/>
              </a:spcAft>
              <a:defRPr sz="1300" b="1" i="0">
                <a:solidFill>
                  <a:srgbClr val="F08C2E"/>
                </a:solidFill>
                <a:latin typeface="Montserrat"/>
              </a:defRPr>
            </a:pPr>
            <a:r>
              <a:t>Transition Layer</a:t>
            </a:r>
          </a:p>
        </p:txBody>
      </p:sp>
      <p:sp>
        <p:nvSpPr>
          <p:cNvPr id="8" name="TextBox 7"/>
          <p:cNvSpPr txBox="1"/>
          <p:nvPr/>
        </p:nvSpPr>
        <p:spPr>
          <a:xfrm>
            <a:off x="987552" y="1920240"/>
            <a:ext cx="5669280" cy="731520"/>
          </a:xfrm>
          <a:prstGeom prst="rect">
            <a:avLst/>
          </a:prstGeom>
          <a:noFill/>
        </p:spPr>
        <p:txBody>
          <a:bodyPr wrap="square"/>
          <a:lstStyle/>
          <a:p>
            <a:pPr algn="l">
              <a:lnSpc>
                <a:spcPts val="1250"/>
              </a:lnSpc>
              <a:spcBef>
                <a:spcPts val="0"/>
              </a:spcBef>
              <a:spcAft>
                <a:spcPts val="0"/>
              </a:spcAft>
              <a:defRPr sz="1000" b="0" i="0">
                <a:solidFill>
                  <a:srgbClr val="333333"/>
                </a:solidFill>
                <a:latin typeface="Lato"/>
              </a:defRPr>
            </a:pPr>
            <a:r>
              <a:t>Dua jenis nilai cost yang saling melengkapi:</a:t>
            </a:r>
            <a:br/>
            <a:br/>
            <a:r>
              <a:t>T = 1   Garis transisi utama — tempat lompatan pose dieksekusi</a:t>
            </a:r>
            <a:br/>
            <a:r>
              <a:t>E = 5   Zona buffer — robot mendeteksi bahwa ia mendekati batas region dan mulai bersiap transisi</a:t>
            </a:r>
          </a:p>
        </p:txBody>
      </p:sp>
      <p:sp>
        <p:nvSpPr>
          <p:cNvPr id="9" name="Rounded Rectangle 8"/>
          <p:cNvSpPr/>
          <p:nvPr/>
        </p:nvSpPr>
        <p:spPr>
          <a:xfrm>
            <a:off x="850392" y="2926080"/>
            <a:ext cx="5943600" cy="548640"/>
          </a:xfrm>
          <a:prstGeom prst="roundRect">
            <a:avLst/>
          </a:prstGeom>
          <a:solidFill>
            <a:srgbClr val="FFF8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7552" y="2953512"/>
            <a:ext cx="5669280" cy="502920"/>
          </a:xfrm>
          <a:prstGeom prst="rect">
            <a:avLst/>
          </a:prstGeom>
          <a:noFill/>
        </p:spPr>
        <p:txBody>
          <a:bodyPr wrap="square"/>
          <a:lstStyle/>
          <a:p>
            <a:pPr algn="l">
              <a:lnSpc>
                <a:spcPts val="1125"/>
              </a:lnSpc>
              <a:spcBef>
                <a:spcPts val="0"/>
              </a:spcBef>
              <a:spcAft>
                <a:spcPts val="0"/>
              </a:spcAft>
              <a:defRPr sz="900" b="0" i="0">
                <a:solidFill>
                  <a:srgbClr val="333333"/>
                </a:solidFill>
                <a:latin typeface="Lato"/>
              </a:defRPr>
            </a:pPr>
            <a:r>
              <a:t>Region Switcher: Deteksi E=5 → Bersiap transisi  |  Deteksi T=1 → Eksekusi lompatan pose ke region tujuan</a:t>
            </a:r>
          </a:p>
        </p:txBody>
      </p:sp>
      <p:sp>
        <p:nvSpPr>
          <p:cNvPr id="11" name="Rounded Rectangle 10"/>
          <p:cNvSpPr/>
          <p:nvPr/>
        </p:nvSpPr>
        <p:spPr>
          <a:xfrm>
            <a:off x="850392" y="3611880"/>
            <a:ext cx="5943600" cy="457200"/>
          </a:xfrm>
          <a:prstGeom prst="roundRect">
            <a:avLst/>
          </a:prstGeom>
          <a:solidFill>
            <a:srgbClr val="FFF8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50392" y="3611880"/>
            <a:ext cx="50800" cy="457200"/>
          </a:xfrm>
          <a:prstGeom prst="rect">
            <a:avLst/>
          </a:prstGeom>
          <a:solidFill>
            <a:srgbClr val="4A90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87552" y="3639312"/>
            <a:ext cx="5669280" cy="411480"/>
          </a:xfrm>
          <a:prstGeom prst="rect">
            <a:avLst/>
          </a:prstGeom>
          <a:noFill/>
        </p:spPr>
        <p:txBody>
          <a:bodyPr wrap="square"/>
          <a:lstStyle/>
          <a:p>
            <a:pPr algn="l">
              <a:lnSpc>
                <a:spcPts val="1125"/>
              </a:lnSpc>
              <a:spcBef>
                <a:spcPts val="0"/>
              </a:spcBef>
              <a:spcAft>
                <a:spcPts val="0"/>
              </a:spcAft>
              <a:defRPr sz="900" b="0" i="0">
                <a:solidFill>
                  <a:srgbClr val="555555"/>
                </a:solidFill>
                <a:latin typeface="Lato"/>
              </a:defRPr>
            </a:pPr>
            <a:r>
              <a:t>Static Layer: obstacle tetap dari peta (sama dengan global costmap)</a:t>
            </a:r>
          </a:p>
        </p:txBody>
      </p:sp>
      <p:sp>
        <p:nvSpPr>
          <p:cNvPr id="14" name="Rounded Rectangle 13"/>
          <p:cNvSpPr/>
          <p:nvPr/>
        </p:nvSpPr>
        <p:spPr>
          <a:xfrm>
            <a:off x="6858000" y="1005840"/>
            <a:ext cx="4846320" cy="3017520"/>
          </a:xfrm>
          <a:prstGeom prst="roundRect">
            <a:avLst/>
          </a:prstGeom>
          <a:solidFill>
            <a:srgbClr val="FFF8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995160" y="1051560"/>
            <a:ext cx="4572000" cy="274320"/>
          </a:xfrm>
          <a:prstGeom prst="rect">
            <a:avLst/>
          </a:prstGeom>
          <a:noFill/>
        </p:spPr>
        <p:txBody>
          <a:bodyPr wrap="square"/>
          <a:lstStyle/>
          <a:p>
            <a:pPr algn="l">
              <a:lnSpc>
                <a:spcPts val="1560"/>
              </a:lnSpc>
              <a:spcBef>
                <a:spcPts val="0"/>
              </a:spcBef>
              <a:spcAft>
                <a:spcPts val="0"/>
              </a:spcAft>
              <a:defRPr sz="1300" b="1" i="0">
                <a:solidFill>
                  <a:srgbClr val="1A2B4C"/>
                </a:solidFill>
                <a:latin typeface="Montserrat"/>
              </a:defRPr>
            </a:pPr>
            <a:r>
              <a:t>BFS Expansion — Zona Buffer</a:t>
            </a:r>
          </a:p>
        </p:txBody>
      </p:sp>
      <p:sp>
        <p:nvSpPr>
          <p:cNvPr id="16" name="TextBox 15"/>
          <p:cNvSpPr txBox="1"/>
          <p:nvPr/>
        </p:nvSpPr>
        <p:spPr>
          <a:xfrm>
            <a:off x="6995160" y="1371600"/>
            <a:ext cx="4572000" cy="2560320"/>
          </a:xfrm>
          <a:prstGeom prst="rect">
            <a:avLst/>
          </a:prstGeom>
          <a:noFill/>
        </p:spPr>
        <p:txBody>
          <a:bodyPr wrap="square"/>
          <a:lstStyle/>
          <a:p>
            <a:pPr algn="l">
              <a:lnSpc>
                <a:spcPts val="1080"/>
              </a:lnSpc>
              <a:spcBef>
                <a:spcPts val="0"/>
              </a:spcBef>
              <a:spcAft>
                <a:spcPts val="0"/>
              </a:spcAft>
              <a:defRPr sz="900" b="0" i="0">
                <a:solidFill>
                  <a:srgbClr val="333333"/>
                </a:solidFill>
                <a:latin typeface="Lato"/>
              </a:defRPr>
            </a:pPr>
            <a:r>
              <a:t>Nilai E = 5 dihasilkan melalui ekspansi BFS dari sel-sel transisi (T = 1):</a:t>
            </a:r>
            <a:br/>
            <a:br/>
            <a:r>
              <a:t>1. Seed: seluruh sel dengan cost T = 1</a:t>
            </a:r>
            <a:br/>
            <a:r>
              <a:t>2. Ekspansi: BFS 4-way hingga radius R sel</a:t>
            </a:r>
            <a:br/>
            <a:r>
              <a:t>3. Setiap sel yang dikunjungi (bukan seed) → E = 5</a:t>
            </a:r>
            <a:br/>
            <a:r>
              <a:t>4. Berhenti jika bertemu LETHAL_OBSTACLE (254)</a:t>
            </a:r>
            <a:br/>
            <a:br/>
            <a:r>
              <a:t>Ilustrasi (R = 2):</a:t>
            </a:r>
            <a:br/>
            <a:r>
              <a:t>  Sebelum:        Setelah:</a:t>
            </a:r>
            <a:br/>
            <a:r>
              <a:t>  . . . . .      . E E E .</a:t>
            </a:r>
            <a:br/>
            <a:r>
              <a:t>  . . T . .      E E T E E</a:t>
            </a:r>
            <a:br/>
            <a:r>
              <a:t>  . T T T .  →  E T T T E</a:t>
            </a:r>
            <a:br/>
            <a:r>
              <a:t>  . . T . .      E E T E E</a:t>
            </a:r>
            <a:br/>
            <a:r>
              <a:t>  . . . . .      . E E E .</a:t>
            </a:r>
            <a:br/>
            <a:br/>
            <a:r>
              <a:t>T = 1 (garis transisi)   E = 5 (buffer deteksi)</a:t>
            </a:r>
          </a:p>
        </p:txBody>
      </p:sp>
      <p:sp>
        <p:nvSpPr>
          <p:cNvPr id="17" name="Rounded Rectangle 16"/>
          <p:cNvSpPr/>
          <p:nvPr/>
        </p:nvSpPr>
        <p:spPr>
          <a:xfrm>
            <a:off x="6858000" y="4251960"/>
            <a:ext cx="4846320" cy="502920"/>
          </a:xfrm>
          <a:prstGeom prst="round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858000" y="4251960"/>
            <a:ext cx="50800" cy="502920"/>
          </a:xfrm>
          <a:prstGeom prst="rect">
            <a:avLst/>
          </a:prstGeom>
          <a:solidFill>
            <a:srgbClr val="F08C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995160" y="4279392"/>
            <a:ext cx="4572000" cy="457200"/>
          </a:xfrm>
          <a:prstGeom prst="rect">
            <a:avLst/>
          </a:prstGeom>
          <a:noFill/>
        </p:spPr>
        <p:txBody>
          <a:bodyPr wrap="square"/>
          <a:lstStyle/>
          <a:p>
            <a:pPr algn="l">
              <a:lnSpc>
                <a:spcPts val="1125"/>
              </a:lnSpc>
              <a:spcBef>
                <a:spcPts val="0"/>
              </a:spcBef>
              <a:spcAft>
                <a:spcPts val="0"/>
              </a:spcAft>
              <a:defRPr sz="900" b="0" i="1">
                <a:solidFill>
                  <a:srgbClr val="333333"/>
                </a:solidFill>
                <a:latin typeface="Lato"/>
              </a:defRPr>
            </a:pPr>
            <a:r>
              <a:t>Transition costmap memungkinkan robot berpindah region secara mulus tanpa kehilangan informasi konektivitas antar lantai.</a:t>
            </a:r>
          </a:p>
        </p:txBody>
      </p:sp>
      <p:sp>
        <p:nvSpPr>
          <p:cNvPr id="20" name="TextBox 19"/>
          <p:cNvSpPr txBox="1"/>
          <p:nvPr/>
        </p:nvSpPr>
        <p:spPr>
          <a:xfrm>
            <a:off x="10884103" y="6446520"/>
            <a:ext cx="457200" cy="274320"/>
          </a:xfrm>
          <a:prstGeom prst="rect">
            <a:avLst/>
          </a:prstGeom>
          <a:noFill/>
        </p:spPr>
        <p:txBody>
          <a:bodyPr wrap="square"/>
          <a:lstStyle/>
          <a:p>
            <a:pPr algn="r">
              <a:lnSpc>
                <a:spcPts val="1200"/>
              </a:lnSpc>
              <a:spcBef>
                <a:spcPts val="0"/>
              </a:spcBef>
              <a:spcAft>
                <a:spcPts val="0"/>
              </a:spcAft>
              <a:defRPr sz="1000" b="0" i="0">
                <a:solidFill>
                  <a:srgbClr val="333333"/>
                </a:solidFill>
                <a:latin typeface="Lato"/>
              </a:defRPr>
            </a:pPr>
            <a: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gradFill rotWithShape="1">
          <a:gsLst>
            <a:gs pos="0">
              <a:srgbClr val="EDF4FC"/>
            </a:gs>
            <a:gs pos="100000">
              <a:srgbClr val="D2E3F3"/>
            </a:gs>
          </a:gsLst>
          <a:lin ang="8100000" scaled="0"/>
        </a:gradFill>
      </p:bgPr>
    </p:bg>
    <p:spTree>
      <p:nvGrpSpPr>
        <p:cNvPr id="1" name=""/>
        <p:cNvGrpSpPr/>
        <p:nvPr/>
      </p:nvGrpSpPr>
      <p:grpSpPr/>
      <p:sp>
        <p:nvSpPr>
          <p:cNvPr id="2" name="TextBox 1"/>
          <p:cNvSpPr txBox="1"/>
          <p:nvPr/>
        </p:nvSpPr>
        <p:spPr>
          <a:xfrm>
            <a:off x="850392" y="320040"/>
            <a:ext cx="6400800" cy="502920"/>
          </a:xfrm>
          <a:prstGeom prst="rect">
            <a:avLst/>
          </a:prstGeom>
          <a:noFill/>
        </p:spPr>
        <p:txBody>
          <a:bodyPr wrap="square"/>
          <a:lstStyle/>
          <a:p>
            <a:pPr algn="l">
              <a:lnSpc>
                <a:spcPts val="3120"/>
              </a:lnSpc>
              <a:spcBef>
                <a:spcPts val="0"/>
              </a:spcBef>
              <a:spcAft>
                <a:spcPts val="0"/>
              </a:spcAft>
              <a:defRPr sz="2600" b="1" i="0">
                <a:solidFill>
                  <a:srgbClr val="1A2B4C"/>
                </a:solidFill>
                <a:latin typeface="Montserrat"/>
              </a:defRPr>
            </a:pPr>
            <a:r>
              <a:t>LOKALISASI ICP &amp; REGION SWITCHER</a:t>
            </a:r>
          </a:p>
        </p:txBody>
      </p:sp>
      <p:sp>
        <p:nvSpPr>
          <p:cNvPr id="3" name="Rectangle 2"/>
          <p:cNvSpPr/>
          <p:nvPr/>
        </p:nvSpPr>
        <p:spPr>
          <a:xfrm>
            <a:off x="850392" y="777240"/>
            <a:ext cx="2286000" cy="25400"/>
          </a:xfrm>
          <a:prstGeom prst="rect">
            <a:avLst/>
          </a:prstGeom>
          <a:solidFill>
            <a:srgbClr val="F08C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0392" y="1005840"/>
            <a:ext cx="2743200" cy="274320"/>
          </a:xfrm>
          <a:prstGeom prst="rect">
            <a:avLst/>
          </a:prstGeom>
          <a:noFill/>
        </p:spPr>
        <p:txBody>
          <a:bodyPr wrap="square"/>
          <a:lstStyle/>
          <a:p>
            <a:pPr algn="l">
              <a:lnSpc>
                <a:spcPts val="1920"/>
              </a:lnSpc>
              <a:spcBef>
                <a:spcPts val="0"/>
              </a:spcBef>
              <a:spcAft>
                <a:spcPts val="0"/>
              </a:spcAft>
              <a:defRPr sz="1600" b="1" i="0">
                <a:solidFill>
                  <a:srgbClr val="003A70"/>
                </a:solidFill>
                <a:latin typeface="Montserrat"/>
              </a:defRPr>
            </a:pPr>
            <a:r>
              <a:t>ICP (Iterative Closest Point)</a:t>
            </a:r>
          </a:p>
        </p:txBody>
      </p:sp>
      <p:sp>
        <p:nvSpPr>
          <p:cNvPr id="5" name="Rounded Rectangle 4"/>
          <p:cNvSpPr/>
          <p:nvPr/>
        </p:nvSpPr>
        <p:spPr>
          <a:xfrm>
            <a:off x="850392" y="1417320"/>
            <a:ext cx="1828800" cy="1280160"/>
          </a:xfrm>
          <a:prstGeom prst="roundRect">
            <a:avLst/>
          </a:prstGeom>
          <a:solidFill>
            <a:srgbClr val="FFF8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96112" y="1463040"/>
            <a:ext cx="320040" cy="320040"/>
          </a:xfrm>
          <a:prstGeom prst="ellipse">
            <a:avLst/>
          </a:prstGeom>
          <a:solidFill>
            <a:srgbClr val="003A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defRPr>
            </a:pPr>
            <a:r>
              <a:t>1</a:t>
            </a:r>
          </a:p>
        </p:txBody>
      </p:sp>
      <p:sp>
        <p:nvSpPr>
          <p:cNvPr id="7" name="TextBox 6"/>
          <p:cNvSpPr txBox="1"/>
          <p:nvPr/>
        </p:nvSpPr>
        <p:spPr>
          <a:xfrm>
            <a:off x="1261872" y="1463040"/>
            <a:ext cx="1325880" cy="320040"/>
          </a:xfrm>
          <a:prstGeom prst="rect">
            <a:avLst/>
          </a:prstGeom>
          <a:noFill/>
        </p:spPr>
        <p:txBody>
          <a:bodyPr wrap="square"/>
          <a:lstStyle/>
          <a:p>
            <a:pPr algn="l">
              <a:lnSpc>
                <a:spcPts val="1200"/>
              </a:lnSpc>
              <a:spcBef>
                <a:spcPts val="0"/>
              </a:spcBef>
              <a:spcAft>
                <a:spcPts val="0"/>
              </a:spcAft>
              <a:defRPr sz="1000" b="1" i="0">
                <a:solidFill>
                  <a:srgbClr val="1A2B4C"/>
                </a:solidFill>
                <a:latin typeface="Montserrat"/>
              </a:defRPr>
            </a:pPr>
            <a:r>
              <a:t>Prekomputasi KNN</a:t>
            </a:r>
          </a:p>
        </p:txBody>
      </p:sp>
      <p:sp>
        <p:nvSpPr>
          <p:cNvPr id="8" name="TextBox 7"/>
          <p:cNvSpPr txBox="1"/>
          <p:nvPr/>
        </p:nvSpPr>
        <p:spPr>
          <a:xfrm>
            <a:off x="987552" y="1920240"/>
            <a:ext cx="1554480" cy="685800"/>
          </a:xfrm>
          <a:prstGeom prst="rect">
            <a:avLst/>
          </a:prstGeom>
          <a:noFill/>
        </p:spPr>
        <p:txBody>
          <a:bodyPr wrap="square"/>
          <a:lstStyle/>
          <a:p>
            <a:pPr algn="l">
              <a:lnSpc>
                <a:spcPts val="1215"/>
              </a:lnSpc>
              <a:spcBef>
                <a:spcPts val="0"/>
              </a:spcBef>
              <a:spcAft>
                <a:spcPts val="0"/>
              </a:spcAft>
              <a:defRPr sz="900" b="0" i="0">
                <a:solidFill>
                  <a:srgbClr val="333333"/>
                </a:solidFill>
                <a:latin typeface="Lato"/>
              </a:defRPr>
            </a:pPr>
            <a:r>
              <a:t>Hash table, lookup O(1)</a:t>
            </a:r>
            <a:br/>
            <a:r>
              <a:t>k=8, r=10</a:t>
            </a:r>
          </a:p>
        </p:txBody>
      </p:sp>
      <p:sp>
        <p:nvSpPr>
          <p:cNvPr id="9" name="Right Arrow 8"/>
          <p:cNvSpPr/>
          <p:nvPr/>
        </p:nvSpPr>
        <p:spPr>
          <a:xfrm>
            <a:off x="2688336" y="1920240"/>
            <a:ext cx="118872" cy="137160"/>
          </a:xfrm>
          <a:prstGeom prst="rightArrow">
            <a:avLst/>
          </a:prstGeom>
          <a:solidFill>
            <a:srgbClr val="F08C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2816352" y="1417320"/>
            <a:ext cx="1828800" cy="1280160"/>
          </a:xfrm>
          <a:prstGeom prst="roundRect">
            <a:avLst/>
          </a:prstGeom>
          <a:solidFill>
            <a:srgbClr val="FFF8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2862072" y="1463040"/>
            <a:ext cx="320040" cy="320040"/>
          </a:xfrm>
          <a:prstGeom prst="ellipse">
            <a:avLst/>
          </a:prstGeom>
          <a:solidFill>
            <a:srgbClr val="003A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defRPr>
            </a:pPr>
            <a:r>
              <a:t>2</a:t>
            </a:r>
          </a:p>
        </p:txBody>
      </p:sp>
      <p:sp>
        <p:nvSpPr>
          <p:cNvPr id="12" name="TextBox 11"/>
          <p:cNvSpPr txBox="1"/>
          <p:nvPr/>
        </p:nvSpPr>
        <p:spPr>
          <a:xfrm>
            <a:off x="3227832" y="1463040"/>
            <a:ext cx="1325880" cy="320040"/>
          </a:xfrm>
          <a:prstGeom prst="rect">
            <a:avLst/>
          </a:prstGeom>
          <a:noFill/>
        </p:spPr>
        <p:txBody>
          <a:bodyPr wrap="square"/>
          <a:lstStyle/>
          <a:p>
            <a:pPr algn="l">
              <a:lnSpc>
                <a:spcPts val="1200"/>
              </a:lnSpc>
              <a:spcBef>
                <a:spcPts val="0"/>
              </a:spcBef>
              <a:spcAft>
                <a:spcPts val="0"/>
              </a:spcAft>
              <a:defRPr sz="1000" b="1" i="0">
                <a:solidFill>
                  <a:srgbClr val="1A2B4C"/>
                </a:solidFill>
                <a:latin typeface="Montserrat"/>
              </a:defRPr>
            </a:pPr>
            <a:r>
              <a:t>Correspondence</a:t>
            </a:r>
            <a:br/>
            <a:r>
              <a:t>Matching</a:t>
            </a:r>
          </a:p>
        </p:txBody>
      </p:sp>
      <p:sp>
        <p:nvSpPr>
          <p:cNvPr id="13" name="TextBox 12"/>
          <p:cNvSpPr txBox="1"/>
          <p:nvPr/>
        </p:nvSpPr>
        <p:spPr>
          <a:xfrm>
            <a:off x="2953512" y="1920240"/>
            <a:ext cx="1554480" cy="685800"/>
          </a:xfrm>
          <a:prstGeom prst="rect">
            <a:avLst/>
          </a:prstGeom>
          <a:noFill/>
        </p:spPr>
        <p:txBody>
          <a:bodyPr wrap="square"/>
          <a:lstStyle/>
          <a:p>
            <a:pPr algn="l">
              <a:lnSpc>
                <a:spcPts val="1215"/>
              </a:lnSpc>
              <a:spcBef>
                <a:spcPts val="0"/>
              </a:spcBef>
              <a:spcAft>
                <a:spcPts val="0"/>
              </a:spcAft>
              <a:defRPr sz="900" b="0" i="0">
                <a:solidFill>
                  <a:srgbClr val="333333"/>
                </a:solidFill>
                <a:latin typeface="Lato"/>
              </a:defRPr>
            </a:pPr>
            <a:r>
              <a:t>Pasangkan titik</a:t>
            </a:r>
            <a:br/>
            <a:r>
              <a:t>scan → map</a:t>
            </a:r>
          </a:p>
        </p:txBody>
      </p:sp>
      <p:sp>
        <p:nvSpPr>
          <p:cNvPr id="14" name="Right Arrow 13"/>
          <p:cNvSpPr/>
          <p:nvPr/>
        </p:nvSpPr>
        <p:spPr>
          <a:xfrm>
            <a:off x="4654296" y="1920240"/>
            <a:ext cx="118872" cy="137160"/>
          </a:xfrm>
          <a:prstGeom prst="rightArrow">
            <a:avLst/>
          </a:prstGeom>
          <a:solidFill>
            <a:srgbClr val="F08C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782312" y="1417320"/>
            <a:ext cx="1828800" cy="1280160"/>
          </a:xfrm>
          <a:prstGeom prst="roundRect">
            <a:avLst/>
          </a:prstGeom>
          <a:solidFill>
            <a:srgbClr val="FFF8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4828032" y="1463040"/>
            <a:ext cx="320040" cy="320040"/>
          </a:xfrm>
          <a:prstGeom prst="ellipse">
            <a:avLst/>
          </a:prstGeom>
          <a:solidFill>
            <a:srgbClr val="003A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defRPr>
            </a:pPr>
            <a:r>
              <a:t>3</a:t>
            </a:r>
          </a:p>
        </p:txBody>
      </p:sp>
      <p:sp>
        <p:nvSpPr>
          <p:cNvPr id="17" name="TextBox 16"/>
          <p:cNvSpPr txBox="1"/>
          <p:nvPr/>
        </p:nvSpPr>
        <p:spPr>
          <a:xfrm>
            <a:off x="5193792" y="1463040"/>
            <a:ext cx="1325880" cy="320040"/>
          </a:xfrm>
          <a:prstGeom prst="rect">
            <a:avLst/>
          </a:prstGeom>
          <a:noFill/>
        </p:spPr>
        <p:txBody>
          <a:bodyPr wrap="square"/>
          <a:lstStyle/>
          <a:p>
            <a:pPr algn="l">
              <a:lnSpc>
                <a:spcPts val="1200"/>
              </a:lnSpc>
              <a:spcBef>
                <a:spcPts val="0"/>
              </a:spcBef>
              <a:spcAft>
                <a:spcPts val="0"/>
              </a:spcAft>
              <a:defRPr sz="1000" b="1" i="0">
                <a:solidFill>
                  <a:srgbClr val="1A2B4C"/>
                </a:solidFill>
                <a:latin typeface="Montserrat"/>
              </a:defRPr>
            </a:pPr>
            <a:r>
              <a:t>SVD Solver</a:t>
            </a:r>
          </a:p>
        </p:txBody>
      </p:sp>
      <p:sp>
        <p:nvSpPr>
          <p:cNvPr id="18" name="TextBox 17"/>
          <p:cNvSpPr txBox="1"/>
          <p:nvPr/>
        </p:nvSpPr>
        <p:spPr>
          <a:xfrm>
            <a:off x="4919472" y="1920240"/>
            <a:ext cx="1554480" cy="685800"/>
          </a:xfrm>
          <a:prstGeom prst="rect">
            <a:avLst/>
          </a:prstGeom>
          <a:noFill/>
        </p:spPr>
        <p:txBody>
          <a:bodyPr wrap="square"/>
          <a:lstStyle/>
          <a:p>
            <a:pPr algn="l">
              <a:lnSpc>
                <a:spcPts val="1215"/>
              </a:lnSpc>
              <a:spcBef>
                <a:spcPts val="0"/>
              </a:spcBef>
              <a:spcAft>
                <a:spcPts val="0"/>
              </a:spcAft>
              <a:defRPr sz="900" b="0" i="0">
                <a:solidFill>
                  <a:srgbClr val="333333"/>
                </a:solidFill>
                <a:latin typeface="Lato"/>
              </a:defRPr>
            </a:pPr>
            <a:r>
              <a:t>Estimasi rotasi &amp;</a:t>
            </a:r>
            <a:br/>
            <a:r>
              <a:t>translasi optimal</a:t>
            </a:r>
          </a:p>
        </p:txBody>
      </p:sp>
      <p:sp>
        <p:nvSpPr>
          <p:cNvPr id="19" name="Right Arrow 18"/>
          <p:cNvSpPr/>
          <p:nvPr/>
        </p:nvSpPr>
        <p:spPr>
          <a:xfrm>
            <a:off x="6620256" y="1920240"/>
            <a:ext cx="118872" cy="137160"/>
          </a:xfrm>
          <a:prstGeom prst="rightArrow">
            <a:avLst/>
          </a:prstGeom>
          <a:solidFill>
            <a:srgbClr val="F08C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748272" y="1417320"/>
            <a:ext cx="1828800" cy="1280160"/>
          </a:xfrm>
          <a:prstGeom prst="roundRect">
            <a:avLst/>
          </a:prstGeom>
          <a:solidFill>
            <a:srgbClr val="FFF8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793992" y="1463040"/>
            <a:ext cx="320040" cy="320040"/>
          </a:xfrm>
          <a:prstGeom prst="ellipse">
            <a:avLst/>
          </a:prstGeom>
          <a:solidFill>
            <a:srgbClr val="003A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defRPr>
            </a:pPr>
            <a:r>
              <a:t>4</a:t>
            </a:r>
          </a:p>
        </p:txBody>
      </p:sp>
      <p:sp>
        <p:nvSpPr>
          <p:cNvPr id="22" name="TextBox 21"/>
          <p:cNvSpPr txBox="1"/>
          <p:nvPr/>
        </p:nvSpPr>
        <p:spPr>
          <a:xfrm>
            <a:off x="7159752" y="1463040"/>
            <a:ext cx="1325880" cy="320040"/>
          </a:xfrm>
          <a:prstGeom prst="rect">
            <a:avLst/>
          </a:prstGeom>
          <a:noFill/>
        </p:spPr>
        <p:txBody>
          <a:bodyPr wrap="square"/>
          <a:lstStyle/>
          <a:p>
            <a:pPr algn="l">
              <a:lnSpc>
                <a:spcPts val="1200"/>
              </a:lnSpc>
              <a:spcBef>
                <a:spcPts val="0"/>
              </a:spcBef>
              <a:spcAft>
                <a:spcPts val="0"/>
              </a:spcAft>
              <a:defRPr sz="1000" b="1" i="0">
                <a:solidFill>
                  <a:srgbClr val="1A2B4C"/>
                </a:solidFill>
                <a:latin typeface="Montserrat"/>
              </a:defRPr>
            </a:pPr>
            <a:r>
              <a:t>Transformasi</a:t>
            </a:r>
          </a:p>
        </p:txBody>
      </p:sp>
      <p:sp>
        <p:nvSpPr>
          <p:cNvPr id="23" name="TextBox 22"/>
          <p:cNvSpPr txBox="1"/>
          <p:nvPr/>
        </p:nvSpPr>
        <p:spPr>
          <a:xfrm>
            <a:off x="6885432" y="1920240"/>
            <a:ext cx="1554480" cy="685800"/>
          </a:xfrm>
          <a:prstGeom prst="rect">
            <a:avLst/>
          </a:prstGeom>
          <a:noFill/>
        </p:spPr>
        <p:txBody>
          <a:bodyPr wrap="square"/>
          <a:lstStyle/>
          <a:p>
            <a:pPr algn="l">
              <a:lnSpc>
                <a:spcPts val="1215"/>
              </a:lnSpc>
              <a:spcBef>
                <a:spcPts val="0"/>
              </a:spcBef>
              <a:spcAft>
                <a:spcPts val="0"/>
              </a:spcAft>
              <a:defRPr sz="900" b="0" i="0">
                <a:solidFill>
                  <a:srgbClr val="333333"/>
                </a:solidFill>
                <a:latin typeface="Lato"/>
              </a:defRPr>
            </a:pPr>
            <a:r>
              <a:t>Perbarui pose robot</a:t>
            </a:r>
            <a:br/>
            <a:r>
              <a:t>(R, t)</a:t>
            </a:r>
          </a:p>
        </p:txBody>
      </p:sp>
      <p:sp>
        <p:nvSpPr>
          <p:cNvPr id="24" name="TextBox 23"/>
          <p:cNvSpPr txBox="1"/>
          <p:nvPr/>
        </p:nvSpPr>
        <p:spPr>
          <a:xfrm>
            <a:off x="850392" y="2880360"/>
            <a:ext cx="10515600" cy="228600"/>
          </a:xfrm>
          <a:prstGeom prst="rect">
            <a:avLst/>
          </a:prstGeom>
          <a:noFill/>
        </p:spPr>
        <p:txBody>
          <a:bodyPr wrap="square"/>
          <a:lstStyle/>
          <a:p>
            <a:pPr algn="l">
              <a:lnSpc>
                <a:spcPts val="1200"/>
              </a:lnSpc>
              <a:spcBef>
                <a:spcPts val="0"/>
              </a:spcBef>
              <a:spcAft>
                <a:spcPts val="0"/>
              </a:spcAft>
              <a:defRPr sz="1000" b="0" i="1">
                <a:solidFill>
                  <a:srgbClr val="333333"/>
                </a:solidFill>
                <a:latin typeface="Lato"/>
              </a:defRPr>
            </a:pPr>
            <a:r>
              <a:t>Parameter: max_iter=50, k=8, r=10, t_norm=0.01m, r_norm=0.01rad, s=2</a:t>
            </a:r>
          </a:p>
        </p:txBody>
      </p:sp>
      <p:sp>
        <p:nvSpPr>
          <p:cNvPr id="25" name="TextBox 24"/>
          <p:cNvSpPr txBox="1"/>
          <p:nvPr/>
        </p:nvSpPr>
        <p:spPr>
          <a:xfrm>
            <a:off x="850392" y="3291840"/>
            <a:ext cx="3657600" cy="274320"/>
          </a:xfrm>
          <a:prstGeom prst="rect">
            <a:avLst/>
          </a:prstGeom>
          <a:noFill/>
        </p:spPr>
        <p:txBody>
          <a:bodyPr wrap="square"/>
          <a:lstStyle/>
          <a:p>
            <a:pPr algn="l">
              <a:lnSpc>
                <a:spcPts val="1920"/>
              </a:lnSpc>
              <a:spcBef>
                <a:spcPts val="0"/>
              </a:spcBef>
              <a:spcAft>
                <a:spcPts val="0"/>
              </a:spcAft>
              <a:defRPr sz="1600" b="1" i="0">
                <a:solidFill>
                  <a:srgbClr val="F08C2E"/>
                </a:solidFill>
                <a:latin typeface="Montserrat"/>
              </a:defRPr>
            </a:pPr>
            <a:r>
              <a:t>Region Switcher &amp; Zona Transisi</a:t>
            </a:r>
          </a:p>
        </p:txBody>
      </p:sp>
      <p:sp>
        <p:nvSpPr>
          <p:cNvPr id="26" name="Rounded Rectangle 25"/>
          <p:cNvSpPr/>
          <p:nvPr/>
        </p:nvSpPr>
        <p:spPr>
          <a:xfrm>
            <a:off x="1307592" y="3749039"/>
            <a:ext cx="2560320" cy="1005840"/>
          </a:xfrm>
          <a:prstGeom prst="roundRect">
            <a:avLst/>
          </a:prstGeom>
          <a:solidFill>
            <a:srgbClr val="FFF8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399032" y="3840479"/>
            <a:ext cx="2377440" cy="274320"/>
          </a:xfrm>
          <a:prstGeom prst="rect">
            <a:avLst/>
          </a:prstGeom>
          <a:noFill/>
        </p:spPr>
        <p:txBody>
          <a:bodyPr wrap="square"/>
          <a:lstStyle/>
          <a:p>
            <a:pPr algn="ctr">
              <a:lnSpc>
                <a:spcPts val="1680"/>
              </a:lnSpc>
              <a:spcBef>
                <a:spcPts val="0"/>
              </a:spcBef>
              <a:spcAft>
                <a:spcPts val="0"/>
              </a:spcAft>
              <a:defRPr sz="1400" b="1" i="0">
                <a:solidFill>
                  <a:srgbClr val="003A70"/>
                </a:solidFill>
                <a:latin typeface="Montserrat"/>
              </a:defRPr>
            </a:pPr>
            <a:r>
              <a:t>Region A</a:t>
            </a:r>
          </a:p>
        </p:txBody>
      </p:sp>
      <p:sp>
        <p:nvSpPr>
          <p:cNvPr id="28" name="TextBox 27"/>
          <p:cNvSpPr txBox="1"/>
          <p:nvPr/>
        </p:nvSpPr>
        <p:spPr>
          <a:xfrm>
            <a:off x="1399032" y="4160519"/>
            <a:ext cx="2377440" cy="457200"/>
          </a:xfrm>
          <a:prstGeom prst="rect">
            <a:avLst/>
          </a:prstGeom>
          <a:noFill/>
        </p:spPr>
        <p:txBody>
          <a:bodyPr wrap="square"/>
          <a:lstStyle/>
          <a:p>
            <a:pPr algn="ctr">
              <a:lnSpc>
                <a:spcPts val="1300"/>
              </a:lnSpc>
              <a:spcBef>
                <a:spcPts val="0"/>
              </a:spcBef>
              <a:spcAft>
                <a:spcPts val="0"/>
              </a:spcAft>
              <a:defRPr sz="1000" b="0" i="0">
                <a:solidFill>
                  <a:srgbClr val="555555"/>
                </a:solidFill>
                <a:latin typeface="Lato"/>
              </a:defRPr>
            </a:pPr>
            <a:r>
              <a:t>Peta 2D region</a:t>
            </a:r>
            <a:br/>
            <a:r>
              <a:t>Navigasi di dalam region</a:t>
            </a:r>
          </a:p>
        </p:txBody>
      </p:sp>
      <p:sp>
        <p:nvSpPr>
          <p:cNvPr id="29" name="Rounded Rectangle 28"/>
          <p:cNvSpPr/>
          <p:nvPr/>
        </p:nvSpPr>
        <p:spPr>
          <a:xfrm>
            <a:off x="4782312" y="3749039"/>
            <a:ext cx="2560320" cy="1005840"/>
          </a:xfrm>
          <a:prstGeom prst="roundRect">
            <a:avLst/>
          </a:prstGeom>
          <a:solidFill>
            <a:srgbClr val="FFF8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873752" y="3840479"/>
            <a:ext cx="2377440" cy="274320"/>
          </a:xfrm>
          <a:prstGeom prst="rect">
            <a:avLst/>
          </a:prstGeom>
          <a:noFill/>
        </p:spPr>
        <p:txBody>
          <a:bodyPr wrap="square"/>
          <a:lstStyle/>
          <a:p>
            <a:pPr algn="ctr">
              <a:lnSpc>
                <a:spcPts val="1680"/>
              </a:lnSpc>
              <a:spcBef>
                <a:spcPts val="0"/>
              </a:spcBef>
              <a:spcAft>
                <a:spcPts val="0"/>
              </a:spcAft>
              <a:defRPr sz="1400" b="1" i="0">
                <a:solidFill>
                  <a:srgbClr val="003A70"/>
                </a:solidFill>
                <a:latin typeface="Montserrat"/>
              </a:defRPr>
            </a:pPr>
            <a:r>
              <a:t>Region B</a:t>
            </a:r>
          </a:p>
        </p:txBody>
      </p:sp>
      <p:sp>
        <p:nvSpPr>
          <p:cNvPr id="31" name="TextBox 30"/>
          <p:cNvSpPr txBox="1"/>
          <p:nvPr/>
        </p:nvSpPr>
        <p:spPr>
          <a:xfrm>
            <a:off x="4873752" y="4160519"/>
            <a:ext cx="2377440" cy="457200"/>
          </a:xfrm>
          <a:prstGeom prst="rect">
            <a:avLst/>
          </a:prstGeom>
          <a:noFill/>
        </p:spPr>
        <p:txBody>
          <a:bodyPr wrap="square"/>
          <a:lstStyle/>
          <a:p>
            <a:pPr algn="ctr">
              <a:lnSpc>
                <a:spcPts val="1300"/>
              </a:lnSpc>
              <a:spcBef>
                <a:spcPts val="0"/>
              </a:spcBef>
              <a:spcAft>
                <a:spcPts val="0"/>
              </a:spcAft>
              <a:defRPr sz="1000" b="0" i="0">
                <a:solidFill>
                  <a:srgbClr val="555555"/>
                </a:solidFill>
                <a:latin typeface="Lato"/>
              </a:defRPr>
            </a:pPr>
            <a:r>
              <a:t>Peta 2D region</a:t>
            </a:r>
            <a:br/>
            <a:r>
              <a:t>Navigasi di dalam region</a:t>
            </a:r>
          </a:p>
        </p:txBody>
      </p:sp>
      <p:sp>
        <p:nvSpPr>
          <p:cNvPr id="32" name="Rounded Rectangle 31"/>
          <p:cNvSpPr/>
          <p:nvPr/>
        </p:nvSpPr>
        <p:spPr>
          <a:xfrm>
            <a:off x="8257032" y="3749039"/>
            <a:ext cx="2560320" cy="1005840"/>
          </a:xfrm>
          <a:prstGeom prst="roundRect">
            <a:avLst/>
          </a:prstGeom>
          <a:solidFill>
            <a:srgbClr val="FFF8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348472" y="3840479"/>
            <a:ext cx="2377440" cy="274320"/>
          </a:xfrm>
          <a:prstGeom prst="rect">
            <a:avLst/>
          </a:prstGeom>
          <a:noFill/>
        </p:spPr>
        <p:txBody>
          <a:bodyPr wrap="square"/>
          <a:lstStyle/>
          <a:p>
            <a:pPr algn="ctr">
              <a:lnSpc>
                <a:spcPts val="1680"/>
              </a:lnSpc>
              <a:spcBef>
                <a:spcPts val="0"/>
              </a:spcBef>
              <a:spcAft>
                <a:spcPts val="0"/>
              </a:spcAft>
              <a:defRPr sz="1400" b="1" i="0">
                <a:solidFill>
                  <a:srgbClr val="003A70"/>
                </a:solidFill>
                <a:latin typeface="Montserrat"/>
              </a:defRPr>
            </a:pPr>
            <a:r>
              <a:t>Region C</a:t>
            </a:r>
          </a:p>
        </p:txBody>
      </p:sp>
      <p:sp>
        <p:nvSpPr>
          <p:cNvPr id="34" name="TextBox 33"/>
          <p:cNvSpPr txBox="1"/>
          <p:nvPr/>
        </p:nvSpPr>
        <p:spPr>
          <a:xfrm>
            <a:off x="8348472" y="4160519"/>
            <a:ext cx="2377440" cy="457200"/>
          </a:xfrm>
          <a:prstGeom prst="rect">
            <a:avLst/>
          </a:prstGeom>
          <a:noFill/>
        </p:spPr>
        <p:txBody>
          <a:bodyPr wrap="square"/>
          <a:lstStyle/>
          <a:p>
            <a:pPr algn="ctr">
              <a:lnSpc>
                <a:spcPts val="1300"/>
              </a:lnSpc>
              <a:spcBef>
                <a:spcPts val="0"/>
              </a:spcBef>
              <a:spcAft>
                <a:spcPts val="0"/>
              </a:spcAft>
              <a:defRPr sz="1000" b="0" i="0">
                <a:solidFill>
                  <a:srgbClr val="555555"/>
                </a:solidFill>
                <a:latin typeface="Lato"/>
              </a:defRPr>
            </a:pPr>
            <a:r>
              <a:t>Peta 2D region</a:t>
            </a:r>
            <a:br/>
            <a:r>
              <a:t>Navigasi di dalam region</a:t>
            </a:r>
          </a:p>
        </p:txBody>
      </p:sp>
      <p:sp>
        <p:nvSpPr>
          <p:cNvPr id="35" name="Right Arrow 34"/>
          <p:cNvSpPr/>
          <p:nvPr/>
        </p:nvSpPr>
        <p:spPr>
          <a:xfrm>
            <a:off x="4050792" y="4114799"/>
            <a:ext cx="502920" cy="228600"/>
          </a:xfrm>
          <a:prstGeom prst="rightArrow">
            <a:avLst/>
          </a:prstGeom>
          <a:solidFill>
            <a:srgbClr val="F08C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959352" y="4389119"/>
            <a:ext cx="685800" cy="228600"/>
          </a:xfrm>
          <a:prstGeom prst="rect">
            <a:avLst/>
          </a:prstGeom>
          <a:noFill/>
        </p:spPr>
        <p:txBody>
          <a:bodyPr wrap="square"/>
          <a:lstStyle/>
          <a:p>
            <a:pPr algn="ctr">
              <a:lnSpc>
                <a:spcPts val="960"/>
              </a:lnSpc>
              <a:spcBef>
                <a:spcPts val="0"/>
              </a:spcBef>
              <a:spcAft>
                <a:spcPts val="0"/>
              </a:spcAft>
              <a:defRPr sz="800" b="1" i="0">
                <a:solidFill>
                  <a:srgbClr val="F08C2E"/>
                </a:solidFill>
                <a:latin typeface="Lato"/>
              </a:defRPr>
            </a:pPr>
            <a:r>
              <a:t>Transisi</a:t>
            </a:r>
          </a:p>
        </p:txBody>
      </p:sp>
      <p:sp>
        <p:nvSpPr>
          <p:cNvPr id="37" name="Right Arrow 36"/>
          <p:cNvSpPr/>
          <p:nvPr/>
        </p:nvSpPr>
        <p:spPr>
          <a:xfrm>
            <a:off x="7525512" y="4114799"/>
            <a:ext cx="502920" cy="228600"/>
          </a:xfrm>
          <a:prstGeom prst="rightArrow">
            <a:avLst/>
          </a:prstGeom>
          <a:solidFill>
            <a:srgbClr val="F08C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434072" y="4389119"/>
            <a:ext cx="685800" cy="228600"/>
          </a:xfrm>
          <a:prstGeom prst="rect">
            <a:avLst/>
          </a:prstGeom>
          <a:noFill/>
        </p:spPr>
        <p:txBody>
          <a:bodyPr wrap="square"/>
          <a:lstStyle/>
          <a:p>
            <a:pPr algn="ctr">
              <a:lnSpc>
                <a:spcPts val="960"/>
              </a:lnSpc>
              <a:spcBef>
                <a:spcPts val="0"/>
              </a:spcBef>
              <a:spcAft>
                <a:spcPts val="0"/>
              </a:spcAft>
              <a:defRPr sz="800" b="1" i="0">
                <a:solidFill>
                  <a:srgbClr val="F08C2E"/>
                </a:solidFill>
                <a:latin typeface="Lato"/>
              </a:defRPr>
            </a:pPr>
            <a:r>
              <a:t>Transisi</a:t>
            </a:r>
          </a:p>
        </p:txBody>
      </p:sp>
      <p:sp>
        <p:nvSpPr>
          <p:cNvPr id="39" name="Rounded Rectangle 38"/>
          <p:cNvSpPr/>
          <p:nvPr/>
        </p:nvSpPr>
        <p:spPr>
          <a:xfrm>
            <a:off x="850392" y="5029200"/>
            <a:ext cx="10515600" cy="548640"/>
          </a:xfrm>
          <a:prstGeom prst="round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850392" y="5029200"/>
            <a:ext cx="50800" cy="548640"/>
          </a:xfrm>
          <a:prstGeom prst="rect">
            <a:avLst/>
          </a:prstGeom>
          <a:solidFill>
            <a:srgbClr val="F08C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87552" y="5047488"/>
            <a:ext cx="10241280" cy="502920"/>
          </a:xfrm>
          <a:prstGeom prst="rect">
            <a:avLst/>
          </a:prstGeom>
          <a:noFill/>
        </p:spPr>
        <p:txBody>
          <a:bodyPr wrap="square"/>
          <a:lstStyle/>
          <a:p>
            <a:pPr algn="l">
              <a:lnSpc>
                <a:spcPts val="1430"/>
              </a:lnSpc>
              <a:spcBef>
                <a:spcPts val="0"/>
              </a:spcBef>
              <a:spcAft>
                <a:spcPts val="0"/>
              </a:spcAft>
              <a:defRPr sz="1100" b="0" i="0">
                <a:solidFill>
                  <a:srgbClr val="333333"/>
                </a:solidFill>
                <a:latin typeface="Lato"/>
              </a:defRPr>
            </a:pPr>
            <a:r>
              <a:t>Zona transisi memerlukan radius minimal 0.26 m agar robot dapat berpindah region dengan aman sebelum kualitas lokalisasi ICP menurun signifikan.</a:t>
            </a:r>
          </a:p>
        </p:txBody>
      </p:sp>
      <p:sp>
        <p:nvSpPr>
          <p:cNvPr id="42" name="TextBox 41"/>
          <p:cNvSpPr txBox="1"/>
          <p:nvPr/>
        </p:nvSpPr>
        <p:spPr>
          <a:xfrm>
            <a:off x="10884103" y="6446520"/>
            <a:ext cx="457200" cy="274320"/>
          </a:xfrm>
          <a:prstGeom prst="rect">
            <a:avLst/>
          </a:prstGeom>
          <a:noFill/>
        </p:spPr>
        <p:txBody>
          <a:bodyPr wrap="square"/>
          <a:lstStyle/>
          <a:p>
            <a:pPr algn="r">
              <a:lnSpc>
                <a:spcPts val="1200"/>
              </a:lnSpc>
              <a:spcBef>
                <a:spcPts val="0"/>
              </a:spcBef>
              <a:spcAft>
                <a:spcPts val="0"/>
              </a:spcAft>
              <a:defRPr sz="1000" b="0" i="0">
                <a:solidFill>
                  <a:srgbClr val="333333"/>
                </a:solidFill>
                <a:latin typeface="Lato"/>
              </a:defRPr>
            </a:pPr>
            <a: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gradFill rotWithShape="1">
          <a:gsLst>
            <a:gs pos="0">
              <a:srgbClr val="EDF4FC"/>
            </a:gs>
            <a:gs pos="100000">
              <a:srgbClr val="D2E3F3"/>
            </a:gs>
          </a:gsLst>
          <a:lin ang="8100000" scaled="0"/>
        </a:gradFill>
      </p:bgPr>
    </p:bg>
    <p:spTree>
      <p:nvGrpSpPr>
        <p:cNvPr id="1" name=""/>
        <p:cNvGrpSpPr/>
        <p:nvPr/>
      </p:nvGrpSpPr>
      <p:grpSpPr/>
      <p:sp>
        <p:nvSpPr>
          <p:cNvPr id="2" name="TextBox 1"/>
          <p:cNvSpPr txBox="1"/>
          <p:nvPr/>
        </p:nvSpPr>
        <p:spPr>
          <a:xfrm>
            <a:off x="850392" y="320040"/>
            <a:ext cx="6400800" cy="502920"/>
          </a:xfrm>
          <a:prstGeom prst="rect">
            <a:avLst/>
          </a:prstGeom>
          <a:noFill/>
        </p:spPr>
        <p:txBody>
          <a:bodyPr wrap="square"/>
          <a:lstStyle/>
          <a:p>
            <a:pPr algn="l">
              <a:lnSpc>
                <a:spcPts val="3120"/>
              </a:lnSpc>
              <a:spcBef>
                <a:spcPts val="0"/>
              </a:spcBef>
              <a:spcAft>
                <a:spcPts val="0"/>
              </a:spcAft>
              <a:defRPr sz="2600" b="1" i="0">
                <a:solidFill>
                  <a:srgbClr val="1A2B4C"/>
                </a:solidFill>
                <a:latin typeface="Montserrat"/>
              </a:defRPr>
            </a:pPr>
            <a:r>
              <a:t>PATH PLANNING — A* GLOBAL PLANNER</a:t>
            </a:r>
          </a:p>
        </p:txBody>
      </p:sp>
      <p:sp>
        <p:nvSpPr>
          <p:cNvPr id="3" name="Rectangle 2"/>
          <p:cNvSpPr/>
          <p:nvPr/>
        </p:nvSpPr>
        <p:spPr>
          <a:xfrm>
            <a:off x="850392" y="777240"/>
            <a:ext cx="2286000" cy="25400"/>
          </a:xfrm>
          <a:prstGeom prst="rect">
            <a:avLst/>
          </a:prstGeom>
          <a:solidFill>
            <a:srgbClr val="F08C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0392" y="1005840"/>
            <a:ext cx="2743200" cy="274320"/>
          </a:xfrm>
          <a:prstGeom prst="rect">
            <a:avLst/>
          </a:prstGeom>
          <a:noFill/>
        </p:spPr>
        <p:txBody>
          <a:bodyPr wrap="square"/>
          <a:lstStyle/>
          <a:p>
            <a:pPr algn="l">
              <a:lnSpc>
                <a:spcPts val="2160"/>
              </a:lnSpc>
              <a:spcBef>
                <a:spcPts val="0"/>
              </a:spcBef>
              <a:spcAft>
                <a:spcPts val="0"/>
              </a:spcAft>
              <a:defRPr sz="1800" b="1" i="0">
                <a:solidFill>
                  <a:srgbClr val="003A70"/>
                </a:solidFill>
                <a:latin typeface="Montserrat"/>
              </a:defRPr>
            </a:pPr>
            <a:r>
              <a:t>Algoritma A*</a:t>
            </a:r>
          </a:p>
        </p:txBody>
      </p:sp>
      <p:sp>
        <p:nvSpPr>
          <p:cNvPr id="5" name="Rounded Rectangle 4"/>
          <p:cNvSpPr/>
          <p:nvPr/>
        </p:nvSpPr>
        <p:spPr>
          <a:xfrm>
            <a:off x="758952" y="1325880"/>
            <a:ext cx="5029200" cy="1920240"/>
          </a:xfrm>
          <a:prstGeom prst="roundRect">
            <a:avLst/>
          </a:prstGeom>
          <a:solidFill>
            <a:srgbClr val="FFF8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0392" y="1371600"/>
            <a:ext cx="4846320" cy="1828800"/>
          </a:xfrm>
          <a:prstGeom prst="rect">
            <a:avLst/>
          </a:prstGeom>
          <a:noFill/>
        </p:spPr>
        <p:txBody>
          <a:bodyPr wrap="square"/>
          <a:lstStyle/>
          <a:p>
            <a:pPr algn="l">
              <a:lnSpc>
                <a:spcPts val="1679"/>
              </a:lnSpc>
              <a:spcBef>
                <a:spcPts val="0"/>
              </a:spcBef>
              <a:spcAft>
                <a:spcPts val="0"/>
              </a:spcAft>
              <a:defRPr sz="1200" b="0" i="0">
                <a:solidFill>
                  <a:srgbClr val="333333"/>
                </a:solidFill>
                <a:latin typeface="Lato"/>
              </a:defRPr>
            </a:pPr>
            <a:r>
              <a:t>• f(n) = g(n) + h(n)</a:t>
            </a:r>
            <a:br/>
            <a:r>
              <a:t>    g(n) = biaya dari start ke node n</a:t>
            </a:r>
            <a:br/>
            <a:r>
              <a:t>    h(n) = estimasi heuristik dari n ke goal</a:t>
            </a:r>
            <a:br/>
            <a:br/>
            <a:r>
              <a:t>• Quadratic potential calculation untuk</a:t>
            </a:r>
            <a:br/>
            <a:r>
              <a:t>  menghitung cost gradient pada grid</a:t>
            </a:r>
            <a:br/>
            <a:br/>
            <a:r>
              <a:t>• Open list / Closed list untuk eksplorasi</a:t>
            </a:r>
            <a:br/>
            <a:r>
              <a:t>  node secara optimal</a:t>
            </a:r>
          </a:p>
        </p:txBody>
      </p:sp>
      <p:sp>
        <p:nvSpPr>
          <p:cNvPr id="7" name="TextBox 6"/>
          <p:cNvSpPr txBox="1"/>
          <p:nvPr/>
        </p:nvSpPr>
        <p:spPr>
          <a:xfrm>
            <a:off x="850392" y="3337560"/>
            <a:ext cx="4572000" cy="274320"/>
          </a:xfrm>
          <a:prstGeom prst="rect">
            <a:avLst/>
          </a:prstGeom>
          <a:noFill/>
        </p:spPr>
        <p:txBody>
          <a:bodyPr wrap="square"/>
          <a:lstStyle/>
          <a:p>
            <a:pPr algn="l">
              <a:lnSpc>
                <a:spcPts val="1680"/>
              </a:lnSpc>
              <a:spcBef>
                <a:spcPts val="0"/>
              </a:spcBef>
              <a:spcAft>
                <a:spcPts val="0"/>
              </a:spcAft>
              <a:defRPr sz="1400" b="1" i="0">
                <a:solidFill>
                  <a:srgbClr val="003A70"/>
                </a:solidFill>
                <a:latin typeface="Montserrat"/>
              </a:defRPr>
            </a:pPr>
            <a:r>
              <a:t>Integrasi dengan Global Costmap</a:t>
            </a:r>
          </a:p>
        </p:txBody>
      </p:sp>
      <p:sp>
        <p:nvSpPr>
          <p:cNvPr id="8" name="Rounded Rectangle 7"/>
          <p:cNvSpPr/>
          <p:nvPr/>
        </p:nvSpPr>
        <p:spPr>
          <a:xfrm>
            <a:off x="758952" y="3611880"/>
            <a:ext cx="5029200" cy="2468880"/>
          </a:xfrm>
          <a:prstGeom prst="roundRect">
            <a:avLst/>
          </a:prstGeom>
          <a:solidFill>
            <a:srgbClr val="FFF8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0392" y="3703320"/>
            <a:ext cx="4846320" cy="2286000"/>
          </a:xfrm>
          <a:prstGeom prst="rect">
            <a:avLst/>
          </a:prstGeom>
          <a:noFill/>
        </p:spPr>
        <p:txBody>
          <a:bodyPr wrap="square"/>
          <a:lstStyle/>
          <a:p>
            <a:pPr algn="l">
              <a:lnSpc>
                <a:spcPts val="1485"/>
              </a:lnSpc>
              <a:spcBef>
                <a:spcPts val="0"/>
              </a:spcBef>
              <a:spcAft>
                <a:spcPts val="0"/>
              </a:spcAft>
              <a:defRPr sz="1100" b="0" i="0">
                <a:solidFill>
                  <a:srgbClr val="333333"/>
                </a:solidFill>
                <a:latin typeface="Lato"/>
              </a:defRPr>
            </a:pPr>
            <a:r>
              <a:t>Global planner menggunakan static layer dari global</a:t>
            </a:r>
            <a:br/>
            <a:r>
              <a:t>costmap untuk membangun cost gradient pada occupancy</a:t>
            </a:r>
            <a:br/>
            <a:r>
              <a:t>grid. Setiap sel memiliki biaya navigasi berdasarkan</a:t>
            </a:r>
            <a:br/>
            <a:r>
              <a:t>jarak ke obstacle terdekat dan Cost Scaling Factor.</a:t>
            </a:r>
            <a:br/>
            <a:br/>
            <a:r>
              <a:t>Inflasi obstacle menghasilkan gradien biaya halus yang</a:t>
            </a:r>
            <a:br/>
            <a:r>
              <a:t>mendorong path menjauhi rintangan. Fungsi biaya:</a:t>
            </a:r>
            <a:br/>
            <a:r>
              <a:t>  C(d) = 253 · e^(−α · (d − r))  untuk d ≤ R</a:t>
            </a:r>
          </a:p>
        </p:txBody>
      </p:sp>
      <p:sp>
        <p:nvSpPr>
          <p:cNvPr id="10" name="TextBox 9"/>
          <p:cNvSpPr txBox="1"/>
          <p:nvPr/>
        </p:nvSpPr>
        <p:spPr>
          <a:xfrm>
            <a:off x="6400800" y="1005840"/>
            <a:ext cx="5029200" cy="274320"/>
          </a:xfrm>
          <a:prstGeom prst="rect">
            <a:avLst/>
          </a:prstGeom>
          <a:noFill/>
        </p:spPr>
        <p:txBody>
          <a:bodyPr wrap="square"/>
          <a:lstStyle/>
          <a:p>
            <a:pPr algn="l">
              <a:lnSpc>
                <a:spcPts val="2160"/>
              </a:lnSpc>
              <a:spcBef>
                <a:spcPts val="0"/>
              </a:spcBef>
              <a:spcAft>
                <a:spcPts val="0"/>
              </a:spcAft>
              <a:defRPr sz="1800" b="1" i="0">
                <a:solidFill>
                  <a:srgbClr val="F08C2E"/>
                </a:solidFill>
                <a:latin typeface="Montserrat"/>
              </a:defRPr>
            </a:pPr>
            <a:r>
              <a:t>Path Interceptor (Multi-Region)</a:t>
            </a:r>
          </a:p>
        </p:txBody>
      </p:sp>
      <p:sp>
        <p:nvSpPr>
          <p:cNvPr id="11" name="Rounded Rectangle 10"/>
          <p:cNvSpPr/>
          <p:nvPr/>
        </p:nvSpPr>
        <p:spPr>
          <a:xfrm>
            <a:off x="6675120" y="1417320"/>
            <a:ext cx="1828800" cy="685800"/>
          </a:xfrm>
          <a:prstGeom prst="roundRect">
            <a:avLst/>
          </a:prstGeom>
          <a:solidFill>
            <a:srgbClr val="FFF8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675120" y="1417320"/>
            <a:ext cx="1828800" cy="38100"/>
          </a:xfrm>
          <a:prstGeom prst="rect">
            <a:avLst/>
          </a:prstGeom>
          <a:solidFill>
            <a:srgbClr val="003A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720840" y="1444752"/>
            <a:ext cx="1737360" cy="274320"/>
          </a:xfrm>
          <a:prstGeom prst="rect">
            <a:avLst/>
          </a:prstGeom>
          <a:noFill/>
        </p:spPr>
        <p:txBody>
          <a:bodyPr wrap="square"/>
          <a:lstStyle/>
          <a:p>
            <a:pPr algn="ctr">
              <a:lnSpc>
                <a:spcPts val="1560"/>
              </a:lnSpc>
              <a:spcBef>
                <a:spcPts val="0"/>
              </a:spcBef>
              <a:spcAft>
                <a:spcPts val="0"/>
              </a:spcAft>
              <a:defRPr sz="1300" b="1" i="0">
                <a:solidFill>
                  <a:srgbClr val="003A70"/>
                </a:solidFill>
                <a:latin typeface="Montserrat"/>
              </a:defRPr>
            </a:pPr>
            <a:r>
              <a:t>Region A</a:t>
            </a:r>
          </a:p>
        </p:txBody>
      </p:sp>
      <p:sp>
        <p:nvSpPr>
          <p:cNvPr id="14" name="TextBox 13"/>
          <p:cNvSpPr txBox="1"/>
          <p:nvPr/>
        </p:nvSpPr>
        <p:spPr>
          <a:xfrm>
            <a:off x="6720840" y="1737360"/>
            <a:ext cx="1737360" cy="320040"/>
          </a:xfrm>
          <a:prstGeom prst="rect">
            <a:avLst/>
          </a:prstGeom>
          <a:noFill/>
        </p:spPr>
        <p:txBody>
          <a:bodyPr wrap="square"/>
          <a:lstStyle/>
          <a:p>
            <a:pPr algn="ctr">
              <a:lnSpc>
                <a:spcPts val="1125"/>
              </a:lnSpc>
              <a:spcBef>
                <a:spcPts val="0"/>
              </a:spcBef>
              <a:spcAft>
                <a:spcPts val="0"/>
              </a:spcAft>
              <a:defRPr sz="900" b="0" i="0">
                <a:solidFill>
                  <a:srgbClr val="555555"/>
                </a:solidFill>
                <a:latin typeface="Lato"/>
              </a:defRPr>
            </a:pPr>
            <a:r>
              <a:t>A* planning pada</a:t>
            </a:r>
            <a:br/>
            <a:r>
              <a:t>costmap region</a:t>
            </a:r>
          </a:p>
        </p:txBody>
      </p:sp>
      <p:sp>
        <p:nvSpPr>
          <p:cNvPr id="15" name="Down Arrow 14"/>
          <p:cNvSpPr/>
          <p:nvPr/>
        </p:nvSpPr>
        <p:spPr>
          <a:xfrm>
            <a:off x="7452360" y="1851660"/>
            <a:ext cx="274320" cy="320040"/>
          </a:xfrm>
          <a:prstGeom prst="downArrow">
            <a:avLst/>
          </a:prstGeom>
          <a:solidFill>
            <a:srgbClr val="F08C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675120" y="2377440"/>
            <a:ext cx="1828800" cy="685800"/>
          </a:xfrm>
          <a:prstGeom prst="roundRect">
            <a:avLst/>
          </a:prstGeom>
          <a:solidFill>
            <a:srgbClr val="FFF8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675120" y="2377440"/>
            <a:ext cx="1828800" cy="38100"/>
          </a:xfrm>
          <a:prstGeom prst="rect">
            <a:avLst/>
          </a:prstGeom>
          <a:solidFill>
            <a:srgbClr val="003A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720840" y="2404872"/>
            <a:ext cx="1737360" cy="274320"/>
          </a:xfrm>
          <a:prstGeom prst="rect">
            <a:avLst/>
          </a:prstGeom>
          <a:noFill/>
        </p:spPr>
        <p:txBody>
          <a:bodyPr wrap="square"/>
          <a:lstStyle/>
          <a:p>
            <a:pPr algn="ctr">
              <a:lnSpc>
                <a:spcPts val="1560"/>
              </a:lnSpc>
              <a:spcBef>
                <a:spcPts val="0"/>
              </a:spcBef>
              <a:spcAft>
                <a:spcPts val="0"/>
              </a:spcAft>
              <a:defRPr sz="1300" b="1" i="0">
                <a:solidFill>
                  <a:srgbClr val="003A70"/>
                </a:solidFill>
                <a:latin typeface="Montserrat"/>
              </a:defRPr>
            </a:pPr>
            <a:r>
              <a:t>Region B</a:t>
            </a:r>
          </a:p>
        </p:txBody>
      </p:sp>
      <p:sp>
        <p:nvSpPr>
          <p:cNvPr id="19" name="TextBox 18"/>
          <p:cNvSpPr txBox="1"/>
          <p:nvPr/>
        </p:nvSpPr>
        <p:spPr>
          <a:xfrm>
            <a:off x="6720840" y="2697480"/>
            <a:ext cx="1737360" cy="320040"/>
          </a:xfrm>
          <a:prstGeom prst="rect">
            <a:avLst/>
          </a:prstGeom>
          <a:noFill/>
        </p:spPr>
        <p:txBody>
          <a:bodyPr wrap="square"/>
          <a:lstStyle/>
          <a:p>
            <a:pPr algn="ctr">
              <a:lnSpc>
                <a:spcPts val="1125"/>
              </a:lnSpc>
              <a:spcBef>
                <a:spcPts val="0"/>
              </a:spcBef>
              <a:spcAft>
                <a:spcPts val="0"/>
              </a:spcAft>
              <a:defRPr sz="900" b="0" i="0">
                <a:solidFill>
                  <a:srgbClr val="555555"/>
                </a:solidFill>
                <a:latin typeface="Lato"/>
              </a:defRPr>
            </a:pPr>
            <a:r>
              <a:t>A* planning pada</a:t>
            </a:r>
            <a:br/>
            <a:r>
              <a:t>costmap region</a:t>
            </a:r>
          </a:p>
        </p:txBody>
      </p:sp>
      <p:sp>
        <p:nvSpPr>
          <p:cNvPr id="20" name="Down Arrow 19"/>
          <p:cNvSpPr/>
          <p:nvPr/>
        </p:nvSpPr>
        <p:spPr>
          <a:xfrm>
            <a:off x="7452360" y="2811780"/>
            <a:ext cx="274320" cy="320040"/>
          </a:xfrm>
          <a:prstGeom prst="downArrow">
            <a:avLst/>
          </a:prstGeom>
          <a:solidFill>
            <a:srgbClr val="F08C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675120" y="3337560"/>
            <a:ext cx="1828800" cy="685800"/>
          </a:xfrm>
          <a:prstGeom prst="roundRect">
            <a:avLst/>
          </a:prstGeom>
          <a:solidFill>
            <a:srgbClr val="FFF8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675120" y="3337560"/>
            <a:ext cx="1828800" cy="38100"/>
          </a:xfrm>
          <a:prstGeom prst="rect">
            <a:avLst/>
          </a:prstGeom>
          <a:solidFill>
            <a:srgbClr val="003A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720840" y="3364992"/>
            <a:ext cx="1737360" cy="274320"/>
          </a:xfrm>
          <a:prstGeom prst="rect">
            <a:avLst/>
          </a:prstGeom>
          <a:noFill/>
        </p:spPr>
        <p:txBody>
          <a:bodyPr wrap="square"/>
          <a:lstStyle/>
          <a:p>
            <a:pPr algn="ctr">
              <a:lnSpc>
                <a:spcPts val="1560"/>
              </a:lnSpc>
              <a:spcBef>
                <a:spcPts val="0"/>
              </a:spcBef>
              <a:spcAft>
                <a:spcPts val="0"/>
              </a:spcAft>
              <a:defRPr sz="1300" b="1" i="0">
                <a:solidFill>
                  <a:srgbClr val="003A70"/>
                </a:solidFill>
                <a:latin typeface="Montserrat"/>
              </a:defRPr>
            </a:pPr>
            <a:r>
              <a:t>Region C</a:t>
            </a:r>
          </a:p>
        </p:txBody>
      </p:sp>
      <p:sp>
        <p:nvSpPr>
          <p:cNvPr id="24" name="TextBox 23"/>
          <p:cNvSpPr txBox="1"/>
          <p:nvPr/>
        </p:nvSpPr>
        <p:spPr>
          <a:xfrm>
            <a:off x="6720840" y="3657600"/>
            <a:ext cx="1737360" cy="320040"/>
          </a:xfrm>
          <a:prstGeom prst="rect">
            <a:avLst/>
          </a:prstGeom>
          <a:noFill/>
        </p:spPr>
        <p:txBody>
          <a:bodyPr wrap="square"/>
          <a:lstStyle/>
          <a:p>
            <a:pPr algn="ctr">
              <a:lnSpc>
                <a:spcPts val="1125"/>
              </a:lnSpc>
              <a:spcBef>
                <a:spcPts val="0"/>
              </a:spcBef>
              <a:spcAft>
                <a:spcPts val="0"/>
              </a:spcAft>
              <a:defRPr sz="900" b="0" i="0">
                <a:solidFill>
                  <a:srgbClr val="555555"/>
                </a:solidFill>
                <a:latin typeface="Lato"/>
              </a:defRPr>
            </a:pPr>
            <a:r>
              <a:t>A* planning pada</a:t>
            </a:r>
            <a:br/>
            <a:r>
              <a:t>costmap region</a:t>
            </a:r>
          </a:p>
        </p:txBody>
      </p:sp>
      <p:sp>
        <p:nvSpPr>
          <p:cNvPr id="25" name="Rounded Rectangle 24"/>
          <p:cNvSpPr/>
          <p:nvPr/>
        </p:nvSpPr>
        <p:spPr>
          <a:xfrm>
            <a:off x="6400800" y="4160520"/>
            <a:ext cx="5029200" cy="1920240"/>
          </a:xfrm>
          <a:prstGeom prst="roundRect">
            <a:avLst/>
          </a:prstGeom>
          <a:solidFill>
            <a:srgbClr val="FFF8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400800" y="4160520"/>
            <a:ext cx="50800" cy="1920240"/>
          </a:xfrm>
          <a:prstGeom prst="rect">
            <a:avLst/>
          </a:prstGeom>
          <a:solidFill>
            <a:srgbClr val="F08C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537960" y="4251960"/>
            <a:ext cx="4754880" cy="1737360"/>
          </a:xfrm>
          <a:prstGeom prst="rect">
            <a:avLst/>
          </a:prstGeom>
          <a:noFill/>
        </p:spPr>
        <p:txBody>
          <a:bodyPr wrap="square"/>
          <a:lstStyle/>
          <a:p>
            <a:pPr algn="l">
              <a:lnSpc>
                <a:spcPts val="1485"/>
              </a:lnSpc>
              <a:spcBef>
                <a:spcPts val="0"/>
              </a:spcBef>
              <a:spcAft>
                <a:spcPts val="0"/>
              </a:spcAft>
              <a:defRPr sz="1100" b="0" i="0">
                <a:solidFill>
                  <a:srgbClr val="333333"/>
                </a:solidFill>
                <a:latin typeface="Lato"/>
              </a:defRPr>
            </a:pPr>
            <a:r>
              <a:t>Path interceptor memecah rute global multi-region</a:t>
            </a:r>
            <a:br/>
            <a:r>
              <a:t>menjadi segmen per region yang di-plan secara</a:t>
            </a:r>
            <a:br/>
            <a:r>
              <a:t>independen oleh A*:</a:t>
            </a:r>
            <a:br/>
            <a:br/>
            <a:r>
              <a:t>  Region A  →  Titik Transisi A-B  →</a:t>
            </a:r>
            <a:br/>
            <a:r>
              <a:t>  Region B  →  Titik Transisi B-C  →</a:t>
            </a:r>
            <a:br/>
            <a:r>
              <a:t>  Region C  →  Goal</a:t>
            </a:r>
            <a:br/>
            <a:br/>
            <a:r>
              <a:t>Setiap segmen menggunakan costmap region masing-</a:t>
            </a:r>
            <a:br/>
            <a:r>
              <a:t>masing. Transition costmap menyediakan informasi</a:t>
            </a:r>
            <a:br/>
            <a:r>
              <a:t>konektor untuk perpindahan mulus antar region.</a:t>
            </a:r>
          </a:p>
        </p:txBody>
      </p:sp>
      <p:sp>
        <p:nvSpPr>
          <p:cNvPr id="28" name="TextBox 27"/>
          <p:cNvSpPr txBox="1"/>
          <p:nvPr/>
        </p:nvSpPr>
        <p:spPr>
          <a:xfrm>
            <a:off x="10884103" y="6446520"/>
            <a:ext cx="457200" cy="274320"/>
          </a:xfrm>
          <a:prstGeom prst="rect">
            <a:avLst/>
          </a:prstGeom>
          <a:noFill/>
        </p:spPr>
        <p:txBody>
          <a:bodyPr wrap="square"/>
          <a:lstStyle/>
          <a:p>
            <a:pPr algn="r">
              <a:lnSpc>
                <a:spcPts val="1200"/>
              </a:lnSpc>
              <a:spcBef>
                <a:spcPts val="0"/>
              </a:spcBef>
              <a:spcAft>
                <a:spcPts val="0"/>
              </a:spcAft>
              <a:defRPr sz="1000" b="0" i="0">
                <a:solidFill>
                  <a:srgbClr val="333333"/>
                </a:solidFill>
                <a:latin typeface="Lato"/>
              </a:defRPr>
            </a:pPr>
            <a: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gradFill rotWithShape="1">
          <a:gsLst>
            <a:gs pos="0">
              <a:srgbClr val="EDF4FC"/>
            </a:gs>
            <a:gs pos="100000">
              <a:srgbClr val="D2E3F3"/>
            </a:gs>
          </a:gsLst>
          <a:lin ang="8100000" scaled="0"/>
        </a:gradFill>
      </p:bgPr>
    </p:bg>
    <p:spTree>
      <p:nvGrpSpPr>
        <p:cNvPr id="1" name=""/>
        <p:cNvGrpSpPr/>
        <p:nvPr/>
      </p:nvGrpSpPr>
      <p:grpSpPr/>
      <p:sp>
        <p:nvSpPr>
          <p:cNvPr id="2" name="TextBox 1"/>
          <p:cNvSpPr txBox="1"/>
          <p:nvPr/>
        </p:nvSpPr>
        <p:spPr>
          <a:xfrm>
            <a:off x="850392" y="320040"/>
            <a:ext cx="6400800" cy="502920"/>
          </a:xfrm>
          <a:prstGeom prst="rect">
            <a:avLst/>
          </a:prstGeom>
          <a:noFill/>
        </p:spPr>
        <p:txBody>
          <a:bodyPr wrap="square"/>
          <a:lstStyle/>
          <a:p>
            <a:pPr algn="l">
              <a:lnSpc>
                <a:spcPts val="3120"/>
              </a:lnSpc>
              <a:spcBef>
                <a:spcPts val="0"/>
              </a:spcBef>
              <a:spcAft>
                <a:spcPts val="0"/>
              </a:spcAft>
              <a:defRPr sz="2600" b="1" i="0">
                <a:solidFill>
                  <a:srgbClr val="1A2B4C"/>
                </a:solidFill>
                <a:latin typeface="Montserrat"/>
              </a:defRPr>
            </a:pPr>
            <a:r>
              <a:t>PATH TRACKING — DWA LOCAL PLANNER</a:t>
            </a:r>
          </a:p>
        </p:txBody>
      </p:sp>
      <p:sp>
        <p:nvSpPr>
          <p:cNvPr id="3" name="Rectangle 2"/>
          <p:cNvSpPr/>
          <p:nvPr/>
        </p:nvSpPr>
        <p:spPr>
          <a:xfrm>
            <a:off x="850392" y="777240"/>
            <a:ext cx="2286000" cy="25400"/>
          </a:xfrm>
          <a:prstGeom prst="rect">
            <a:avLst/>
          </a:prstGeom>
          <a:solidFill>
            <a:srgbClr val="F08C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850392" y="1051560"/>
            <a:ext cx="1920240" cy="1325880"/>
          </a:xfrm>
          <a:prstGeom prst="roundRect">
            <a:avLst/>
          </a:prstGeom>
          <a:solidFill>
            <a:srgbClr val="FFF8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50392" y="1051560"/>
            <a:ext cx="1920240" cy="50800"/>
          </a:xfrm>
          <a:prstGeom prst="rect">
            <a:avLst/>
          </a:prstGeom>
          <a:solidFill>
            <a:srgbClr val="003A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41832" y="1143000"/>
            <a:ext cx="1737360" cy="457200"/>
          </a:xfrm>
          <a:prstGeom prst="rect">
            <a:avLst/>
          </a:prstGeom>
          <a:noFill/>
        </p:spPr>
        <p:txBody>
          <a:bodyPr wrap="square"/>
          <a:lstStyle/>
          <a:p>
            <a:pPr algn="ctr">
              <a:lnSpc>
                <a:spcPts val="1200"/>
              </a:lnSpc>
              <a:spcBef>
                <a:spcPts val="0"/>
              </a:spcBef>
              <a:spcAft>
                <a:spcPts val="0"/>
              </a:spcAft>
              <a:defRPr sz="1000" b="1" i="0">
                <a:solidFill>
                  <a:srgbClr val="1A2B4C"/>
                </a:solidFill>
                <a:latin typeface="Montserrat"/>
              </a:defRPr>
            </a:pPr>
            <a:r>
              <a:t>1. Velocity</a:t>
            </a:r>
            <a:br/>
            <a:r>
              <a:t>Sampling</a:t>
            </a:r>
          </a:p>
        </p:txBody>
      </p:sp>
      <p:sp>
        <p:nvSpPr>
          <p:cNvPr id="7" name="TextBox 6"/>
          <p:cNvSpPr txBox="1"/>
          <p:nvPr/>
        </p:nvSpPr>
        <p:spPr>
          <a:xfrm>
            <a:off x="941832" y="1645920"/>
            <a:ext cx="1737360" cy="640080"/>
          </a:xfrm>
          <a:prstGeom prst="rect">
            <a:avLst/>
          </a:prstGeom>
          <a:noFill/>
        </p:spPr>
        <p:txBody>
          <a:bodyPr wrap="square"/>
          <a:lstStyle/>
          <a:p>
            <a:pPr algn="ctr">
              <a:lnSpc>
                <a:spcPts val="1215"/>
              </a:lnSpc>
              <a:spcBef>
                <a:spcPts val="0"/>
              </a:spcBef>
              <a:spcAft>
                <a:spcPts val="0"/>
              </a:spcAft>
              <a:defRPr sz="900" b="0" i="0">
                <a:solidFill>
                  <a:srgbClr val="555555"/>
                </a:solidFill>
                <a:latin typeface="Lato"/>
              </a:defRPr>
            </a:pPr>
            <a:r>
              <a:t>6 vx × 6 vy × 30 ω</a:t>
            </a:r>
            <a:br/>
            <a:r>
              <a:t>= 1080 trajectory</a:t>
            </a:r>
          </a:p>
        </p:txBody>
      </p:sp>
      <p:sp>
        <p:nvSpPr>
          <p:cNvPr id="8" name="Right Arrow 7"/>
          <p:cNvSpPr/>
          <p:nvPr/>
        </p:nvSpPr>
        <p:spPr>
          <a:xfrm>
            <a:off x="2788920" y="1554480"/>
            <a:ext cx="201168" cy="182880"/>
          </a:xfrm>
          <a:prstGeom prst="rightArrow">
            <a:avLst/>
          </a:prstGeom>
          <a:solidFill>
            <a:srgbClr val="F08C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008376" y="1051560"/>
            <a:ext cx="1920240" cy="1325880"/>
          </a:xfrm>
          <a:prstGeom prst="roundRect">
            <a:avLst/>
          </a:prstGeom>
          <a:solidFill>
            <a:srgbClr val="FFF8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008376" y="1051560"/>
            <a:ext cx="1920240" cy="50800"/>
          </a:xfrm>
          <a:prstGeom prst="rect">
            <a:avLst/>
          </a:prstGeom>
          <a:solidFill>
            <a:srgbClr val="003A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099816" y="1143000"/>
            <a:ext cx="1737360" cy="457200"/>
          </a:xfrm>
          <a:prstGeom prst="rect">
            <a:avLst/>
          </a:prstGeom>
          <a:noFill/>
        </p:spPr>
        <p:txBody>
          <a:bodyPr wrap="square"/>
          <a:lstStyle/>
          <a:p>
            <a:pPr algn="ctr">
              <a:lnSpc>
                <a:spcPts val="1200"/>
              </a:lnSpc>
              <a:spcBef>
                <a:spcPts val="0"/>
              </a:spcBef>
              <a:spcAft>
                <a:spcPts val="0"/>
              </a:spcAft>
              <a:defRPr sz="1000" b="1" i="0">
                <a:solidFill>
                  <a:srgbClr val="1A2B4C"/>
                </a:solidFill>
                <a:latin typeface="Montserrat"/>
              </a:defRPr>
            </a:pPr>
            <a:r>
              <a:t>2. Kinematic</a:t>
            </a:r>
            <a:br/>
            <a:r>
              <a:t>Simulation</a:t>
            </a:r>
          </a:p>
        </p:txBody>
      </p:sp>
      <p:sp>
        <p:nvSpPr>
          <p:cNvPr id="12" name="TextBox 11"/>
          <p:cNvSpPr txBox="1"/>
          <p:nvPr/>
        </p:nvSpPr>
        <p:spPr>
          <a:xfrm>
            <a:off x="3099816" y="1645920"/>
            <a:ext cx="1737360" cy="640080"/>
          </a:xfrm>
          <a:prstGeom prst="rect">
            <a:avLst/>
          </a:prstGeom>
          <a:noFill/>
        </p:spPr>
        <p:txBody>
          <a:bodyPr wrap="square"/>
          <a:lstStyle/>
          <a:p>
            <a:pPr algn="ctr">
              <a:lnSpc>
                <a:spcPts val="1215"/>
              </a:lnSpc>
              <a:spcBef>
                <a:spcPts val="0"/>
              </a:spcBef>
              <a:spcAft>
                <a:spcPts val="0"/>
              </a:spcAft>
              <a:defRPr sz="900" b="0" i="0">
                <a:solidFill>
                  <a:srgbClr val="555555"/>
                </a:solidFill>
                <a:latin typeface="Lato"/>
              </a:defRPr>
            </a:pPr>
            <a:r>
              <a:t>Simulasi robot</a:t>
            </a:r>
            <a:br/>
            <a:r>
              <a:t>selama Δt</a:t>
            </a:r>
          </a:p>
        </p:txBody>
      </p:sp>
      <p:sp>
        <p:nvSpPr>
          <p:cNvPr id="13" name="Right Arrow 12"/>
          <p:cNvSpPr/>
          <p:nvPr/>
        </p:nvSpPr>
        <p:spPr>
          <a:xfrm>
            <a:off x="4946904" y="1554480"/>
            <a:ext cx="201168" cy="182880"/>
          </a:xfrm>
          <a:prstGeom prst="rightArrow">
            <a:avLst/>
          </a:prstGeom>
          <a:solidFill>
            <a:srgbClr val="F08C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166360" y="1051560"/>
            <a:ext cx="1920240" cy="1325880"/>
          </a:xfrm>
          <a:prstGeom prst="roundRect">
            <a:avLst/>
          </a:prstGeom>
          <a:solidFill>
            <a:srgbClr val="FFF8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166360" y="1051560"/>
            <a:ext cx="1920240" cy="50800"/>
          </a:xfrm>
          <a:prstGeom prst="rect">
            <a:avLst/>
          </a:prstGeom>
          <a:solidFill>
            <a:srgbClr val="003A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257800" y="1143000"/>
            <a:ext cx="1737360" cy="457200"/>
          </a:xfrm>
          <a:prstGeom prst="rect">
            <a:avLst/>
          </a:prstGeom>
          <a:noFill/>
        </p:spPr>
        <p:txBody>
          <a:bodyPr wrap="square"/>
          <a:lstStyle/>
          <a:p>
            <a:pPr algn="ctr">
              <a:lnSpc>
                <a:spcPts val="1200"/>
              </a:lnSpc>
              <a:spcBef>
                <a:spcPts val="0"/>
              </a:spcBef>
              <a:spcAft>
                <a:spcPts val="0"/>
              </a:spcAft>
              <a:defRPr sz="1000" b="1" i="0">
                <a:solidFill>
                  <a:srgbClr val="1A2B4C"/>
                </a:solidFill>
                <a:latin typeface="Montserrat"/>
              </a:defRPr>
            </a:pPr>
            <a:r>
              <a:t>3. Trajectory</a:t>
            </a:r>
            <a:br/>
            <a:r>
              <a:t>Scoring</a:t>
            </a:r>
          </a:p>
        </p:txBody>
      </p:sp>
      <p:sp>
        <p:nvSpPr>
          <p:cNvPr id="17" name="TextBox 16"/>
          <p:cNvSpPr txBox="1"/>
          <p:nvPr/>
        </p:nvSpPr>
        <p:spPr>
          <a:xfrm>
            <a:off x="5257800" y="1645920"/>
            <a:ext cx="1737360" cy="640080"/>
          </a:xfrm>
          <a:prstGeom prst="rect">
            <a:avLst/>
          </a:prstGeom>
          <a:noFill/>
        </p:spPr>
        <p:txBody>
          <a:bodyPr wrap="square"/>
          <a:lstStyle/>
          <a:p>
            <a:pPr algn="ctr">
              <a:lnSpc>
                <a:spcPts val="1215"/>
              </a:lnSpc>
              <a:spcBef>
                <a:spcPts val="0"/>
              </a:spcBef>
              <a:spcAft>
                <a:spcPts val="0"/>
              </a:spcAft>
              <a:defRPr sz="900" b="0" i="0">
                <a:solidFill>
                  <a:srgbClr val="555555"/>
                </a:solidFill>
                <a:latin typeface="Lato"/>
              </a:defRPr>
            </a:pPr>
            <a:r>
              <a:t>7 kriteria</a:t>
            </a:r>
            <a:br/>
            <a:r>
              <a:t>penilaian</a:t>
            </a:r>
          </a:p>
        </p:txBody>
      </p:sp>
      <p:sp>
        <p:nvSpPr>
          <p:cNvPr id="18" name="Right Arrow 17"/>
          <p:cNvSpPr/>
          <p:nvPr/>
        </p:nvSpPr>
        <p:spPr>
          <a:xfrm>
            <a:off x="7104888" y="1554480"/>
            <a:ext cx="201168" cy="182880"/>
          </a:xfrm>
          <a:prstGeom prst="rightArrow">
            <a:avLst/>
          </a:prstGeom>
          <a:solidFill>
            <a:srgbClr val="F08C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7324344" y="1051560"/>
            <a:ext cx="1920240" cy="1325880"/>
          </a:xfrm>
          <a:prstGeom prst="roundRect">
            <a:avLst/>
          </a:prstGeom>
          <a:solidFill>
            <a:srgbClr val="FFF8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24344" y="1051560"/>
            <a:ext cx="1920240" cy="50800"/>
          </a:xfrm>
          <a:prstGeom prst="rect">
            <a:avLst/>
          </a:prstGeom>
          <a:solidFill>
            <a:srgbClr val="003A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415784" y="1143000"/>
            <a:ext cx="1737360" cy="457200"/>
          </a:xfrm>
          <a:prstGeom prst="rect">
            <a:avLst/>
          </a:prstGeom>
          <a:noFill/>
        </p:spPr>
        <p:txBody>
          <a:bodyPr wrap="square"/>
          <a:lstStyle/>
          <a:p>
            <a:pPr algn="ctr">
              <a:lnSpc>
                <a:spcPts val="1200"/>
              </a:lnSpc>
              <a:spcBef>
                <a:spcPts val="0"/>
              </a:spcBef>
              <a:spcAft>
                <a:spcPts val="0"/>
              </a:spcAft>
              <a:defRPr sz="1000" b="1" i="0">
                <a:solidFill>
                  <a:srgbClr val="1A2B4C"/>
                </a:solidFill>
                <a:latin typeface="Montserrat"/>
              </a:defRPr>
            </a:pPr>
            <a:r>
              <a:t>4. Best</a:t>
            </a:r>
            <a:br/>
            <a:r>
              <a:t>Selection</a:t>
            </a:r>
          </a:p>
        </p:txBody>
      </p:sp>
      <p:sp>
        <p:nvSpPr>
          <p:cNvPr id="22" name="TextBox 21"/>
          <p:cNvSpPr txBox="1"/>
          <p:nvPr/>
        </p:nvSpPr>
        <p:spPr>
          <a:xfrm>
            <a:off x="7415784" y="1645920"/>
            <a:ext cx="1737360" cy="640080"/>
          </a:xfrm>
          <a:prstGeom prst="rect">
            <a:avLst/>
          </a:prstGeom>
          <a:noFill/>
        </p:spPr>
        <p:txBody>
          <a:bodyPr wrap="square"/>
          <a:lstStyle/>
          <a:p>
            <a:pPr algn="ctr">
              <a:lnSpc>
                <a:spcPts val="1215"/>
              </a:lnSpc>
              <a:spcBef>
                <a:spcPts val="0"/>
              </a:spcBef>
              <a:spcAft>
                <a:spcPts val="0"/>
              </a:spcAft>
              <a:defRPr sz="900" b="0" i="0">
                <a:solidFill>
                  <a:srgbClr val="555555"/>
                </a:solidFill>
                <a:latin typeface="Lato"/>
              </a:defRPr>
            </a:pPr>
            <a:r>
              <a:t>Pilih trajectory</a:t>
            </a:r>
            <a:br/>
            <a:r>
              <a:t>dengan biaya terendah</a:t>
            </a:r>
          </a:p>
        </p:txBody>
      </p:sp>
      <p:sp>
        <p:nvSpPr>
          <p:cNvPr id="23" name="Right Arrow 22"/>
          <p:cNvSpPr/>
          <p:nvPr/>
        </p:nvSpPr>
        <p:spPr>
          <a:xfrm>
            <a:off x="9262872" y="1554480"/>
            <a:ext cx="201168" cy="182880"/>
          </a:xfrm>
          <a:prstGeom prst="rightArrow">
            <a:avLst/>
          </a:prstGeom>
          <a:solidFill>
            <a:srgbClr val="F08C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9482328" y="1051560"/>
            <a:ext cx="1920240" cy="1325880"/>
          </a:xfrm>
          <a:prstGeom prst="roundRect">
            <a:avLst/>
          </a:prstGeom>
          <a:solidFill>
            <a:srgbClr val="FFF8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482328" y="1051560"/>
            <a:ext cx="1920240" cy="50800"/>
          </a:xfrm>
          <a:prstGeom prst="rect">
            <a:avLst/>
          </a:prstGeom>
          <a:solidFill>
            <a:srgbClr val="003A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573768" y="1143000"/>
            <a:ext cx="1737360" cy="457200"/>
          </a:xfrm>
          <a:prstGeom prst="rect">
            <a:avLst/>
          </a:prstGeom>
          <a:noFill/>
        </p:spPr>
        <p:txBody>
          <a:bodyPr wrap="square"/>
          <a:lstStyle/>
          <a:p>
            <a:pPr algn="ctr">
              <a:lnSpc>
                <a:spcPts val="1200"/>
              </a:lnSpc>
              <a:spcBef>
                <a:spcPts val="0"/>
              </a:spcBef>
              <a:spcAft>
                <a:spcPts val="0"/>
              </a:spcAft>
              <a:defRPr sz="1000" b="1" i="0">
                <a:solidFill>
                  <a:srgbClr val="1A2B4C"/>
                </a:solidFill>
                <a:latin typeface="Montserrat"/>
              </a:defRPr>
            </a:pPr>
            <a:r>
              <a:t>5. Send to</a:t>
            </a:r>
            <a:br/>
            <a:r>
              <a:t>Robot</a:t>
            </a:r>
          </a:p>
        </p:txBody>
      </p:sp>
      <p:sp>
        <p:nvSpPr>
          <p:cNvPr id="27" name="TextBox 26"/>
          <p:cNvSpPr txBox="1"/>
          <p:nvPr/>
        </p:nvSpPr>
        <p:spPr>
          <a:xfrm>
            <a:off x="9573768" y="1645920"/>
            <a:ext cx="1737360" cy="640080"/>
          </a:xfrm>
          <a:prstGeom prst="rect">
            <a:avLst/>
          </a:prstGeom>
          <a:noFill/>
        </p:spPr>
        <p:txBody>
          <a:bodyPr wrap="square"/>
          <a:lstStyle/>
          <a:p>
            <a:pPr algn="ctr">
              <a:lnSpc>
                <a:spcPts val="1215"/>
              </a:lnSpc>
              <a:spcBef>
                <a:spcPts val="0"/>
              </a:spcBef>
              <a:spcAft>
                <a:spcPts val="0"/>
              </a:spcAft>
              <a:defRPr sz="900" b="0" i="0">
                <a:solidFill>
                  <a:srgbClr val="555555"/>
                </a:solidFill>
                <a:latin typeface="Lato"/>
              </a:defRPr>
            </a:pPr>
            <a:r>
              <a:t>Eksekusi gerakan</a:t>
            </a:r>
            <a:br/>
            <a:r>
              <a:t>pada hexapod</a:t>
            </a:r>
          </a:p>
        </p:txBody>
      </p:sp>
      <p:sp>
        <p:nvSpPr>
          <p:cNvPr id="28" name="TextBox 27"/>
          <p:cNvSpPr txBox="1"/>
          <p:nvPr/>
        </p:nvSpPr>
        <p:spPr>
          <a:xfrm>
            <a:off x="850392" y="2560320"/>
            <a:ext cx="10515600" cy="274320"/>
          </a:xfrm>
          <a:prstGeom prst="rect">
            <a:avLst/>
          </a:prstGeom>
          <a:noFill/>
        </p:spPr>
        <p:txBody>
          <a:bodyPr wrap="square"/>
          <a:lstStyle/>
          <a:p>
            <a:pPr algn="l">
              <a:lnSpc>
                <a:spcPts val="1920"/>
              </a:lnSpc>
              <a:spcBef>
                <a:spcPts val="0"/>
              </a:spcBef>
              <a:spcAft>
                <a:spcPts val="0"/>
              </a:spcAft>
              <a:defRPr sz="1600" b="1" i="0">
                <a:solidFill>
                  <a:srgbClr val="1A2B4C"/>
                </a:solidFill>
                <a:latin typeface="Montserrat"/>
              </a:defRPr>
            </a:pPr>
            <a:r>
              <a:t>7 Kriteria Scoring DWA</a:t>
            </a:r>
          </a:p>
        </p:txBody>
      </p:sp>
      <p:sp>
        <p:nvSpPr>
          <p:cNvPr id="29" name="Rounded Rectangle 28"/>
          <p:cNvSpPr/>
          <p:nvPr/>
        </p:nvSpPr>
        <p:spPr>
          <a:xfrm>
            <a:off x="850392" y="2971800"/>
            <a:ext cx="1417320" cy="1005840"/>
          </a:xfrm>
          <a:prstGeom prst="roundRect">
            <a:avLst/>
          </a:prstGeom>
          <a:solidFill>
            <a:srgbClr val="FFF8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96112" y="3017520"/>
            <a:ext cx="1005840" cy="182880"/>
          </a:xfrm>
          <a:prstGeom prst="rect">
            <a:avLst/>
          </a:prstGeom>
          <a:noFill/>
        </p:spPr>
        <p:txBody>
          <a:bodyPr wrap="square"/>
          <a:lstStyle/>
          <a:p>
            <a:pPr algn="l">
              <a:lnSpc>
                <a:spcPts val="1200"/>
              </a:lnSpc>
              <a:spcBef>
                <a:spcPts val="0"/>
              </a:spcBef>
              <a:spcAft>
                <a:spcPts val="0"/>
              </a:spcAft>
              <a:defRPr sz="1000" b="1" i="0">
                <a:solidFill>
                  <a:srgbClr val="003A70"/>
                </a:solidFill>
                <a:latin typeface="Lato"/>
              </a:defRPr>
            </a:pPr>
            <a:r>
              <a:t>C_osc</a:t>
            </a:r>
          </a:p>
        </p:txBody>
      </p:sp>
      <p:sp>
        <p:nvSpPr>
          <p:cNvPr id="31" name="TextBox 30"/>
          <p:cNvSpPr txBox="1"/>
          <p:nvPr/>
        </p:nvSpPr>
        <p:spPr>
          <a:xfrm>
            <a:off x="896112" y="3227832"/>
            <a:ext cx="1325880" cy="411480"/>
          </a:xfrm>
          <a:prstGeom prst="rect">
            <a:avLst/>
          </a:prstGeom>
          <a:noFill/>
        </p:spPr>
        <p:txBody>
          <a:bodyPr wrap="square"/>
          <a:lstStyle/>
          <a:p>
            <a:pPr algn="l">
              <a:lnSpc>
                <a:spcPts val="1040"/>
              </a:lnSpc>
              <a:spcBef>
                <a:spcPts val="0"/>
              </a:spcBef>
              <a:spcAft>
                <a:spcPts val="0"/>
              </a:spcAft>
              <a:defRPr sz="800" b="0" i="0">
                <a:solidFill>
                  <a:srgbClr val="555555"/>
                </a:solidFill>
                <a:latin typeface="Lato"/>
              </a:defRPr>
            </a:pPr>
            <a:r>
              <a:t>Oscillation</a:t>
            </a:r>
            <a:br/>
            <a:r>
              <a:t>penalty</a:t>
            </a:r>
          </a:p>
        </p:txBody>
      </p:sp>
      <p:sp>
        <p:nvSpPr>
          <p:cNvPr id="32" name="TextBox 31"/>
          <p:cNvSpPr txBox="1"/>
          <p:nvPr/>
        </p:nvSpPr>
        <p:spPr>
          <a:xfrm>
            <a:off x="896112" y="3685032"/>
            <a:ext cx="1325880" cy="182880"/>
          </a:xfrm>
          <a:prstGeom prst="rect">
            <a:avLst/>
          </a:prstGeom>
          <a:noFill/>
        </p:spPr>
        <p:txBody>
          <a:bodyPr wrap="square"/>
          <a:lstStyle/>
          <a:p>
            <a:pPr algn="l">
              <a:lnSpc>
                <a:spcPts val="840"/>
              </a:lnSpc>
              <a:spcBef>
                <a:spcPts val="0"/>
              </a:spcBef>
              <a:spcAft>
                <a:spcPts val="0"/>
              </a:spcAft>
              <a:defRPr sz="700" b="0" i="0">
                <a:solidFill>
                  <a:srgbClr val="333333"/>
                </a:solidFill>
                <a:latin typeface="Lato"/>
              </a:defRPr>
            </a:pPr>
            <a:r>
              <a:t>w_osc</a:t>
            </a:r>
          </a:p>
        </p:txBody>
      </p:sp>
      <p:sp>
        <p:nvSpPr>
          <p:cNvPr id="33" name="Rounded Rectangle 32"/>
          <p:cNvSpPr/>
          <p:nvPr/>
        </p:nvSpPr>
        <p:spPr>
          <a:xfrm>
            <a:off x="2359152" y="2971800"/>
            <a:ext cx="1417320" cy="1005840"/>
          </a:xfrm>
          <a:prstGeom prst="roundRect">
            <a:avLst/>
          </a:prstGeom>
          <a:solidFill>
            <a:srgbClr val="FFF8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404872" y="3017520"/>
            <a:ext cx="1005840" cy="182880"/>
          </a:xfrm>
          <a:prstGeom prst="rect">
            <a:avLst/>
          </a:prstGeom>
          <a:noFill/>
        </p:spPr>
        <p:txBody>
          <a:bodyPr wrap="square"/>
          <a:lstStyle/>
          <a:p>
            <a:pPr algn="l">
              <a:lnSpc>
                <a:spcPts val="1200"/>
              </a:lnSpc>
              <a:spcBef>
                <a:spcPts val="0"/>
              </a:spcBef>
              <a:spcAft>
                <a:spcPts val="0"/>
              </a:spcAft>
              <a:defRPr sz="1000" b="1" i="0">
                <a:solidFill>
                  <a:srgbClr val="4A90D9"/>
                </a:solidFill>
                <a:latin typeface="Lato"/>
              </a:defRPr>
            </a:pPr>
            <a:r>
              <a:t>C_obs</a:t>
            </a:r>
          </a:p>
        </p:txBody>
      </p:sp>
      <p:sp>
        <p:nvSpPr>
          <p:cNvPr id="35" name="TextBox 34"/>
          <p:cNvSpPr txBox="1"/>
          <p:nvPr/>
        </p:nvSpPr>
        <p:spPr>
          <a:xfrm>
            <a:off x="2404872" y="3227832"/>
            <a:ext cx="1325880" cy="411480"/>
          </a:xfrm>
          <a:prstGeom prst="rect">
            <a:avLst/>
          </a:prstGeom>
          <a:noFill/>
        </p:spPr>
        <p:txBody>
          <a:bodyPr wrap="square"/>
          <a:lstStyle/>
          <a:p>
            <a:pPr algn="l">
              <a:lnSpc>
                <a:spcPts val="1040"/>
              </a:lnSpc>
              <a:spcBef>
                <a:spcPts val="0"/>
              </a:spcBef>
              <a:spcAft>
                <a:spcPts val="0"/>
              </a:spcAft>
              <a:defRPr sz="800" b="0" i="0">
                <a:solidFill>
                  <a:srgbClr val="555555"/>
                </a:solidFill>
                <a:latin typeface="Lato"/>
              </a:defRPr>
            </a:pPr>
            <a:r>
              <a:t>Obstacle</a:t>
            </a:r>
            <a:br/>
            <a:r>
              <a:t>distance</a:t>
            </a:r>
          </a:p>
        </p:txBody>
      </p:sp>
      <p:sp>
        <p:nvSpPr>
          <p:cNvPr id="36" name="TextBox 35"/>
          <p:cNvSpPr txBox="1"/>
          <p:nvPr/>
        </p:nvSpPr>
        <p:spPr>
          <a:xfrm>
            <a:off x="2404872" y="3685032"/>
            <a:ext cx="1325880" cy="182880"/>
          </a:xfrm>
          <a:prstGeom prst="rect">
            <a:avLst/>
          </a:prstGeom>
          <a:noFill/>
        </p:spPr>
        <p:txBody>
          <a:bodyPr wrap="square"/>
          <a:lstStyle/>
          <a:p>
            <a:pPr algn="l">
              <a:lnSpc>
                <a:spcPts val="840"/>
              </a:lnSpc>
              <a:spcBef>
                <a:spcPts val="0"/>
              </a:spcBef>
              <a:spcAft>
                <a:spcPts val="0"/>
              </a:spcAft>
              <a:defRPr sz="700" b="0" i="0">
                <a:solidFill>
                  <a:srgbClr val="333333"/>
                </a:solidFill>
                <a:latin typeface="Lato"/>
              </a:defRPr>
            </a:pPr>
            <a:r>
              <a:t>w_obs</a:t>
            </a:r>
          </a:p>
        </p:txBody>
      </p:sp>
      <p:sp>
        <p:nvSpPr>
          <p:cNvPr id="37" name="Rounded Rectangle 36"/>
          <p:cNvSpPr/>
          <p:nvPr/>
        </p:nvSpPr>
        <p:spPr>
          <a:xfrm>
            <a:off x="3867912" y="2971800"/>
            <a:ext cx="1417320" cy="1005840"/>
          </a:xfrm>
          <a:prstGeom prst="roundRect">
            <a:avLst/>
          </a:prstGeom>
          <a:solidFill>
            <a:srgbClr val="FFF8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913632" y="3017520"/>
            <a:ext cx="1005840" cy="182880"/>
          </a:xfrm>
          <a:prstGeom prst="rect">
            <a:avLst/>
          </a:prstGeom>
          <a:noFill/>
        </p:spPr>
        <p:txBody>
          <a:bodyPr wrap="square"/>
          <a:lstStyle/>
          <a:p>
            <a:pPr algn="l">
              <a:lnSpc>
                <a:spcPts val="1200"/>
              </a:lnSpc>
              <a:spcBef>
                <a:spcPts val="0"/>
              </a:spcBef>
              <a:spcAft>
                <a:spcPts val="0"/>
              </a:spcAft>
              <a:defRPr sz="1000" b="1" i="0">
                <a:solidFill>
                  <a:srgbClr val="4A90D9"/>
                </a:solidFill>
                <a:latin typeface="Lato"/>
              </a:defRPr>
            </a:pPr>
            <a:r>
              <a:t>C_gf</a:t>
            </a:r>
          </a:p>
        </p:txBody>
      </p:sp>
      <p:sp>
        <p:nvSpPr>
          <p:cNvPr id="39" name="TextBox 38"/>
          <p:cNvSpPr txBox="1"/>
          <p:nvPr/>
        </p:nvSpPr>
        <p:spPr>
          <a:xfrm>
            <a:off x="3913632" y="3227832"/>
            <a:ext cx="1325880" cy="411480"/>
          </a:xfrm>
          <a:prstGeom prst="rect">
            <a:avLst/>
          </a:prstGeom>
          <a:noFill/>
        </p:spPr>
        <p:txBody>
          <a:bodyPr wrap="square"/>
          <a:lstStyle/>
          <a:p>
            <a:pPr algn="l">
              <a:lnSpc>
                <a:spcPts val="1040"/>
              </a:lnSpc>
              <a:spcBef>
                <a:spcPts val="0"/>
              </a:spcBef>
              <a:spcAft>
                <a:spcPts val="0"/>
              </a:spcAft>
              <a:defRPr sz="800" b="0" i="0">
                <a:solidFill>
                  <a:srgbClr val="555555"/>
                </a:solidFill>
                <a:latin typeface="Lato"/>
              </a:defRPr>
            </a:pPr>
            <a:r>
              <a:t>Goal front</a:t>
            </a:r>
            <a:br/>
            <a:r>
              <a:t>alignment</a:t>
            </a:r>
          </a:p>
        </p:txBody>
      </p:sp>
      <p:sp>
        <p:nvSpPr>
          <p:cNvPr id="40" name="TextBox 39"/>
          <p:cNvSpPr txBox="1"/>
          <p:nvPr/>
        </p:nvSpPr>
        <p:spPr>
          <a:xfrm>
            <a:off x="3913632" y="3685032"/>
            <a:ext cx="1325880" cy="182880"/>
          </a:xfrm>
          <a:prstGeom prst="rect">
            <a:avLst/>
          </a:prstGeom>
          <a:noFill/>
        </p:spPr>
        <p:txBody>
          <a:bodyPr wrap="square"/>
          <a:lstStyle/>
          <a:p>
            <a:pPr algn="l">
              <a:lnSpc>
                <a:spcPts val="840"/>
              </a:lnSpc>
              <a:spcBef>
                <a:spcPts val="0"/>
              </a:spcBef>
              <a:spcAft>
                <a:spcPts val="0"/>
              </a:spcAft>
              <a:defRPr sz="700" b="0" i="0">
                <a:solidFill>
                  <a:srgbClr val="333333"/>
                </a:solidFill>
                <a:latin typeface="Lato"/>
              </a:defRPr>
            </a:pPr>
            <a:r>
              <a:t>w_gf</a:t>
            </a:r>
          </a:p>
        </p:txBody>
      </p:sp>
      <p:sp>
        <p:nvSpPr>
          <p:cNvPr id="41" name="Rounded Rectangle 40"/>
          <p:cNvSpPr/>
          <p:nvPr/>
        </p:nvSpPr>
        <p:spPr>
          <a:xfrm>
            <a:off x="5376672" y="2971800"/>
            <a:ext cx="1417320" cy="1005840"/>
          </a:xfrm>
          <a:prstGeom prst="roundRect">
            <a:avLst/>
          </a:prstGeom>
          <a:solidFill>
            <a:srgbClr val="FFF8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422392" y="3017520"/>
            <a:ext cx="1005840" cy="182880"/>
          </a:xfrm>
          <a:prstGeom prst="rect">
            <a:avLst/>
          </a:prstGeom>
          <a:noFill/>
        </p:spPr>
        <p:txBody>
          <a:bodyPr wrap="square"/>
          <a:lstStyle/>
          <a:p>
            <a:pPr algn="l">
              <a:lnSpc>
                <a:spcPts val="1200"/>
              </a:lnSpc>
              <a:spcBef>
                <a:spcPts val="0"/>
              </a:spcBef>
              <a:spcAft>
                <a:spcPts val="0"/>
              </a:spcAft>
              <a:defRPr sz="1000" b="1" i="0">
                <a:solidFill>
                  <a:srgbClr val="4A90D9"/>
                </a:solidFill>
                <a:latin typeface="Lato"/>
              </a:defRPr>
            </a:pPr>
            <a:r>
              <a:t>C_align</a:t>
            </a:r>
          </a:p>
        </p:txBody>
      </p:sp>
      <p:sp>
        <p:nvSpPr>
          <p:cNvPr id="43" name="TextBox 42"/>
          <p:cNvSpPr txBox="1"/>
          <p:nvPr/>
        </p:nvSpPr>
        <p:spPr>
          <a:xfrm>
            <a:off x="5422392" y="3227832"/>
            <a:ext cx="1325880" cy="411480"/>
          </a:xfrm>
          <a:prstGeom prst="rect">
            <a:avLst/>
          </a:prstGeom>
          <a:noFill/>
        </p:spPr>
        <p:txBody>
          <a:bodyPr wrap="square"/>
          <a:lstStyle/>
          <a:p>
            <a:pPr algn="l">
              <a:lnSpc>
                <a:spcPts val="1040"/>
              </a:lnSpc>
              <a:spcBef>
                <a:spcPts val="0"/>
              </a:spcBef>
              <a:spcAft>
                <a:spcPts val="0"/>
              </a:spcAft>
              <a:defRPr sz="800" b="0" i="0">
                <a:solidFill>
                  <a:srgbClr val="555555"/>
                </a:solidFill>
                <a:latin typeface="Lato"/>
              </a:defRPr>
            </a:pPr>
            <a:r>
              <a:t>Path</a:t>
            </a:r>
            <a:br/>
            <a:r>
              <a:t>alignment</a:t>
            </a:r>
          </a:p>
        </p:txBody>
      </p:sp>
      <p:sp>
        <p:nvSpPr>
          <p:cNvPr id="44" name="TextBox 43"/>
          <p:cNvSpPr txBox="1"/>
          <p:nvPr/>
        </p:nvSpPr>
        <p:spPr>
          <a:xfrm>
            <a:off x="5422392" y="3685032"/>
            <a:ext cx="1325880" cy="182880"/>
          </a:xfrm>
          <a:prstGeom prst="rect">
            <a:avLst/>
          </a:prstGeom>
          <a:noFill/>
        </p:spPr>
        <p:txBody>
          <a:bodyPr wrap="square"/>
          <a:lstStyle/>
          <a:p>
            <a:pPr algn="l">
              <a:lnSpc>
                <a:spcPts val="840"/>
              </a:lnSpc>
              <a:spcBef>
                <a:spcPts val="0"/>
              </a:spcBef>
              <a:spcAft>
                <a:spcPts val="0"/>
              </a:spcAft>
              <a:defRPr sz="700" b="0" i="0">
                <a:solidFill>
                  <a:srgbClr val="333333"/>
                </a:solidFill>
                <a:latin typeface="Lato"/>
              </a:defRPr>
            </a:pPr>
            <a:r>
              <a:t>w_align</a:t>
            </a:r>
          </a:p>
        </p:txBody>
      </p:sp>
      <p:sp>
        <p:nvSpPr>
          <p:cNvPr id="45" name="Rounded Rectangle 44"/>
          <p:cNvSpPr/>
          <p:nvPr/>
        </p:nvSpPr>
        <p:spPr>
          <a:xfrm>
            <a:off x="6885432" y="2971800"/>
            <a:ext cx="1417320" cy="1005840"/>
          </a:xfrm>
          <a:prstGeom prst="roundRect">
            <a:avLst/>
          </a:prstGeom>
          <a:solidFill>
            <a:srgbClr val="FFF8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931152" y="3017520"/>
            <a:ext cx="1005840" cy="182880"/>
          </a:xfrm>
          <a:prstGeom prst="rect">
            <a:avLst/>
          </a:prstGeom>
          <a:noFill/>
        </p:spPr>
        <p:txBody>
          <a:bodyPr wrap="square"/>
          <a:lstStyle/>
          <a:p>
            <a:pPr algn="l">
              <a:lnSpc>
                <a:spcPts val="1200"/>
              </a:lnSpc>
              <a:spcBef>
                <a:spcPts val="0"/>
              </a:spcBef>
              <a:spcAft>
                <a:spcPts val="0"/>
              </a:spcAft>
              <a:defRPr sz="1000" b="1" i="0">
                <a:solidFill>
                  <a:srgbClr val="4A90D9"/>
                </a:solidFill>
                <a:latin typeface="Lato"/>
              </a:defRPr>
            </a:pPr>
            <a:r>
              <a:t>C_path</a:t>
            </a:r>
          </a:p>
        </p:txBody>
      </p:sp>
      <p:sp>
        <p:nvSpPr>
          <p:cNvPr id="47" name="TextBox 46"/>
          <p:cNvSpPr txBox="1"/>
          <p:nvPr/>
        </p:nvSpPr>
        <p:spPr>
          <a:xfrm>
            <a:off x="6931152" y="3227832"/>
            <a:ext cx="1325880" cy="411480"/>
          </a:xfrm>
          <a:prstGeom prst="rect">
            <a:avLst/>
          </a:prstGeom>
          <a:noFill/>
        </p:spPr>
        <p:txBody>
          <a:bodyPr wrap="square"/>
          <a:lstStyle/>
          <a:p>
            <a:pPr algn="l">
              <a:lnSpc>
                <a:spcPts val="1040"/>
              </a:lnSpc>
              <a:spcBef>
                <a:spcPts val="0"/>
              </a:spcBef>
              <a:spcAft>
                <a:spcPts val="0"/>
              </a:spcAft>
              <a:defRPr sz="800" b="0" i="0">
                <a:solidFill>
                  <a:srgbClr val="555555"/>
                </a:solidFill>
                <a:latin typeface="Lato"/>
              </a:defRPr>
            </a:pPr>
            <a:r>
              <a:t>Distance to</a:t>
            </a:r>
            <a:br/>
            <a:r>
              <a:t>global path</a:t>
            </a:r>
          </a:p>
        </p:txBody>
      </p:sp>
      <p:sp>
        <p:nvSpPr>
          <p:cNvPr id="48" name="TextBox 47"/>
          <p:cNvSpPr txBox="1"/>
          <p:nvPr/>
        </p:nvSpPr>
        <p:spPr>
          <a:xfrm>
            <a:off x="6931152" y="3685032"/>
            <a:ext cx="1325880" cy="182880"/>
          </a:xfrm>
          <a:prstGeom prst="rect">
            <a:avLst/>
          </a:prstGeom>
          <a:noFill/>
        </p:spPr>
        <p:txBody>
          <a:bodyPr wrap="square"/>
          <a:lstStyle/>
          <a:p>
            <a:pPr algn="l">
              <a:lnSpc>
                <a:spcPts val="840"/>
              </a:lnSpc>
              <a:spcBef>
                <a:spcPts val="0"/>
              </a:spcBef>
              <a:spcAft>
                <a:spcPts val="0"/>
              </a:spcAft>
              <a:defRPr sz="700" b="0" i="0">
                <a:solidFill>
                  <a:srgbClr val="333333"/>
                </a:solidFill>
                <a:latin typeface="Lato"/>
              </a:defRPr>
            </a:pPr>
            <a:r>
              <a:t>w_path</a:t>
            </a:r>
          </a:p>
        </p:txBody>
      </p:sp>
      <p:sp>
        <p:nvSpPr>
          <p:cNvPr id="49" name="Rounded Rectangle 48"/>
          <p:cNvSpPr/>
          <p:nvPr/>
        </p:nvSpPr>
        <p:spPr>
          <a:xfrm>
            <a:off x="8394192" y="2971800"/>
            <a:ext cx="1417320" cy="1005840"/>
          </a:xfrm>
          <a:prstGeom prst="roundRect">
            <a:avLst/>
          </a:prstGeom>
          <a:solidFill>
            <a:srgbClr val="FFF8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439912" y="3017520"/>
            <a:ext cx="1005840" cy="182880"/>
          </a:xfrm>
          <a:prstGeom prst="rect">
            <a:avLst/>
          </a:prstGeom>
          <a:noFill/>
        </p:spPr>
        <p:txBody>
          <a:bodyPr wrap="square"/>
          <a:lstStyle/>
          <a:p>
            <a:pPr algn="l">
              <a:lnSpc>
                <a:spcPts val="1200"/>
              </a:lnSpc>
              <a:spcBef>
                <a:spcPts val="0"/>
              </a:spcBef>
              <a:spcAft>
                <a:spcPts val="0"/>
              </a:spcAft>
              <a:defRPr sz="1000" b="1" i="0">
                <a:solidFill>
                  <a:srgbClr val="4A90D9"/>
                </a:solidFill>
                <a:latin typeface="Lato"/>
              </a:defRPr>
            </a:pPr>
            <a:r>
              <a:t>C_goal</a:t>
            </a:r>
          </a:p>
        </p:txBody>
      </p:sp>
      <p:sp>
        <p:nvSpPr>
          <p:cNvPr id="51" name="TextBox 50"/>
          <p:cNvSpPr txBox="1"/>
          <p:nvPr/>
        </p:nvSpPr>
        <p:spPr>
          <a:xfrm>
            <a:off x="8439912" y="3227832"/>
            <a:ext cx="1325880" cy="411480"/>
          </a:xfrm>
          <a:prstGeom prst="rect">
            <a:avLst/>
          </a:prstGeom>
          <a:noFill/>
        </p:spPr>
        <p:txBody>
          <a:bodyPr wrap="square"/>
          <a:lstStyle/>
          <a:p>
            <a:pPr algn="l">
              <a:lnSpc>
                <a:spcPts val="1040"/>
              </a:lnSpc>
              <a:spcBef>
                <a:spcPts val="0"/>
              </a:spcBef>
              <a:spcAft>
                <a:spcPts val="0"/>
              </a:spcAft>
              <a:defRPr sz="800" b="0" i="0">
                <a:solidFill>
                  <a:srgbClr val="555555"/>
                </a:solidFill>
                <a:latin typeface="Lato"/>
              </a:defRPr>
            </a:pPr>
            <a:r>
              <a:t>Distance</a:t>
            </a:r>
            <a:br/>
            <a:r>
              <a:t>to goal</a:t>
            </a:r>
          </a:p>
        </p:txBody>
      </p:sp>
      <p:sp>
        <p:nvSpPr>
          <p:cNvPr id="52" name="TextBox 51"/>
          <p:cNvSpPr txBox="1"/>
          <p:nvPr/>
        </p:nvSpPr>
        <p:spPr>
          <a:xfrm>
            <a:off x="8439912" y="3685032"/>
            <a:ext cx="1325880" cy="182880"/>
          </a:xfrm>
          <a:prstGeom prst="rect">
            <a:avLst/>
          </a:prstGeom>
          <a:noFill/>
        </p:spPr>
        <p:txBody>
          <a:bodyPr wrap="square"/>
          <a:lstStyle/>
          <a:p>
            <a:pPr algn="l">
              <a:lnSpc>
                <a:spcPts val="840"/>
              </a:lnSpc>
              <a:spcBef>
                <a:spcPts val="0"/>
              </a:spcBef>
              <a:spcAft>
                <a:spcPts val="0"/>
              </a:spcAft>
              <a:defRPr sz="700" b="0" i="0">
                <a:solidFill>
                  <a:srgbClr val="333333"/>
                </a:solidFill>
                <a:latin typeface="Lato"/>
              </a:defRPr>
            </a:pPr>
            <a:r>
              <a:t>w_goal</a:t>
            </a:r>
          </a:p>
        </p:txBody>
      </p:sp>
      <p:sp>
        <p:nvSpPr>
          <p:cNvPr id="53" name="Rounded Rectangle 52"/>
          <p:cNvSpPr/>
          <p:nvPr/>
        </p:nvSpPr>
        <p:spPr>
          <a:xfrm>
            <a:off x="9902952" y="2971800"/>
            <a:ext cx="1417320" cy="1005840"/>
          </a:xfrm>
          <a:prstGeom prst="roundRect">
            <a:avLst/>
          </a:prstGeom>
          <a:solidFill>
            <a:srgbClr val="FFF8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9948672" y="3017520"/>
            <a:ext cx="1005840" cy="182880"/>
          </a:xfrm>
          <a:prstGeom prst="rect">
            <a:avLst/>
          </a:prstGeom>
          <a:noFill/>
        </p:spPr>
        <p:txBody>
          <a:bodyPr wrap="square"/>
          <a:lstStyle/>
          <a:p>
            <a:pPr algn="l">
              <a:lnSpc>
                <a:spcPts val="1200"/>
              </a:lnSpc>
              <a:spcBef>
                <a:spcPts val="0"/>
              </a:spcBef>
              <a:spcAft>
                <a:spcPts val="0"/>
              </a:spcAft>
              <a:defRPr sz="1000" b="1" i="0">
                <a:solidFill>
                  <a:srgbClr val="F08C2E"/>
                </a:solidFill>
                <a:latin typeface="Lato"/>
              </a:defRPr>
            </a:pPr>
            <a:r>
              <a:t>C_twirl</a:t>
            </a:r>
          </a:p>
        </p:txBody>
      </p:sp>
      <p:sp>
        <p:nvSpPr>
          <p:cNvPr id="55" name="TextBox 54"/>
          <p:cNvSpPr txBox="1"/>
          <p:nvPr/>
        </p:nvSpPr>
        <p:spPr>
          <a:xfrm>
            <a:off x="9948672" y="3227832"/>
            <a:ext cx="1325880" cy="411480"/>
          </a:xfrm>
          <a:prstGeom prst="rect">
            <a:avLst/>
          </a:prstGeom>
          <a:noFill/>
        </p:spPr>
        <p:txBody>
          <a:bodyPr wrap="square"/>
          <a:lstStyle/>
          <a:p>
            <a:pPr algn="l">
              <a:lnSpc>
                <a:spcPts val="1040"/>
              </a:lnSpc>
              <a:spcBef>
                <a:spcPts val="0"/>
              </a:spcBef>
              <a:spcAft>
                <a:spcPts val="0"/>
              </a:spcAft>
              <a:defRPr sz="800" b="0" i="0">
                <a:solidFill>
                  <a:srgbClr val="555555"/>
                </a:solidFill>
                <a:latin typeface="Lato"/>
              </a:defRPr>
            </a:pPr>
            <a:r>
              <a:t>Rotation</a:t>
            </a:r>
            <a:br/>
            <a:r>
              <a:t>penalty</a:t>
            </a:r>
          </a:p>
        </p:txBody>
      </p:sp>
      <p:sp>
        <p:nvSpPr>
          <p:cNvPr id="56" name="TextBox 55"/>
          <p:cNvSpPr txBox="1"/>
          <p:nvPr/>
        </p:nvSpPr>
        <p:spPr>
          <a:xfrm>
            <a:off x="9948672" y="3685032"/>
            <a:ext cx="1325880" cy="182880"/>
          </a:xfrm>
          <a:prstGeom prst="rect">
            <a:avLst/>
          </a:prstGeom>
          <a:noFill/>
        </p:spPr>
        <p:txBody>
          <a:bodyPr wrap="square"/>
          <a:lstStyle/>
          <a:p>
            <a:pPr algn="l">
              <a:lnSpc>
                <a:spcPts val="840"/>
              </a:lnSpc>
              <a:spcBef>
                <a:spcPts val="0"/>
              </a:spcBef>
              <a:spcAft>
                <a:spcPts val="0"/>
              </a:spcAft>
              <a:defRPr sz="700" b="0" i="0">
                <a:solidFill>
                  <a:srgbClr val="333333"/>
                </a:solidFill>
                <a:latin typeface="Lato"/>
              </a:defRPr>
            </a:pPr>
            <a:r>
              <a:t>w_twirl</a:t>
            </a:r>
          </a:p>
        </p:txBody>
      </p:sp>
      <p:sp>
        <p:nvSpPr>
          <p:cNvPr id="57" name="Rounded Rectangle 56"/>
          <p:cNvSpPr/>
          <p:nvPr/>
        </p:nvSpPr>
        <p:spPr>
          <a:xfrm>
            <a:off x="758952" y="4096512"/>
            <a:ext cx="10698480" cy="411480"/>
          </a:xfrm>
          <a:prstGeom prst="roundRect">
            <a:avLst/>
          </a:prstGeom>
          <a:solidFill>
            <a:srgbClr val="FFF8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850392" y="4160520"/>
            <a:ext cx="10515600" cy="320040"/>
          </a:xfrm>
          <a:prstGeom prst="rect">
            <a:avLst/>
          </a:prstGeom>
          <a:noFill/>
        </p:spPr>
        <p:txBody>
          <a:bodyPr wrap="square"/>
          <a:lstStyle/>
          <a:p>
            <a:pPr algn="ctr">
              <a:lnSpc>
                <a:spcPts val="1439"/>
              </a:lnSpc>
              <a:spcBef>
                <a:spcPts val="0"/>
              </a:spcBef>
              <a:spcAft>
                <a:spcPts val="0"/>
              </a:spcAft>
              <a:defRPr sz="1200" b="1" i="0">
                <a:solidFill>
                  <a:srgbClr val="333333"/>
                </a:solidFill>
                <a:latin typeface="Lato"/>
              </a:defRPr>
            </a:pPr>
            <a:r>
              <a:t>C_total = C_osc + Σ(wi · Ci)  →  Minimalkan total cost</a:t>
            </a:r>
          </a:p>
        </p:txBody>
      </p:sp>
      <p:sp>
        <p:nvSpPr>
          <p:cNvPr id="59" name="Rounded Rectangle 58"/>
          <p:cNvSpPr/>
          <p:nvPr/>
        </p:nvSpPr>
        <p:spPr>
          <a:xfrm>
            <a:off x="850392" y="4709160"/>
            <a:ext cx="10515600" cy="502920"/>
          </a:xfrm>
          <a:prstGeom prst="round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987552" y="4754880"/>
            <a:ext cx="10241280" cy="411480"/>
          </a:xfrm>
          <a:prstGeom prst="rect">
            <a:avLst/>
          </a:prstGeom>
          <a:noFill/>
        </p:spPr>
        <p:txBody>
          <a:bodyPr wrap="square"/>
          <a:lstStyle/>
          <a:p>
            <a:pPr algn="l">
              <a:lnSpc>
                <a:spcPts val="1430"/>
              </a:lnSpc>
              <a:spcBef>
                <a:spcPts val="0"/>
              </a:spcBef>
              <a:spcAft>
                <a:spcPts val="0"/>
              </a:spcAft>
              <a:defRPr sz="1100" b="0" i="0">
                <a:solidFill>
                  <a:srgbClr val="333333"/>
                </a:solidFill>
                <a:latin typeface="Lato"/>
              </a:defRPr>
            </a:pPr>
            <a:r>
              <a:t>Mampu menghindari obstacle dinamis yang tidak ada di global path, tercermin dari peningkatan max cross track error pada kondisi gempa.</a:t>
            </a:r>
          </a:p>
        </p:txBody>
      </p:sp>
      <p:sp>
        <p:nvSpPr>
          <p:cNvPr id="61" name="TextBox 60"/>
          <p:cNvSpPr txBox="1"/>
          <p:nvPr/>
        </p:nvSpPr>
        <p:spPr>
          <a:xfrm>
            <a:off x="10884103" y="6446520"/>
            <a:ext cx="457200" cy="274320"/>
          </a:xfrm>
          <a:prstGeom prst="rect">
            <a:avLst/>
          </a:prstGeom>
          <a:noFill/>
        </p:spPr>
        <p:txBody>
          <a:bodyPr wrap="square"/>
          <a:lstStyle/>
          <a:p>
            <a:pPr algn="r">
              <a:lnSpc>
                <a:spcPts val="1200"/>
              </a:lnSpc>
              <a:spcBef>
                <a:spcPts val="0"/>
              </a:spcBef>
              <a:spcAft>
                <a:spcPts val="0"/>
              </a:spcAft>
              <a:defRPr sz="1000" b="0" i="0">
                <a:solidFill>
                  <a:srgbClr val="333333"/>
                </a:solidFill>
                <a:latin typeface="Lato"/>
              </a:defRPr>
            </a:pPr>
            <a: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gradFill rotWithShape="1">
          <a:gsLst>
            <a:gs pos="0">
              <a:srgbClr val="FBF3E8"/>
            </a:gs>
            <a:gs pos="100000">
              <a:srgbClr val="E4D2B8"/>
            </a:gs>
          </a:gsLst>
          <a:lin ang="8100000" scaled="0"/>
        </a:gradFill>
      </p:bgPr>
    </p:bg>
    <p:spTree>
      <p:nvGrpSpPr>
        <p:cNvPr id="1" name=""/>
        <p:cNvGrpSpPr/>
        <p:nvPr/>
      </p:nvGrpSpPr>
      <p:grpSpPr/>
      <p:sp>
        <p:nvSpPr>
          <p:cNvPr id="2" name="TextBox 1"/>
          <p:cNvSpPr txBox="1"/>
          <p:nvPr/>
        </p:nvSpPr>
        <p:spPr>
          <a:xfrm>
            <a:off x="850392" y="320040"/>
            <a:ext cx="5486400" cy="502920"/>
          </a:xfrm>
          <a:prstGeom prst="rect">
            <a:avLst/>
          </a:prstGeom>
          <a:noFill/>
        </p:spPr>
        <p:txBody>
          <a:bodyPr wrap="square"/>
          <a:lstStyle/>
          <a:p>
            <a:pPr algn="l">
              <a:lnSpc>
                <a:spcPts val="3360"/>
              </a:lnSpc>
              <a:spcBef>
                <a:spcPts val="0"/>
              </a:spcBef>
              <a:spcAft>
                <a:spcPts val="0"/>
              </a:spcAft>
              <a:defRPr sz="2800" b="1" i="0">
                <a:solidFill>
                  <a:srgbClr val="1A2B4C"/>
                </a:solidFill>
                <a:latin typeface="Montserrat"/>
              </a:defRPr>
            </a:pPr>
            <a:r>
              <a:t>ARENA PENGUJIAN &amp; SKENARIO</a:t>
            </a:r>
          </a:p>
        </p:txBody>
      </p:sp>
      <p:sp>
        <p:nvSpPr>
          <p:cNvPr id="3" name="Rectangle 2"/>
          <p:cNvSpPr/>
          <p:nvPr/>
        </p:nvSpPr>
        <p:spPr>
          <a:xfrm>
            <a:off x="850392" y="777240"/>
            <a:ext cx="2286000" cy="25400"/>
          </a:xfrm>
          <a:prstGeom prst="rect">
            <a:avLst/>
          </a:prstGeom>
          <a:solidFill>
            <a:srgbClr val="F08C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354834" y="896112"/>
            <a:ext cx="3535273" cy="182880"/>
          </a:xfrm>
          <a:prstGeom prst="rect">
            <a:avLst/>
          </a:prstGeom>
          <a:noFill/>
        </p:spPr>
        <p:txBody>
          <a:bodyPr wrap="square"/>
          <a:lstStyle/>
          <a:p>
            <a:pPr algn="ctr">
              <a:lnSpc>
                <a:spcPts val="1080"/>
              </a:lnSpc>
              <a:spcBef>
                <a:spcPts val="0"/>
              </a:spcBef>
              <a:spcAft>
                <a:spcPts val="0"/>
              </a:spcAft>
              <a:defRPr sz="900" b="1" i="0">
                <a:solidFill>
                  <a:srgbClr val="003A70"/>
                </a:solidFill>
                <a:latin typeface="Lato"/>
              </a:defRPr>
            </a:pPr>
            <a:r>
              <a:t>Region A — Lorong &amp; Ramp</a:t>
            </a:r>
          </a:p>
        </p:txBody>
      </p:sp>
      <p:pic>
        <p:nvPicPr>
          <p:cNvPr id="5" name="Picture 4" descr="sim_RA.png"/>
          <p:cNvPicPr>
            <a:picLocks noChangeAspect="1"/>
          </p:cNvPicPr>
          <p:nvPr/>
        </p:nvPicPr>
        <p:blipFill>
          <a:blip r:embed="rId2"/>
          <a:stretch>
            <a:fillRect/>
          </a:stretch>
        </p:blipFill>
        <p:spPr>
          <a:xfrm>
            <a:off x="2354834" y="1097280"/>
            <a:ext cx="3535273" cy="2011680"/>
          </a:xfrm>
          <a:prstGeom prst="rect">
            <a:avLst/>
          </a:prstGeom>
        </p:spPr>
      </p:pic>
      <p:sp>
        <p:nvSpPr>
          <p:cNvPr id="6" name="TextBox 5"/>
          <p:cNvSpPr txBox="1"/>
          <p:nvPr/>
        </p:nvSpPr>
        <p:spPr>
          <a:xfrm>
            <a:off x="6301587" y="896112"/>
            <a:ext cx="3535273" cy="182880"/>
          </a:xfrm>
          <a:prstGeom prst="rect">
            <a:avLst/>
          </a:prstGeom>
          <a:noFill/>
        </p:spPr>
        <p:txBody>
          <a:bodyPr wrap="square"/>
          <a:lstStyle/>
          <a:p>
            <a:pPr algn="ctr">
              <a:lnSpc>
                <a:spcPts val="1080"/>
              </a:lnSpc>
              <a:spcBef>
                <a:spcPts val="0"/>
              </a:spcBef>
              <a:spcAft>
                <a:spcPts val="0"/>
              </a:spcAft>
              <a:defRPr sz="900" b="1" i="0">
                <a:solidFill>
                  <a:srgbClr val="003A70"/>
                </a:solidFill>
                <a:latin typeface="Lato"/>
              </a:defRPr>
            </a:pPr>
            <a:r>
              <a:t>Region A — Rough Floor</a:t>
            </a:r>
          </a:p>
        </p:txBody>
      </p:sp>
      <p:pic>
        <p:nvPicPr>
          <p:cNvPr id="7" name="Picture 6" descr="sim_RA_rough.png"/>
          <p:cNvPicPr>
            <a:picLocks noChangeAspect="1"/>
          </p:cNvPicPr>
          <p:nvPr/>
        </p:nvPicPr>
        <p:blipFill>
          <a:blip r:embed="rId3"/>
          <a:stretch>
            <a:fillRect/>
          </a:stretch>
        </p:blipFill>
        <p:spPr>
          <a:xfrm>
            <a:off x="6301587" y="1097280"/>
            <a:ext cx="3535273" cy="2011680"/>
          </a:xfrm>
          <a:prstGeom prst="rect">
            <a:avLst/>
          </a:prstGeom>
        </p:spPr>
      </p:pic>
      <p:sp>
        <p:nvSpPr>
          <p:cNvPr id="8" name="TextBox 7"/>
          <p:cNvSpPr txBox="1"/>
          <p:nvPr/>
        </p:nvSpPr>
        <p:spPr>
          <a:xfrm>
            <a:off x="2354834" y="3227832"/>
            <a:ext cx="3535273" cy="182880"/>
          </a:xfrm>
          <a:prstGeom prst="rect">
            <a:avLst/>
          </a:prstGeom>
          <a:noFill/>
        </p:spPr>
        <p:txBody>
          <a:bodyPr wrap="square"/>
          <a:lstStyle/>
          <a:p>
            <a:pPr algn="ctr">
              <a:lnSpc>
                <a:spcPts val="1080"/>
              </a:lnSpc>
              <a:spcBef>
                <a:spcPts val="0"/>
              </a:spcBef>
              <a:spcAft>
                <a:spcPts val="0"/>
              </a:spcAft>
              <a:defRPr sz="900" b="1" i="0">
                <a:solidFill>
                  <a:srgbClr val="003A70"/>
                </a:solidFill>
                <a:latin typeface="Lato"/>
              </a:defRPr>
            </a:pPr>
            <a:r>
              <a:t>Region B — Lorong Sempit</a:t>
            </a:r>
          </a:p>
        </p:txBody>
      </p:sp>
      <p:pic>
        <p:nvPicPr>
          <p:cNvPr id="9" name="Picture 8" descr="sim_RB.png"/>
          <p:cNvPicPr>
            <a:picLocks noChangeAspect="1"/>
          </p:cNvPicPr>
          <p:nvPr/>
        </p:nvPicPr>
        <p:blipFill>
          <a:blip r:embed="rId4"/>
          <a:stretch>
            <a:fillRect/>
          </a:stretch>
        </p:blipFill>
        <p:spPr>
          <a:xfrm>
            <a:off x="2354834" y="3429000"/>
            <a:ext cx="3535273" cy="2011680"/>
          </a:xfrm>
          <a:prstGeom prst="rect">
            <a:avLst/>
          </a:prstGeom>
        </p:spPr>
      </p:pic>
      <p:sp>
        <p:nvSpPr>
          <p:cNvPr id="10" name="TextBox 9"/>
          <p:cNvSpPr txBox="1"/>
          <p:nvPr/>
        </p:nvSpPr>
        <p:spPr>
          <a:xfrm>
            <a:off x="6301587" y="3227832"/>
            <a:ext cx="3535273" cy="182880"/>
          </a:xfrm>
          <a:prstGeom prst="rect">
            <a:avLst/>
          </a:prstGeom>
          <a:noFill/>
        </p:spPr>
        <p:txBody>
          <a:bodyPr wrap="square"/>
          <a:lstStyle/>
          <a:p>
            <a:pPr algn="ctr">
              <a:lnSpc>
                <a:spcPts val="1080"/>
              </a:lnSpc>
              <a:spcBef>
                <a:spcPts val="0"/>
              </a:spcBef>
              <a:spcAft>
                <a:spcPts val="0"/>
              </a:spcAft>
              <a:defRPr sz="900" b="1" i="0">
                <a:solidFill>
                  <a:srgbClr val="003A70"/>
                </a:solidFill>
                <a:latin typeface="Lato"/>
              </a:defRPr>
            </a:pPr>
            <a:r>
              <a:t>Region C — Area Terbuka</a:t>
            </a:r>
          </a:p>
        </p:txBody>
      </p:sp>
      <p:pic>
        <p:nvPicPr>
          <p:cNvPr id="11" name="Picture 10" descr="sim_RC2.png"/>
          <p:cNvPicPr>
            <a:picLocks noChangeAspect="1"/>
          </p:cNvPicPr>
          <p:nvPr/>
        </p:nvPicPr>
        <p:blipFill>
          <a:blip r:embed="rId5"/>
          <a:stretch>
            <a:fillRect/>
          </a:stretch>
        </p:blipFill>
        <p:spPr>
          <a:xfrm>
            <a:off x="6301587" y="3429000"/>
            <a:ext cx="3535273" cy="2011680"/>
          </a:xfrm>
          <a:prstGeom prst="rect">
            <a:avLst/>
          </a:prstGeom>
        </p:spPr>
      </p:pic>
      <p:sp>
        <p:nvSpPr>
          <p:cNvPr id="12" name="TextBox 11"/>
          <p:cNvSpPr txBox="1"/>
          <p:nvPr/>
        </p:nvSpPr>
        <p:spPr>
          <a:xfrm>
            <a:off x="850392" y="5623560"/>
            <a:ext cx="10515600" cy="320040"/>
          </a:xfrm>
          <a:prstGeom prst="rect">
            <a:avLst/>
          </a:prstGeom>
          <a:noFill/>
        </p:spPr>
        <p:txBody>
          <a:bodyPr wrap="square"/>
          <a:lstStyle/>
          <a:p>
            <a:pPr algn="l">
              <a:lnSpc>
                <a:spcPts val="1320"/>
              </a:lnSpc>
              <a:spcBef>
                <a:spcPts val="0"/>
              </a:spcBef>
              <a:spcAft>
                <a:spcPts val="0"/>
              </a:spcAft>
              <a:defRPr sz="1100" b="0" i="0">
                <a:solidFill>
                  <a:srgbClr val="333333"/>
                </a:solidFill>
                <a:latin typeface="Lato"/>
              </a:defRPr>
            </a:pPr>
            <a:r>
              <a:t>Platform: Mujoco Simulator  ·  Robot: Hexapod (6 kaki)  ·  Sensor: LiDAR 2D  ·  Peta: Known Map</a:t>
            </a:r>
          </a:p>
        </p:txBody>
      </p:sp>
      <p:sp>
        <p:nvSpPr>
          <p:cNvPr id="13" name="TextBox 12"/>
          <p:cNvSpPr txBox="1"/>
          <p:nvPr/>
        </p:nvSpPr>
        <p:spPr>
          <a:xfrm>
            <a:off x="10884103" y="6446520"/>
            <a:ext cx="457200" cy="274320"/>
          </a:xfrm>
          <a:prstGeom prst="rect">
            <a:avLst/>
          </a:prstGeom>
          <a:noFill/>
        </p:spPr>
        <p:txBody>
          <a:bodyPr wrap="square"/>
          <a:lstStyle/>
          <a:p>
            <a:pPr algn="r">
              <a:lnSpc>
                <a:spcPts val="1200"/>
              </a:lnSpc>
              <a:spcBef>
                <a:spcPts val="0"/>
              </a:spcBef>
              <a:spcAft>
                <a:spcPts val="0"/>
              </a:spcAft>
              <a:defRPr sz="1000" b="0" i="0">
                <a:solidFill>
                  <a:srgbClr val="333333"/>
                </a:solidFill>
                <a:latin typeface="Lato"/>
              </a:defRPr>
            </a:pPr>
            <a: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gradFill rotWithShape="1">
          <a:gsLst>
            <a:gs pos="0">
              <a:srgbClr val="FBF3E8"/>
            </a:gs>
            <a:gs pos="100000">
              <a:srgbClr val="E4D2B8"/>
            </a:gs>
          </a:gsLst>
          <a:lin ang="8100000" scaled="0"/>
        </a:gradFill>
      </p:bgPr>
    </p:bg>
    <p:spTree>
      <p:nvGrpSpPr>
        <p:cNvPr id="1" name=""/>
        <p:cNvGrpSpPr/>
        <p:nvPr/>
      </p:nvGrpSpPr>
      <p:grpSpPr/>
      <p:sp>
        <p:nvSpPr>
          <p:cNvPr id="2" name="TextBox 1"/>
          <p:cNvSpPr txBox="1"/>
          <p:nvPr/>
        </p:nvSpPr>
        <p:spPr>
          <a:xfrm>
            <a:off x="850392" y="320040"/>
            <a:ext cx="6400800" cy="502920"/>
          </a:xfrm>
          <a:prstGeom prst="rect">
            <a:avLst/>
          </a:prstGeom>
          <a:noFill/>
        </p:spPr>
        <p:txBody>
          <a:bodyPr wrap="square"/>
          <a:lstStyle/>
          <a:p>
            <a:pPr algn="l">
              <a:lnSpc>
                <a:spcPts val="3120"/>
              </a:lnSpc>
              <a:spcBef>
                <a:spcPts val="0"/>
              </a:spcBef>
              <a:spcAft>
                <a:spcPts val="0"/>
              </a:spcAft>
              <a:defRPr sz="2600" b="1" i="0">
                <a:solidFill>
                  <a:srgbClr val="1A2B4C"/>
                </a:solidFill>
                <a:latin typeface="Montserrat"/>
              </a:defRPr>
            </a:pPr>
            <a:r>
              <a:t>HASIL PENGUJIAN: ICP LOCALIZATION</a:t>
            </a:r>
          </a:p>
        </p:txBody>
      </p:sp>
      <p:sp>
        <p:nvSpPr>
          <p:cNvPr id="3" name="Rectangle 2"/>
          <p:cNvSpPr/>
          <p:nvPr/>
        </p:nvSpPr>
        <p:spPr>
          <a:xfrm>
            <a:off x="850392" y="777240"/>
            <a:ext cx="2286000" cy="25400"/>
          </a:xfrm>
          <a:prstGeom prst="rect">
            <a:avLst/>
          </a:prstGeom>
          <a:solidFill>
            <a:srgbClr val="F08C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438247" y="822960"/>
            <a:ext cx="3429000" cy="201168"/>
          </a:xfrm>
          <a:prstGeom prst="rect">
            <a:avLst/>
          </a:prstGeom>
          <a:noFill/>
        </p:spPr>
        <p:txBody>
          <a:bodyPr wrap="square"/>
          <a:lstStyle/>
          <a:p>
            <a:pPr algn="ctr">
              <a:lnSpc>
                <a:spcPts val="1200"/>
              </a:lnSpc>
              <a:spcBef>
                <a:spcPts val="0"/>
              </a:spcBef>
              <a:spcAft>
                <a:spcPts val="0"/>
              </a:spcAft>
              <a:defRPr sz="1000" b="1" i="0">
                <a:solidFill>
                  <a:srgbClr val="003A70"/>
                </a:solidFill>
                <a:latin typeface="Lato"/>
              </a:defRPr>
            </a:pPr>
            <a:r>
              <a:t>Region A — Normal Floor</a:t>
            </a:r>
          </a:p>
        </p:txBody>
      </p:sp>
      <p:pic>
        <p:nvPicPr>
          <p:cNvPr id="5" name="Picture 4" descr="icp_errors_RA.png"/>
          <p:cNvPicPr>
            <a:picLocks noChangeAspect="1"/>
          </p:cNvPicPr>
          <p:nvPr/>
        </p:nvPicPr>
        <p:blipFill>
          <a:blip r:embed="rId2"/>
          <a:stretch>
            <a:fillRect/>
          </a:stretch>
        </p:blipFill>
        <p:spPr>
          <a:xfrm>
            <a:off x="2438247" y="1051560"/>
            <a:ext cx="3429000" cy="2743200"/>
          </a:xfrm>
          <a:prstGeom prst="rect">
            <a:avLst/>
          </a:prstGeom>
        </p:spPr>
      </p:pic>
      <p:sp>
        <p:nvSpPr>
          <p:cNvPr id="6" name="TextBox 5"/>
          <p:cNvSpPr txBox="1"/>
          <p:nvPr/>
        </p:nvSpPr>
        <p:spPr>
          <a:xfrm>
            <a:off x="6324447" y="822960"/>
            <a:ext cx="3429000" cy="201168"/>
          </a:xfrm>
          <a:prstGeom prst="rect">
            <a:avLst/>
          </a:prstGeom>
          <a:noFill/>
        </p:spPr>
        <p:txBody>
          <a:bodyPr wrap="square"/>
          <a:lstStyle/>
          <a:p>
            <a:pPr algn="ctr">
              <a:lnSpc>
                <a:spcPts val="1200"/>
              </a:lnSpc>
              <a:spcBef>
                <a:spcPts val="0"/>
              </a:spcBef>
              <a:spcAft>
                <a:spcPts val="0"/>
              </a:spcAft>
              <a:defRPr sz="1000" b="1" i="0">
                <a:solidFill>
                  <a:srgbClr val="003A70"/>
                </a:solidFill>
                <a:latin typeface="Lato"/>
              </a:defRPr>
            </a:pPr>
            <a:r>
              <a:t>Region A — Rough Floor</a:t>
            </a:r>
          </a:p>
        </p:txBody>
      </p:sp>
      <p:pic>
        <p:nvPicPr>
          <p:cNvPr id="7" name="Picture 6" descr="icp_errors_RA_rough.png"/>
          <p:cNvPicPr>
            <a:picLocks noChangeAspect="1"/>
          </p:cNvPicPr>
          <p:nvPr/>
        </p:nvPicPr>
        <p:blipFill>
          <a:blip r:embed="rId3"/>
          <a:stretch>
            <a:fillRect/>
          </a:stretch>
        </p:blipFill>
        <p:spPr>
          <a:xfrm>
            <a:off x="6324447" y="1051560"/>
            <a:ext cx="3429000" cy="2743200"/>
          </a:xfrm>
          <a:prstGeom prst="rect">
            <a:avLst/>
          </a:prstGeom>
        </p:spPr>
      </p:pic>
      <p:sp>
        <p:nvSpPr>
          <p:cNvPr id="8" name="Rounded Rectangle 7"/>
          <p:cNvSpPr/>
          <p:nvPr/>
        </p:nvSpPr>
        <p:spPr>
          <a:xfrm>
            <a:off x="850392" y="4114800"/>
            <a:ext cx="10515600" cy="502920"/>
          </a:xfrm>
          <a:prstGeom prst="round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50392" y="4114800"/>
            <a:ext cx="50800" cy="502920"/>
          </a:xfrm>
          <a:prstGeom prst="rect">
            <a:avLst/>
          </a:prstGeom>
          <a:solidFill>
            <a:srgbClr val="F08C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7552" y="4133087"/>
            <a:ext cx="10241280" cy="457200"/>
          </a:xfrm>
          <a:prstGeom prst="rect">
            <a:avLst/>
          </a:prstGeom>
          <a:noFill/>
        </p:spPr>
        <p:txBody>
          <a:bodyPr wrap="square"/>
          <a:lstStyle/>
          <a:p>
            <a:pPr algn="l">
              <a:lnSpc>
                <a:spcPts val="1430"/>
              </a:lnSpc>
              <a:spcBef>
                <a:spcPts val="0"/>
              </a:spcBef>
              <a:spcAft>
                <a:spcPts val="0"/>
              </a:spcAft>
              <a:defRPr sz="1100" b="0" i="0">
                <a:solidFill>
                  <a:srgbClr val="333333"/>
                </a:solidFill>
                <a:latin typeface="Lato"/>
              </a:defRPr>
            </a:pPr>
            <a:r>
              <a:t>ICP akurat pada lantai normal. Rough floor menyebabkan osilasi signifikan pada sumbu x dan yaw akibat variasi vertikal scan LiDAR.</a:t>
            </a:r>
          </a:p>
        </p:txBody>
      </p:sp>
      <p:sp>
        <p:nvSpPr>
          <p:cNvPr id="11" name="TextBox 10"/>
          <p:cNvSpPr txBox="1"/>
          <p:nvPr/>
        </p:nvSpPr>
        <p:spPr>
          <a:xfrm>
            <a:off x="10884103" y="6446520"/>
            <a:ext cx="457200" cy="274320"/>
          </a:xfrm>
          <a:prstGeom prst="rect">
            <a:avLst/>
          </a:prstGeom>
          <a:noFill/>
        </p:spPr>
        <p:txBody>
          <a:bodyPr wrap="square"/>
          <a:lstStyle/>
          <a:p>
            <a:pPr algn="r">
              <a:lnSpc>
                <a:spcPts val="1200"/>
              </a:lnSpc>
              <a:spcBef>
                <a:spcPts val="0"/>
              </a:spcBef>
              <a:spcAft>
                <a:spcPts val="0"/>
              </a:spcAft>
              <a:defRPr sz="1000" b="0" i="0">
                <a:solidFill>
                  <a:srgbClr val="333333"/>
                </a:solidFill>
                <a:latin typeface="Lato"/>
              </a:defRPr>
            </a:pPr>
            <a: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gradFill rotWithShape="1">
          <a:gsLst>
            <a:gs pos="0">
              <a:srgbClr val="FBF3E8"/>
            </a:gs>
            <a:gs pos="100000">
              <a:srgbClr val="E4D2B8"/>
            </a:gs>
          </a:gsLst>
          <a:lin ang="8100000" scaled="0"/>
        </a:gradFill>
      </p:bgPr>
    </p:bg>
    <p:spTree>
      <p:nvGrpSpPr>
        <p:cNvPr id="1" name=""/>
        <p:cNvGrpSpPr/>
        <p:nvPr/>
      </p:nvGrpSpPr>
      <p:grpSpPr/>
      <p:sp>
        <p:nvSpPr>
          <p:cNvPr id="2" name="TextBox 1"/>
          <p:cNvSpPr txBox="1"/>
          <p:nvPr/>
        </p:nvSpPr>
        <p:spPr>
          <a:xfrm>
            <a:off x="850392" y="274320"/>
            <a:ext cx="9144000" cy="457200"/>
          </a:xfrm>
          <a:prstGeom prst="rect">
            <a:avLst/>
          </a:prstGeom>
          <a:noFill/>
        </p:spPr>
        <p:txBody>
          <a:bodyPr wrap="square"/>
          <a:lstStyle/>
          <a:p>
            <a:pPr algn="l">
              <a:lnSpc>
                <a:spcPts val="2879"/>
              </a:lnSpc>
              <a:spcBef>
                <a:spcPts val="0"/>
              </a:spcBef>
              <a:spcAft>
                <a:spcPts val="0"/>
              </a:spcAft>
              <a:defRPr sz="2400" b="1" i="0">
                <a:solidFill>
                  <a:srgbClr val="1A2B4C"/>
                </a:solidFill>
                <a:latin typeface="Montserrat"/>
              </a:defRPr>
            </a:pPr>
            <a:r>
              <a:t>HASIL PATH PLANNING — REGION A</a:t>
            </a:r>
          </a:p>
        </p:txBody>
      </p:sp>
      <p:sp>
        <p:nvSpPr>
          <p:cNvPr id="3" name="Rectangle 2"/>
          <p:cNvSpPr/>
          <p:nvPr/>
        </p:nvSpPr>
        <p:spPr>
          <a:xfrm>
            <a:off x="850392" y="685800"/>
            <a:ext cx="2286000" cy="25400"/>
          </a:xfrm>
          <a:prstGeom prst="rect">
            <a:avLst/>
          </a:prstGeom>
          <a:solidFill>
            <a:srgbClr val="F08C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map_with_paths_RA.png"/>
          <p:cNvPicPr>
            <a:picLocks noChangeAspect="1"/>
          </p:cNvPicPr>
          <p:nvPr/>
        </p:nvPicPr>
        <p:blipFill>
          <a:blip r:embed="rId2"/>
          <a:stretch>
            <a:fillRect/>
          </a:stretch>
        </p:blipFill>
        <p:spPr>
          <a:xfrm>
            <a:off x="850392" y="960120"/>
            <a:ext cx="4114800" cy="4114800"/>
          </a:xfrm>
          <a:prstGeom prst="rect">
            <a:avLst/>
          </a:prstGeom>
        </p:spPr>
      </p:pic>
      <p:graphicFrame>
        <p:nvGraphicFramePr>
          <p:cNvPr id="5" name="Table 4"/>
          <p:cNvGraphicFramePr>
            <a:graphicFrameLocks noGrp="1"/>
          </p:cNvGraphicFramePr>
          <p:nvPr/>
        </p:nvGraphicFramePr>
        <p:xfrm>
          <a:off x="5330952" y="960120"/>
          <a:ext cx="4206240" cy="1280160"/>
        </p:xfrm>
        <a:graphic>
          <a:graphicData uri="http://schemas.openxmlformats.org/drawingml/2006/table">
            <a:tbl>
              <a:tblPr firstRow="1" bandRow="1">
                <a:tableStyleId>{5C22544A-7EE6-4342-B048-85BDC9FD1C3A}</a:tableStyleId>
              </a:tblPr>
              <a:tblGrid>
                <a:gridCol w="548640"/>
                <a:gridCol w="914400"/>
                <a:gridCol w="914400"/>
                <a:gridCol w="914400"/>
                <a:gridCol w="914400"/>
              </a:tblGrid>
              <a:tr h="256032">
                <a:tc>
                  <a:txBody>
                    <a:bodyPr/>
                    <a:lstStyle/>
                    <a:p>
                      <a:pPr algn="ctr">
                        <a:defRPr sz="800" b="1">
                          <a:solidFill>
                            <a:srgbClr val="FFFFFF"/>
                          </a:solidFill>
                          <a:latin typeface="Montserrat"/>
                        </a:defRPr>
                      </a:pPr>
                      <a:r>
                        <a:t>Cost Scaling Factor</a:t>
                      </a:r>
                    </a:p>
                  </a:txBody>
                  <a:tcPr>
                    <a:solidFill>
                      <a:srgbClr val="003A70"/>
                    </a:solidFill>
                  </a:tcPr>
                </a:tc>
                <a:tc>
                  <a:txBody>
                    <a:bodyPr/>
                    <a:lstStyle/>
                    <a:p>
                      <a:pPr algn="ctr">
                        <a:defRPr sz="800" b="1">
                          <a:solidFill>
                            <a:srgbClr val="FFFFFF"/>
                          </a:solidFill>
                          <a:latin typeface="Montserrat"/>
                        </a:defRPr>
                      </a:pPr>
                      <a:r>
                        <a:t>Panjang path (m)</a:t>
                      </a:r>
                    </a:p>
                  </a:txBody>
                  <a:tcPr>
                    <a:solidFill>
                      <a:srgbClr val="003A70"/>
                    </a:solidFill>
                  </a:tcPr>
                </a:tc>
                <a:tc>
                  <a:txBody>
                    <a:bodyPr/>
                    <a:lstStyle/>
                    <a:p>
                      <a:pPr algn="ctr">
                        <a:defRPr sz="800" b="1">
                          <a:solidFill>
                            <a:srgbClr val="FFFFFF"/>
                          </a:solidFill>
                          <a:latin typeface="Montserrat"/>
                        </a:defRPr>
                      </a:pPr>
                      <a:r>
                        <a:t>Waktu komputasi (ms)</a:t>
                      </a:r>
                    </a:p>
                  </a:txBody>
                  <a:tcPr>
                    <a:solidFill>
                      <a:srgbClr val="003A70"/>
                    </a:solidFill>
                  </a:tcPr>
                </a:tc>
                <a:tc>
                  <a:txBody>
                    <a:bodyPr/>
                    <a:lstStyle/>
                    <a:p>
                      <a:pPr algn="ctr">
                        <a:defRPr sz="800" b="1">
                          <a:solidFill>
                            <a:srgbClr val="FFFFFF"/>
                          </a:solidFill>
                          <a:latin typeface="Montserrat"/>
                        </a:defRPr>
                      </a:pPr>
                      <a:r>
                        <a:t>min clearance (m)</a:t>
                      </a:r>
                    </a:p>
                  </a:txBody>
                  <a:tcPr>
                    <a:solidFill>
                      <a:srgbClr val="003A70"/>
                    </a:solidFill>
                  </a:tcPr>
                </a:tc>
                <a:tc>
                  <a:txBody>
                    <a:bodyPr/>
                    <a:lstStyle/>
                    <a:p>
                      <a:pPr algn="ctr">
                        <a:defRPr sz="800" b="1">
                          <a:solidFill>
                            <a:srgbClr val="FFFFFF"/>
                          </a:solidFill>
                          <a:latin typeface="Montserrat"/>
                        </a:defRPr>
                      </a:pPr>
                      <a:r>
                        <a:t>Jumlah waypoint</a:t>
                      </a:r>
                    </a:p>
                  </a:txBody>
                  <a:tcPr>
                    <a:solidFill>
                      <a:srgbClr val="003A70"/>
                    </a:solidFill>
                  </a:tcPr>
                </a:tc>
              </a:tr>
              <a:tr h="256032">
                <a:tc>
                  <a:txBody>
                    <a:bodyPr/>
                    <a:lstStyle/>
                    <a:p>
                      <a:pPr algn="ctr">
                        <a:defRPr sz="800">
                          <a:solidFill>
                            <a:srgbClr val="333333"/>
                          </a:solidFill>
                          <a:latin typeface="Lato"/>
                        </a:defRPr>
                      </a:pPr>
                      <a:r>
                        <a:t>10</a:t>
                      </a:r>
                    </a:p>
                  </a:txBody>
                  <a:tcPr/>
                </a:tc>
                <a:tc>
                  <a:txBody>
                    <a:bodyPr/>
                    <a:lstStyle/>
                    <a:p>
                      <a:pPr algn="ctr">
                        <a:defRPr sz="800">
                          <a:solidFill>
                            <a:srgbClr val="333333"/>
                          </a:solidFill>
                          <a:latin typeface="Lato"/>
                        </a:defRPr>
                      </a:pPr>
                      <a:r>
                        <a:t>1.116051</a:t>
                      </a:r>
                    </a:p>
                  </a:txBody>
                  <a:tcPr/>
                </a:tc>
                <a:tc>
                  <a:txBody>
                    <a:bodyPr/>
                    <a:lstStyle/>
                    <a:p>
                      <a:pPr algn="ctr">
                        <a:defRPr sz="800">
                          <a:solidFill>
                            <a:srgbClr val="333333"/>
                          </a:solidFill>
                          <a:latin typeface="Lato"/>
                        </a:defRPr>
                      </a:pPr>
                      <a:r>
                        <a:t>6.666027</a:t>
                      </a:r>
                    </a:p>
                  </a:txBody>
                  <a:tcPr/>
                </a:tc>
                <a:tc>
                  <a:txBody>
                    <a:bodyPr/>
                    <a:lstStyle/>
                    <a:p>
                      <a:pPr algn="ctr">
                        <a:defRPr sz="800">
                          <a:solidFill>
                            <a:srgbClr val="333333"/>
                          </a:solidFill>
                          <a:latin typeface="Lato"/>
                        </a:defRPr>
                      </a:pPr>
                      <a:r>
                        <a:t>0.220000</a:t>
                      </a:r>
                    </a:p>
                  </a:txBody>
                  <a:tcPr/>
                </a:tc>
                <a:tc>
                  <a:txBody>
                    <a:bodyPr/>
                    <a:lstStyle/>
                    <a:p>
                      <a:pPr algn="ctr">
                        <a:defRPr sz="800">
                          <a:solidFill>
                            <a:srgbClr val="333333"/>
                          </a:solidFill>
                          <a:latin typeface="Lato"/>
                        </a:defRPr>
                      </a:pPr>
                      <a:r>
                        <a:t>222</a:t>
                      </a:r>
                    </a:p>
                  </a:txBody>
                  <a:tcPr/>
                </a:tc>
              </a:tr>
              <a:tr h="256032">
                <a:tc>
                  <a:txBody>
                    <a:bodyPr/>
                    <a:lstStyle/>
                    <a:p>
                      <a:pPr algn="ctr">
                        <a:defRPr sz="800">
                          <a:solidFill>
                            <a:srgbClr val="333333"/>
                          </a:solidFill>
                          <a:latin typeface="Lato"/>
                        </a:defRPr>
                      </a:pPr>
                      <a:r>
                        <a:t>20</a:t>
                      </a:r>
                    </a:p>
                  </a:txBody>
                  <a:tcPr>
                    <a:solidFill>
                      <a:srgbClr val="FFF8E7"/>
                    </a:solidFill>
                  </a:tcPr>
                </a:tc>
                <a:tc>
                  <a:txBody>
                    <a:bodyPr/>
                    <a:lstStyle/>
                    <a:p>
                      <a:pPr algn="ctr">
                        <a:defRPr sz="800">
                          <a:solidFill>
                            <a:srgbClr val="333333"/>
                          </a:solidFill>
                          <a:latin typeface="Lato"/>
                        </a:defRPr>
                      </a:pPr>
                      <a:r>
                        <a:t>1.114836</a:t>
                      </a:r>
                    </a:p>
                  </a:txBody>
                  <a:tcPr>
                    <a:solidFill>
                      <a:srgbClr val="FFF8E7"/>
                    </a:solidFill>
                  </a:tcPr>
                </a:tc>
                <a:tc>
                  <a:txBody>
                    <a:bodyPr/>
                    <a:lstStyle/>
                    <a:p>
                      <a:pPr algn="ctr">
                        <a:defRPr sz="800">
                          <a:solidFill>
                            <a:srgbClr val="333333"/>
                          </a:solidFill>
                          <a:latin typeface="Lato"/>
                        </a:defRPr>
                      </a:pPr>
                      <a:r>
                        <a:t>6.897399</a:t>
                      </a:r>
                    </a:p>
                  </a:txBody>
                  <a:tcPr>
                    <a:solidFill>
                      <a:srgbClr val="FFF8E7"/>
                    </a:solidFill>
                  </a:tcPr>
                </a:tc>
                <a:tc>
                  <a:txBody>
                    <a:bodyPr/>
                    <a:lstStyle/>
                    <a:p>
                      <a:pPr algn="ctr">
                        <a:defRPr sz="800">
                          <a:solidFill>
                            <a:srgbClr val="333333"/>
                          </a:solidFill>
                          <a:latin typeface="Lato"/>
                        </a:defRPr>
                      </a:pPr>
                      <a:r>
                        <a:t>0.220000</a:t>
                      </a:r>
                    </a:p>
                  </a:txBody>
                  <a:tcPr>
                    <a:solidFill>
                      <a:srgbClr val="FFF8E7"/>
                    </a:solidFill>
                  </a:tcPr>
                </a:tc>
                <a:tc>
                  <a:txBody>
                    <a:bodyPr/>
                    <a:lstStyle/>
                    <a:p>
                      <a:pPr algn="ctr">
                        <a:defRPr sz="800">
                          <a:solidFill>
                            <a:srgbClr val="333333"/>
                          </a:solidFill>
                          <a:latin typeface="Lato"/>
                        </a:defRPr>
                      </a:pPr>
                      <a:r>
                        <a:t>223</a:t>
                      </a:r>
                    </a:p>
                  </a:txBody>
                  <a:tcPr>
                    <a:solidFill>
                      <a:srgbClr val="FFF8E7"/>
                    </a:solidFill>
                  </a:tcPr>
                </a:tc>
              </a:tr>
              <a:tr h="256032">
                <a:tc>
                  <a:txBody>
                    <a:bodyPr/>
                    <a:lstStyle/>
                    <a:p>
                      <a:pPr algn="ctr">
                        <a:defRPr sz="800">
                          <a:solidFill>
                            <a:srgbClr val="333333"/>
                          </a:solidFill>
                          <a:latin typeface="Lato"/>
                        </a:defRPr>
                      </a:pPr>
                      <a:r>
                        <a:t>50</a:t>
                      </a:r>
                    </a:p>
                  </a:txBody>
                  <a:tcPr/>
                </a:tc>
                <a:tc>
                  <a:txBody>
                    <a:bodyPr/>
                    <a:lstStyle/>
                    <a:p>
                      <a:pPr algn="ctr">
                        <a:defRPr sz="800">
                          <a:solidFill>
                            <a:srgbClr val="333333"/>
                          </a:solidFill>
                          <a:latin typeface="Lato"/>
                        </a:defRPr>
                      </a:pPr>
                      <a:r>
                        <a:t>1.122597</a:t>
                      </a:r>
                    </a:p>
                  </a:txBody>
                  <a:tcPr/>
                </a:tc>
                <a:tc>
                  <a:txBody>
                    <a:bodyPr/>
                    <a:lstStyle/>
                    <a:p>
                      <a:pPr algn="ctr">
                        <a:defRPr sz="800">
                          <a:solidFill>
                            <a:srgbClr val="333333"/>
                          </a:solidFill>
                          <a:latin typeface="Lato"/>
                        </a:defRPr>
                      </a:pPr>
                      <a:r>
                        <a:t>5.688345</a:t>
                      </a:r>
                    </a:p>
                  </a:txBody>
                  <a:tcPr/>
                </a:tc>
                <a:tc>
                  <a:txBody>
                    <a:bodyPr/>
                    <a:lstStyle/>
                    <a:p>
                      <a:pPr algn="ctr">
                        <a:defRPr sz="800">
                          <a:solidFill>
                            <a:srgbClr val="333333"/>
                          </a:solidFill>
                          <a:latin typeface="Lato"/>
                        </a:defRPr>
                      </a:pPr>
                      <a:r>
                        <a:t>0.219650</a:t>
                      </a:r>
                    </a:p>
                  </a:txBody>
                  <a:tcPr/>
                </a:tc>
                <a:tc>
                  <a:txBody>
                    <a:bodyPr/>
                    <a:lstStyle/>
                    <a:p>
                      <a:pPr algn="ctr">
                        <a:defRPr sz="800">
                          <a:solidFill>
                            <a:srgbClr val="333333"/>
                          </a:solidFill>
                          <a:latin typeface="Lato"/>
                        </a:defRPr>
                      </a:pPr>
                      <a:r>
                        <a:t>225</a:t>
                      </a:r>
                    </a:p>
                  </a:txBody>
                  <a:tcPr/>
                </a:tc>
              </a:tr>
              <a:tr h="256032">
                <a:tc>
                  <a:txBody>
                    <a:bodyPr/>
                    <a:lstStyle/>
                    <a:p>
                      <a:pPr algn="ctr">
                        <a:defRPr sz="800">
                          <a:solidFill>
                            <a:srgbClr val="333333"/>
                          </a:solidFill>
                          <a:latin typeface="Lato"/>
                        </a:defRPr>
                      </a:pPr>
                      <a:r>
                        <a:t>100</a:t>
                      </a:r>
                    </a:p>
                  </a:txBody>
                  <a:tcPr>
                    <a:solidFill>
                      <a:srgbClr val="FFF8E7"/>
                    </a:solidFill>
                  </a:tcPr>
                </a:tc>
                <a:tc>
                  <a:txBody>
                    <a:bodyPr/>
                    <a:lstStyle/>
                    <a:p>
                      <a:pPr algn="ctr">
                        <a:defRPr sz="800">
                          <a:solidFill>
                            <a:srgbClr val="333333"/>
                          </a:solidFill>
                          <a:latin typeface="Lato"/>
                        </a:defRPr>
                      </a:pPr>
                      <a:r>
                        <a:t>0.971836</a:t>
                      </a:r>
                    </a:p>
                  </a:txBody>
                  <a:tcPr>
                    <a:solidFill>
                      <a:srgbClr val="FFF8E7"/>
                    </a:solidFill>
                  </a:tcPr>
                </a:tc>
                <a:tc>
                  <a:txBody>
                    <a:bodyPr/>
                    <a:lstStyle/>
                    <a:p>
                      <a:pPr algn="ctr">
                        <a:defRPr sz="800">
                          <a:solidFill>
                            <a:srgbClr val="333333"/>
                          </a:solidFill>
                          <a:latin typeface="Lato"/>
                        </a:defRPr>
                      </a:pPr>
                      <a:r>
                        <a:t>6.484874</a:t>
                      </a:r>
                    </a:p>
                  </a:txBody>
                  <a:tcPr>
                    <a:solidFill>
                      <a:srgbClr val="FFF8E7"/>
                    </a:solidFill>
                  </a:tcPr>
                </a:tc>
                <a:tc>
                  <a:txBody>
                    <a:bodyPr/>
                    <a:lstStyle/>
                    <a:p>
                      <a:pPr algn="ctr">
                        <a:defRPr sz="800">
                          <a:solidFill>
                            <a:srgbClr val="333333"/>
                          </a:solidFill>
                          <a:latin typeface="Lato"/>
                        </a:defRPr>
                      </a:pPr>
                      <a:r>
                        <a:t>0.216470</a:t>
                      </a:r>
                    </a:p>
                  </a:txBody>
                  <a:tcPr>
                    <a:solidFill>
                      <a:srgbClr val="FFF8E7"/>
                    </a:solidFill>
                  </a:tcPr>
                </a:tc>
                <a:tc>
                  <a:txBody>
                    <a:bodyPr/>
                    <a:lstStyle/>
                    <a:p>
                      <a:pPr algn="ctr">
                        <a:defRPr sz="800">
                          <a:solidFill>
                            <a:srgbClr val="333333"/>
                          </a:solidFill>
                          <a:latin typeface="Lato"/>
                        </a:defRPr>
                      </a:pPr>
                      <a:r>
                        <a:t>193</a:t>
                      </a:r>
                    </a:p>
                  </a:txBody>
                  <a:tcPr>
                    <a:solidFill>
                      <a:srgbClr val="FFF8E7"/>
                    </a:solidFill>
                  </a:tcPr>
                </a:tc>
              </a:tr>
            </a:tbl>
          </a:graphicData>
        </a:graphic>
      </p:graphicFrame>
      <p:sp>
        <p:nvSpPr>
          <p:cNvPr id="6" name="TextBox 5"/>
          <p:cNvSpPr txBox="1"/>
          <p:nvPr/>
        </p:nvSpPr>
        <p:spPr>
          <a:xfrm>
            <a:off x="5330952" y="731520"/>
            <a:ext cx="4206240" cy="201168"/>
          </a:xfrm>
          <a:prstGeom prst="rect">
            <a:avLst/>
          </a:prstGeom>
          <a:noFill/>
        </p:spPr>
        <p:txBody>
          <a:bodyPr wrap="square"/>
          <a:lstStyle/>
          <a:p>
            <a:pPr algn="l">
              <a:lnSpc>
                <a:spcPts val="1080"/>
              </a:lnSpc>
              <a:spcBef>
                <a:spcPts val="0"/>
              </a:spcBef>
              <a:spcAft>
                <a:spcPts val="0"/>
              </a:spcAft>
              <a:defRPr sz="900" b="1" i="0">
                <a:solidFill>
                  <a:srgbClr val="1A2B4C"/>
                </a:solidFill>
                <a:latin typeface="Montserrat"/>
              </a:defRPr>
            </a:pPr>
            <a:r>
              <a:t>Tabel CSF — Panjang, Waktu, Clearance, Waypoint</a:t>
            </a:r>
          </a:p>
        </p:txBody>
      </p:sp>
      <p:graphicFrame>
        <p:nvGraphicFramePr>
          <p:cNvPr id="7" name="Table 6"/>
          <p:cNvGraphicFramePr>
            <a:graphicFrameLocks noGrp="1"/>
          </p:cNvGraphicFramePr>
          <p:nvPr/>
        </p:nvGraphicFramePr>
        <p:xfrm>
          <a:off x="5330952" y="2514600"/>
          <a:ext cx="3291840" cy="1280160"/>
        </p:xfrm>
        <a:graphic>
          <a:graphicData uri="http://schemas.openxmlformats.org/drawingml/2006/table">
            <a:tbl>
              <a:tblPr firstRow="1" bandRow="1">
                <a:tableStyleId>{5C22544A-7EE6-4342-B048-85BDC9FD1C3A}</a:tableStyleId>
              </a:tblPr>
              <a:tblGrid>
                <a:gridCol w="548640"/>
                <a:gridCol w="914400"/>
                <a:gridCol w="914400"/>
                <a:gridCol w="914400"/>
              </a:tblGrid>
              <a:tr h="256032">
                <a:tc>
                  <a:txBody>
                    <a:bodyPr/>
                    <a:lstStyle/>
                    <a:p>
                      <a:pPr algn="ctr">
                        <a:defRPr sz="800" b="1">
                          <a:solidFill>
                            <a:srgbClr val="FFFFFF"/>
                          </a:solidFill>
                          <a:latin typeface="Montserrat"/>
                        </a:defRPr>
                      </a:pPr>
                      <a:r>
                        <a:t>CSF</a:t>
                      </a:r>
                    </a:p>
                  </a:txBody>
                  <a:tcPr>
                    <a:solidFill>
                      <a:srgbClr val="003A70"/>
                    </a:solidFill>
                  </a:tcPr>
                </a:tc>
                <a:tc>
                  <a:txBody>
                    <a:bodyPr/>
                    <a:lstStyle/>
                    <a:p>
                      <a:pPr algn="ctr">
                        <a:defRPr sz="800" b="1">
                          <a:solidFill>
                            <a:srgbClr val="FFFFFF"/>
                          </a:solidFill>
                          <a:latin typeface="Montserrat"/>
                        </a:defRPr>
                      </a:pPr>
                      <a:r>
                        <a:t>mean cross track</a:t>
                      </a:r>
                    </a:p>
                  </a:txBody>
                  <a:tcPr>
                    <a:solidFill>
                      <a:srgbClr val="003A70"/>
                    </a:solidFill>
                  </a:tcPr>
                </a:tc>
                <a:tc>
                  <a:txBody>
                    <a:bodyPr/>
                    <a:lstStyle/>
                    <a:p>
                      <a:pPr algn="ctr">
                        <a:defRPr sz="800" b="1">
                          <a:solidFill>
                            <a:srgbClr val="FFFFFF"/>
                          </a:solidFill>
                          <a:latin typeface="Montserrat"/>
                        </a:defRPr>
                      </a:pPr>
                      <a:r>
                        <a:t>max cross track</a:t>
                      </a:r>
                    </a:p>
                  </a:txBody>
                  <a:tcPr>
                    <a:solidFill>
                      <a:srgbClr val="003A70"/>
                    </a:solidFill>
                  </a:tcPr>
                </a:tc>
                <a:tc>
                  <a:txBody>
                    <a:bodyPr/>
                    <a:lstStyle/>
                    <a:p>
                      <a:pPr algn="ctr">
                        <a:defRPr sz="800" b="1">
                          <a:solidFill>
                            <a:srgbClr val="FFFFFF"/>
                          </a:solidFill>
                          <a:latin typeface="Montserrat"/>
                        </a:defRPr>
                      </a:pPr>
                      <a:r>
                        <a:t>standard deviation</a:t>
                      </a:r>
                    </a:p>
                  </a:txBody>
                  <a:tcPr>
                    <a:solidFill>
                      <a:srgbClr val="003A70"/>
                    </a:solidFill>
                  </a:tcPr>
                </a:tc>
              </a:tr>
              <a:tr h="256032">
                <a:tc>
                  <a:txBody>
                    <a:bodyPr/>
                    <a:lstStyle/>
                    <a:p>
                      <a:pPr algn="ctr">
                        <a:defRPr sz="800">
                          <a:solidFill>
                            <a:srgbClr val="333333"/>
                          </a:solidFill>
                          <a:latin typeface="Lato"/>
                        </a:defRPr>
                      </a:pPr>
                      <a:r>
                        <a:t>10</a:t>
                      </a:r>
                    </a:p>
                  </a:txBody>
                  <a:tcPr/>
                </a:tc>
                <a:tc>
                  <a:txBody>
                    <a:bodyPr/>
                    <a:lstStyle/>
                    <a:p>
                      <a:pPr algn="ctr">
                        <a:defRPr sz="800">
                          <a:solidFill>
                            <a:srgbClr val="333333"/>
                          </a:solidFill>
                          <a:latin typeface="Lato"/>
                        </a:defRPr>
                      </a:pPr>
                      <a:r>
                        <a:t>0.006029</a:t>
                      </a:r>
                    </a:p>
                  </a:txBody>
                  <a:tcPr/>
                </a:tc>
                <a:tc>
                  <a:txBody>
                    <a:bodyPr/>
                    <a:lstStyle/>
                    <a:p>
                      <a:pPr algn="ctr">
                        <a:defRPr sz="800">
                          <a:solidFill>
                            <a:srgbClr val="333333"/>
                          </a:solidFill>
                          <a:latin typeface="Lato"/>
                        </a:defRPr>
                      </a:pPr>
                      <a:r>
                        <a:t>0.025937</a:t>
                      </a:r>
                    </a:p>
                  </a:txBody>
                  <a:tcPr/>
                </a:tc>
                <a:tc>
                  <a:txBody>
                    <a:bodyPr/>
                    <a:lstStyle/>
                    <a:p>
                      <a:pPr algn="ctr">
                        <a:defRPr sz="800">
                          <a:solidFill>
                            <a:srgbClr val="333333"/>
                          </a:solidFill>
                          <a:latin typeface="Lato"/>
                        </a:defRPr>
                      </a:pPr>
                      <a:r>
                        <a:t>0.006468</a:t>
                      </a:r>
                    </a:p>
                  </a:txBody>
                  <a:tcPr/>
                </a:tc>
              </a:tr>
              <a:tr h="256032">
                <a:tc>
                  <a:txBody>
                    <a:bodyPr/>
                    <a:lstStyle/>
                    <a:p>
                      <a:pPr algn="ctr">
                        <a:defRPr sz="800">
                          <a:solidFill>
                            <a:srgbClr val="333333"/>
                          </a:solidFill>
                          <a:latin typeface="Lato"/>
                        </a:defRPr>
                      </a:pPr>
                      <a:r>
                        <a:t>20</a:t>
                      </a:r>
                    </a:p>
                  </a:txBody>
                  <a:tcPr>
                    <a:solidFill>
                      <a:srgbClr val="FFF8E7"/>
                    </a:solidFill>
                  </a:tcPr>
                </a:tc>
                <a:tc>
                  <a:txBody>
                    <a:bodyPr/>
                    <a:lstStyle/>
                    <a:p>
                      <a:pPr algn="ctr">
                        <a:defRPr sz="800">
                          <a:solidFill>
                            <a:srgbClr val="333333"/>
                          </a:solidFill>
                          <a:latin typeface="Lato"/>
                        </a:defRPr>
                      </a:pPr>
                      <a:r>
                        <a:t>0.006880</a:t>
                      </a:r>
                    </a:p>
                  </a:txBody>
                  <a:tcPr>
                    <a:solidFill>
                      <a:srgbClr val="FFF8E7"/>
                    </a:solidFill>
                  </a:tcPr>
                </a:tc>
                <a:tc>
                  <a:txBody>
                    <a:bodyPr/>
                    <a:lstStyle/>
                    <a:p>
                      <a:pPr algn="ctr">
                        <a:defRPr sz="800">
                          <a:solidFill>
                            <a:srgbClr val="333333"/>
                          </a:solidFill>
                          <a:latin typeface="Lato"/>
                        </a:defRPr>
                      </a:pPr>
                      <a:r>
                        <a:t>0.029719</a:t>
                      </a:r>
                    </a:p>
                  </a:txBody>
                  <a:tcPr>
                    <a:solidFill>
                      <a:srgbClr val="FFF8E7"/>
                    </a:solidFill>
                  </a:tcPr>
                </a:tc>
                <a:tc>
                  <a:txBody>
                    <a:bodyPr/>
                    <a:lstStyle/>
                    <a:p>
                      <a:pPr algn="ctr">
                        <a:defRPr sz="800">
                          <a:solidFill>
                            <a:srgbClr val="333333"/>
                          </a:solidFill>
                          <a:latin typeface="Lato"/>
                        </a:defRPr>
                      </a:pPr>
                      <a:r>
                        <a:t>0.007214</a:t>
                      </a:r>
                    </a:p>
                  </a:txBody>
                  <a:tcPr>
                    <a:solidFill>
                      <a:srgbClr val="FFF8E7"/>
                    </a:solidFill>
                  </a:tcPr>
                </a:tc>
              </a:tr>
              <a:tr h="256032">
                <a:tc>
                  <a:txBody>
                    <a:bodyPr/>
                    <a:lstStyle/>
                    <a:p>
                      <a:pPr algn="ctr">
                        <a:defRPr sz="800">
                          <a:solidFill>
                            <a:srgbClr val="333333"/>
                          </a:solidFill>
                          <a:latin typeface="Lato"/>
                        </a:defRPr>
                      </a:pPr>
                      <a:r>
                        <a:t>50</a:t>
                      </a:r>
                    </a:p>
                  </a:txBody>
                  <a:tcPr/>
                </a:tc>
                <a:tc>
                  <a:txBody>
                    <a:bodyPr/>
                    <a:lstStyle/>
                    <a:p>
                      <a:pPr algn="ctr">
                        <a:defRPr sz="800">
                          <a:solidFill>
                            <a:srgbClr val="333333"/>
                          </a:solidFill>
                          <a:latin typeface="Lato"/>
                        </a:defRPr>
                      </a:pPr>
                      <a:r>
                        <a:t>0.006536</a:t>
                      </a:r>
                    </a:p>
                  </a:txBody>
                  <a:tcPr/>
                </a:tc>
                <a:tc>
                  <a:txBody>
                    <a:bodyPr/>
                    <a:lstStyle/>
                    <a:p>
                      <a:pPr algn="ctr">
                        <a:defRPr sz="800">
                          <a:solidFill>
                            <a:srgbClr val="333333"/>
                          </a:solidFill>
                          <a:latin typeface="Lato"/>
                        </a:defRPr>
                      </a:pPr>
                      <a:r>
                        <a:t>0.033099</a:t>
                      </a:r>
                    </a:p>
                  </a:txBody>
                  <a:tcPr/>
                </a:tc>
                <a:tc>
                  <a:txBody>
                    <a:bodyPr/>
                    <a:lstStyle/>
                    <a:p>
                      <a:pPr algn="ctr">
                        <a:defRPr sz="800">
                          <a:solidFill>
                            <a:srgbClr val="333333"/>
                          </a:solidFill>
                          <a:latin typeface="Lato"/>
                        </a:defRPr>
                      </a:pPr>
                      <a:r>
                        <a:t>0.007537</a:t>
                      </a:r>
                    </a:p>
                  </a:txBody>
                  <a:tcPr/>
                </a:tc>
              </a:tr>
              <a:tr h="256032">
                <a:tc>
                  <a:txBody>
                    <a:bodyPr/>
                    <a:lstStyle/>
                    <a:p>
                      <a:pPr algn="ctr">
                        <a:defRPr sz="800">
                          <a:solidFill>
                            <a:srgbClr val="333333"/>
                          </a:solidFill>
                          <a:latin typeface="Lato"/>
                        </a:defRPr>
                      </a:pPr>
                      <a:r>
                        <a:t>100</a:t>
                      </a:r>
                    </a:p>
                  </a:txBody>
                  <a:tcPr>
                    <a:solidFill>
                      <a:srgbClr val="FFF8E7"/>
                    </a:solidFill>
                  </a:tcPr>
                </a:tc>
                <a:tc>
                  <a:txBody>
                    <a:bodyPr/>
                    <a:lstStyle/>
                    <a:p>
                      <a:pPr algn="ctr">
                        <a:defRPr sz="800">
                          <a:solidFill>
                            <a:srgbClr val="333333"/>
                          </a:solidFill>
                          <a:latin typeface="Lato"/>
                        </a:defRPr>
                      </a:pPr>
                      <a:r>
                        <a:t>0.003537</a:t>
                      </a:r>
                    </a:p>
                  </a:txBody>
                  <a:tcPr>
                    <a:solidFill>
                      <a:srgbClr val="FFF8E7"/>
                    </a:solidFill>
                  </a:tcPr>
                </a:tc>
                <a:tc>
                  <a:txBody>
                    <a:bodyPr/>
                    <a:lstStyle/>
                    <a:p>
                      <a:pPr algn="ctr">
                        <a:defRPr sz="800">
                          <a:solidFill>
                            <a:srgbClr val="333333"/>
                          </a:solidFill>
                          <a:latin typeface="Lato"/>
                        </a:defRPr>
                      </a:pPr>
                      <a:r>
                        <a:t>0.010000</a:t>
                      </a:r>
                    </a:p>
                  </a:txBody>
                  <a:tcPr>
                    <a:solidFill>
                      <a:srgbClr val="FFF8E7"/>
                    </a:solidFill>
                  </a:tcPr>
                </a:tc>
                <a:tc>
                  <a:txBody>
                    <a:bodyPr/>
                    <a:lstStyle/>
                    <a:p>
                      <a:pPr algn="ctr">
                        <a:defRPr sz="800">
                          <a:solidFill>
                            <a:srgbClr val="333333"/>
                          </a:solidFill>
                          <a:latin typeface="Lato"/>
                        </a:defRPr>
                      </a:pPr>
                      <a:r>
                        <a:t>0.002203</a:t>
                      </a:r>
                    </a:p>
                  </a:txBody>
                  <a:tcPr>
                    <a:solidFill>
                      <a:srgbClr val="FFF8E7"/>
                    </a:solidFill>
                  </a:tcPr>
                </a:tc>
              </a:tr>
            </a:tbl>
          </a:graphicData>
        </a:graphic>
      </p:graphicFrame>
      <p:sp>
        <p:nvSpPr>
          <p:cNvPr id="8" name="TextBox 7"/>
          <p:cNvSpPr txBox="1"/>
          <p:nvPr/>
        </p:nvSpPr>
        <p:spPr>
          <a:xfrm>
            <a:off x="5330952" y="2286000"/>
            <a:ext cx="3291840" cy="201168"/>
          </a:xfrm>
          <a:prstGeom prst="rect">
            <a:avLst/>
          </a:prstGeom>
          <a:noFill/>
        </p:spPr>
        <p:txBody>
          <a:bodyPr wrap="square"/>
          <a:lstStyle/>
          <a:p>
            <a:pPr algn="l">
              <a:lnSpc>
                <a:spcPts val="1080"/>
              </a:lnSpc>
              <a:spcBef>
                <a:spcPts val="0"/>
              </a:spcBef>
              <a:spcAft>
                <a:spcPts val="0"/>
              </a:spcAft>
              <a:defRPr sz="900" b="1" i="0">
                <a:solidFill>
                  <a:srgbClr val="1A2B4C"/>
                </a:solidFill>
                <a:latin typeface="Montserrat"/>
              </a:defRPr>
            </a:pPr>
            <a:r>
              <a:t>Tabel Deviasi — Mean/Max Cross Track &amp; SD</a:t>
            </a:r>
          </a:p>
        </p:txBody>
      </p:sp>
      <p:sp>
        <p:nvSpPr>
          <p:cNvPr id="9" name="Rounded Rectangle 8"/>
          <p:cNvSpPr/>
          <p:nvPr/>
        </p:nvSpPr>
        <p:spPr>
          <a:xfrm>
            <a:off x="5330952" y="4160520"/>
            <a:ext cx="4206240" cy="914400"/>
          </a:xfrm>
          <a:prstGeom prst="round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330952" y="4160520"/>
            <a:ext cx="50800" cy="91440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68112" y="4206240"/>
            <a:ext cx="3931920" cy="822960"/>
          </a:xfrm>
          <a:prstGeom prst="rect">
            <a:avLst/>
          </a:prstGeom>
          <a:noFill/>
        </p:spPr>
        <p:txBody>
          <a:bodyPr wrap="square"/>
          <a:lstStyle/>
          <a:p>
            <a:pPr algn="l">
              <a:lnSpc>
                <a:spcPts val="1350"/>
              </a:lnSpc>
              <a:spcBef>
                <a:spcPts val="0"/>
              </a:spcBef>
              <a:spcAft>
                <a:spcPts val="0"/>
              </a:spcAft>
              <a:defRPr sz="1000" b="0" i="0">
                <a:solidFill>
                  <a:srgbClr val="333333"/>
                </a:solidFill>
                <a:latin typeface="Lato"/>
              </a:defRPr>
            </a:pPr>
            <a:r>
              <a:t>CSF 100 = path terpendek (0.97 m) &amp; paling efisien.</a:t>
            </a:r>
            <a:br/>
            <a:r>
              <a:t>CSF 10/20/50 = path lebih panjang, di tengah lorong.</a:t>
            </a:r>
            <a:br/>
            <a:r>
              <a:t>SD CSF 100 paling rendah (0.002 m) -&gt; konsistensi tinggi.</a:t>
            </a:r>
          </a:p>
        </p:txBody>
      </p:sp>
      <p:sp>
        <p:nvSpPr>
          <p:cNvPr id="12" name="TextBox 11"/>
          <p:cNvSpPr txBox="1"/>
          <p:nvPr/>
        </p:nvSpPr>
        <p:spPr>
          <a:xfrm>
            <a:off x="10884103" y="6446520"/>
            <a:ext cx="457200" cy="274320"/>
          </a:xfrm>
          <a:prstGeom prst="rect">
            <a:avLst/>
          </a:prstGeom>
          <a:noFill/>
        </p:spPr>
        <p:txBody>
          <a:bodyPr wrap="square"/>
          <a:lstStyle/>
          <a:p>
            <a:pPr algn="r">
              <a:lnSpc>
                <a:spcPts val="1200"/>
              </a:lnSpc>
              <a:spcBef>
                <a:spcPts val="0"/>
              </a:spcBef>
              <a:spcAft>
                <a:spcPts val="0"/>
              </a:spcAft>
              <a:defRPr sz="1000" b="0" i="0">
                <a:solidFill>
                  <a:srgbClr val="333333"/>
                </a:solidFill>
                <a:latin typeface="Lato"/>
              </a:defRPr>
            </a:pPr>
            <a: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gradFill rotWithShape="1">
          <a:gsLst>
            <a:gs pos="0">
              <a:srgbClr val="FBF3E8"/>
            </a:gs>
            <a:gs pos="100000">
              <a:srgbClr val="E4D2B8"/>
            </a:gs>
          </a:gsLst>
          <a:lin ang="8100000" scaled="0"/>
        </a:gradFill>
      </p:bgPr>
    </p:bg>
    <p:spTree>
      <p:nvGrpSpPr>
        <p:cNvPr id="1" name=""/>
        <p:cNvGrpSpPr/>
        <p:nvPr/>
      </p:nvGrpSpPr>
      <p:grpSpPr/>
      <p:sp>
        <p:nvSpPr>
          <p:cNvPr id="2" name="TextBox 1"/>
          <p:cNvSpPr txBox="1"/>
          <p:nvPr/>
        </p:nvSpPr>
        <p:spPr>
          <a:xfrm>
            <a:off x="850392" y="274320"/>
            <a:ext cx="9144000" cy="457200"/>
          </a:xfrm>
          <a:prstGeom prst="rect">
            <a:avLst/>
          </a:prstGeom>
          <a:noFill/>
        </p:spPr>
        <p:txBody>
          <a:bodyPr wrap="square"/>
          <a:lstStyle/>
          <a:p>
            <a:pPr algn="l">
              <a:lnSpc>
                <a:spcPts val="2879"/>
              </a:lnSpc>
              <a:spcBef>
                <a:spcPts val="0"/>
              </a:spcBef>
              <a:spcAft>
                <a:spcPts val="0"/>
              </a:spcAft>
              <a:defRPr sz="2400" b="1" i="0">
                <a:solidFill>
                  <a:srgbClr val="1A2B4C"/>
                </a:solidFill>
                <a:latin typeface="Montserrat"/>
              </a:defRPr>
            </a:pPr>
            <a:r>
              <a:t>HASIL PATH PLANNING — REGION B</a:t>
            </a:r>
          </a:p>
        </p:txBody>
      </p:sp>
      <p:sp>
        <p:nvSpPr>
          <p:cNvPr id="3" name="Rectangle 2"/>
          <p:cNvSpPr/>
          <p:nvPr/>
        </p:nvSpPr>
        <p:spPr>
          <a:xfrm>
            <a:off x="850392" y="685800"/>
            <a:ext cx="2286000" cy="25400"/>
          </a:xfrm>
          <a:prstGeom prst="rect">
            <a:avLst/>
          </a:prstGeom>
          <a:solidFill>
            <a:srgbClr val="F08C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map_with_paths_RB.png"/>
          <p:cNvPicPr>
            <a:picLocks noChangeAspect="1"/>
          </p:cNvPicPr>
          <p:nvPr/>
        </p:nvPicPr>
        <p:blipFill>
          <a:blip r:embed="rId2"/>
          <a:stretch>
            <a:fillRect/>
          </a:stretch>
        </p:blipFill>
        <p:spPr>
          <a:xfrm>
            <a:off x="850392" y="960120"/>
            <a:ext cx="4114800" cy="4114800"/>
          </a:xfrm>
          <a:prstGeom prst="rect">
            <a:avLst/>
          </a:prstGeom>
        </p:spPr>
      </p:pic>
      <p:graphicFrame>
        <p:nvGraphicFramePr>
          <p:cNvPr id="5" name="Table 4"/>
          <p:cNvGraphicFramePr>
            <a:graphicFrameLocks noGrp="1"/>
          </p:cNvGraphicFramePr>
          <p:nvPr/>
        </p:nvGraphicFramePr>
        <p:xfrm>
          <a:off x="5330952" y="960120"/>
          <a:ext cx="4206240" cy="1280160"/>
        </p:xfrm>
        <a:graphic>
          <a:graphicData uri="http://schemas.openxmlformats.org/drawingml/2006/table">
            <a:tbl>
              <a:tblPr firstRow="1" bandRow="1">
                <a:tableStyleId>{5C22544A-7EE6-4342-B048-85BDC9FD1C3A}</a:tableStyleId>
              </a:tblPr>
              <a:tblGrid>
                <a:gridCol w="548640"/>
                <a:gridCol w="914400"/>
                <a:gridCol w="914400"/>
                <a:gridCol w="914400"/>
                <a:gridCol w="914400"/>
              </a:tblGrid>
              <a:tr h="256032">
                <a:tc>
                  <a:txBody>
                    <a:bodyPr/>
                    <a:lstStyle/>
                    <a:p>
                      <a:pPr algn="ctr">
                        <a:defRPr sz="800" b="1">
                          <a:solidFill>
                            <a:srgbClr val="FFFFFF"/>
                          </a:solidFill>
                          <a:latin typeface="Montserrat"/>
                        </a:defRPr>
                      </a:pPr>
                      <a:r>
                        <a:t>Cost Scaling Factor</a:t>
                      </a:r>
                    </a:p>
                  </a:txBody>
                  <a:tcPr>
                    <a:solidFill>
                      <a:srgbClr val="003A70"/>
                    </a:solidFill>
                  </a:tcPr>
                </a:tc>
                <a:tc>
                  <a:txBody>
                    <a:bodyPr/>
                    <a:lstStyle/>
                    <a:p>
                      <a:pPr algn="ctr">
                        <a:defRPr sz="800" b="1">
                          <a:solidFill>
                            <a:srgbClr val="FFFFFF"/>
                          </a:solidFill>
                          <a:latin typeface="Montserrat"/>
                        </a:defRPr>
                      </a:pPr>
                      <a:r>
                        <a:t>Panjang path (m)</a:t>
                      </a:r>
                    </a:p>
                  </a:txBody>
                  <a:tcPr>
                    <a:solidFill>
                      <a:srgbClr val="003A70"/>
                    </a:solidFill>
                  </a:tcPr>
                </a:tc>
                <a:tc>
                  <a:txBody>
                    <a:bodyPr/>
                    <a:lstStyle/>
                    <a:p>
                      <a:pPr algn="ctr">
                        <a:defRPr sz="800" b="1">
                          <a:solidFill>
                            <a:srgbClr val="FFFFFF"/>
                          </a:solidFill>
                          <a:latin typeface="Montserrat"/>
                        </a:defRPr>
                      </a:pPr>
                      <a:r>
                        <a:t>Waktu komputasi (ms)</a:t>
                      </a:r>
                    </a:p>
                  </a:txBody>
                  <a:tcPr>
                    <a:solidFill>
                      <a:srgbClr val="003A70"/>
                    </a:solidFill>
                  </a:tcPr>
                </a:tc>
                <a:tc>
                  <a:txBody>
                    <a:bodyPr/>
                    <a:lstStyle/>
                    <a:p>
                      <a:pPr algn="ctr">
                        <a:defRPr sz="800" b="1">
                          <a:solidFill>
                            <a:srgbClr val="FFFFFF"/>
                          </a:solidFill>
                          <a:latin typeface="Montserrat"/>
                        </a:defRPr>
                      </a:pPr>
                      <a:r>
                        <a:t>min clearance (m)</a:t>
                      </a:r>
                    </a:p>
                  </a:txBody>
                  <a:tcPr>
                    <a:solidFill>
                      <a:srgbClr val="003A70"/>
                    </a:solidFill>
                  </a:tcPr>
                </a:tc>
                <a:tc>
                  <a:txBody>
                    <a:bodyPr/>
                    <a:lstStyle/>
                    <a:p>
                      <a:pPr algn="ctr">
                        <a:defRPr sz="800" b="1">
                          <a:solidFill>
                            <a:srgbClr val="FFFFFF"/>
                          </a:solidFill>
                          <a:latin typeface="Montserrat"/>
                        </a:defRPr>
                      </a:pPr>
                      <a:r>
                        <a:t>Jumlah waypoint</a:t>
                      </a:r>
                    </a:p>
                  </a:txBody>
                  <a:tcPr>
                    <a:solidFill>
                      <a:srgbClr val="003A70"/>
                    </a:solidFill>
                  </a:tcPr>
                </a:tc>
              </a:tr>
              <a:tr h="256032">
                <a:tc>
                  <a:txBody>
                    <a:bodyPr/>
                    <a:lstStyle/>
                    <a:p>
                      <a:pPr algn="ctr">
                        <a:defRPr sz="800">
                          <a:solidFill>
                            <a:srgbClr val="333333"/>
                          </a:solidFill>
                          <a:latin typeface="Lato"/>
                        </a:defRPr>
                      </a:pPr>
                      <a:r>
                        <a:t>10</a:t>
                      </a:r>
                    </a:p>
                  </a:txBody>
                  <a:tcPr/>
                </a:tc>
                <a:tc>
                  <a:txBody>
                    <a:bodyPr/>
                    <a:lstStyle/>
                    <a:p>
                      <a:pPr algn="ctr">
                        <a:defRPr sz="800">
                          <a:solidFill>
                            <a:srgbClr val="333333"/>
                          </a:solidFill>
                          <a:latin typeface="Lato"/>
                        </a:defRPr>
                      </a:pPr>
                      <a:r>
                        <a:t>0.591730</a:t>
                      </a:r>
                    </a:p>
                  </a:txBody>
                  <a:tcPr/>
                </a:tc>
                <a:tc>
                  <a:txBody>
                    <a:bodyPr/>
                    <a:lstStyle/>
                    <a:p>
                      <a:pPr algn="ctr">
                        <a:defRPr sz="800">
                          <a:solidFill>
                            <a:srgbClr val="333333"/>
                          </a:solidFill>
                          <a:latin typeface="Lato"/>
                        </a:defRPr>
                      </a:pPr>
                      <a:r>
                        <a:t>152.256312</a:t>
                      </a:r>
                    </a:p>
                  </a:txBody>
                  <a:tcPr/>
                </a:tc>
                <a:tc>
                  <a:txBody>
                    <a:bodyPr/>
                    <a:lstStyle/>
                    <a:p>
                      <a:pPr algn="ctr">
                        <a:defRPr sz="800">
                          <a:solidFill>
                            <a:srgbClr val="333333"/>
                          </a:solidFill>
                          <a:latin typeface="Lato"/>
                        </a:defRPr>
                      </a:pPr>
                      <a:r>
                        <a:t>0.208163</a:t>
                      </a:r>
                    </a:p>
                  </a:txBody>
                  <a:tcPr/>
                </a:tc>
                <a:tc>
                  <a:txBody>
                    <a:bodyPr/>
                    <a:lstStyle/>
                    <a:p>
                      <a:pPr algn="ctr">
                        <a:defRPr sz="800">
                          <a:solidFill>
                            <a:srgbClr val="333333"/>
                          </a:solidFill>
                          <a:latin typeface="Lato"/>
                        </a:defRPr>
                      </a:pPr>
                      <a:r>
                        <a:t>118</a:t>
                      </a:r>
                    </a:p>
                  </a:txBody>
                  <a:tcPr/>
                </a:tc>
              </a:tr>
              <a:tr h="256032">
                <a:tc>
                  <a:txBody>
                    <a:bodyPr/>
                    <a:lstStyle/>
                    <a:p>
                      <a:pPr algn="ctr">
                        <a:defRPr sz="800">
                          <a:solidFill>
                            <a:srgbClr val="333333"/>
                          </a:solidFill>
                          <a:latin typeface="Lato"/>
                        </a:defRPr>
                      </a:pPr>
                      <a:r>
                        <a:t>20</a:t>
                      </a:r>
                    </a:p>
                  </a:txBody>
                  <a:tcPr>
                    <a:solidFill>
                      <a:srgbClr val="FFF8E7"/>
                    </a:solidFill>
                  </a:tcPr>
                </a:tc>
                <a:tc>
                  <a:txBody>
                    <a:bodyPr/>
                    <a:lstStyle/>
                    <a:p>
                      <a:pPr algn="ctr">
                        <a:defRPr sz="800">
                          <a:solidFill>
                            <a:srgbClr val="333333"/>
                          </a:solidFill>
                          <a:latin typeface="Lato"/>
                        </a:defRPr>
                      </a:pPr>
                      <a:r>
                        <a:t>0.591773</a:t>
                      </a:r>
                    </a:p>
                  </a:txBody>
                  <a:tcPr>
                    <a:solidFill>
                      <a:srgbClr val="FFF8E7"/>
                    </a:solidFill>
                  </a:tcPr>
                </a:tc>
                <a:tc>
                  <a:txBody>
                    <a:bodyPr/>
                    <a:lstStyle/>
                    <a:p>
                      <a:pPr algn="ctr">
                        <a:defRPr sz="800">
                          <a:solidFill>
                            <a:srgbClr val="333333"/>
                          </a:solidFill>
                          <a:latin typeface="Lato"/>
                        </a:defRPr>
                      </a:pPr>
                      <a:r>
                        <a:t>135.818868</a:t>
                      </a:r>
                    </a:p>
                  </a:txBody>
                  <a:tcPr>
                    <a:solidFill>
                      <a:srgbClr val="FFF8E7"/>
                    </a:solidFill>
                  </a:tcPr>
                </a:tc>
                <a:tc>
                  <a:txBody>
                    <a:bodyPr/>
                    <a:lstStyle/>
                    <a:p>
                      <a:pPr algn="ctr">
                        <a:defRPr sz="800">
                          <a:solidFill>
                            <a:srgbClr val="333333"/>
                          </a:solidFill>
                          <a:latin typeface="Lato"/>
                        </a:defRPr>
                      </a:pPr>
                      <a:r>
                        <a:t>0.208066</a:t>
                      </a:r>
                    </a:p>
                  </a:txBody>
                  <a:tcPr>
                    <a:solidFill>
                      <a:srgbClr val="FFF8E7"/>
                    </a:solidFill>
                  </a:tcPr>
                </a:tc>
                <a:tc>
                  <a:txBody>
                    <a:bodyPr/>
                    <a:lstStyle/>
                    <a:p>
                      <a:pPr algn="ctr">
                        <a:defRPr sz="800">
                          <a:solidFill>
                            <a:srgbClr val="333333"/>
                          </a:solidFill>
                          <a:latin typeface="Lato"/>
                        </a:defRPr>
                      </a:pPr>
                      <a:r>
                        <a:t>118</a:t>
                      </a:r>
                    </a:p>
                  </a:txBody>
                  <a:tcPr>
                    <a:solidFill>
                      <a:srgbClr val="FFF8E7"/>
                    </a:solidFill>
                  </a:tcPr>
                </a:tc>
              </a:tr>
              <a:tr h="256032">
                <a:tc>
                  <a:txBody>
                    <a:bodyPr/>
                    <a:lstStyle/>
                    <a:p>
                      <a:pPr algn="ctr">
                        <a:defRPr sz="800">
                          <a:solidFill>
                            <a:srgbClr val="333333"/>
                          </a:solidFill>
                          <a:latin typeface="Lato"/>
                        </a:defRPr>
                      </a:pPr>
                      <a:r>
                        <a:t>50</a:t>
                      </a:r>
                    </a:p>
                  </a:txBody>
                  <a:tcPr/>
                </a:tc>
                <a:tc>
                  <a:txBody>
                    <a:bodyPr/>
                    <a:lstStyle/>
                    <a:p>
                      <a:pPr algn="ctr">
                        <a:defRPr sz="800">
                          <a:solidFill>
                            <a:srgbClr val="333333"/>
                          </a:solidFill>
                          <a:latin typeface="Lato"/>
                        </a:defRPr>
                      </a:pPr>
                      <a:r>
                        <a:t>0.591600</a:t>
                      </a:r>
                    </a:p>
                  </a:txBody>
                  <a:tcPr/>
                </a:tc>
                <a:tc>
                  <a:txBody>
                    <a:bodyPr/>
                    <a:lstStyle/>
                    <a:p>
                      <a:pPr algn="ctr">
                        <a:defRPr sz="800">
                          <a:solidFill>
                            <a:srgbClr val="333333"/>
                          </a:solidFill>
                          <a:latin typeface="Lato"/>
                        </a:defRPr>
                      </a:pPr>
                      <a:r>
                        <a:t>20.557631</a:t>
                      </a:r>
                    </a:p>
                  </a:txBody>
                  <a:tcPr/>
                </a:tc>
                <a:tc>
                  <a:txBody>
                    <a:bodyPr/>
                    <a:lstStyle/>
                    <a:p>
                      <a:pPr algn="ctr">
                        <a:defRPr sz="800">
                          <a:solidFill>
                            <a:srgbClr val="333333"/>
                          </a:solidFill>
                          <a:latin typeface="Lato"/>
                        </a:defRPr>
                      </a:pPr>
                      <a:r>
                        <a:t>0.208224</a:t>
                      </a:r>
                    </a:p>
                  </a:txBody>
                  <a:tcPr/>
                </a:tc>
                <a:tc>
                  <a:txBody>
                    <a:bodyPr/>
                    <a:lstStyle/>
                    <a:p>
                      <a:pPr algn="ctr">
                        <a:defRPr sz="800">
                          <a:solidFill>
                            <a:srgbClr val="333333"/>
                          </a:solidFill>
                          <a:latin typeface="Lato"/>
                        </a:defRPr>
                      </a:pPr>
                      <a:r>
                        <a:t>118</a:t>
                      </a:r>
                    </a:p>
                  </a:txBody>
                  <a:tcPr/>
                </a:tc>
              </a:tr>
              <a:tr h="256032">
                <a:tc>
                  <a:txBody>
                    <a:bodyPr/>
                    <a:lstStyle/>
                    <a:p>
                      <a:pPr algn="ctr">
                        <a:defRPr sz="800">
                          <a:solidFill>
                            <a:srgbClr val="333333"/>
                          </a:solidFill>
                          <a:latin typeface="Lato"/>
                        </a:defRPr>
                      </a:pPr>
                      <a:r>
                        <a:t>100</a:t>
                      </a:r>
                    </a:p>
                  </a:txBody>
                  <a:tcPr>
                    <a:solidFill>
                      <a:srgbClr val="FFF8E7"/>
                    </a:solidFill>
                  </a:tcPr>
                </a:tc>
                <a:tc>
                  <a:txBody>
                    <a:bodyPr/>
                    <a:lstStyle/>
                    <a:p>
                      <a:pPr algn="ctr">
                        <a:defRPr sz="800">
                          <a:solidFill>
                            <a:srgbClr val="333333"/>
                          </a:solidFill>
                          <a:latin typeface="Lato"/>
                        </a:defRPr>
                      </a:pPr>
                      <a:r>
                        <a:t>0.591590</a:t>
                      </a:r>
                    </a:p>
                  </a:txBody>
                  <a:tcPr>
                    <a:solidFill>
                      <a:srgbClr val="FFF8E7"/>
                    </a:solidFill>
                  </a:tcPr>
                </a:tc>
                <a:tc>
                  <a:txBody>
                    <a:bodyPr/>
                    <a:lstStyle/>
                    <a:p>
                      <a:pPr algn="ctr">
                        <a:defRPr sz="800">
                          <a:solidFill>
                            <a:srgbClr val="333333"/>
                          </a:solidFill>
                          <a:latin typeface="Lato"/>
                        </a:defRPr>
                      </a:pPr>
                      <a:r>
                        <a:t>10.574465</a:t>
                      </a:r>
                    </a:p>
                  </a:txBody>
                  <a:tcPr>
                    <a:solidFill>
                      <a:srgbClr val="FFF8E7"/>
                    </a:solidFill>
                  </a:tcPr>
                </a:tc>
                <a:tc>
                  <a:txBody>
                    <a:bodyPr/>
                    <a:lstStyle/>
                    <a:p>
                      <a:pPr algn="ctr">
                        <a:defRPr sz="800">
                          <a:solidFill>
                            <a:srgbClr val="333333"/>
                          </a:solidFill>
                          <a:latin typeface="Lato"/>
                        </a:defRPr>
                      </a:pPr>
                      <a:r>
                        <a:t>0.208132</a:t>
                      </a:r>
                    </a:p>
                  </a:txBody>
                  <a:tcPr>
                    <a:solidFill>
                      <a:srgbClr val="FFF8E7"/>
                    </a:solidFill>
                  </a:tcPr>
                </a:tc>
                <a:tc>
                  <a:txBody>
                    <a:bodyPr/>
                    <a:lstStyle/>
                    <a:p>
                      <a:pPr algn="ctr">
                        <a:defRPr sz="800">
                          <a:solidFill>
                            <a:srgbClr val="333333"/>
                          </a:solidFill>
                          <a:latin typeface="Lato"/>
                        </a:defRPr>
                      </a:pPr>
                      <a:r>
                        <a:t>118</a:t>
                      </a:r>
                    </a:p>
                  </a:txBody>
                  <a:tcPr>
                    <a:solidFill>
                      <a:srgbClr val="FFF8E7"/>
                    </a:solidFill>
                  </a:tcPr>
                </a:tc>
              </a:tr>
            </a:tbl>
          </a:graphicData>
        </a:graphic>
      </p:graphicFrame>
      <p:sp>
        <p:nvSpPr>
          <p:cNvPr id="6" name="TextBox 5"/>
          <p:cNvSpPr txBox="1"/>
          <p:nvPr/>
        </p:nvSpPr>
        <p:spPr>
          <a:xfrm>
            <a:off x="5330952" y="731520"/>
            <a:ext cx="4206240" cy="201168"/>
          </a:xfrm>
          <a:prstGeom prst="rect">
            <a:avLst/>
          </a:prstGeom>
          <a:noFill/>
        </p:spPr>
        <p:txBody>
          <a:bodyPr wrap="square"/>
          <a:lstStyle/>
          <a:p>
            <a:pPr algn="l">
              <a:lnSpc>
                <a:spcPts val="1080"/>
              </a:lnSpc>
              <a:spcBef>
                <a:spcPts val="0"/>
              </a:spcBef>
              <a:spcAft>
                <a:spcPts val="0"/>
              </a:spcAft>
              <a:defRPr sz="900" b="1" i="0">
                <a:solidFill>
                  <a:srgbClr val="1A2B4C"/>
                </a:solidFill>
                <a:latin typeface="Montserrat"/>
              </a:defRPr>
            </a:pPr>
            <a:r>
              <a:t>Tabel CSF — Panjang, Waktu, Clearance, Waypoint</a:t>
            </a:r>
          </a:p>
        </p:txBody>
      </p:sp>
      <p:graphicFrame>
        <p:nvGraphicFramePr>
          <p:cNvPr id="7" name="Table 6"/>
          <p:cNvGraphicFramePr>
            <a:graphicFrameLocks noGrp="1"/>
          </p:cNvGraphicFramePr>
          <p:nvPr/>
        </p:nvGraphicFramePr>
        <p:xfrm>
          <a:off x="5330952" y="2514600"/>
          <a:ext cx="3291840" cy="1280160"/>
        </p:xfrm>
        <a:graphic>
          <a:graphicData uri="http://schemas.openxmlformats.org/drawingml/2006/table">
            <a:tbl>
              <a:tblPr firstRow="1" bandRow="1">
                <a:tableStyleId>{5C22544A-7EE6-4342-B048-85BDC9FD1C3A}</a:tableStyleId>
              </a:tblPr>
              <a:tblGrid>
                <a:gridCol w="548640"/>
                <a:gridCol w="914400"/>
                <a:gridCol w="914400"/>
                <a:gridCol w="914400"/>
              </a:tblGrid>
              <a:tr h="256032">
                <a:tc>
                  <a:txBody>
                    <a:bodyPr/>
                    <a:lstStyle/>
                    <a:p>
                      <a:pPr algn="ctr">
                        <a:defRPr sz="800" b="1">
                          <a:solidFill>
                            <a:srgbClr val="FFFFFF"/>
                          </a:solidFill>
                          <a:latin typeface="Montserrat"/>
                        </a:defRPr>
                      </a:pPr>
                      <a:r>
                        <a:t>CSF</a:t>
                      </a:r>
                    </a:p>
                  </a:txBody>
                  <a:tcPr>
                    <a:solidFill>
                      <a:srgbClr val="003A70"/>
                    </a:solidFill>
                  </a:tcPr>
                </a:tc>
                <a:tc>
                  <a:txBody>
                    <a:bodyPr/>
                    <a:lstStyle/>
                    <a:p>
                      <a:pPr algn="ctr">
                        <a:defRPr sz="800" b="1">
                          <a:solidFill>
                            <a:srgbClr val="FFFFFF"/>
                          </a:solidFill>
                          <a:latin typeface="Montserrat"/>
                        </a:defRPr>
                      </a:pPr>
                      <a:r>
                        <a:t>mean cross track</a:t>
                      </a:r>
                    </a:p>
                  </a:txBody>
                  <a:tcPr>
                    <a:solidFill>
                      <a:srgbClr val="003A70"/>
                    </a:solidFill>
                  </a:tcPr>
                </a:tc>
                <a:tc>
                  <a:txBody>
                    <a:bodyPr/>
                    <a:lstStyle/>
                    <a:p>
                      <a:pPr algn="ctr">
                        <a:defRPr sz="800" b="1">
                          <a:solidFill>
                            <a:srgbClr val="FFFFFF"/>
                          </a:solidFill>
                          <a:latin typeface="Montserrat"/>
                        </a:defRPr>
                      </a:pPr>
                      <a:r>
                        <a:t>max cross track</a:t>
                      </a:r>
                    </a:p>
                  </a:txBody>
                  <a:tcPr>
                    <a:solidFill>
                      <a:srgbClr val="003A70"/>
                    </a:solidFill>
                  </a:tcPr>
                </a:tc>
                <a:tc>
                  <a:txBody>
                    <a:bodyPr/>
                    <a:lstStyle/>
                    <a:p>
                      <a:pPr algn="ctr">
                        <a:defRPr sz="800" b="1">
                          <a:solidFill>
                            <a:srgbClr val="FFFFFF"/>
                          </a:solidFill>
                          <a:latin typeface="Montserrat"/>
                        </a:defRPr>
                      </a:pPr>
                      <a:r>
                        <a:t>standard deviation</a:t>
                      </a:r>
                    </a:p>
                  </a:txBody>
                  <a:tcPr>
                    <a:solidFill>
                      <a:srgbClr val="003A70"/>
                    </a:solidFill>
                  </a:tcPr>
                </a:tc>
              </a:tr>
              <a:tr h="256032">
                <a:tc>
                  <a:txBody>
                    <a:bodyPr/>
                    <a:lstStyle/>
                    <a:p>
                      <a:pPr algn="ctr">
                        <a:defRPr sz="800">
                          <a:solidFill>
                            <a:srgbClr val="333333"/>
                          </a:solidFill>
                          <a:latin typeface="Lato"/>
                        </a:defRPr>
                      </a:pPr>
                      <a:r>
                        <a:t>10</a:t>
                      </a:r>
                    </a:p>
                  </a:txBody>
                  <a:tcPr/>
                </a:tc>
                <a:tc>
                  <a:txBody>
                    <a:bodyPr/>
                    <a:lstStyle/>
                    <a:p>
                      <a:pPr algn="ctr">
                        <a:defRPr sz="800">
                          <a:solidFill>
                            <a:srgbClr val="333333"/>
                          </a:solidFill>
                          <a:latin typeface="Lato"/>
                        </a:defRPr>
                      </a:pPr>
                      <a:r>
                        <a:t>0.005756</a:t>
                      </a:r>
                    </a:p>
                  </a:txBody>
                  <a:tcPr/>
                </a:tc>
                <a:tc>
                  <a:txBody>
                    <a:bodyPr/>
                    <a:lstStyle/>
                    <a:p>
                      <a:pPr algn="ctr">
                        <a:defRPr sz="800">
                          <a:solidFill>
                            <a:srgbClr val="333333"/>
                          </a:solidFill>
                          <a:latin typeface="Lato"/>
                        </a:defRPr>
                      </a:pPr>
                      <a:r>
                        <a:t>0.011590</a:t>
                      </a:r>
                    </a:p>
                  </a:txBody>
                  <a:tcPr/>
                </a:tc>
                <a:tc>
                  <a:txBody>
                    <a:bodyPr/>
                    <a:lstStyle/>
                    <a:p>
                      <a:pPr algn="ctr">
                        <a:defRPr sz="800">
                          <a:solidFill>
                            <a:srgbClr val="333333"/>
                          </a:solidFill>
                          <a:latin typeface="Lato"/>
                        </a:defRPr>
                      </a:pPr>
                      <a:r>
                        <a:t>0.003508</a:t>
                      </a:r>
                    </a:p>
                  </a:txBody>
                  <a:tcPr/>
                </a:tc>
              </a:tr>
              <a:tr h="256032">
                <a:tc>
                  <a:txBody>
                    <a:bodyPr/>
                    <a:lstStyle/>
                    <a:p>
                      <a:pPr algn="ctr">
                        <a:defRPr sz="800">
                          <a:solidFill>
                            <a:srgbClr val="333333"/>
                          </a:solidFill>
                          <a:latin typeface="Lato"/>
                        </a:defRPr>
                      </a:pPr>
                      <a:r>
                        <a:t>20</a:t>
                      </a:r>
                    </a:p>
                  </a:txBody>
                  <a:tcPr>
                    <a:solidFill>
                      <a:srgbClr val="FFF8E7"/>
                    </a:solidFill>
                  </a:tcPr>
                </a:tc>
                <a:tc>
                  <a:txBody>
                    <a:bodyPr/>
                    <a:lstStyle/>
                    <a:p>
                      <a:pPr algn="ctr">
                        <a:defRPr sz="800">
                          <a:solidFill>
                            <a:srgbClr val="333333"/>
                          </a:solidFill>
                          <a:latin typeface="Lato"/>
                        </a:defRPr>
                      </a:pPr>
                      <a:r>
                        <a:t>0.005778</a:t>
                      </a:r>
                    </a:p>
                  </a:txBody>
                  <a:tcPr>
                    <a:solidFill>
                      <a:srgbClr val="FFF8E7"/>
                    </a:solidFill>
                  </a:tcPr>
                </a:tc>
                <a:tc>
                  <a:txBody>
                    <a:bodyPr/>
                    <a:lstStyle/>
                    <a:p>
                      <a:pPr algn="ctr">
                        <a:defRPr sz="800">
                          <a:solidFill>
                            <a:srgbClr val="333333"/>
                          </a:solidFill>
                          <a:latin typeface="Lato"/>
                        </a:defRPr>
                      </a:pPr>
                      <a:r>
                        <a:t>0.011591</a:t>
                      </a:r>
                    </a:p>
                  </a:txBody>
                  <a:tcPr>
                    <a:solidFill>
                      <a:srgbClr val="FFF8E7"/>
                    </a:solidFill>
                  </a:tcPr>
                </a:tc>
                <a:tc>
                  <a:txBody>
                    <a:bodyPr/>
                    <a:lstStyle/>
                    <a:p>
                      <a:pPr algn="ctr">
                        <a:defRPr sz="800">
                          <a:solidFill>
                            <a:srgbClr val="333333"/>
                          </a:solidFill>
                          <a:latin typeface="Lato"/>
                        </a:defRPr>
                      </a:pPr>
                      <a:r>
                        <a:t>0.003492</a:t>
                      </a:r>
                    </a:p>
                  </a:txBody>
                  <a:tcPr>
                    <a:solidFill>
                      <a:srgbClr val="FFF8E7"/>
                    </a:solidFill>
                  </a:tcPr>
                </a:tc>
              </a:tr>
              <a:tr h="256032">
                <a:tc>
                  <a:txBody>
                    <a:bodyPr/>
                    <a:lstStyle/>
                    <a:p>
                      <a:pPr algn="ctr">
                        <a:defRPr sz="800">
                          <a:solidFill>
                            <a:srgbClr val="333333"/>
                          </a:solidFill>
                          <a:latin typeface="Lato"/>
                        </a:defRPr>
                      </a:pPr>
                      <a:r>
                        <a:t>50</a:t>
                      </a:r>
                    </a:p>
                  </a:txBody>
                  <a:tcPr/>
                </a:tc>
                <a:tc>
                  <a:txBody>
                    <a:bodyPr/>
                    <a:lstStyle/>
                    <a:p>
                      <a:pPr algn="ctr">
                        <a:defRPr sz="800">
                          <a:solidFill>
                            <a:srgbClr val="333333"/>
                          </a:solidFill>
                          <a:latin typeface="Lato"/>
                        </a:defRPr>
                      </a:pPr>
                      <a:r>
                        <a:t>0.005678</a:t>
                      </a:r>
                    </a:p>
                  </a:txBody>
                  <a:tcPr/>
                </a:tc>
                <a:tc>
                  <a:txBody>
                    <a:bodyPr/>
                    <a:lstStyle/>
                    <a:p>
                      <a:pPr algn="ctr">
                        <a:defRPr sz="800">
                          <a:solidFill>
                            <a:srgbClr val="333333"/>
                          </a:solidFill>
                          <a:latin typeface="Lato"/>
                        </a:defRPr>
                      </a:pPr>
                      <a:r>
                        <a:t>0.011591</a:t>
                      </a:r>
                    </a:p>
                  </a:txBody>
                  <a:tcPr/>
                </a:tc>
                <a:tc>
                  <a:txBody>
                    <a:bodyPr/>
                    <a:lstStyle/>
                    <a:p>
                      <a:pPr algn="ctr">
                        <a:defRPr sz="800">
                          <a:solidFill>
                            <a:srgbClr val="333333"/>
                          </a:solidFill>
                          <a:latin typeface="Lato"/>
                        </a:defRPr>
                      </a:pPr>
                      <a:r>
                        <a:t>0.003483</a:t>
                      </a:r>
                    </a:p>
                  </a:txBody>
                  <a:tcPr/>
                </a:tc>
              </a:tr>
              <a:tr h="256032">
                <a:tc>
                  <a:txBody>
                    <a:bodyPr/>
                    <a:lstStyle/>
                    <a:p>
                      <a:pPr algn="ctr">
                        <a:defRPr sz="800">
                          <a:solidFill>
                            <a:srgbClr val="333333"/>
                          </a:solidFill>
                          <a:latin typeface="Lato"/>
                        </a:defRPr>
                      </a:pPr>
                      <a:r>
                        <a:t>100</a:t>
                      </a:r>
                    </a:p>
                  </a:txBody>
                  <a:tcPr>
                    <a:solidFill>
                      <a:srgbClr val="FFF8E7"/>
                    </a:solidFill>
                  </a:tcPr>
                </a:tc>
                <a:tc>
                  <a:txBody>
                    <a:bodyPr/>
                    <a:lstStyle/>
                    <a:p>
                      <a:pPr algn="ctr">
                        <a:defRPr sz="800">
                          <a:solidFill>
                            <a:srgbClr val="333333"/>
                          </a:solidFill>
                          <a:latin typeface="Lato"/>
                        </a:defRPr>
                      </a:pPr>
                      <a:r>
                        <a:t>0.005678</a:t>
                      </a:r>
                    </a:p>
                  </a:txBody>
                  <a:tcPr>
                    <a:solidFill>
                      <a:srgbClr val="FFF8E7"/>
                    </a:solidFill>
                  </a:tcPr>
                </a:tc>
                <a:tc>
                  <a:txBody>
                    <a:bodyPr/>
                    <a:lstStyle/>
                    <a:p>
                      <a:pPr algn="ctr">
                        <a:defRPr sz="800">
                          <a:solidFill>
                            <a:srgbClr val="333333"/>
                          </a:solidFill>
                          <a:latin typeface="Lato"/>
                        </a:defRPr>
                      </a:pPr>
                      <a:r>
                        <a:t>0.011591</a:t>
                      </a:r>
                    </a:p>
                  </a:txBody>
                  <a:tcPr>
                    <a:solidFill>
                      <a:srgbClr val="FFF8E7"/>
                    </a:solidFill>
                  </a:tcPr>
                </a:tc>
                <a:tc>
                  <a:txBody>
                    <a:bodyPr/>
                    <a:lstStyle/>
                    <a:p>
                      <a:pPr algn="ctr">
                        <a:defRPr sz="800">
                          <a:solidFill>
                            <a:srgbClr val="333333"/>
                          </a:solidFill>
                          <a:latin typeface="Lato"/>
                        </a:defRPr>
                      </a:pPr>
                      <a:r>
                        <a:t>0.003483</a:t>
                      </a:r>
                    </a:p>
                  </a:txBody>
                  <a:tcPr>
                    <a:solidFill>
                      <a:srgbClr val="FFF8E7"/>
                    </a:solidFill>
                  </a:tcPr>
                </a:tc>
              </a:tr>
            </a:tbl>
          </a:graphicData>
        </a:graphic>
      </p:graphicFrame>
      <p:sp>
        <p:nvSpPr>
          <p:cNvPr id="8" name="TextBox 7"/>
          <p:cNvSpPr txBox="1"/>
          <p:nvPr/>
        </p:nvSpPr>
        <p:spPr>
          <a:xfrm>
            <a:off x="5330952" y="2286000"/>
            <a:ext cx="3291840" cy="201168"/>
          </a:xfrm>
          <a:prstGeom prst="rect">
            <a:avLst/>
          </a:prstGeom>
          <a:noFill/>
        </p:spPr>
        <p:txBody>
          <a:bodyPr wrap="square"/>
          <a:lstStyle/>
          <a:p>
            <a:pPr algn="l">
              <a:lnSpc>
                <a:spcPts val="1080"/>
              </a:lnSpc>
              <a:spcBef>
                <a:spcPts val="0"/>
              </a:spcBef>
              <a:spcAft>
                <a:spcPts val="0"/>
              </a:spcAft>
              <a:defRPr sz="900" b="1" i="0">
                <a:solidFill>
                  <a:srgbClr val="1A2B4C"/>
                </a:solidFill>
                <a:latin typeface="Montserrat"/>
              </a:defRPr>
            </a:pPr>
            <a:r>
              <a:t>Tabel Deviasi — Mean/Max Cross Track &amp; SD</a:t>
            </a:r>
          </a:p>
        </p:txBody>
      </p:sp>
      <p:sp>
        <p:nvSpPr>
          <p:cNvPr id="9" name="Rounded Rectangle 8"/>
          <p:cNvSpPr/>
          <p:nvPr/>
        </p:nvSpPr>
        <p:spPr>
          <a:xfrm>
            <a:off x="5330952" y="4160520"/>
            <a:ext cx="4206240" cy="914400"/>
          </a:xfrm>
          <a:prstGeom prst="round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330952" y="4160520"/>
            <a:ext cx="50800" cy="91440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68112" y="4206240"/>
            <a:ext cx="3931920" cy="822960"/>
          </a:xfrm>
          <a:prstGeom prst="rect">
            <a:avLst/>
          </a:prstGeom>
          <a:noFill/>
        </p:spPr>
        <p:txBody>
          <a:bodyPr wrap="square"/>
          <a:lstStyle/>
          <a:p>
            <a:pPr algn="l">
              <a:lnSpc>
                <a:spcPts val="1350"/>
              </a:lnSpc>
              <a:spcBef>
                <a:spcPts val="0"/>
              </a:spcBef>
              <a:spcAft>
                <a:spcPts val="0"/>
              </a:spcAft>
              <a:defRPr sz="1000" b="0" i="0">
                <a:solidFill>
                  <a:srgbClr val="333333"/>
                </a:solidFill>
                <a:latin typeface="Lato"/>
              </a:defRPr>
            </a:pPr>
            <a:r>
              <a:t>CSF tidak signifikan: layout lorong sempit -&gt; semua</a:t>
            </a:r>
            <a:br/>
            <a:r>
              <a:t>CSF menghasilkan path hampir identik (~0.59 m).</a:t>
            </a:r>
            <a:br/>
            <a:r>
              <a:t>SD sangat kecil (&lt; 0.004 m) untuk semua CSF.</a:t>
            </a:r>
          </a:p>
        </p:txBody>
      </p:sp>
      <p:sp>
        <p:nvSpPr>
          <p:cNvPr id="12" name="TextBox 11"/>
          <p:cNvSpPr txBox="1"/>
          <p:nvPr/>
        </p:nvSpPr>
        <p:spPr>
          <a:xfrm>
            <a:off x="10884103" y="6446520"/>
            <a:ext cx="457200" cy="274320"/>
          </a:xfrm>
          <a:prstGeom prst="rect">
            <a:avLst/>
          </a:prstGeom>
          <a:noFill/>
        </p:spPr>
        <p:txBody>
          <a:bodyPr wrap="square"/>
          <a:lstStyle/>
          <a:p>
            <a:pPr algn="r">
              <a:lnSpc>
                <a:spcPts val="1200"/>
              </a:lnSpc>
              <a:spcBef>
                <a:spcPts val="0"/>
              </a:spcBef>
              <a:spcAft>
                <a:spcPts val="0"/>
              </a:spcAft>
              <a:defRPr sz="1000" b="0" i="0">
                <a:solidFill>
                  <a:srgbClr val="333333"/>
                </a:solidFill>
                <a:latin typeface="Lato"/>
              </a:defRPr>
            </a:pPr>
            <a: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gradFill rotWithShape="1">
          <a:gsLst>
            <a:gs pos="0">
              <a:srgbClr val="FBF3E8"/>
            </a:gs>
            <a:gs pos="100000">
              <a:srgbClr val="E4D2B8"/>
            </a:gs>
          </a:gsLst>
          <a:lin ang="8100000" scaled="0"/>
        </a:gradFill>
      </p:bgPr>
    </p:bg>
    <p:spTree>
      <p:nvGrpSpPr>
        <p:cNvPr id="1" name=""/>
        <p:cNvGrpSpPr/>
        <p:nvPr/>
      </p:nvGrpSpPr>
      <p:grpSpPr/>
      <p:sp>
        <p:nvSpPr>
          <p:cNvPr id="2" name="TextBox 1"/>
          <p:cNvSpPr txBox="1"/>
          <p:nvPr/>
        </p:nvSpPr>
        <p:spPr>
          <a:xfrm>
            <a:off x="850392" y="274320"/>
            <a:ext cx="9144000" cy="457200"/>
          </a:xfrm>
          <a:prstGeom prst="rect">
            <a:avLst/>
          </a:prstGeom>
          <a:noFill/>
        </p:spPr>
        <p:txBody>
          <a:bodyPr wrap="square"/>
          <a:lstStyle/>
          <a:p>
            <a:pPr algn="l">
              <a:lnSpc>
                <a:spcPts val="2879"/>
              </a:lnSpc>
              <a:spcBef>
                <a:spcPts val="0"/>
              </a:spcBef>
              <a:spcAft>
                <a:spcPts val="0"/>
              </a:spcAft>
              <a:defRPr sz="2400" b="1" i="0">
                <a:solidFill>
                  <a:srgbClr val="1A2B4C"/>
                </a:solidFill>
                <a:latin typeface="Montserrat"/>
              </a:defRPr>
            </a:pPr>
            <a:r>
              <a:t>HASIL PATH PLANNING — REGION C</a:t>
            </a:r>
          </a:p>
        </p:txBody>
      </p:sp>
      <p:sp>
        <p:nvSpPr>
          <p:cNvPr id="3" name="Rectangle 2"/>
          <p:cNvSpPr/>
          <p:nvPr/>
        </p:nvSpPr>
        <p:spPr>
          <a:xfrm>
            <a:off x="850392" y="685800"/>
            <a:ext cx="2286000" cy="25400"/>
          </a:xfrm>
          <a:prstGeom prst="rect">
            <a:avLst/>
          </a:prstGeom>
          <a:solidFill>
            <a:srgbClr val="F08C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map_with_paths_RC.png"/>
          <p:cNvPicPr>
            <a:picLocks noChangeAspect="1"/>
          </p:cNvPicPr>
          <p:nvPr/>
        </p:nvPicPr>
        <p:blipFill>
          <a:blip r:embed="rId2"/>
          <a:stretch>
            <a:fillRect/>
          </a:stretch>
        </p:blipFill>
        <p:spPr>
          <a:xfrm>
            <a:off x="850392" y="960120"/>
            <a:ext cx="4114800" cy="4114800"/>
          </a:xfrm>
          <a:prstGeom prst="rect">
            <a:avLst/>
          </a:prstGeom>
        </p:spPr>
      </p:pic>
      <p:graphicFrame>
        <p:nvGraphicFramePr>
          <p:cNvPr id="5" name="Table 4"/>
          <p:cNvGraphicFramePr>
            <a:graphicFrameLocks noGrp="1"/>
          </p:cNvGraphicFramePr>
          <p:nvPr/>
        </p:nvGraphicFramePr>
        <p:xfrm>
          <a:off x="5330952" y="960120"/>
          <a:ext cx="4206240" cy="1280160"/>
        </p:xfrm>
        <a:graphic>
          <a:graphicData uri="http://schemas.openxmlformats.org/drawingml/2006/table">
            <a:tbl>
              <a:tblPr firstRow="1" bandRow="1">
                <a:tableStyleId>{5C22544A-7EE6-4342-B048-85BDC9FD1C3A}</a:tableStyleId>
              </a:tblPr>
              <a:tblGrid>
                <a:gridCol w="548640"/>
                <a:gridCol w="914400"/>
                <a:gridCol w="914400"/>
                <a:gridCol w="914400"/>
                <a:gridCol w="914400"/>
              </a:tblGrid>
              <a:tr h="256032">
                <a:tc>
                  <a:txBody>
                    <a:bodyPr/>
                    <a:lstStyle/>
                    <a:p>
                      <a:pPr algn="ctr">
                        <a:defRPr sz="800" b="1">
                          <a:solidFill>
                            <a:srgbClr val="FFFFFF"/>
                          </a:solidFill>
                          <a:latin typeface="Montserrat"/>
                        </a:defRPr>
                      </a:pPr>
                      <a:r>
                        <a:t>Cost Scaling Factor</a:t>
                      </a:r>
                    </a:p>
                  </a:txBody>
                  <a:tcPr>
                    <a:solidFill>
                      <a:srgbClr val="003A70"/>
                    </a:solidFill>
                  </a:tcPr>
                </a:tc>
                <a:tc>
                  <a:txBody>
                    <a:bodyPr/>
                    <a:lstStyle/>
                    <a:p>
                      <a:pPr algn="ctr">
                        <a:defRPr sz="800" b="1">
                          <a:solidFill>
                            <a:srgbClr val="FFFFFF"/>
                          </a:solidFill>
                          <a:latin typeface="Montserrat"/>
                        </a:defRPr>
                      </a:pPr>
                      <a:r>
                        <a:t>Panjang path (m)</a:t>
                      </a:r>
                    </a:p>
                  </a:txBody>
                  <a:tcPr>
                    <a:solidFill>
                      <a:srgbClr val="003A70"/>
                    </a:solidFill>
                  </a:tcPr>
                </a:tc>
                <a:tc>
                  <a:txBody>
                    <a:bodyPr/>
                    <a:lstStyle/>
                    <a:p>
                      <a:pPr algn="ctr">
                        <a:defRPr sz="800" b="1">
                          <a:solidFill>
                            <a:srgbClr val="FFFFFF"/>
                          </a:solidFill>
                          <a:latin typeface="Montserrat"/>
                        </a:defRPr>
                      </a:pPr>
                      <a:r>
                        <a:t>Waktu komputasi (ms)</a:t>
                      </a:r>
                    </a:p>
                  </a:txBody>
                  <a:tcPr>
                    <a:solidFill>
                      <a:srgbClr val="003A70"/>
                    </a:solidFill>
                  </a:tcPr>
                </a:tc>
                <a:tc>
                  <a:txBody>
                    <a:bodyPr/>
                    <a:lstStyle/>
                    <a:p>
                      <a:pPr algn="ctr">
                        <a:defRPr sz="800" b="1">
                          <a:solidFill>
                            <a:srgbClr val="FFFFFF"/>
                          </a:solidFill>
                          <a:latin typeface="Montserrat"/>
                        </a:defRPr>
                      </a:pPr>
                      <a:r>
                        <a:t>min clearance (m)</a:t>
                      </a:r>
                    </a:p>
                  </a:txBody>
                  <a:tcPr>
                    <a:solidFill>
                      <a:srgbClr val="003A70"/>
                    </a:solidFill>
                  </a:tcPr>
                </a:tc>
                <a:tc>
                  <a:txBody>
                    <a:bodyPr/>
                    <a:lstStyle/>
                    <a:p>
                      <a:pPr algn="ctr">
                        <a:defRPr sz="800" b="1">
                          <a:solidFill>
                            <a:srgbClr val="FFFFFF"/>
                          </a:solidFill>
                          <a:latin typeface="Montserrat"/>
                        </a:defRPr>
                      </a:pPr>
                      <a:r>
                        <a:t>Jumlah waypoint</a:t>
                      </a:r>
                    </a:p>
                  </a:txBody>
                  <a:tcPr>
                    <a:solidFill>
                      <a:srgbClr val="003A70"/>
                    </a:solidFill>
                  </a:tcPr>
                </a:tc>
              </a:tr>
              <a:tr h="256032">
                <a:tc>
                  <a:txBody>
                    <a:bodyPr/>
                    <a:lstStyle/>
                    <a:p>
                      <a:pPr algn="ctr">
                        <a:defRPr sz="800">
                          <a:solidFill>
                            <a:srgbClr val="333333"/>
                          </a:solidFill>
                          <a:latin typeface="Lato"/>
                        </a:defRPr>
                      </a:pPr>
                      <a:r>
                        <a:t>10</a:t>
                      </a:r>
                    </a:p>
                  </a:txBody>
                  <a:tcPr/>
                </a:tc>
                <a:tc>
                  <a:txBody>
                    <a:bodyPr/>
                    <a:lstStyle/>
                    <a:p>
                      <a:pPr algn="ctr">
                        <a:defRPr sz="800">
                          <a:solidFill>
                            <a:srgbClr val="333333"/>
                          </a:solidFill>
                          <a:latin typeface="Lato"/>
                        </a:defRPr>
                      </a:pPr>
                      <a:r>
                        <a:t>2.542122</a:t>
                      </a:r>
                    </a:p>
                  </a:txBody>
                  <a:tcPr/>
                </a:tc>
                <a:tc>
                  <a:txBody>
                    <a:bodyPr/>
                    <a:lstStyle/>
                    <a:p>
                      <a:pPr algn="ctr">
                        <a:defRPr sz="800">
                          <a:solidFill>
                            <a:srgbClr val="333333"/>
                          </a:solidFill>
                          <a:latin typeface="Lato"/>
                        </a:defRPr>
                      </a:pPr>
                      <a:r>
                        <a:t>10.629525</a:t>
                      </a:r>
                    </a:p>
                  </a:txBody>
                  <a:tcPr/>
                </a:tc>
                <a:tc>
                  <a:txBody>
                    <a:bodyPr/>
                    <a:lstStyle/>
                    <a:p>
                      <a:pPr algn="ctr">
                        <a:defRPr sz="800">
                          <a:solidFill>
                            <a:srgbClr val="333333"/>
                          </a:solidFill>
                          <a:latin typeface="Lato"/>
                        </a:defRPr>
                      </a:pPr>
                      <a:r>
                        <a:t>0.197048</a:t>
                      </a:r>
                    </a:p>
                  </a:txBody>
                  <a:tcPr/>
                </a:tc>
                <a:tc>
                  <a:txBody>
                    <a:bodyPr/>
                    <a:lstStyle/>
                    <a:p>
                      <a:pPr algn="ctr">
                        <a:defRPr sz="800">
                          <a:solidFill>
                            <a:srgbClr val="333333"/>
                          </a:solidFill>
                          <a:latin typeface="Lato"/>
                        </a:defRPr>
                      </a:pPr>
                      <a:r>
                        <a:t>509</a:t>
                      </a:r>
                    </a:p>
                  </a:txBody>
                  <a:tcPr/>
                </a:tc>
              </a:tr>
              <a:tr h="256032">
                <a:tc>
                  <a:txBody>
                    <a:bodyPr/>
                    <a:lstStyle/>
                    <a:p>
                      <a:pPr algn="ctr">
                        <a:defRPr sz="800">
                          <a:solidFill>
                            <a:srgbClr val="333333"/>
                          </a:solidFill>
                          <a:latin typeface="Lato"/>
                        </a:defRPr>
                      </a:pPr>
                      <a:r>
                        <a:t>20</a:t>
                      </a:r>
                    </a:p>
                  </a:txBody>
                  <a:tcPr>
                    <a:solidFill>
                      <a:srgbClr val="FFF8E7"/>
                    </a:solidFill>
                  </a:tcPr>
                </a:tc>
                <a:tc>
                  <a:txBody>
                    <a:bodyPr/>
                    <a:lstStyle/>
                    <a:p>
                      <a:pPr algn="ctr">
                        <a:defRPr sz="800">
                          <a:solidFill>
                            <a:srgbClr val="333333"/>
                          </a:solidFill>
                          <a:latin typeface="Lato"/>
                        </a:defRPr>
                      </a:pPr>
                      <a:r>
                        <a:t>2.596590</a:t>
                      </a:r>
                    </a:p>
                  </a:txBody>
                  <a:tcPr>
                    <a:solidFill>
                      <a:srgbClr val="FFF8E7"/>
                    </a:solidFill>
                  </a:tcPr>
                </a:tc>
                <a:tc>
                  <a:txBody>
                    <a:bodyPr/>
                    <a:lstStyle/>
                    <a:p>
                      <a:pPr algn="ctr">
                        <a:defRPr sz="800">
                          <a:solidFill>
                            <a:srgbClr val="333333"/>
                          </a:solidFill>
                          <a:latin typeface="Lato"/>
                        </a:defRPr>
                      </a:pPr>
                      <a:r>
                        <a:t>10.268101</a:t>
                      </a:r>
                    </a:p>
                  </a:txBody>
                  <a:tcPr>
                    <a:solidFill>
                      <a:srgbClr val="FFF8E7"/>
                    </a:solidFill>
                  </a:tcPr>
                </a:tc>
                <a:tc>
                  <a:txBody>
                    <a:bodyPr/>
                    <a:lstStyle/>
                    <a:p>
                      <a:pPr algn="ctr">
                        <a:defRPr sz="800">
                          <a:solidFill>
                            <a:srgbClr val="333333"/>
                          </a:solidFill>
                          <a:latin typeface="Lato"/>
                        </a:defRPr>
                      </a:pPr>
                      <a:r>
                        <a:t>0.196292</a:t>
                      </a:r>
                    </a:p>
                  </a:txBody>
                  <a:tcPr>
                    <a:solidFill>
                      <a:srgbClr val="FFF8E7"/>
                    </a:solidFill>
                  </a:tcPr>
                </a:tc>
                <a:tc>
                  <a:txBody>
                    <a:bodyPr/>
                    <a:lstStyle/>
                    <a:p>
                      <a:pPr algn="ctr">
                        <a:defRPr sz="800">
                          <a:solidFill>
                            <a:srgbClr val="333333"/>
                          </a:solidFill>
                          <a:latin typeface="Lato"/>
                        </a:defRPr>
                      </a:pPr>
                      <a:r>
                        <a:t>521</a:t>
                      </a:r>
                    </a:p>
                  </a:txBody>
                  <a:tcPr>
                    <a:solidFill>
                      <a:srgbClr val="FFF8E7"/>
                    </a:solidFill>
                  </a:tcPr>
                </a:tc>
              </a:tr>
              <a:tr h="256032">
                <a:tc>
                  <a:txBody>
                    <a:bodyPr/>
                    <a:lstStyle/>
                    <a:p>
                      <a:pPr algn="ctr">
                        <a:defRPr sz="800">
                          <a:solidFill>
                            <a:srgbClr val="333333"/>
                          </a:solidFill>
                          <a:latin typeface="Lato"/>
                        </a:defRPr>
                      </a:pPr>
                      <a:r>
                        <a:t>50</a:t>
                      </a:r>
                    </a:p>
                  </a:txBody>
                  <a:tcPr/>
                </a:tc>
                <a:tc>
                  <a:txBody>
                    <a:bodyPr/>
                    <a:lstStyle/>
                    <a:p>
                      <a:pPr algn="ctr">
                        <a:defRPr sz="800">
                          <a:solidFill>
                            <a:srgbClr val="333333"/>
                          </a:solidFill>
                          <a:latin typeface="Lato"/>
                        </a:defRPr>
                      </a:pPr>
                      <a:r>
                        <a:t>2.596873</a:t>
                      </a:r>
                    </a:p>
                  </a:txBody>
                  <a:tcPr/>
                </a:tc>
                <a:tc>
                  <a:txBody>
                    <a:bodyPr/>
                    <a:lstStyle/>
                    <a:p>
                      <a:pPr algn="ctr">
                        <a:defRPr sz="800">
                          <a:solidFill>
                            <a:srgbClr val="333333"/>
                          </a:solidFill>
                          <a:latin typeface="Lato"/>
                        </a:defRPr>
                      </a:pPr>
                      <a:r>
                        <a:t>9.922248</a:t>
                      </a:r>
                    </a:p>
                  </a:txBody>
                  <a:tcPr/>
                </a:tc>
                <a:tc>
                  <a:txBody>
                    <a:bodyPr/>
                    <a:lstStyle/>
                    <a:p>
                      <a:pPr algn="ctr">
                        <a:defRPr sz="800">
                          <a:solidFill>
                            <a:srgbClr val="333333"/>
                          </a:solidFill>
                          <a:latin typeface="Lato"/>
                        </a:defRPr>
                      </a:pPr>
                      <a:r>
                        <a:t>0.197185</a:t>
                      </a:r>
                    </a:p>
                  </a:txBody>
                  <a:tcPr/>
                </a:tc>
                <a:tc>
                  <a:txBody>
                    <a:bodyPr/>
                    <a:lstStyle/>
                    <a:p>
                      <a:pPr algn="ctr">
                        <a:defRPr sz="800">
                          <a:solidFill>
                            <a:srgbClr val="333333"/>
                          </a:solidFill>
                          <a:latin typeface="Lato"/>
                        </a:defRPr>
                      </a:pPr>
                      <a:r>
                        <a:t>520</a:t>
                      </a:r>
                    </a:p>
                  </a:txBody>
                  <a:tcPr/>
                </a:tc>
              </a:tr>
              <a:tr h="256032">
                <a:tc>
                  <a:txBody>
                    <a:bodyPr/>
                    <a:lstStyle/>
                    <a:p>
                      <a:pPr algn="ctr">
                        <a:defRPr sz="800">
                          <a:solidFill>
                            <a:srgbClr val="333333"/>
                          </a:solidFill>
                          <a:latin typeface="Lato"/>
                        </a:defRPr>
                      </a:pPr>
                      <a:r>
                        <a:t>100</a:t>
                      </a:r>
                    </a:p>
                  </a:txBody>
                  <a:tcPr>
                    <a:solidFill>
                      <a:srgbClr val="FFF8E7"/>
                    </a:solidFill>
                  </a:tcPr>
                </a:tc>
                <a:tc>
                  <a:txBody>
                    <a:bodyPr/>
                    <a:lstStyle/>
                    <a:p>
                      <a:pPr algn="ctr">
                        <a:defRPr sz="800">
                          <a:solidFill>
                            <a:srgbClr val="333333"/>
                          </a:solidFill>
                          <a:latin typeface="Lato"/>
                        </a:defRPr>
                      </a:pPr>
                      <a:r>
                        <a:t>2.524643</a:t>
                      </a:r>
                    </a:p>
                  </a:txBody>
                  <a:tcPr>
                    <a:solidFill>
                      <a:srgbClr val="FFF8E7"/>
                    </a:solidFill>
                  </a:tcPr>
                </a:tc>
                <a:tc>
                  <a:txBody>
                    <a:bodyPr/>
                    <a:lstStyle/>
                    <a:p>
                      <a:pPr algn="ctr">
                        <a:defRPr sz="800">
                          <a:solidFill>
                            <a:srgbClr val="333333"/>
                          </a:solidFill>
                          <a:latin typeface="Lato"/>
                        </a:defRPr>
                      </a:pPr>
                      <a:r>
                        <a:t>10.224478</a:t>
                      </a:r>
                    </a:p>
                  </a:txBody>
                  <a:tcPr>
                    <a:solidFill>
                      <a:srgbClr val="FFF8E7"/>
                    </a:solidFill>
                  </a:tcPr>
                </a:tc>
                <a:tc>
                  <a:txBody>
                    <a:bodyPr/>
                    <a:lstStyle/>
                    <a:p>
                      <a:pPr algn="ctr">
                        <a:defRPr sz="800">
                          <a:solidFill>
                            <a:srgbClr val="333333"/>
                          </a:solidFill>
                          <a:latin typeface="Lato"/>
                        </a:defRPr>
                      </a:pPr>
                      <a:r>
                        <a:t>0.195499</a:t>
                      </a:r>
                    </a:p>
                  </a:txBody>
                  <a:tcPr>
                    <a:solidFill>
                      <a:srgbClr val="FFF8E7"/>
                    </a:solidFill>
                  </a:tcPr>
                </a:tc>
                <a:tc>
                  <a:txBody>
                    <a:bodyPr/>
                    <a:lstStyle/>
                    <a:p>
                      <a:pPr algn="ctr">
                        <a:defRPr sz="800">
                          <a:solidFill>
                            <a:srgbClr val="333333"/>
                          </a:solidFill>
                          <a:latin typeface="Lato"/>
                        </a:defRPr>
                      </a:pPr>
                      <a:r>
                        <a:t>506</a:t>
                      </a:r>
                    </a:p>
                  </a:txBody>
                  <a:tcPr>
                    <a:solidFill>
                      <a:srgbClr val="FFF8E7"/>
                    </a:solidFill>
                  </a:tcPr>
                </a:tc>
              </a:tr>
            </a:tbl>
          </a:graphicData>
        </a:graphic>
      </p:graphicFrame>
      <p:sp>
        <p:nvSpPr>
          <p:cNvPr id="6" name="TextBox 5"/>
          <p:cNvSpPr txBox="1"/>
          <p:nvPr/>
        </p:nvSpPr>
        <p:spPr>
          <a:xfrm>
            <a:off x="5330952" y="731520"/>
            <a:ext cx="4206240" cy="201168"/>
          </a:xfrm>
          <a:prstGeom prst="rect">
            <a:avLst/>
          </a:prstGeom>
          <a:noFill/>
        </p:spPr>
        <p:txBody>
          <a:bodyPr wrap="square"/>
          <a:lstStyle/>
          <a:p>
            <a:pPr algn="l">
              <a:lnSpc>
                <a:spcPts val="1080"/>
              </a:lnSpc>
              <a:spcBef>
                <a:spcPts val="0"/>
              </a:spcBef>
              <a:spcAft>
                <a:spcPts val="0"/>
              </a:spcAft>
              <a:defRPr sz="900" b="1" i="0">
                <a:solidFill>
                  <a:srgbClr val="1A2B4C"/>
                </a:solidFill>
                <a:latin typeface="Montserrat"/>
              </a:defRPr>
            </a:pPr>
            <a:r>
              <a:t>Tabel CSF — Panjang, Waktu, Clearance, Waypoint</a:t>
            </a:r>
          </a:p>
        </p:txBody>
      </p:sp>
      <p:graphicFrame>
        <p:nvGraphicFramePr>
          <p:cNvPr id="7" name="Table 6"/>
          <p:cNvGraphicFramePr>
            <a:graphicFrameLocks noGrp="1"/>
          </p:cNvGraphicFramePr>
          <p:nvPr/>
        </p:nvGraphicFramePr>
        <p:xfrm>
          <a:off x="5330952" y="2514600"/>
          <a:ext cx="3291840" cy="1024128"/>
        </p:xfrm>
        <a:graphic>
          <a:graphicData uri="http://schemas.openxmlformats.org/drawingml/2006/table">
            <a:tbl>
              <a:tblPr firstRow="1" bandRow="1">
                <a:tableStyleId>{5C22544A-7EE6-4342-B048-85BDC9FD1C3A}</a:tableStyleId>
              </a:tblPr>
              <a:tblGrid>
                <a:gridCol w="548640"/>
                <a:gridCol w="914400"/>
                <a:gridCol w="914400"/>
                <a:gridCol w="914400"/>
              </a:tblGrid>
              <a:tr h="256032">
                <a:tc>
                  <a:txBody>
                    <a:bodyPr/>
                    <a:lstStyle/>
                    <a:p>
                      <a:pPr algn="ctr">
                        <a:defRPr sz="800" b="1">
                          <a:solidFill>
                            <a:srgbClr val="FFFFFF"/>
                          </a:solidFill>
                          <a:latin typeface="Montserrat"/>
                        </a:defRPr>
                      </a:pPr>
                      <a:r>
                        <a:t>CSF</a:t>
                      </a:r>
                    </a:p>
                  </a:txBody>
                  <a:tcPr>
                    <a:solidFill>
                      <a:srgbClr val="003A70"/>
                    </a:solidFill>
                  </a:tcPr>
                </a:tc>
                <a:tc>
                  <a:txBody>
                    <a:bodyPr/>
                    <a:lstStyle/>
                    <a:p>
                      <a:pPr algn="ctr">
                        <a:defRPr sz="800" b="1">
                          <a:solidFill>
                            <a:srgbClr val="FFFFFF"/>
                          </a:solidFill>
                          <a:latin typeface="Montserrat"/>
                        </a:defRPr>
                      </a:pPr>
                      <a:r>
                        <a:t>mean cross track</a:t>
                      </a:r>
                    </a:p>
                  </a:txBody>
                  <a:tcPr>
                    <a:solidFill>
                      <a:srgbClr val="003A70"/>
                    </a:solidFill>
                  </a:tcPr>
                </a:tc>
                <a:tc>
                  <a:txBody>
                    <a:bodyPr/>
                    <a:lstStyle/>
                    <a:p>
                      <a:pPr algn="ctr">
                        <a:defRPr sz="800" b="1">
                          <a:solidFill>
                            <a:srgbClr val="FFFFFF"/>
                          </a:solidFill>
                          <a:latin typeface="Montserrat"/>
                        </a:defRPr>
                      </a:pPr>
                      <a:r>
                        <a:t>max cross track</a:t>
                      </a:r>
                    </a:p>
                  </a:txBody>
                  <a:tcPr>
                    <a:solidFill>
                      <a:srgbClr val="003A70"/>
                    </a:solidFill>
                  </a:tcPr>
                </a:tc>
                <a:tc>
                  <a:txBody>
                    <a:bodyPr/>
                    <a:lstStyle/>
                    <a:p>
                      <a:pPr algn="ctr">
                        <a:defRPr sz="800" b="1">
                          <a:solidFill>
                            <a:srgbClr val="FFFFFF"/>
                          </a:solidFill>
                          <a:latin typeface="Montserrat"/>
                        </a:defRPr>
                      </a:pPr>
                      <a:r>
                        <a:t>standard deviation</a:t>
                      </a:r>
                    </a:p>
                  </a:txBody>
                  <a:tcPr>
                    <a:solidFill>
                      <a:srgbClr val="003A70"/>
                    </a:solidFill>
                  </a:tcPr>
                </a:tc>
              </a:tr>
              <a:tr h="256032">
                <a:tc>
                  <a:txBody>
                    <a:bodyPr/>
                    <a:lstStyle/>
                    <a:p>
                      <a:pPr algn="ctr">
                        <a:defRPr sz="800">
                          <a:solidFill>
                            <a:srgbClr val="333333"/>
                          </a:solidFill>
                          <a:latin typeface="Lato"/>
                        </a:defRPr>
                      </a:pPr>
                      <a:r>
                        <a:t>20</a:t>
                      </a:r>
                    </a:p>
                  </a:txBody>
                  <a:tcPr/>
                </a:tc>
                <a:tc>
                  <a:txBody>
                    <a:bodyPr/>
                    <a:lstStyle/>
                    <a:p>
                      <a:pPr algn="ctr">
                        <a:defRPr sz="800">
                          <a:solidFill>
                            <a:srgbClr val="333333"/>
                          </a:solidFill>
                          <a:latin typeface="Lato"/>
                        </a:defRPr>
                      </a:pPr>
                      <a:r>
                        <a:t>0.005548</a:t>
                      </a:r>
                    </a:p>
                  </a:txBody>
                  <a:tcPr/>
                </a:tc>
                <a:tc>
                  <a:txBody>
                    <a:bodyPr/>
                    <a:lstStyle/>
                    <a:p>
                      <a:pPr algn="ctr">
                        <a:defRPr sz="800">
                          <a:solidFill>
                            <a:srgbClr val="333333"/>
                          </a:solidFill>
                          <a:latin typeface="Lato"/>
                        </a:defRPr>
                      </a:pPr>
                      <a:r>
                        <a:t>0.002228</a:t>
                      </a:r>
                    </a:p>
                  </a:txBody>
                  <a:tcPr/>
                </a:tc>
                <a:tc>
                  <a:txBody>
                    <a:bodyPr/>
                    <a:lstStyle/>
                    <a:p>
                      <a:pPr algn="ctr">
                        <a:defRPr sz="800">
                          <a:solidFill>
                            <a:srgbClr val="333333"/>
                          </a:solidFill>
                          <a:latin typeface="Lato"/>
                        </a:defRPr>
                      </a:pPr>
                      <a:r>
                        <a:t>0.013089</a:t>
                      </a:r>
                    </a:p>
                  </a:txBody>
                  <a:tcPr/>
                </a:tc>
              </a:tr>
              <a:tr h="256032">
                <a:tc>
                  <a:txBody>
                    <a:bodyPr/>
                    <a:lstStyle/>
                    <a:p>
                      <a:pPr algn="ctr">
                        <a:defRPr sz="800">
                          <a:solidFill>
                            <a:srgbClr val="333333"/>
                          </a:solidFill>
                          <a:latin typeface="Lato"/>
                        </a:defRPr>
                      </a:pPr>
                      <a:r>
                        <a:t>50</a:t>
                      </a:r>
                    </a:p>
                  </a:txBody>
                  <a:tcPr>
                    <a:solidFill>
                      <a:srgbClr val="FFF8E7"/>
                    </a:solidFill>
                  </a:tcPr>
                </a:tc>
                <a:tc>
                  <a:txBody>
                    <a:bodyPr/>
                    <a:lstStyle/>
                    <a:p>
                      <a:pPr algn="ctr">
                        <a:defRPr sz="800">
                          <a:solidFill>
                            <a:srgbClr val="333333"/>
                          </a:solidFill>
                          <a:latin typeface="Lato"/>
                        </a:defRPr>
                      </a:pPr>
                      <a:r>
                        <a:t>0.012802</a:t>
                      </a:r>
                    </a:p>
                  </a:txBody>
                  <a:tcPr>
                    <a:solidFill>
                      <a:srgbClr val="FFF8E7"/>
                    </a:solidFill>
                  </a:tcPr>
                </a:tc>
                <a:tc>
                  <a:txBody>
                    <a:bodyPr/>
                    <a:lstStyle/>
                    <a:p>
                      <a:pPr algn="ctr">
                        <a:defRPr sz="800">
                          <a:solidFill>
                            <a:srgbClr val="333333"/>
                          </a:solidFill>
                          <a:latin typeface="Lato"/>
                        </a:defRPr>
                      </a:pPr>
                      <a:r>
                        <a:t>0.018897</a:t>
                      </a:r>
                    </a:p>
                  </a:txBody>
                  <a:tcPr>
                    <a:solidFill>
                      <a:srgbClr val="FFF8E7"/>
                    </a:solidFill>
                  </a:tcPr>
                </a:tc>
                <a:tc>
                  <a:txBody>
                    <a:bodyPr/>
                    <a:lstStyle/>
                    <a:p>
                      <a:pPr algn="ctr">
                        <a:defRPr sz="800">
                          <a:solidFill>
                            <a:srgbClr val="333333"/>
                          </a:solidFill>
                          <a:latin typeface="Lato"/>
                        </a:defRPr>
                      </a:pPr>
                      <a:r>
                        <a:t>0.089070</a:t>
                      </a:r>
                    </a:p>
                  </a:txBody>
                  <a:tcPr>
                    <a:solidFill>
                      <a:srgbClr val="FFF8E7"/>
                    </a:solidFill>
                  </a:tcPr>
                </a:tc>
              </a:tr>
              <a:tr h="256032">
                <a:tc>
                  <a:txBody>
                    <a:bodyPr/>
                    <a:lstStyle/>
                    <a:p>
                      <a:pPr algn="ctr">
                        <a:defRPr sz="800">
                          <a:solidFill>
                            <a:srgbClr val="333333"/>
                          </a:solidFill>
                          <a:latin typeface="Lato"/>
                        </a:defRPr>
                      </a:pPr>
                      <a:r>
                        <a:t>100</a:t>
                      </a:r>
                    </a:p>
                  </a:txBody>
                  <a:tcPr/>
                </a:tc>
                <a:tc>
                  <a:txBody>
                    <a:bodyPr/>
                    <a:lstStyle/>
                    <a:p>
                      <a:pPr algn="ctr">
                        <a:defRPr sz="800">
                          <a:solidFill>
                            <a:srgbClr val="333333"/>
                          </a:solidFill>
                          <a:latin typeface="Lato"/>
                        </a:defRPr>
                      </a:pPr>
                      <a:r>
                        <a:t>0.020026</a:t>
                      </a:r>
                    </a:p>
                  </a:txBody>
                  <a:tcPr/>
                </a:tc>
                <a:tc>
                  <a:txBody>
                    <a:bodyPr/>
                    <a:lstStyle/>
                    <a:p>
                      <a:pPr algn="ctr">
                        <a:defRPr sz="800">
                          <a:solidFill>
                            <a:srgbClr val="333333"/>
                          </a:solidFill>
                          <a:latin typeface="Lato"/>
                        </a:defRPr>
                      </a:pPr>
                      <a:r>
                        <a:t>0.024742</a:t>
                      </a:r>
                    </a:p>
                  </a:txBody>
                  <a:tcPr/>
                </a:tc>
                <a:tc>
                  <a:txBody>
                    <a:bodyPr/>
                    <a:lstStyle/>
                    <a:p>
                      <a:pPr algn="ctr">
                        <a:defRPr sz="800">
                          <a:solidFill>
                            <a:srgbClr val="333333"/>
                          </a:solidFill>
                          <a:latin typeface="Lato"/>
                        </a:defRPr>
                      </a:pPr>
                      <a:r>
                        <a:t>0.099313</a:t>
                      </a:r>
                    </a:p>
                  </a:txBody>
                  <a:tcPr/>
                </a:tc>
              </a:tr>
            </a:tbl>
          </a:graphicData>
        </a:graphic>
      </p:graphicFrame>
      <p:sp>
        <p:nvSpPr>
          <p:cNvPr id="8" name="TextBox 7"/>
          <p:cNvSpPr txBox="1"/>
          <p:nvPr/>
        </p:nvSpPr>
        <p:spPr>
          <a:xfrm>
            <a:off x="5330952" y="2286000"/>
            <a:ext cx="3291840" cy="201168"/>
          </a:xfrm>
          <a:prstGeom prst="rect">
            <a:avLst/>
          </a:prstGeom>
          <a:noFill/>
        </p:spPr>
        <p:txBody>
          <a:bodyPr wrap="square"/>
          <a:lstStyle/>
          <a:p>
            <a:pPr algn="l">
              <a:lnSpc>
                <a:spcPts val="1080"/>
              </a:lnSpc>
              <a:spcBef>
                <a:spcPts val="0"/>
              </a:spcBef>
              <a:spcAft>
                <a:spcPts val="0"/>
              </a:spcAft>
              <a:defRPr sz="900" b="1" i="0">
                <a:solidFill>
                  <a:srgbClr val="1A2B4C"/>
                </a:solidFill>
                <a:latin typeface="Montserrat"/>
              </a:defRPr>
            </a:pPr>
            <a:r>
              <a:t>Tabel Deviasi — Mean/Max Cross Track &amp; SD</a:t>
            </a:r>
          </a:p>
        </p:txBody>
      </p:sp>
      <p:sp>
        <p:nvSpPr>
          <p:cNvPr id="9" name="Rounded Rectangle 8"/>
          <p:cNvSpPr/>
          <p:nvPr/>
        </p:nvSpPr>
        <p:spPr>
          <a:xfrm>
            <a:off x="5330952" y="4160520"/>
            <a:ext cx="4206240" cy="914400"/>
          </a:xfrm>
          <a:prstGeom prst="round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330952" y="4160520"/>
            <a:ext cx="50800" cy="91440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68112" y="4206240"/>
            <a:ext cx="3931920" cy="822960"/>
          </a:xfrm>
          <a:prstGeom prst="rect">
            <a:avLst/>
          </a:prstGeom>
          <a:noFill/>
        </p:spPr>
        <p:txBody>
          <a:bodyPr wrap="square"/>
          <a:lstStyle/>
          <a:p>
            <a:pPr algn="l">
              <a:lnSpc>
                <a:spcPts val="1350"/>
              </a:lnSpc>
              <a:spcBef>
                <a:spcPts val="0"/>
              </a:spcBef>
              <a:spcAft>
                <a:spcPts val="0"/>
              </a:spcAft>
              <a:defRPr sz="1000" b="0" i="0">
                <a:solidFill>
                  <a:srgbClr val="333333"/>
                </a:solidFill>
                <a:latin typeface="Lato"/>
              </a:defRPr>
            </a:pPr>
            <a:r>
              <a:t>CSF 100 = path terpendek (2.52 m).</a:t>
            </a:r>
            <a:br/>
            <a:r>
              <a:t>CSF 10 lebih aman di tengah lorong, lebih panjang.</a:t>
            </a:r>
            <a:br/>
            <a:r>
              <a:t>Trade-off: path pendek vs deviasi ground truth.</a:t>
            </a:r>
          </a:p>
        </p:txBody>
      </p:sp>
      <p:sp>
        <p:nvSpPr>
          <p:cNvPr id="12" name="TextBox 11"/>
          <p:cNvSpPr txBox="1"/>
          <p:nvPr/>
        </p:nvSpPr>
        <p:spPr>
          <a:xfrm>
            <a:off x="10884103" y="6446520"/>
            <a:ext cx="457200" cy="274320"/>
          </a:xfrm>
          <a:prstGeom prst="rect">
            <a:avLst/>
          </a:prstGeom>
          <a:noFill/>
        </p:spPr>
        <p:txBody>
          <a:bodyPr wrap="square"/>
          <a:lstStyle/>
          <a:p>
            <a:pPr algn="r">
              <a:lnSpc>
                <a:spcPts val="1200"/>
              </a:lnSpc>
              <a:spcBef>
                <a:spcPts val="0"/>
              </a:spcBef>
              <a:spcAft>
                <a:spcPts val="0"/>
              </a:spcAft>
              <a:defRPr sz="1000" b="0" i="0">
                <a:solidFill>
                  <a:srgbClr val="333333"/>
                </a:solidFill>
                <a:latin typeface="Lato"/>
              </a:defRPr>
            </a:pPr>
            <a: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gradFill rotWithShape="1">
          <a:gsLst>
            <a:gs pos="0">
              <a:srgbClr val="FBF3E8"/>
            </a:gs>
            <a:gs pos="100000">
              <a:srgbClr val="E4D2B8"/>
            </a:gs>
          </a:gsLst>
          <a:lin ang="8100000" scaled="0"/>
        </a:gradFill>
      </p:bgPr>
    </p:bg>
    <p:spTree>
      <p:nvGrpSpPr>
        <p:cNvPr id="1" name=""/>
        <p:cNvGrpSpPr/>
        <p:nvPr/>
      </p:nvGrpSpPr>
      <p:grpSpPr/>
      <p:sp>
        <p:nvSpPr>
          <p:cNvPr id="2" name="TextBox 1"/>
          <p:cNvSpPr txBox="1"/>
          <p:nvPr/>
        </p:nvSpPr>
        <p:spPr>
          <a:xfrm>
            <a:off x="850392" y="274320"/>
            <a:ext cx="9144000" cy="457200"/>
          </a:xfrm>
          <a:prstGeom prst="rect">
            <a:avLst/>
          </a:prstGeom>
          <a:noFill/>
        </p:spPr>
        <p:txBody>
          <a:bodyPr wrap="square"/>
          <a:lstStyle/>
          <a:p>
            <a:pPr algn="l">
              <a:lnSpc>
                <a:spcPts val="2879"/>
              </a:lnSpc>
              <a:spcBef>
                <a:spcPts val="0"/>
              </a:spcBef>
              <a:spcAft>
                <a:spcPts val="0"/>
              </a:spcAft>
              <a:defRPr sz="2400" b="1" i="0">
                <a:solidFill>
                  <a:srgbClr val="1A2B4C"/>
                </a:solidFill>
                <a:latin typeface="Montserrat"/>
              </a:defRPr>
            </a:pPr>
            <a:r>
              <a:t>HASIL PENGUJIAN: NAVIGASI PENUH</a:t>
            </a:r>
          </a:p>
        </p:txBody>
      </p:sp>
      <p:sp>
        <p:nvSpPr>
          <p:cNvPr id="3" name="Rectangle 2"/>
          <p:cNvSpPr/>
          <p:nvPr/>
        </p:nvSpPr>
        <p:spPr>
          <a:xfrm>
            <a:off x="850392" y="658368"/>
            <a:ext cx="2286000" cy="25400"/>
          </a:xfrm>
          <a:prstGeom prst="rect">
            <a:avLst/>
          </a:prstGeom>
          <a:solidFill>
            <a:srgbClr val="F08C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850392" y="960120"/>
          <a:ext cx="4709160" cy="1024128"/>
        </p:xfrm>
        <a:graphic>
          <a:graphicData uri="http://schemas.openxmlformats.org/drawingml/2006/table">
            <a:tbl>
              <a:tblPr firstRow="1" bandRow="1">
                <a:tableStyleId>{5C22544A-7EE6-4342-B048-85BDC9FD1C3A}</a:tableStyleId>
              </a:tblPr>
              <a:tblGrid>
                <a:gridCol w="822960"/>
                <a:gridCol w="1051560"/>
                <a:gridCol w="1417320"/>
                <a:gridCol w="1417320"/>
              </a:tblGrid>
              <a:tr h="256032">
                <a:tc>
                  <a:txBody>
                    <a:bodyPr/>
                    <a:lstStyle/>
                    <a:p>
                      <a:pPr algn="ctr">
                        <a:defRPr sz="800" b="1">
                          <a:solidFill>
                            <a:srgbClr val="FFFFFF"/>
                          </a:solidFill>
                          <a:latin typeface="Montserrat"/>
                        </a:defRPr>
                      </a:pPr>
                      <a:r>
                        <a:t>region</a:t>
                      </a:r>
                    </a:p>
                  </a:txBody>
                  <a:tcPr>
                    <a:solidFill>
                      <a:srgbClr val="003A70"/>
                    </a:solidFill>
                  </a:tcPr>
                </a:tc>
                <a:tc>
                  <a:txBody>
                    <a:bodyPr/>
                    <a:lstStyle/>
                    <a:p>
                      <a:pPr algn="ctr">
                        <a:defRPr sz="800" b="1">
                          <a:solidFill>
                            <a:srgbClr val="FFFFFF"/>
                          </a:solidFill>
                          <a:latin typeface="Montserrat"/>
                        </a:defRPr>
                      </a:pPr>
                      <a:r>
                        <a:t>Waktu (s)</a:t>
                      </a:r>
                    </a:p>
                  </a:txBody>
                  <a:tcPr>
                    <a:solidFill>
                      <a:srgbClr val="003A70"/>
                    </a:solidFill>
                  </a:tcPr>
                </a:tc>
                <a:tc>
                  <a:txBody>
                    <a:bodyPr/>
                    <a:lstStyle/>
                    <a:p>
                      <a:pPr algn="ctr">
                        <a:defRPr sz="800" b="1">
                          <a:solidFill>
                            <a:srgbClr val="FFFFFF"/>
                          </a:solidFill>
                          <a:latin typeface="Montserrat"/>
                        </a:defRPr>
                      </a:pPr>
                      <a:r>
                        <a:t> Mean cross track error (m)</a:t>
                      </a:r>
                    </a:p>
                  </a:txBody>
                  <a:tcPr>
                    <a:solidFill>
                      <a:srgbClr val="003A70"/>
                    </a:solidFill>
                  </a:tcPr>
                </a:tc>
                <a:tc>
                  <a:txBody>
                    <a:bodyPr/>
                    <a:lstStyle/>
                    <a:p>
                      <a:pPr algn="ctr">
                        <a:defRPr sz="800" b="1">
                          <a:solidFill>
                            <a:srgbClr val="FFFFFF"/>
                          </a:solidFill>
                          <a:latin typeface="Montserrat"/>
                        </a:defRPr>
                      </a:pPr>
                      <a:r>
                        <a:t>Max cross track error (m)</a:t>
                      </a:r>
                    </a:p>
                  </a:txBody>
                  <a:tcPr>
                    <a:solidFill>
                      <a:srgbClr val="003A70"/>
                    </a:solidFill>
                  </a:tcPr>
                </a:tc>
              </a:tr>
              <a:tr h="256032">
                <a:tc>
                  <a:txBody>
                    <a:bodyPr/>
                    <a:lstStyle/>
                    <a:p>
                      <a:pPr algn="ctr">
                        <a:defRPr sz="800">
                          <a:solidFill>
                            <a:srgbClr val="333333"/>
                          </a:solidFill>
                          <a:latin typeface="Lato"/>
                        </a:defRPr>
                      </a:pPr>
                      <a:r>
                        <a:t>A</a:t>
                      </a:r>
                    </a:p>
                  </a:txBody>
                  <a:tcPr/>
                </a:tc>
                <a:tc>
                  <a:txBody>
                    <a:bodyPr/>
                    <a:lstStyle/>
                    <a:p>
                      <a:pPr algn="ctr">
                        <a:defRPr sz="800">
                          <a:solidFill>
                            <a:srgbClr val="333333"/>
                          </a:solidFill>
                          <a:latin typeface="Lato"/>
                        </a:defRPr>
                      </a:pPr>
                      <a:r>
                        <a:t>13.412</a:t>
                      </a:r>
                    </a:p>
                  </a:txBody>
                  <a:tcPr/>
                </a:tc>
                <a:tc>
                  <a:txBody>
                    <a:bodyPr/>
                    <a:lstStyle/>
                    <a:p>
                      <a:pPr algn="ctr">
                        <a:defRPr sz="800">
                          <a:solidFill>
                            <a:srgbClr val="333333"/>
                          </a:solidFill>
                          <a:latin typeface="Lato"/>
                        </a:defRPr>
                      </a:pPr>
                      <a:r>
                        <a:t>0.009814</a:t>
                      </a:r>
                    </a:p>
                  </a:txBody>
                  <a:tcPr/>
                </a:tc>
                <a:tc>
                  <a:txBody>
                    <a:bodyPr/>
                    <a:lstStyle/>
                    <a:p>
                      <a:pPr algn="ctr">
                        <a:defRPr sz="800">
                          <a:solidFill>
                            <a:srgbClr val="333333"/>
                          </a:solidFill>
                          <a:latin typeface="Lato"/>
                        </a:defRPr>
                      </a:pPr>
                      <a:r>
                        <a:t>0.033543</a:t>
                      </a:r>
                    </a:p>
                  </a:txBody>
                  <a:tcPr/>
                </a:tc>
              </a:tr>
              <a:tr h="256032">
                <a:tc>
                  <a:txBody>
                    <a:bodyPr/>
                    <a:lstStyle/>
                    <a:p>
                      <a:pPr algn="ctr">
                        <a:defRPr sz="800">
                          <a:solidFill>
                            <a:srgbClr val="333333"/>
                          </a:solidFill>
                          <a:latin typeface="Lato"/>
                        </a:defRPr>
                      </a:pPr>
                      <a:r>
                        <a:t>B</a:t>
                      </a:r>
                    </a:p>
                  </a:txBody>
                  <a:tcPr>
                    <a:solidFill>
                      <a:srgbClr val="FFF8E7"/>
                    </a:solidFill>
                  </a:tcPr>
                </a:tc>
                <a:tc>
                  <a:txBody>
                    <a:bodyPr/>
                    <a:lstStyle/>
                    <a:p>
                      <a:pPr algn="ctr">
                        <a:defRPr sz="800">
                          <a:solidFill>
                            <a:srgbClr val="333333"/>
                          </a:solidFill>
                          <a:latin typeface="Lato"/>
                        </a:defRPr>
                      </a:pPr>
                      <a:r>
                        <a:t>7.707</a:t>
                      </a:r>
                    </a:p>
                  </a:txBody>
                  <a:tcPr>
                    <a:solidFill>
                      <a:srgbClr val="FFF8E7"/>
                    </a:solidFill>
                  </a:tcPr>
                </a:tc>
                <a:tc>
                  <a:txBody>
                    <a:bodyPr/>
                    <a:lstStyle/>
                    <a:p>
                      <a:pPr algn="ctr">
                        <a:defRPr sz="800">
                          <a:solidFill>
                            <a:srgbClr val="333333"/>
                          </a:solidFill>
                          <a:latin typeface="Lato"/>
                        </a:defRPr>
                      </a:pPr>
                      <a:r>
                        <a:t>0.041840</a:t>
                      </a:r>
                    </a:p>
                  </a:txBody>
                  <a:tcPr>
                    <a:solidFill>
                      <a:srgbClr val="FFF8E7"/>
                    </a:solidFill>
                  </a:tcPr>
                </a:tc>
                <a:tc>
                  <a:txBody>
                    <a:bodyPr/>
                    <a:lstStyle/>
                    <a:p>
                      <a:pPr algn="ctr">
                        <a:defRPr sz="800">
                          <a:solidFill>
                            <a:srgbClr val="333333"/>
                          </a:solidFill>
                          <a:latin typeface="Lato"/>
                        </a:defRPr>
                      </a:pPr>
                      <a:r>
                        <a:t>0.029113</a:t>
                      </a:r>
                    </a:p>
                  </a:txBody>
                  <a:tcPr>
                    <a:solidFill>
                      <a:srgbClr val="FFF8E7"/>
                    </a:solidFill>
                  </a:tcPr>
                </a:tc>
              </a:tr>
              <a:tr h="256032">
                <a:tc>
                  <a:txBody>
                    <a:bodyPr/>
                    <a:lstStyle/>
                    <a:p>
                      <a:pPr algn="ctr">
                        <a:defRPr sz="800">
                          <a:solidFill>
                            <a:srgbClr val="333333"/>
                          </a:solidFill>
                          <a:latin typeface="Lato"/>
                        </a:defRPr>
                      </a:pPr>
                      <a:r>
                        <a:t>C</a:t>
                      </a:r>
                    </a:p>
                  </a:txBody>
                  <a:tcPr/>
                </a:tc>
                <a:tc>
                  <a:txBody>
                    <a:bodyPr/>
                    <a:lstStyle/>
                    <a:p>
                      <a:pPr algn="ctr">
                        <a:defRPr sz="800">
                          <a:solidFill>
                            <a:srgbClr val="333333"/>
                          </a:solidFill>
                          <a:latin typeface="Lato"/>
                        </a:defRPr>
                      </a:pPr>
                      <a:r>
                        <a:t>96.141</a:t>
                      </a:r>
                    </a:p>
                  </a:txBody>
                  <a:tcPr/>
                </a:tc>
                <a:tc>
                  <a:txBody>
                    <a:bodyPr/>
                    <a:lstStyle/>
                    <a:p>
                      <a:pPr algn="ctr">
                        <a:defRPr sz="800">
                          <a:solidFill>
                            <a:srgbClr val="333333"/>
                          </a:solidFill>
                          <a:latin typeface="Lato"/>
                        </a:defRPr>
                      </a:pPr>
                      <a:r>
                        <a:t>0.022437</a:t>
                      </a:r>
                    </a:p>
                  </a:txBody>
                  <a:tcPr/>
                </a:tc>
                <a:tc>
                  <a:txBody>
                    <a:bodyPr/>
                    <a:lstStyle/>
                    <a:p>
                      <a:pPr algn="ctr">
                        <a:defRPr sz="800">
                          <a:solidFill>
                            <a:srgbClr val="333333"/>
                          </a:solidFill>
                          <a:latin typeface="Lato"/>
                        </a:defRPr>
                      </a:pPr>
                      <a:r>
                        <a:t>0.086539</a:t>
                      </a:r>
                    </a:p>
                  </a:txBody>
                  <a:tcPr/>
                </a:tc>
              </a:tr>
            </a:tbl>
          </a:graphicData>
        </a:graphic>
      </p:graphicFrame>
      <p:sp>
        <p:nvSpPr>
          <p:cNvPr id="5" name="TextBox 4"/>
          <p:cNvSpPr txBox="1"/>
          <p:nvPr/>
        </p:nvSpPr>
        <p:spPr>
          <a:xfrm>
            <a:off x="850392" y="731520"/>
            <a:ext cx="4709160" cy="201168"/>
          </a:xfrm>
          <a:prstGeom prst="rect">
            <a:avLst/>
          </a:prstGeom>
          <a:noFill/>
        </p:spPr>
        <p:txBody>
          <a:bodyPr wrap="square"/>
          <a:lstStyle/>
          <a:p>
            <a:pPr algn="l">
              <a:lnSpc>
                <a:spcPts val="1080"/>
              </a:lnSpc>
              <a:spcBef>
                <a:spcPts val="0"/>
              </a:spcBef>
              <a:spcAft>
                <a:spcPts val="0"/>
              </a:spcAft>
              <a:defRPr sz="900" b="1" i="0">
                <a:solidFill>
                  <a:srgbClr val="1A2B4C"/>
                </a:solidFill>
                <a:latin typeface="Montserrat"/>
              </a:defRPr>
            </a:pPr>
            <a:r>
              <a:t>Cross Track Error — Kondisi Normal</a:t>
            </a:r>
          </a:p>
        </p:txBody>
      </p:sp>
      <p:graphicFrame>
        <p:nvGraphicFramePr>
          <p:cNvPr id="6" name="Table 5"/>
          <p:cNvGraphicFramePr>
            <a:graphicFrameLocks noGrp="1"/>
          </p:cNvGraphicFramePr>
          <p:nvPr/>
        </p:nvGraphicFramePr>
        <p:xfrm>
          <a:off x="850392" y="2441448"/>
          <a:ext cx="4709160" cy="1024128"/>
        </p:xfrm>
        <a:graphic>
          <a:graphicData uri="http://schemas.openxmlformats.org/drawingml/2006/table">
            <a:tbl>
              <a:tblPr firstRow="1" bandRow="1">
                <a:tableStyleId>{5C22544A-7EE6-4342-B048-85BDC9FD1C3A}</a:tableStyleId>
              </a:tblPr>
              <a:tblGrid>
                <a:gridCol w="822960"/>
                <a:gridCol w="1051560"/>
                <a:gridCol w="1417320"/>
                <a:gridCol w="1417320"/>
              </a:tblGrid>
              <a:tr h="256032">
                <a:tc>
                  <a:txBody>
                    <a:bodyPr/>
                    <a:lstStyle/>
                    <a:p>
                      <a:pPr algn="ctr">
                        <a:defRPr sz="800" b="1">
                          <a:solidFill>
                            <a:srgbClr val="FFFFFF"/>
                          </a:solidFill>
                          <a:latin typeface="Montserrat"/>
                        </a:defRPr>
                      </a:pPr>
                      <a:r>
                        <a:t>region</a:t>
                      </a:r>
                    </a:p>
                  </a:txBody>
                  <a:tcPr>
                    <a:solidFill>
                      <a:srgbClr val="003A70"/>
                    </a:solidFill>
                  </a:tcPr>
                </a:tc>
                <a:tc>
                  <a:txBody>
                    <a:bodyPr/>
                    <a:lstStyle/>
                    <a:p>
                      <a:pPr algn="ctr">
                        <a:defRPr sz="800" b="1">
                          <a:solidFill>
                            <a:srgbClr val="FFFFFF"/>
                          </a:solidFill>
                          <a:latin typeface="Montserrat"/>
                        </a:defRPr>
                      </a:pPr>
                      <a:r>
                        <a:t>Waktu (s)</a:t>
                      </a:r>
                    </a:p>
                  </a:txBody>
                  <a:tcPr>
                    <a:solidFill>
                      <a:srgbClr val="003A70"/>
                    </a:solidFill>
                  </a:tcPr>
                </a:tc>
                <a:tc>
                  <a:txBody>
                    <a:bodyPr/>
                    <a:lstStyle/>
                    <a:p>
                      <a:pPr algn="ctr">
                        <a:defRPr sz="800" b="1">
                          <a:solidFill>
                            <a:srgbClr val="FFFFFF"/>
                          </a:solidFill>
                          <a:latin typeface="Montserrat"/>
                        </a:defRPr>
                      </a:pPr>
                      <a:r>
                        <a:t> Mean cross track error (m)</a:t>
                      </a:r>
                    </a:p>
                  </a:txBody>
                  <a:tcPr>
                    <a:solidFill>
                      <a:srgbClr val="003A70"/>
                    </a:solidFill>
                  </a:tcPr>
                </a:tc>
                <a:tc>
                  <a:txBody>
                    <a:bodyPr/>
                    <a:lstStyle/>
                    <a:p>
                      <a:pPr algn="ctr">
                        <a:defRPr sz="800" b="1">
                          <a:solidFill>
                            <a:srgbClr val="FFFFFF"/>
                          </a:solidFill>
                          <a:latin typeface="Montserrat"/>
                        </a:defRPr>
                      </a:pPr>
                      <a:r>
                        <a:t>Max cross track error (m)</a:t>
                      </a:r>
                    </a:p>
                  </a:txBody>
                  <a:tcPr>
                    <a:solidFill>
                      <a:srgbClr val="003A70"/>
                    </a:solidFill>
                  </a:tcPr>
                </a:tc>
              </a:tr>
              <a:tr h="256032">
                <a:tc>
                  <a:txBody>
                    <a:bodyPr/>
                    <a:lstStyle/>
                    <a:p>
                      <a:pPr algn="ctr">
                        <a:defRPr sz="800">
                          <a:solidFill>
                            <a:srgbClr val="333333"/>
                          </a:solidFill>
                          <a:latin typeface="Lato"/>
                        </a:defRPr>
                      </a:pPr>
                      <a:r>
                        <a:t>A</a:t>
                      </a:r>
                    </a:p>
                  </a:txBody>
                  <a:tcPr/>
                </a:tc>
                <a:tc>
                  <a:txBody>
                    <a:bodyPr/>
                    <a:lstStyle/>
                    <a:p>
                      <a:pPr algn="ctr">
                        <a:defRPr sz="800">
                          <a:solidFill>
                            <a:srgbClr val="333333"/>
                          </a:solidFill>
                          <a:latin typeface="Lato"/>
                        </a:defRPr>
                      </a:pPr>
                      <a:r>
                        <a:t>13.144</a:t>
                      </a:r>
                    </a:p>
                  </a:txBody>
                  <a:tcPr/>
                </a:tc>
                <a:tc>
                  <a:txBody>
                    <a:bodyPr/>
                    <a:lstStyle/>
                    <a:p>
                      <a:pPr algn="ctr">
                        <a:defRPr sz="800">
                          <a:solidFill>
                            <a:srgbClr val="333333"/>
                          </a:solidFill>
                          <a:latin typeface="Lato"/>
                        </a:defRPr>
                      </a:pPr>
                      <a:r>
                        <a:t>0.004394</a:t>
                      </a:r>
                    </a:p>
                  </a:txBody>
                  <a:tcPr/>
                </a:tc>
                <a:tc>
                  <a:txBody>
                    <a:bodyPr/>
                    <a:lstStyle/>
                    <a:p>
                      <a:pPr algn="ctr">
                        <a:defRPr sz="800">
                          <a:solidFill>
                            <a:srgbClr val="333333"/>
                          </a:solidFill>
                          <a:latin typeface="Lato"/>
                        </a:defRPr>
                      </a:pPr>
                      <a:r>
                        <a:t>0.026285</a:t>
                      </a:r>
                    </a:p>
                  </a:txBody>
                  <a:tcPr/>
                </a:tc>
              </a:tr>
              <a:tr h="256032">
                <a:tc>
                  <a:txBody>
                    <a:bodyPr/>
                    <a:lstStyle/>
                    <a:p>
                      <a:pPr algn="ctr">
                        <a:defRPr sz="800">
                          <a:solidFill>
                            <a:srgbClr val="333333"/>
                          </a:solidFill>
                          <a:latin typeface="Lato"/>
                        </a:defRPr>
                      </a:pPr>
                      <a:r>
                        <a:t>B</a:t>
                      </a:r>
                    </a:p>
                  </a:txBody>
                  <a:tcPr>
                    <a:solidFill>
                      <a:srgbClr val="FFF8E7"/>
                    </a:solidFill>
                  </a:tcPr>
                </a:tc>
                <a:tc>
                  <a:txBody>
                    <a:bodyPr/>
                    <a:lstStyle/>
                    <a:p>
                      <a:pPr algn="ctr">
                        <a:defRPr sz="800">
                          <a:solidFill>
                            <a:srgbClr val="333333"/>
                          </a:solidFill>
                          <a:latin typeface="Lato"/>
                        </a:defRPr>
                      </a:pPr>
                      <a:r>
                        <a:t>7.243</a:t>
                      </a:r>
                    </a:p>
                  </a:txBody>
                  <a:tcPr>
                    <a:solidFill>
                      <a:srgbClr val="FFF8E7"/>
                    </a:solidFill>
                  </a:tcPr>
                </a:tc>
                <a:tc>
                  <a:txBody>
                    <a:bodyPr/>
                    <a:lstStyle/>
                    <a:p>
                      <a:pPr algn="ctr">
                        <a:defRPr sz="800">
                          <a:solidFill>
                            <a:srgbClr val="333333"/>
                          </a:solidFill>
                          <a:latin typeface="Lato"/>
                        </a:defRPr>
                      </a:pPr>
                      <a:r>
                        <a:t>0.013691</a:t>
                      </a:r>
                    </a:p>
                  </a:txBody>
                  <a:tcPr>
                    <a:solidFill>
                      <a:srgbClr val="FFF8E7"/>
                    </a:solidFill>
                  </a:tcPr>
                </a:tc>
                <a:tc>
                  <a:txBody>
                    <a:bodyPr/>
                    <a:lstStyle/>
                    <a:p>
                      <a:pPr algn="ctr">
                        <a:defRPr sz="800">
                          <a:solidFill>
                            <a:srgbClr val="333333"/>
                          </a:solidFill>
                          <a:latin typeface="Lato"/>
                        </a:defRPr>
                      </a:pPr>
                      <a:r>
                        <a:t>0.064845</a:t>
                      </a:r>
                    </a:p>
                  </a:txBody>
                  <a:tcPr>
                    <a:solidFill>
                      <a:srgbClr val="FFF8E7"/>
                    </a:solidFill>
                  </a:tcPr>
                </a:tc>
              </a:tr>
              <a:tr h="256032">
                <a:tc>
                  <a:txBody>
                    <a:bodyPr/>
                    <a:lstStyle/>
                    <a:p>
                      <a:pPr algn="ctr">
                        <a:defRPr sz="800">
                          <a:solidFill>
                            <a:srgbClr val="333333"/>
                          </a:solidFill>
                          <a:latin typeface="Lato"/>
                        </a:defRPr>
                      </a:pPr>
                      <a:r>
                        <a:t>C</a:t>
                      </a:r>
                    </a:p>
                  </a:txBody>
                  <a:tcPr/>
                </a:tc>
                <a:tc>
                  <a:txBody>
                    <a:bodyPr/>
                    <a:lstStyle/>
                    <a:p>
                      <a:pPr algn="ctr">
                        <a:defRPr sz="800">
                          <a:solidFill>
                            <a:srgbClr val="333333"/>
                          </a:solidFill>
                          <a:latin typeface="Lato"/>
                        </a:defRPr>
                      </a:pPr>
                      <a:r>
                        <a:t>94.119</a:t>
                      </a:r>
                    </a:p>
                  </a:txBody>
                  <a:tcPr/>
                </a:tc>
                <a:tc>
                  <a:txBody>
                    <a:bodyPr/>
                    <a:lstStyle/>
                    <a:p>
                      <a:pPr algn="ctr">
                        <a:defRPr sz="800">
                          <a:solidFill>
                            <a:srgbClr val="333333"/>
                          </a:solidFill>
                          <a:latin typeface="Lato"/>
                        </a:defRPr>
                      </a:pPr>
                      <a:r>
                        <a:t>0.039834</a:t>
                      </a:r>
                    </a:p>
                  </a:txBody>
                  <a:tcPr/>
                </a:tc>
                <a:tc>
                  <a:txBody>
                    <a:bodyPr/>
                    <a:lstStyle/>
                    <a:p>
                      <a:pPr algn="ctr">
                        <a:defRPr sz="800">
                          <a:solidFill>
                            <a:srgbClr val="333333"/>
                          </a:solidFill>
                          <a:latin typeface="Lato"/>
                        </a:defRPr>
                      </a:pPr>
                      <a:r>
                        <a:t>0.174556</a:t>
                      </a:r>
                    </a:p>
                  </a:txBody>
                  <a:tcPr/>
                </a:tc>
              </a:tr>
            </a:tbl>
          </a:graphicData>
        </a:graphic>
      </p:graphicFrame>
      <p:sp>
        <p:nvSpPr>
          <p:cNvPr id="7" name="TextBox 6"/>
          <p:cNvSpPr txBox="1"/>
          <p:nvPr/>
        </p:nvSpPr>
        <p:spPr>
          <a:xfrm>
            <a:off x="850392" y="2212848"/>
            <a:ext cx="4709160" cy="201168"/>
          </a:xfrm>
          <a:prstGeom prst="rect">
            <a:avLst/>
          </a:prstGeom>
          <a:noFill/>
        </p:spPr>
        <p:txBody>
          <a:bodyPr wrap="square"/>
          <a:lstStyle/>
          <a:p>
            <a:pPr algn="l">
              <a:lnSpc>
                <a:spcPts val="1080"/>
              </a:lnSpc>
              <a:spcBef>
                <a:spcPts val="0"/>
              </a:spcBef>
              <a:spcAft>
                <a:spcPts val="0"/>
              </a:spcAft>
              <a:defRPr sz="900" b="1" i="0">
                <a:solidFill>
                  <a:srgbClr val="1A2B4C"/>
                </a:solidFill>
                <a:latin typeface="Montserrat"/>
              </a:defRPr>
            </a:pPr>
            <a:r>
              <a:t>Cross Track Error — Kondisi Rough Floor</a:t>
            </a:r>
          </a:p>
        </p:txBody>
      </p:sp>
      <p:sp>
        <p:nvSpPr>
          <p:cNvPr id="8" name="Rounded Rectangle 7"/>
          <p:cNvSpPr/>
          <p:nvPr/>
        </p:nvSpPr>
        <p:spPr>
          <a:xfrm>
            <a:off x="6126480" y="914400"/>
            <a:ext cx="5394960" cy="914400"/>
          </a:xfrm>
          <a:prstGeom prst="roundRect">
            <a:avLst/>
          </a:prstGeom>
          <a:solidFill>
            <a:srgbClr val="FFF8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126480" y="914400"/>
            <a:ext cx="50800" cy="91440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36208" y="950976"/>
            <a:ext cx="1828800" cy="201168"/>
          </a:xfrm>
          <a:prstGeom prst="rect">
            <a:avLst/>
          </a:prstGeom>
          <a:noFill/>
        </p:spPr>
        <p:txBody>
          <a:bodyPr wrap="square"/>
          <a:lstStyle/>
          <a:p>
            <a:pPr algn="l">
              <a:lnSpc>
                <a:spcPts val="1439"/>
              </a:lnSpc>
              <a:spcBef>
                <a:spcPts val="0"/>
              </a:spcBef>
              <a:spcAft>
                <a:spcPts val="0"/>
              </a:spcAft>
              <a:defRPr sz="1200" b="1" i="0">
                <a:solidFill>
                  <a:srgbClr val="2E7D32"/>
                </a:solidFill>
                <a:latin typeface="Montserrat"/>
              </a:defRPr>
            </a:pPr>
            <a:r>
              <a:t>✓  Kondisi Normal</a:t>
            </a:r>
          </a:p>
        </p:txBody>
      </p:sp>
      <p:sp>
        <p:nvSpPr>
          <p:cNvPr id="11" name="TextBox 10"/>
          <p:cNvSpPr txBox="1"/>
          <p:nvPr/>
        </p:nvSpPr>
        <p:spPr>
          <a:xfrm>
            <a:off x="6236208" y="1170432"/>
            <a:ext cx="5120640" cy="594360"/>
          </a:xfrm>
          <a:prstGeom prst="rect">
            <a:avLst/>
          </a:prstGeom>
          <a:noFill/>
        </p:spPr>
        <p:txBody>
          <a:bodyPr wrap="square"/>
          <a:lstStyle/>
          <a:p>
            <a:pPr algn="l">
              <a:lnSpc>
                <a:spcPts val="1215"/>
              </a:lnSpc>
              <a:spcBef>
                <a:spcPts val="0"/>
              </a:spcBef>
              <a:spcAft>
                <a:spcPts val="0"/>
              </a:spcAft>
              <a:defRPr sz="900" b="0" i="0">
                <a:solidFill>
                  <a:srgbClr val="333333"/>
                </a:solidFill>
                <a:latin typeface="Lato"/>
              </a:defRPr>
            </a:pPr>
            <a:r>
              <a:t>Mean &amp; max cross track error rendah.</a:t>
            </a:r>
            <a:br/>
            <a:r>
              <a:t>DWA mengikuti global path dengan baik.</a:t>
            </a:r>
          </a:p>
        </p:txBody>
      </p:sp>
      <p:sp>
        <p:nvSpPr>
          <p:cNvPr id="12" name="Rounded Rectangle 11"/>
          <p:cNvSpPr/>
          <p:nvPr/>
        </p:nvSpPr>
        <p:spPr>
          <a:xfrm>
            <a:off x="6126480" y="1920240"/>
            <a:ext cx="5394960" cy="914400"/>
          </a:xfrm>
          <a:prstGeom prst="roundRect">
            <a:avLst/>
          </a:prstGeom>
          <a:solidFill>
            <a:srgbClr val="FFF8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26480" y="1920240"/>
            <a:ext cx="50800" cy="914400"/>
          </a:xfrm>
          <a:prstGeom prst="rect">
            <a:avLst/>
          </a:prstGeom>
          <a:solidFill>
            <a:srgbClr val="F08C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36208" y="1956816"/>
            <a:ext cx="1828800" cy="201168"/>
          </a:xfrm>
          <a:prstGeom prst="rect">
            <a:avLst/>
          </a:prstGeom>
          <a:noFill/>
        </p:spPr>
        <p:txBody>
          <a:bodyPr wrap="square"/>
          <a:lstStyle/>
          <a:p>
            <a:pPr algn="l">
              <a:lnSpc>
                <a:spcPts val="1439"/>
              </a:lnSpc>
              <a:spcBef>
                <a:spcPts val="0"/>
              </a:spcBef>
              <a:spcAft>
                <a:spcPts val="0"/>
              </a:spcAft>
              <a:defRPr sz="1200" b="1" i="0">
                <a:solidFill>
                  <a:srgbClr val="F08C2E"/>
                </a:solidFill>
                <a:latin typeface="Montserrat"/>
              </a:defRPr>
            </a:pPr>
            <a:r>
              <a:t>⚠  Kondisi Gempa</a:t>
            </a:r>
          </a:p>
        </p:txBody>
      </p:sp>
      <p:sp>
        <p:nvSpPr>
          <p:cNvPr id="15" name="TextBox 14"/>
          <p:cNvSpPr txBox="1"/>
          <p:nvPr/>
        </p:nvSpPr>
        <p:spPr>
          <a:xfrm>
            <a:off x="6236208" y="2176272"/>
            <a:ext cx="5120640" cy="594360"/>
          </a:xfrm>
          <a:prstGeom prst="rect">
            <a:avLst/>
          </a:prstGeom>
          <a:noFill/>
        </p:spPr>
        <p:txBody>
          <a:bodyPr wrap="square"/>
          <a:lstStyle/>
          <a:p>
            <a:pPr algn="l">
              <a:lnSpc>
                <a:spcPts val="1215"/>
              </a:lnSpc>
              <a:spcBef>
                <a:spcPts val="0"/>
              </a:spcBef>
              <a:spcAft>
                <a:spcPts val="0"/>
              </a:spcAft>
              <a:defRPr sz="900" b="0" i="0">
                <a:solidFill>
                  <a:srgbClr val="333333"/>
                </a:solidFill>
                <a:latin typeface="Lato"/>
              </a:defRPr>
            </a:pPr>
            <a:r>
              <a:t>Max cross track error meningkat signifikan.</a:t>
            </a:r>
            <a:br/>
            <a:r>
              <a:t>Obstacle tidak diketahui di global path →</a:t>
            </a:r>
            <a:br/>
            <a:r>
              <a:t>DWA menyimpang untuk menghindari tabrakan.</a:t>
            </a:r>
          </a:p>
        </p:txBody>
      </p:sp>
      <p:sp>
        <p:nvSpPr>
          <p:cNvPr id="16" name="Rounded Rectangle 15"/>
          <p:cNvSpPr/>
          <p:nvPr/>
        </p:nvSpPr>
        <p:spPr>
          <a:xfrm>
            <a:off x="6126480" y="2971800"/>
            <a:ext cx="5394960" cy="1463040"/>
          </a:xfrm>
          <a:prstGeom prst="roundRect">
            <a:avLst/>
          </a:prstGeom>
          <a:solidFill>
            <a:srgbClr val="E3F0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0" y="2971800"/>
            <a:ext cx="5394960" cy="50800"/>
          </a:xfrm>
          <a:prstGeom prst="rect">
            <a:avLst/>
          </a:prstGeom>
          <a:solidFill>
            <a:srgbClr val="003A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26480" y="3017520"/>
            <a:ext cx="5394960" cy="256032"/>
          </a:xfrm>
          <a:prstGeom prst="rect">
            <a:avLst/>
          </a:prstGeom>
          <a:noFill/>
        </p:spPr>
        <p:txBody>
          <a:bodyPr wrap="square"/>
          <a:lstStyle/>
          <a:p>
            <a:pPr algn="ctr">
              <a:lnSpc>
                <a:spcPts val="1680"/>
              </a:lnSpc>
              <a:spcBef>
                <a:spcPts val="0"/>
              </a:spcBef>
              <a:spcAft>
                <a:spcPts val="0"/>
              </a:spcAft>
              <a:defRPr sz="1400" b="1" i="0">
                <a:solidFill>
                  <a:srgbClr val="003A70"/>
                </a:solidFill>
                <a:latin typeface="Montserrat"/>
              </a:defRPr>
            </a:pPr>
            <a:r>
              <a:t>NAVIGASI PENUH (Region A → C)</a:t>
            </a:r>
          </a:p>
        </p:txBody>
      </p:sp>
      <p:sp>
        <p:nvSpPr>
          <p:cNvPr id="19" name="TextBox 18"/>
          <p:cNvSpPr txBox="1"/>
          <p:nvPr/>
        </p:nvSpPr>
        <p:spPr>
          <a:xfrm>
            <a:off x="6126480" y="3291840"/>
            <a:ext cx="5394960" cy="457200"/>
          </a:xfrm>
          <a:prstGeom prst="rect">
            <a:avLst/>
          </a:prstGeom>
          <a:noFill/>
        </p:spPr>
        <p:txBody>
          <a:bodyPr wrap="square"/>
          <a:lstStyle/>
          <a:p>
            <a:pPr algn="ctr">
              <a:lnSpc>
                <a:spcPts val="5040"/>
              </a:lnSpc>
              <a:spcBef>
                <a:spcPts val="0"/>
              </a:spcBef>
              <a:spcAft>
                <a:spcPts val="0"/>
              </a:spcAft>
              <a:defRPr sz="4200" b="1" i="0">
                <a:solidFill>
                  <a:srgbClr val="003A70"/>
                </a:solidFill>
                <a:latin typeface="Montserrat"/>
              </a:defRPr>
            </a:pPr>
            <a:r>
              <a:t>127.26</a:t>
            </a:r>
          </a:p>
        </p:txBody>
      </p:sp>
      <p:sp>
        <p:nvSpPr>
          <p:cNvPr id="20" name="TextBox 19"/>
          <p:cNvSpPr txBox="1"/>
          <p:nvPr/>
        </p:nvSpPr>
        <p:spPr>
          <a:xfrm>
            <a:off x="6126480" y="3749040"/>
            <a:ext cx="5394960" cy="182880"/>
          </a:xfrm>
          <a:prstGeom prst="rect">
            <a:avLst/>
          </a:prstGeom>
          <a:noFill/>
        </p:spPr>
        <p:txBody>
          <a:bodyPr wrap="square"/>
          <a:lstStyle/>
          <a:p>
            <a:pPr algn="ctr">
              <a:lnSpc>
                <a:spcPts val="1680"/>
              </a:lnSpc>
              <a:spcBef>
                <a:spcPts val="0"/>
              </a:spcBef>
              <a:spcAft>
                <a:spcPts val="0"/>
              </a:spcAft>
              <a:defRPr sz="1400" b="1" i="0">
                <a:solidFill>
                  <a:srgbClr val="003A70"/>
                </a:solidFill>
                <a:latin typeface="Montserrat"/>
              </a:defRPr>
            </a:pPr>
            <a:r>
              <a:t>DETIK</a:t>
            </a:r>
          </a:p>
        </p:txBody>
      </p:sp>
      <p:sp>
        <p:nvSpPr>
          <p:cNvPr id="21" name="TextBox 20"/>
          <p:cNvSpPr txBox="1"/>
          <p:nvPr/>
        </p:nvSpPr>
        <p:spPr>
          <a:xfrm>
            <a:off x="6126480" y="3977640"/>
            <a:ext cx="5394960" cy="320040"/>
          </a:xfrm>
          <a:prstGeom prst="rect">
            <a:avLst/>
          </a:prstGeom>
          <a:noFill/>
        </p:spPr>
        <p:txBody>
          <a:bodyPr wrap="square"/>
          <a:lstStyle/>
          <a:p>
            <a:pPr algn="ctr">
              <a:lnSpc>
                <a:spcPts val="1200"/>
              </a:lnSpc>
              <a:spcBef>
                <a:spcPts val="0"/>
              </a:spcBef>
              <a:spcAft>
                <a:spcPts val="0"/>
              </a:spcAft>
              <a:defRPr sz="1000" b="0" i="0">
                <a:solidFill>
                  <a:srgbClr val="333333"/>
                </a:solidFill>
                <a:latin typeface="Lato"/>
              </a:defRPr>
            </a:pPr>
            <a:r>
              <a:t>Robot berhasil menavigasi Region A → C secara otonom penuh.</a:t>
            </a:r>
          </a:p>
        </p:txBody>
      </p:sp>
      <p:sp>
        <p:nvSpPr>
          <p:cNvPr id="22" name="Rounded Rectangle 21"/>
          <p:cNvSpPr/>
          <p:nvPr/>
        </p:nvSpPr>
        <p:spPr>
          <a:xfrm>
            <a:off x="6126480" y="4572000"/>
            <a:ext cx="5394960" cy="1234440"/>
          </a:xfrm>
          <a:prstGeom prst="roundRect">
            <a:avLst/>
          </a:prstGeom>
          <a:solidFill>
            <a:srgbClr val="FFF8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263640" y="4617720"/>
            <a:ext cx="5120640" cy="182880"/>
          </a:xfrm>
          <a:prstGeom prst="rect">
            <a:avLst/>
          </a:prstGeom>
          <a:noFill/>
        </p:spPr>
        <p:txBody>
          <a:bodyPr wrap="square"/>
          <a:lstStyle/>
          <a:p>
            <a:pPr algn="ctr">
              <a:lnSpc>
                <a:spcPts val="1320"/>
              </a:lnSpc>
              <a:spcBef>
                <a:spcPts val="0"/>
              </a:spcBef>
              <a:spcAft>
                <a:spcPts val="0"/>
              </a:spcAft>
              <a:defRPr sz="1100" b="1" i="0">
                <a:solidFill>
                  <a:srgbClr val="1A2B4C"/>
                </a:solidFill>
                <a:latin typeface="Montserrat"/>
              </a:defRPr>
            </a:pPr>
            <a:r>
              <a:t>Semua Komponen Bekerja Terintegrasi</a:t>
            </a:r>
          </a:p>
        </p:txBody>
      </p:sp>
      <p:sp>
        <p:nvSpPr>
          <p:cNvPr id="24" name="TextBox 23"/>
          <p:cNvSpPr txBox="1"/>
          <p:nvPr/>
        </p:nvSpPr>
        <p:spPr>
          <a:xfrm>
            <a:off x="6309360" y="4846320"/>
            <a:ext cx="5029200" cy="182880"/>
          </a:xfrm>
          <a:prstGeom prst="rect">
            <a:avLst/>
          </a:prstGeom>
          <a:noFill/>
        </p:spPr>
        <p:txBody>
          <a:bodyPr wrap="square"/>
          <a:lstStyle/>
          <a:p>
            <a:pPr algn="l">
              <a:lnSpc>
                <a:spcPts val="990"/>
              </a:lnSpc>
              <a:spcBef>
                <a:spcPts val="0"/>
              </a:spcBef>
              <a:spcAft>
                <a:spcPts val="0"/>
              </a:spcAft>
              <a:defRPr sz="900" b="0" i="0">
                <a:solidFill>
                  <a:srgbClr val="333333"/>
                </a:solidFill>
                <a:latin typeface="Lato"/>
              </a:defRPr>
            </a:pPr>
            <a:r>
              <a:t>✓  ICP Localization → estimasi pose real-time</a:t>
            </a:r>
          </a:p>
        </p:txBody>
      </p:sp>
      <p:sp>
        <p:nvSpPr>
          <p:cNvPr id="25" name="TextBox 24"/>
          <p:cNvSpPr txBox="1"/>
          <p:nvPr/>
        </p:nvSpPr>
        <p:spPr>
          <a:xfrm>
            <a:off x="6309360" y="5047488"/>
            <a:ext cx="5029200" cy="182880"/>
          </a:xfrm>
          <a:prstGeom prst="rect">
            <a:avLst/>
          </a:prstGeom>
          <a:noFill/>
        </p:spPr>
        <p:txBody>
          <a:bodyPr wrap="square"/>
          <a:lstStyle/>
          <a:p>
            <a:pPr algn="l">
              <a:lnSpc>
                <a:spcPts val="990"/>
              </a:lnSpc>
              <a:spcBef>
                <a:spcPts val="0"/>
              </a:spcBef>
              <a:spcAft>
                <a:spcPts val="0"/>
              </a:spcAft>
              <a:defRPr sz="900" b="0" i="0">
                <a:solidFill>
                  <a:srgbClr val="333333"/>
                </a:solidFill>
                <a:latin typeface="Lato"/>
              </a:defRPr>
            </a:pPr>
            <a:r>
              <a:t>✓  Costmap Transisi → perpindahan antar region</a:t>
            </a:r>
          </a:p>
        </p:txBody>
      </p:sp>
      <p:sp>
        <p:nvSpPr>
          <p:cNvPr id="26" name="TextBox 25"/>
          <p:cNvSpPr txBox="1"/>
          <p:nvPr/>
        </p:nvSpPr>
        <p:spPr>
          <a:xfrm>
            <a:off x="6309360" y="5248656"/>
            <a:ext cx="5029200" cy="182880"/>
          </a:xfrm>
          <a:prstGeom prst="rect">
            <a:avLst/>
          </a:prstGeom>
          <a:noFill/>
        </p:spPr>
        <p:txBody>
          <a:bodyPr wrap="square"/>
          <a:lstStyle/>
          <a:p>
            <a:pPr algn="l">
              <a:lnSpc>
                <a:spcPts val="990"/>
              </a:lnSpc>
              <a:spcBef>
                <a:spcPts val="0"/>
              </a:spcBef>
              <a:spcAft>
                <a:spcPts val="0"/>
              </a:spcAft>
              <a:defRPr sz="900" b="0" i="0">
                <a:solidFill>
                  <a:srgbClr val="333333"/>
                </a:solidFill>
                <a:latin typeface="Lato"/>
              </a:defRPr>
            </a:pPr>
            <a:r>
              <a:t>✓  A* Global Planner → rute multi-region</a:t>
            </a:r>
          </a:p>
        </p:txBody>
      </p:sp>
      <p:sp>
        <p:nvSpPr>
          <p:cNvPr id="27" name="TextBox 26"/>
          <p:cNvSpPr txBox="1"/>
          <p:nvPr/>
        </p:nvSpPr>
        <p:spPr>
          <a:xfrm>
            <a:off x="6309360" y="5449824"/>
            <a:ext cx="5029200" cy="182880"/>
          </a:xfrm>
          <a:prstGeom prst="rect">
            <a:avLst/>
          </a:prstGeom>
          <a:noFill/>
        </p:spPr>
        <p:txBody>
          <a:bodyPr wrap="square"/>
          <a:lstStyle/>
          <a:p>
            <a:pPr algn="l">
              <a:lnSpc>
                <a:spcPts val="990"/>
              </a:lnSpc>
              <a:spcBef>
                <a:spcPts val="0"/>
              </a:spcBef>
              <a:spcAft>
                <a:spcPts val="0"/>
              </a:spcAft>
              <a:defRPr sz="900" b="0" i="0">
                <a:solidFill>
                  <a:srgbClr val="333333"/>
                </a:solidFill>
                <a:latin typeface="Lato"/>
              </a:defRPr>
            </a:pPr>
            <a:r>
              <a:t>✓  DWA Local Planner → trajectory + obstacle avoidance</a:t>
            </a:r>
          </a:p>
        </p:txBody>
      </p:sp>
      <p:sp>
        <p:nvSpPr>
          <p:cNvPr id="28" name="TextBox 27"/>
          <p:cNvSpPr txBox="1"/>
          <p:nvPr/>
        </p:nvSpPr>
        <p:spPr>
          <a:xfrm>
            <a:off x="10884103" y="6446520"/>
            <a:ext cx="457200" cy="274320"/>
          </a:xfrm>
          <a:prstGeom prst="rect">
            <a:avLst/>
          </a:prstGeom>
          <a:noFill/>
        </p:spPr>
        <p:txBody>
          <a:bodyPr wrap="square"/>
          <a:lstStyle/>
          <a:p>
            <a:pPr algn="r">
              <a:lnSpc>
                <a:spcPts val="1200"/>
              </a:lnSpc>
              <a:spcBef>
                <a:spcPts val="0"/>
              </a:spcBef>
              <a:spcAft>
                <a:spcPts val="0"/>
              </a:spcAft>
              <a:defRPr sz="1000" b="0" i="0">
                <a:solidFill>
                  <a:srgbClr val="333333"/>
                </a:solidFill>
                <a:latin typeface="Lato"/>
              </a:defRPr>
            </a:pPr>
            <a: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gradFill rotWithShape="1">
          <a:gsLst>
            <a:gs pos="0">
              <a:srgbClr val="E8F1FC"/>
            </a:gs>
            <a:gs pos="100000">
              <a:srgbClr val="CDDFF1"/>
            </a:gs>
          </a:gsLst>
          <a:lin ang="8100000" scaled="0"/>
        </a:gradFill>
      </p:bgPr>
    </p:bg>
    <p:spTree>
      <p:nvGrpSpPr>
        <p:cNvPr id="1" name=""/>
        <p:cNvGrpSpPr/>
        <p:nvPr/>
      </p:nvGrpSpPr>
      <p:grpSpPr/>
      <p:sp>
        <p:nvSpPr>
          <p:cNvPr id="2" name="TextBox 1"/>
          <p:cNvSpPr txBox="1"/>
          <p:nvPr/>
        </p:nvSpPr>
        <p:spPr>
          <a:xfrm>
            <a:off x="850392" y="320040"/>
            <a:ext cx="3200400" cy="502920"/>
          </a:xfrm>
          <a:prstGeom prst="rect">
            <a:avLst/>
          </a:prstGeom>
          <a:noFill/>
        </p:spPr>
        <p:txBody>
          <a:bodyPr wrap="square"/>
          <a:lstStyle/>
          <a:p>
            <a:pPr algn="l">
              <a:lnSpc>
                <a:spcPts val="3600"/>
              </a:lnSpc>
              <a:spcBef>
                <a:spcPts val="0"/>
              </a:spcBef>
              <a:spcAft>
                <a:spcPts val="0"/>
              </a:spcAft>
              <a:defRPr sz="3000" b="1" i="0">
                <a:solidFill>
                  <a:srgbClr val="1A2B4C"/>
                </a:solidFill>
                <a:latin typeface="Montserrat"/>
              </a:defRPr>
            </a:pPr>
            <a:r>
              <a:t>KESIMPULAN</a:t>
            </a:r>
          </a:p>
        </p:txBody>
      </p:sp>
      <p:sp>
        <p:nvSpPr>
          <p:cNvPr id="3" name="Rectangle 2"/>
          <p:cNvSpPr/>
          <p:nvPr/>
        </p:nvSpPr>
        <p:spPr>
          <a:xfrm>
            <a:off x="850392" y="777240"/>
            <a:ext cx="1645920" cy="25400"/>
          </a:xfrm>
          <a:prstGeom prst="rect">
            <a:avLst/>
          </a:prstGeom>
          <a:solidFill>
            <a:srgbClr val="F08C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850392" y="1051560"/>
            <a:ext cx="3246120" cy="2011680"/>
          </a:xfrm>
          <a:prstGeom prst="roundRect">
            <a:avLst/>
          </a:prstGeom>
          <a:solidFill>
            <a:srgbClr val="FFF8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50392" y="1051560"/>
            <a:ext cx="3246120" cy="548640"/>
          </a:xfrm>
          <a:prstGeom prst="roundRect">
            <a:avLst/>
          </a:prstGeom>
          <a:solidFill>
            <a:srgbClr val="4A90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0392" y="1097280"/>
            <a:ext cx="3246120" cy="457200"/>
          </a:xfrm>
          <a:prstGeom prst="rect">
            <a:avLst/>
          </a:prstGeom>
          <a:noFill/>
        </p:spPr>
        <p:txBody>
          <a:bodyPr wrap="square"/>
          <a:lstStyle/>
          <a:p>
            <a:pPr algn="ctr">
              <a:lnSpc>
                <a:spcPts val="3120"/>
              </a:lnSpc>
              <a:spcBef>
                <a:spcPts val="0"/>
              </a:spcBef>
              <a:spcAft>
                <a:spcPts val="0"/>
              </a:spcAft>
              <a:defRPr sz="2600" b="1" i="0">
                <a:solidFill>
                  <a:srgbClr val="FFFFFF"/>
                </a:solidFill>
                <a:latin typeface="Montserrat"/>
              </a:defRPr>
            </a:pPr>
            <a:r>
              <a:t>1</a:t>
            </a:r>
          </a:p>
        </p:txBody>
      </p:sp>
      <p:sp>
        <p:nvSpPr>
          <p:cNvPr id="7" name="TextBox 6"/>
          <p:cNvSpPr txBox="1"/>
          <p:nvPr/>
        </p:nvSpPr>
        <p:spPr>
          <a:xfrm>
            <a:off x="1033272" y="1783080"/>
            <a:ext cx="2880360" cy="1097280"/>
          </a:xfrm>
          <a:prstGeom prst="rect">
            <a:avLst/>
          </a:prstGeom>
          <a:noFill/>
        </p:spPr>
        <p:txBody>
          <a:bodyPr wrap="square"/>
          <a:lstStyle/>
          <a:p>
            <a:pPr algn="l">
              <a:lnSpc>
                <a:spcPts val="1739"/>
              </a:lnSpc>
              <a:spcBef>
                <a:spcPts val="0"/>
              </a:spcBef>
              <a:spcAft>
                <a:spcPts val="0"/>
              </a:spcAft>
              <a:defRPr sz="1200" b="0" i="0">
                <a:solidFill>
                  <a:srgbClr val="333333"/>
                </a:solidFill>
                <a:latin typeface="Lato"/>
              </a:defRPr>
            </a:pPr>
            <a:r>
              <a:t>Layered costmap berhasil merepresentasikan lingkungan</a:t>
            </a:r>
            <a:br/>
            <a:r>
              <a:t>multi-lantai sebagai kumpulan peta 2D region</a:t>
            </a:r>
          </a:p>
        </p:txBody>
      </p:sp>
      <p:sp>
        <p:nvSpPr>
          <p:cNvPr id="8" name="Rounded Rectangle 7"/>
          <p:cNvSpPr/>
          <p:nvPr/>
        </p:nvSpPr>
        <p:spPr>
          <a:xfrm>
            <a:off x="4325112" y="1051560"/>
            <a:ext cx="3246120" cy="2011680"/>
          </a:xfrm>
          <a:prstGeom prst="roundRect">
            <a:avLst/>
          </a:prstGeom>
          <a:solidFill>
            <a:srgbClr val="FFF8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325112" y="1051560"/>
            <a:ext cx="3246120" cy="548640"/>
          </a:xfrm>
          <a:prstGeom prst="roundRect">
            <a:avLst/>
          </a:prstGeom>
          <a:solidFill>
            <a:srgbClr val="4A90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325112" y="1097280"/>
            <a:ext cx="3246120" cy="457200"/>
          </a:xfrm>
          <a:prstGeom prst="rect">
            <a:avLst/>
          </a:prstGeom>
          <a:noFill/>
        </p:spPr>
        <p:txBody>
          <a:bodyPr wrap="square"/>
          <a:lstStyle/>
          <a:p>
            <a:pPr algn="ctr">
              <a:lnSpc>
                <a:spcPts val="3120"/>
              </a:lnSpc>
              <a:spcBef>
                <a:spcPts val="0"/>
              </a:spcBef>
              <a:spcAft>
                <a:spcPts val="0"/>
              </a:spcAft>
              <a:defRPr sz="2600" b="1" i="0">
                <a:solidFill>
                  <a:srgbClr val="FFFFFF"/>
                </a:solidFill>
                <a:latin typeface="Montserrat"/>
              </a:defRPr>
            </a:pPr>
            <a:r>
              <a:t>2</a:t>
            </a:r>
          </a:p>
        </p:txBody>
      </p:sp>
      <p:sp>
        <p:nvSpPr>
          <p:cNvPr id="11" name="TextBox 10"/>
          <p:cNvSpPr txBox="1"/>
          <p:nvPr/>
        </p:nvSpPr>
        <p:spPr>
          <a:xfrm>
            <a:off x="4507992" y="1783080"/>
            <a:ext cx="2880360" cy="1097280"/>
          </a:xfrm>
          <a:prstGeom prst="rect">
            <a:avLst/>
          </a:prstGeom>
          <a:noFill/>
        </p:spPr>
        <p:txBody>
          <a:bodyPr wrap="square"/>
          <a:lstStyle/>
          <a:p>
            <a:pPr algn="l">
              <a:lnSpc>
                <a:spcPts val="1739"/>
              </a:lnSpc>
              <a:spcBef>
                <a:spcPts val="0"/>
              </a:spcBef>
              <a:spcAft>
                <a:spcPts val="0"/>
              </a:spcAft>
              <a:defRPr sz="1200" b="0" i="0">
                <a:solidFill>
                  <a:srgbClr val="333333"/>
                </a:solidFill>
                <a:latin typeface="Lato"/>
              </a:defRPr>
            </a:pPr>
            <a:r>
              <a:t>ICP localization akurat untuk navigasi, dengan peningkatan</a:t>
            </a:r>
            <a:br/>
            <a:r>
              <a:t>error pada lantai tidak rata dan region kompleks</a:t>
            </a:r>
          </a:p>
        </p:txBody>
      </p:sp>
      <p:sp>
        <p:nvSpPr>
          <p:cNvPr id="12" name="Rounded Rectangle 11"/>
          <p:cNvSpPr/>
          <p:nvPr/>
        </p:nvSpPr>
        <p:spPr>
          <a:xfrm>
            <a:off x="7799832" y="1051560"/>
            <a:ext cx="3246120" cy="2011680"/>
          </a:xfrm>
          <a:prstGeom prst="roundRect">
            <a:avLst/>
          </a:prstGeom>
          <a:solidFill>
            <a:srgbClr val="FFF8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7799832" y="1051560"/>
            <a:ext cx="3246120" cy="548640"/>
          </a:xfrm>
          <a:prstGeom prst="roundRect">
            <a:avLst/>
          </a:prstGeom>
          <a:solidFill>
            <a:srgbClr val="F08C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99832" y="1097280"/>
            <a:ext cx="3246120" cy="457200"/>
          </a:xfrm>
          <a:prstGeom prst="rect">
            <a:avLst/>
          </a:prstGeom>
          <a:noFill/>
        </p:spPr>
        <p:txBody>
          <a:bodyPr wrap="square"/>
          <a:lstStyle/>
          <a:p>
            <a:pPr algn="ctr">
              <a:lnSpc>
                <a:spcPts val="3120"/>
              </a:lnSpc>
              <a:spcBef>
                <a:spcPts val="0"/>
              </a:spcBef>
              <a:spcAft>
                <a:spcPts val="0"/>
              </a:spcAft>
              <a:defRPr sz="2600" b="1" i="0">
                <a:solidFill>
                  <a:srgbClr val="FFFFFF"/>
                </a:solidFill>
                <a:latin typeface="Montserrat"/>
              </a:defRPr>
            </a:pPr>
            <a:r>
              <a:t>3</a:t>
            </a:r>
          </a:p>
        </p:txBody>
      </p:sp>
      <p:sp>
        <p:nvSpPr>
          <p:cNvPr id="15" name="TextBox 14"/>
          <p:cNvSpPr txBox="1"/>
          <p:nvPr/>
        </p:nvSpPr>
        <p:spPr>
          <a:xfrm>
            <a:off x="7982712" y="1783080"/>
            <a:ext cx="2880360" cy="1097280"/>
          </a:xfrm>
          <a:prstGeom prst="rect">
            <a:avLst/>
          </a:prstGeom>
          <a:noFill/>
        </p:spPr>
        <p:txBody>
          <a:bodyPr wrap="square"/>
          <a:lstStyle/>
          <a:p>
            <a:pPr algn="l">
              <a:lnSpc>
                <a:spcPts val="1739"/>
              </a:lnSpc>
              <a:spcBef>
                <a:spcPts val="0"/>
              </a:spcBef>
              <a:spcAft>
                <a:spcPts val="0"/>
              </a:spcAft>
              <a:defRPr sz="1200" b="0" i="0">
                <a:solidFill>
                  <a:srgbClr val="333333"/>
                </a:solidFill>
                <a:latin typeface="Lato"/>
              </a:defRPr>
            </a:pPr>
            <a:r>
              <a:t>Cost Scaling Factor 100 menghasilkan jalur terpendek</a:t>
            </a:r>
            <a:br/>
            <a:r>
              <a:t>dengan tetap menghindari obstacle</a:t>
            </a:r>
          </a:p>
        </p:txBody>
      </p:sp>
      <p:sp>
        <p:nvSpPr>
          <p:cNvPr id="16" name="Rounded Rectangle 15"/>
          <p:cNvSpPr/>
          <p:nvPr/>
        </p:nvSpPr>
        <p:spPr>
          <a:xfrm>
            <a:off x="2587752" y="3291840"/>
            <a:ext cx="3246120" cy="2011680"/>
          </a:xfrm>
          <a:prstGeom prst="roundRect">
            <a:avLst/>
          </a:prstGeom>
          <a:solidFill>
            <a:srgbClr val="FFF8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2587752" y="3291840"/>
            <a:ext cx="3246120" cy="548640"/>
          </a:xfrm>
          <a:prstGeom prst="roundRect">
            <a:avLst/>
          </a:prstGeom>
          <a:solidFill>
            <a:srgbClr val="4A90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587752" y="3337560"/>
            <a:ext cx="3246120" cy="457200"/>
          </a:xfrm>
          <a:prstGeom prst="rect">
            <a:avLst/>
          </a:prstGeom>
          <a:noFill/>
        </p:spPr>
        <p:txBody>
          <a:bodyPr wrap="square"/>
          <a:lstStyle/>
          <a:p>
            <a:pPr algn="ctr">
              <a:lnSpc>
                <a:spcPts val="3120"/>
              </a:lnSpc>
              <a:spcBef>
                <a:spcPts val="0"/>
              </a:spcBef>
              <a:spcAft>
                <a:spcPts val="0"/>
              </a:spcAft>
              <a:defRPr sz="2600" b="1" i="0">
                <a:solidFill>
                  <a:srgbClr val="FFFFFF"/>
                </a:solidFill>
                <a:latin typeface="Montserrat"/>
              </a:defRPr>
            </a:pPr>
            <a:r>
              <a:t>4</a:t>
            </a:r>
          </a:p>
        </p:txBody>
      </p:sp>
      <p:sp>
        <p:nvSpPr>
          <p:cNvPr id="19" name="TextBox 18"/>
          <p:cNvSpPr txBox="1"/>
          <p:nvPr/>
        </p:nvSpPr>
        <p:spPr>
          <a:xfrm>
            <a:off x="2770632" y="4023360"/>
            <a:ext cx="2880360" cy="1097280"/>
          </a:xfrm>
          <a:prstGeom prst="rect">
            <a:avLst/>
          </a:prstGeom>
          <a:noFill/>
        </p:spPr>
        <p:txBody>
          <a:bodyPr wrap="square"/>
          <a:lstStyle/>
          <a:p>
            <a:pPr algn="l">
              <a:lnSpc>
                <a:spcPts val="1739"/>
              </a:lnSpc>
              <a:spcBef>
                <a:spcPts val="0"/>
              </a:spcBef>
              <a:spcAft>
                <a:spcPts val="0"/>
              </a:spcAft>
              <a:defRPr sz="1200" b="0" i="0">
                <a:solidFill>
                  <a:srgbClr val="333333"/>
                </a:solidFill>
                <a:latin typeface="Lato"/>
              </a:defRPr>
            </a:pPr>
            <a:r>
              <a:t>Costmap transisi berhasil menggabungkan region pada</a:t>
            </a:r>
            <a:br/>
            <a:r>
              <a:t>radius transisi minimal 0.26 meter</a:t>
            </a:r>
          </a:p>
        </p:txBody>
      </p:sp>
      <p:sp>
        <p:nvSpPr>
          <p:cNvPr id="20" name="Rounded Rectangle 19"/>
          <p:cNvSpPr/>
          <p:nvPr/>
        </p:nvSpPr>
        <p:spPr>
          <a:xfrm>
            <a:off x="6062472" y="3291840"/>
            <a:ext cx="3246120" cy="2011680"/>
          </a:xfrm>
          <a:prstGeom prst="roundRect">
            <a:avLst/>
          </a:prstGeom>
          <a:solidFill>
            <a:srgbClr val="FFF8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062472" y="3291840"/>
            <a:ext cx="3246120" cy="548640"/>
          </a:xfrm>
          <a:prstGeom prst="roundRect">
            <a:avLst/>
          </a:prstGeom>
          <a:solidFill>
            <a:srgbClr val="F08C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062472" y="3337560"/>
            <a:ext cx="3246120" cy="457200"/>
          </a:xfrm>
          <a:prstGeom prst="rect">
            <a:avLst/>
          </a:prstGeom>
          <a:noFill/>
        </p:spPr>
        <p:txBody>
          <a:bodyPr wrap="square"/>
          <a:lstStyle/>
          <a:p>
            <a:pPr algn="ctr">
              <a:lnSpc>
                <a:spcPts val="3120"/>
              </a:lnSpc>
              <a:spcBef>
                <a:spcPts val="0"/>
              </a:spcBef>
              <a:spcAft>
                <a:spcPts val="0"/>
              </a:spcAft>
              <a:defRPr sz="2600" b="1" i="0">
                <a:solidFill>
                  <a:srgbClr val="FFFFFF"/>
                </a:solidFill>
                <a:latin typeface="Montserrat"/>
              </a:defRPr>
            </a:pPr>
            <a:r>
              <a:t>5</a:t>
            </a:r>
          </a:p>
        </p:txBody>
      </p:sp>
      <p:sp>
        <p:nvSpPr>
          <p:cNvPr id="23" name="TextBox 22"/>
          <p:cNvSpPr txBox="1"/>
          <p:nvPr/>
        </p:nvSpPr>
        <p:spPr>
          <a:xfrm>
            <a:off x="6245352" y="4023360"/>
            <a:ext cx="2880360" cy="1097280"/>
          </a:xfrm>
          <a:prstGeom prst="rect">
            <a:avLst/>
          </a:prstGeom>
          <a:noFill/>
        </p:spPr>
        <p:txBody>
          <a:bodyPr wrap="square"/>
          <a:lstStyle/>
          <a:p>
            <a:pPr algn="l">
              <a:lnSpc>
                <a:spcPts val="1739"/>
              </a:lnSpc>
              <a:spcBef>
                <a:spcPts val="0"/>
              </a:spcBef>
              <a:spcAft>
                <a:spcPts val="0"/>
              </a:spcAft>
              <a:defRPr sz="1200" b="0" i="0">
                <a:solidFill>
                  <a:srgbClr val="333333"/>
                </a:solidFill>
                <a:latin typeface="Lato"/>
              </a:defRPr>
            </a:pPr>
            <a:r>
              <a:t>DWA Planner mampu mengakomodasi obstacle tidak</a:t>
            </a:r>
            <a:br/>
            <a:r>
              <a:t>diketahui dan menghasilkan trajectory aman</a:t>
            </a:r>
          </a:p>
        </p:txBody>
      </p:sp>
      <p:sp>
        <p:nvSpPr>
          <p:cNvPr id="24" name="TextBox 23"/>
          <p:cNvSpPr txBox="1"/>
          <p:nvPr/>
        </p:nvSpPr>
        <p:spPr>
          <a:xfrm>
            <a:off x="10884103" y="6446520"/>
            <a:ext cx="457200" cy="274320"/>
          </a:xfrm>
          <a:prstGeom prst="rect">
            <a:avLst/>
          </a:prstGeom>
          <a:noFill/>
        </p:spPr>
        <p:txBody>
          <a:bodyPr wrap="square"/>
          <a:lstStyle/>
          <a:p>
            <a:pPr algn="r">
              <a:lnSpc>
                <a:spcPts val="1200"/>
              </a:lnSpc>
              <a:spcBef>
                <a:spcPts val="0"/>
              </a:spcBef>
              <a:spcAft>
                <a:spcPts val="0"/>
              </a:spcAft>
              <a:defRPr sz="1000" b="0" i="0">
                <a:solidFill>
                  <a:srgbClr val="333333"/>
                </a:solidFill>
                <a:latin typeface="Lato"/>
              </a:defRPr>
            </a:pPr>
            <a: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gradFill rotWithShape="1">
          <a:gsLst>
            <a:gs pos="0">
              <a:srgbClr val="E8F1FC"/>
            </a:gs>
            <a:gs pos="100000">
              <a:srgbClr val="CDDFF1"/>
            </a:gs>
          </a:gsLst>
          <a:lin ang="8100000" scaled="0"/>
        </a:gradFill>
      </p:bgPr>
    </p:bg>
    <p:spTree>
      <p:nvGrpSpPr>
        <p:cNvPr id="1" name=""/>
        <p:cNvGrpSpPr/>
        <p:nvPr/>
      </p:nvGrpSpPr>
      <p:grpSpPr/>
      <p:sp>
        <p:nvSpPr>
          <p:cNvPr id="2" name="TextBox 1"/>
          <p:cNvSpPr txBox="1"/>
          <p:nvPr/>
        </p:nvSpPr>
        <p:spPr>
          <a:xfrm>
            <a:off x="850392" y="320040"/>
            <a:ext cx="3657600" cy="502920"/>
          </a:xfrm>
          <a:prstGeom prst="rect">
            <a:avLst/>
          </a:prstGeom>
          <a:noFill/>
        </p:spPr>
        <p:txBody>
          <a:bodyPr wrap="square"/>
          <a:lstStyle/>
          <a:p>
            <a:pPr algn="l">
              <a:lnSpc>
                <a:spcPts val="3600"/>
              </a:lnSpc>
              <a:spcBef>
                <a:spcPts val="0"/>
              </a:spcBef>
              <a:spcAft>
                <a:spcPts val="0"/>
              </a:spcAft>
              <a:defRPr sz="3000" b="1" i="0">
                <a:solidFill>
                  <a:srgbClr val="1A2B4C"/>
                </a:solidFill>
                <a:latin typeface="Montserrat"/>
              </a:defRPr>
            </a:pPr>
            <a:r>
              <a:t>SARAN PENGEMBANGAN</a:t>
            </a:r>
          </a:p>
        </p:txBody>
      </p:sp>
      <p:sp>
        <p:nvSpPr>
          <p:cNvPr id="3" name="Rectangle 2"/>
          <p:cNvSpPr/>
          <p:nvPr/>
        </p:nvSpPr>
        <p:spPr>
          <a:xfrm>
            <a:off x="850392" y="777240"/>
            <a:ext cx="1828800" cy="25400"/>
          </a:xfrm>
          <a:prstGeom prst="rect">
            <a:avLst/>
          </a:prstGeom>
          <a:solidFill>
            <a:srgbClr val="F08C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850392" y="1051560"/>
            <a:ext cx="5120640" cy="1920240"/>
          </a:xfrm>
          <a:prstGeom prst="roundRect">
            <a:avLst/>
          </a:prstGeom>
          <a:solidFill>
            <a:srgbClr val="FFF8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50392" y="1051560"/>
            <a:ext cx="5120640" cy="50800"/>
          </a:xfrm>
          <a:prstGeom prst="rect">
            <a:avLst/>
          </a:prstGeom>
          <a:solidFill>
            <a:srgbClr val="003A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33272" y="1143000"/>
            <a:ext cx="365760" cy="320040"/>
          </a:xfrm>
          <a:prstGeom prst="rect">
            <a:avLst/>
          </a:prstGeom>
          <a:noFill/>
        </p:spPr>
        <p:txBody>
          <a:bodyPr wrap="square"/>
          <a:lstStyle/>
          <a:p>
            <a:pPr algn="l">
              <a:lnSpc>
                <a:spcPts val="2400"/>
              </a:lnSpc>
              <a:spcBef>
                <a:spcPts val="0"/>
              </a:spcBef>
              <a:spcAft>
                <a:spcPts val="0"/>
              </a:spcAft>
              <a:defRPr sz="2000" b="1" i="0">
                <a:solidFill>
                  <a:srgbClr val="003A70"/>
                </a:solidFill>
                <a:latin typeface="Montserrat"/>
              </a:defRPr>
            </a:pPr>
            <a:r>
              <a:t>1</a:t>
            </a:r>
          </a:p>
        </p:txBody>
      </p:sp>
      <p:sp>
        <p:nvSpPr>
          <p:cNvPr id="7" name="TextBox 6"/>
          <p:cNvSpPr txBox="1"/>
          <p:nvPr/>
        </p:nvSpPr>
        <p:spPr>
          <a:xfrm>
            <a:off x="1399032" y="1143000"/>
            <a:ext cx="4389120" cy="320040"/>
          </a:xfrm>
          <a:prstGeom prst="rect">
            <a:avLst/>
          </a:prstGeom>
          <a:noFill/>
        </p:spPr>
        <p:txBody>
          <a:bodyPr wrap="square"/>
          <a:lstStyle/>
          <a:p>
            <a:pPr algn="l">
              <a:lnSpc>
                <a:spcPts val="1560"/>
              </a:lnSpc>
              <a:spcBef>
                <a:spcPts val="0"/>
              </a:spcBef>
              <a:spcAft>
                <a:spcPts val="0"/>
              </a:spcAft>
              <a:defRPr sz="1300" b="1" i="0">
                <a:solidFill>
                  <a:srgbClr val="1A2B4C"/>
                </a:solidFill>
                <a:latin typeface="Montserrat"/>
              </a:defRPr>
            </a:pPr>
            <a:r>
              <a:t>Prekomputasi KNN per Region</a:t>
            </a:r>
          </a:p>
        </p:txBody>
      </p:sp>
      <p:sp>
        <p:nvSpPr>
          <p:cNvPr id="8" name="TextBox 7"/>
          <p:cNvSpPr txBox="1"/>
          <p:nvPr/>
        </p:nvSpPr>
        <p:spPr>
          <a:xfrm>
            <a:off x="1033272" y="1645920"/>
            <a:ext cx="4754880" cy="1188720"/>
          </a:xfrm>
          <a:prstGeom prst="rect">
            <a:avLst/>
          </a:prstGeom>
          <a:noFill/>
        </p:spPr>
        <p:txBody>
          <a:bodyPr wrap="square"/>
          <a:lstStyle/>
          <a:p>
            <a:pPr algn="l">
              <a:lnSpc>
                <a:spcPts val="1650"/>
              </a:lnSpc>
              <a:spcBef>
                <a:spcPts val="0"/>
              </a:spcBef>
              <a:spcAft>
                <a:spcPts val="0"/>
              </a:spcAft>
              <a:defRPr sz="1100" b="0" i="0">
                <a:solidFill>
                  <a:srgbClr val="333333"/>
                </a:solidFill>
                <a:latin typeface="Lato"/>
              </a:defRPr>
            </a:pPr>
            <a:r>
              <a:t>Parameter radius dan jumlah nearest neighbors</a:t>
            </a:r>
            <a:br/>
            <a:r>
              <a:t>dapat disetel independen per region untuk</a:t>
            </a:r>
            <a:br/>
            <a:r>
              <a:t>akurasi ICP yang lebih optimal.</a:t>
            </a:r>
          </a:p>
        </p:txBody>
      </p:sp>
      <p:sp>
        <p:nvSpPr>
          <p:cNvPr id="9" name="Rounded Rectangle 8"/>
          <p:cNvSpPr/>
          <p:nvPr/>
        </p:nvSpPr>
        <p:spPr>
          <a:xfrm>
            <a:off x="6245352" y="1051560"/>
            <a:ext cx="5120640" cy="1920240"/>
          </a:xfrm>
          <a:prstGeom prst="roundRect">
            <a:avLst/>
          </a:prstGeom>
          <a:solidFill>
            <a:srgbClr val="FFF8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45352" y="1051560"/>
            <a:ext cx="5120640" cy="50800"/>
          </a:xfrm>
          <a:prstGeom prst="rect">
            <a:avLst/>
          </a:prstGeom>
          <a:solidFill>
            <a:srgbClr val="4A90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28232" y="1143000"/>
            <a:ext cx="365760" cy="320040"/>
          </a:xfrm>
          <a:prstGeom prst="rect">
            <a:avLst/>
          </a:prstGeom>
          <a:noFill/>
        </p:spPr>
        <p:txBody>
          <a:bodyPr wrap="square"/>
          <a:lstStyle/>
          <a:p>
            <a:pPr algn="l">
              <a:lnSpc>
                <a:spcPts val="2400"/>
              </a:lnSpc>
              <a:spcBef>
                <a:spcPts val="0"/>
              </a:spcBef>
              <a:spcAft>
                <a:spcPts val="0"/>
              </a:spcAft>
              <a:defRPr sz="2000" b="1" i="0">
                <a:solidFill>
                  <a:srgbClr val="4A90D9"/>
                </a:solidFill>
                <a:latin typeface="Montserrat"/>
              </a:defRPr>
            </a:pPr>
            <a:r>
              <a:t>2</a:t>
            </a:r>
          </a:p>
        </p:txBody>
      </p:sp>
      <p:sp>
        <p:nvSpPr>
          <p:cNvPr id="12" name="TextBox 11"/>
          <p:cNvSpPr txBox="1"/>
          <p:nvPr/>
        </p:nvSpPr>
        <p:spPr>
          <a:xfrm>
            <a:off x="6793992" y="1143000"/>
            <a:ext cx="4389120" cy="320040"/>
          </a:xfrm>
          <a:prstGeom prst="rect">
            <a:avLst/>
          </a:prstGeom>
          <a:noFill/>
        </p:spPr>
        <p:txBody>
          <a:bodyPr wrap="square"/>
          <a:lstStyle/>
          <a:p>
            <a:pPr algn="l">
              <a:lnSpc>
                <a:spcPts val="1560"/>
              </a:lnSpc>
              <a:spcBef>
                <a:spcPts val="0"/>
              </a:spcBef>
              <a:spcAft>
                <a:spcPts val="0"/>
              </a:spcAft>
              <a:defRPr sz="1300" b="1" i="0">
                <a:solidFill>
                  <a:srgbClr val="1A2B4C"/>
                </a:solidFill>
                <a:latin typeface="Montserrat"/>
              </a:defRPr>
            </a:pPr>
            <a:r>
              <a:t>Fusion ICP + IMU</a:t>
            </a:r>
          </a:p>
        </p:txBody>
      </p:sp>
      <p:sp>
        <p:nvSpPr>
          <p:cNvPr id="13" name="TextBox 12"/>
          <p:cNvSpPr txBox="1"/>
          <p:nvPr/>
        </p:nvSpPr>
        <p:spPr>
          <a:xfrm>
            <a:off x="6428232" y="1645920"/>
            <a:ext cx="4754880" cy="1188720"/>
          </a:xfrm>
          <a:prstGeom prst="rect">
            <a:avLst/>
          </a:prstGeom>
          <a:noFill/>
        </p:spPr>
        <p:txBody>
          <a:bodyPr wrap="square"/>
          <a:lstStyle/>
          <a:p>
            <a:pPr algn="l">
              <a:lnSpc>
                <a:spcPts val="1650"/>
              </a:lnSpc>
              <a:spcBef>
                <a:spcPts val="0"/>
              </a:spcBef>
              <a:spcAft>
                <a:spcPts val="0"/>
              </a:spcAft>
              <a:defRPr sz="1100" b="0" i="0">
                <a:solidFill>
                  <a:srgbClr val="333333"/>
                </a:solidFill>
                <a:latin typeface="Lato"/>
              </a:defRPr>
            </a:pPr>
            <a:r>
              <a:t>Kompensasi lonjakan error ICP di zona transisi</a:t>
            </a:r>
            <a:br/>
            <a:r>
              <a:t>dengan data IMU saat fitur LiDAR terbatas.</a:t>
            </a:r>
          </a:p>
        </p:txBody>
      </p:sp>
      <p:sp>
        <p:nvSpPr>
          <p:cNvPr id="14" name="Rounded Rectangle 13"/>
          <p:cNvSpPr/>
          <p:nvPr/>
        </p:nvSpPr>
        <p:spPr>
          <a:xfrm>
            <a:off x="850392" y="3200400"/>
            <a:ext cx="5120640" cy="1920240"/>
          </a:xfrm>
          <a:prstGeom prst="roundRect">
            <a:avLst/>
          </a:prstGeom>
          <a:solidFill>
            <a:srgbClr val="FFF8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50392" y="3200400"/>
            <a:ext cx="5120640" cy="50800"/>
          </a:xfrm>
          <a:prstGeom prst="rect">
            <a:avLst/>
          </a:prstGeom>
          <a:solidFill>
            <a:srgbClr val="4A90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33272" y="3291840"/>
            <a:ext cx="365760" cy="320040"/>
          </a:xfrm>
          <a:prstGeom prst="rect">
            <a:avLst/>
          </a:prstGeom>
          <a:noFill/>
        </p:spPr>
        <p:txBody>
          <a:bodyPr wrap="square"/>
          <a:lstStyle/>
          <a:p>
            <a:pPr algn="l">
              <a:lnSpc>
                <a:spcPts val="2400"/>
              </a:lnSpc>
              <a:spcBef>
                <a:spcPts val="0"/>
              </a:spcBef>
              <a:spcAft>
                <a:spcPts val="0"/>
              </a:spcAft>
              <a:defRPr sz="2000" b="1" i="0">
                <a:solidFill>
                  <a:srgbClr val="4A90D9"/>
                </a:solidFill>
                <a:latin typeface="Montserrat"/>
              </a:defRPr>
            </a:pPr>
            <a:r>
              <a:t>3</a:t>
            </a:r>
          </a:p>
        </p:txBody>
      </p:sp>
      <p:sp>
        <p:nvSpPr>
          <p:cNvPr id="17" name="TextBox 16"/>
          <p:cNvSpPr txBox="1"/>
          <p:nvPr/>
        </p:nvSpPr>
        <p:spPr>
          <a:xfrm>
            <a:off x="1399032" y="3291840"/>
            <a:ext cx="4389120" cy="320040"/>
          </a:xfrm>
          <a:prstGeom prst="rect">
            <a:avLst/>
          </a:prstGeom>
          <a:noFill/>
        </p:spPr>
        <p:txBody>
          <a:bodyPr wrap="square"/>
          <a:lstStyle/>
          <a:p>
            <a:pPr algn="l">
              <a:lnSpc>
                <a:spcPts val="1560"/>
              </a:lnSpc>
              <a:spcBef>
                <a:spcPts val="0"/>
              </a:spcBef>
              <a:spcAft>
                <a:spcPts val="0"/>
              </a:spcAft>
              <a:defRPr sz="1300" b="1" i="0">
                <a:solidFill>
                  <a:srgbClr val="1A2B4C"/>
                </a:solidFill>
                <a:latin typeface="Montserrat"/>
              </a:defRPr>
            </a:pPr>
            <a:r>
              <a:t>Integrasi Depth Camera</a:t>
            </a:r>
          </a:p>
        </p:txBody>
      </p:sp>
      <p:sp>
        <p:nvSpPr>
          <p:cNvPr id="18" name="TextBox 17"/>
          <p:cNvSpPr txBox="1"/>
          <p:nvPr/>
        </p:nvSpPr>
        <p:spPr>
          <a:xfrm>
            <a:off x="1033272" y="3794760"/>
            <a:ext cx="4754880" cy="1188720"/>
          </a:xfrm>
          <a:prstGeom prst="rect">
            <a:avLst/>
          </a:prstGeom>
          <a:noFill/>
        </p:spPr>
        <p:txBody>
          <a:bodyPr wrap="square"/>
          <a:lstStyle/>
          <a:p>
            <a:pPr algn="l">
              <a:lnSpc>
                <a:spcPts val="1650"/>
              </a:lnSpc>
              <a:spcBef>
                <a:spcPts val="0"/>
              </a:spcBef>
              <a:spcAft>
                <a:spcPts val="0"/>
              </a:spcAft>
              <a:defRPr sz="1100" b="0" i="0">
                <a:solidFill>
                  <a:srgbClr val="333333"/>
                </a:solidFill>
                <a:latin typeface="Lato"/>
              </a:defRPr>
            </a:pPr>
            <a:r>
              <a:t>Keterbatasan LiDAR 2D dalam mendeteksi</a:t>
            </a:r>
            <a:br/>
            <a:r>
              <a:t>obstacle vertikal dapat dilengkapi dengan</a:t>
            </a:r>
            <a:br/>
            <a:r>
              <a:t>data visual dari depth sensor.</a:t>
            </a:r>
          </a:p>
        </p:txBody>
      </p:sp>
      <p:sp>
        <p:nvSpPr>
          <p:cNvPr id="19" name="Rounded Rectangle 18"/>
          <p:cNvSpPr/>
          <p:nvPr/>
        </p:nvSpPr>
        <p:spPr>
          <a:xfrm>
            <a:off x="6245352" y="3200400"/>
            <a:ext cx="5120640" cy="1920240"/>
          </a:xfrm>
          <a:prstGeom prst="roundRect">
            <a:avLst/>
          </a:prstGeom>
          <a:solidFill>
            <a:srgbClr val="FFF8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45352" y="3200400"/>
            <a:ext cx="5120640" cy="50800"/>
          </a:xfrm>
          <a:prstGeom prst="rect">
            <a:avLst/>
          </a:prstGeom>
          <a:solidFill>
            <a:srgbClr val="F08C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28232" y="3291840"/>
            <a:ext cx="365760" cy="320040"/>
          </a:xfrm>
          <a:prstGeom prst="rect">
            <a:avLst/>
          </a:prstGeom>
          <a:noFill/>
        </p:spPr>
        <p:txBody>
          <a:bodyPr wrap="square"/>
          <a:lstStyle/>
          <a:p>
            <a:pPr algn="l">
              <a:lnSpc>
                <a:spcPts val="2400"/>
              </a:lnSpc>
              <a:spcBef>
                <a:spcPts val="0"/>
              </a:spcBef>
              <a:spcAft>
                <a:spcPts val="0"/>
              </a:spcAft>
              <a:defRPr sz="2000" b="1" i="0">
                <a:solidFill>
                  <a:srgbClr val="F08C2E"/>
                </a:solidFill>
                <a:latin typeface="Montserrat"/>
              </a:defRPr>
            </a:pPr>
            <a:r>
              <a:t>4</a:t>
            </a:r>
          </a:p>
        </p:txBody>
      </p:sp>
      <p:sp>
        <p:nvSpPr>
          <p:cNvPr id="22" name="TextBox 21"/>
          <p:cNvSpPr txBox="1"/>
          <p:nvPr/>
        </p:nvSpPr>
        <p:spPr>
          <a:xfrm>
            <a:off x="6793992" y="3291840"/>
            <a:ext cx="4389120" cy="320040"/>
          </a:xfrm>
          <a:prstGeom prst="rect">
            <a:avLst/>
          </a:prstGeom>
          <a:noFill/>
        </p:spPr>
        <p:txBody>
          <a:bodyPr wrap="square"/>
          <a:lstStyle/>
          <a:p>
            <a:pPr algn="l">
              <a:lnSpc>
                <a:spcPts val="1560"/>
              </a:lnSpc>
              <a:spcBef>
                <a:spcPts val="0"/>
              </a:spcBef>
              <a:spcAft>
                <a:spcPts val="0"/>
              </a:spcAft>
              <a:defRPr sz="1300" b="1" i="0">
                <a:solidFill>
                  <a:srgbClr val="1A2B4C"/>
                </a:solidFill>
                <a:latin typeface="Montserrat"/>
              </a:defRPr>
            </a:pPr>
            <a:r>
              <a:t>Pengujian pada Robot Fisik</a:t>
            </a:r>
          </a:p>
        </p:txBody>
      </p:sp>
      <p:sp>
        <p:nvSpPr>
          <p:cNvPr id="23" name="TextBox 22"/>
          <p:cNvSpPr txBox="1"/>
          <p:nvPr/>
        </p:nvSpPr>
        <p:spPr>
          <a:xfrm>
            <a:off x="6428232" y="3794760"/>
            <a:ext cx="4754880" cy="1188720"/>
          </a:xfrm>
          <a:prstGeom prst="rect">
            <a:avLst/>
          </a:prstGeom>
          <a:noFill/>
        </p:spPr>
        <p:txBody>
          <a:bodyPr wrap="square"/>
          <a:lstStyle/>
          <a:p>
            <a:pPr algn="l">
              <a:lnSpc>
                <a:spcPts val="1650"/>
              </a:lnSpc>
              <a:spcBef>
                <a:spcPts val="0"/>
              </a:spcBef>
              <a:spcAft>
                <a:spcPts val="0"/>
              </a:spcAft>
              <a:defRPr sz="1100" b="0" i="0">
                <a:solidFill>
                  <a:srgbClr val="333333"/>
                </a:solidFill>
                <a:latin typeface="Lato"/>
              </a:defRPr>
            </a:pPr>
            <a:r>
              <a:t>Validasi sistem di lingkungan nyata setelah</a:t>
            </a:r>
            <a:br/>
            <a:r>
              <a:t>terbukti berhasil di lingkungan simulasi Mujoco.</a:t>
            </a:r>
          </a:p>
        </p:txBody>
      </p:sp>
      <p:sp>
        <p:nvSpPr>
          <p:cNvPr id="24" name="TextBox 23"/>
          <p:cNvSpPr txBox="1"/>
          <p:nvPr/>
        </p:nvSpPr>
        <p:spPr>
          <a:xfrm>
            <a:off x="10884103" y="6446520"/>
            <a:ext cx="457200" cy="274320"/>
          </a:xfrm>
          <a:prstGeom prst="rect">
            <a:avLst/>
          </a:prstGeom>
          <a:noFill/>
        </p:spPr>
        <p:txBody>
          <a:bodyPr wrap="square"/>
          <a:lstStyle/>
          <a:p>
            <a:pPr algn="r">
              <a:lnSpc>
                <a:spcPts val="1200"/>
              </a:lnSpc>
              <a:spcBef>
                <a:spcPts val="0"/>
              </a:spcBef>
              <a:spcAft>
                <a:spcPts val="0"/>
              </a:spcAft>
              <a:defRPr sz="1000" b="0" i="0">
                <a:solidFill>
                  <a:srgbClr val="333333"/>
                </a:solidFill>
                <a:latin typeface="Lato"/>
              </a:defRPr>
            </a:pPr>
            <a: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002B54"/>
        </a:solidFill>
        <a:effectLst/>
      </p:bgPr>
    </p:bg>
    <p:spTree>
      <p:nvGrpSpPr>
        <p:cNvPr id="1" name=""/>
        <p:cNvGrpSpPr/>
        <p:nvPr/>
      </p:nvGrpSpPr>
      <p:grpSpPr/>
      <p:sp>
        <p:nvSpPr>
          <p:cNvPr id="2" name="Rectangle 1"/>
          <p:cNvSpPr/>
          <p:nvPr/>
        </p:nvSpPr>
        <p:spPr>
          <a:xfrm>
            <a:off x="4724247" y="1097280"/>
            <a:ext cx="2743200" cy="38100"/>
          </a:xfrm>
          <a:prstGeom prst="rect">
            <a:avLst/>
          </a:prstGeom>
          <a:solidFill>
            <a:srgbClr val="F08C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0" y="1371600"/>
            <a:ext cx="12191695" cy="914400"/>
          </a:xfrm>
          <a:prstGeom prst="rect">
            <a:avLst/>
          </a:prstGeom>
          <a:noFill/>
        </p:spPr>
        <p:txBody>
          <a:bodyPr wrap="square"/>
          <a:lstStyle/>
          <a:p>
            <a:pPr algn="ctr">
              <a:lnSpc>
                <a:spcPts val="5040"/>
              </a:lnSpc>
              <a:spcBef>
                <a:spcPts val="0"/>
              </a:spcBef>
              <a:spcAft>
                <a:spcPts val="0"/>
              </a:spcAft>
              <a:defRPr sz="4200" b="1" i="0">
                <a:solidFill>
                  <a:srgbClr val="FFFFFF"/>
                </a:solidFill>
                <a:latin typeface="Montserrat"/>
              </a:defRPr>
            </a:pPr>
            <a:r>
              <a:t>TERIMA KASIH</a:t>
            </a:r>
          </a:p>
        </p:txBody>
      </p:sp>
      <p:sp>
        <p:nvSpPr>
          <p:cNvPr id="4" name="TextBox 3"/>
          <p:cNvSpPr txBox="1"/>
          <p:nvPr/>
        </p:nvSpPr>
        <p:spPr>
          <a:xfrm>
            <a:off x="0" y="2560320"/>
            <a:ext cx="12191695" cy="457200"/>
          </a:xfrm>
          <a:prstGeom prst="rect">
            <a:avLst/>
          </a:prstGeom>
          <a:noFill/>
        </p:spPr>
        <p:txBody>
          <a:bodyPr wrap="square"/>
          <a:lstStyle/>
          <a:p>
            <a:pPr algn="ctr">
              <a:lnSpc>
                <a:spcPts val="2160"/>
              </a:lnSpc>
              <a:spcBef>
                <a:spcPts val="0"/>
              </a:spcBef>
              <a:spcAft>
                <a:spcPts val="0"/>
              </a:spcAft>
              <a:defRPr sz="1800" b="0" i="0">
                <a:solidFill>
                  <a:srgbClr val="BBD5EC"/>
                </a:solidFill>
                <a:latin typeface="Montserrat"/>
              </a:defRPr>
            </a:pPr>
            <a:r>
              <a:t>Bagas Surya Wirawan  ·  NRP. 5022221026</a:t>
            </a:r>
          </a:p>
        </p:txBody>
      </p:sp>
      <p:sp>
        <p:nvSpPr>
          <p:cNvPr id="5" name="TextBox 4"/>
          <p:cNvSpPr txBox="1"/>
          <p:nvPr/>
        </p:nvSpPr>
        <p:spPr>
          <a:xfrm>
            <a:off x="0" y="3200400"/>
            <a:ext cx="12191695" cy="1371600"/>
          </a:xfrm>
          <a:prstGeom prst="rect">
            <a:avLst/>
          </a:prstGeom>
          <a:noFill/>
        </p:spPr>
        <p:txBody>
          <a:bodyPr wrap="square"/>
          <a:lstStyle/>
          <a:p>
            <a:pPr algn="ctr">
              <a:lnSpc>
                <a:spcPts val="1959"/>
              </a:lnSpc>
              <a:spcBef>
                <a:spcPts val="0"/>
              </a:spcBef>
              <a:spcAft>
                <a:spcPts val="0"/>
              </a:spcAft>
              <a:defRPr sz="1400" b="0" i="0">
                <a:solidFill>
                  <a:srgbClr val="99BBDD"/>
                </a:solidFill>
                <a:latin typeface="Lato"/>
              </a:defRPr>
            </a:pPr>
            <a:r>
              <a:t>Dosen Pembimbing:</a:t>
            </a:r>
            <a:br/>
            <a:r>
              <a:t>Dr. Ir. Djoko Purwanto, M.Eng.</a:t>
            </a:r>
            <a:br/>
            <a:r>
              <a:t>Fajar Budiman, S.T., M.Sc.</a:t>
            </a:r>
          </a:p>
        </p:txBody>
      </p:sp>
      <p:sp>
        <p:nvSpPr>
          <p:cNvPr id="6" name="TextBox 5"/>
          <p:cNvSpPr txBox="1"/>
          <p:nvPr/>
        </p:nvSpPr>
        <p:spPr>
          <a:xfrm>
            <a:off x="0" y="4846320"/>
            <a:ext cx="12191695" cy="914400"/>
          </a:xfrm>
          <a:prstGeom prst="rect">
            <a:avLst/>
          </a:prstGeom>
          <a:noFill/>
        </p:spPr>
        <p:txBody>
          <a:bodyPr wrap="square"/>
          <a:lstStyle/>
          <a:p>
            <a:pPr algn="ctr">
              <a:lnSpc>
                <a:spcPts val="1679"/>
              </a:lnSpc>
              <a:spcBef>
                <a:spcPts val="0"/>
              </a:spcBef>
              <a:spcAft>
                <a:spcPts val="0"/>
              </a:spcAft>
              <a:defRPr sz="1200" b="0" i="0">
                <a:solidFill>
                  <a:srgbClr val="88AACC"/>
                </a:solidFill>
                <a:latin typeface="Lato"/>
              </a:defRPr>
            </a:pPr>
            <a:r>
              <a:t>Departemen Teknik Elektro</a:t>
            </a:r>
            <a:br/>
            <a:r>
              <a:t>Fakultas Teknologi Elektro dan Informatika Cerdas</a:t>
            </a:r>
            <a:br/>
            <a:r>
              <a:t>Institut Teknologi Sepuluh Nopember</a:t>
            </a:r>
            <a:br/>
            <a:r>
              <a:t>Surabaya · 2026</a:t>
            </a:r>
          </a:p>
        </p:txBody>
      </p:sp>
      <p:sp>
        <p:nvSpPr>
          <p:cNvPr id="7" name="Rectangle 6"/>
          <p:cNvSpPr/>
          <p:nvPr/>
        </p:nvSpPr>
        <p:spPr>
          <a:xfrm>
            <a:off x="1340967" y="6537960"/>
            <a:ext cx="3200400" cy="25400"/>
          </a:xfrm>
          <a:prstGeom prst="rect">
            <a:avLst/>
          </a:prstGeom>
          <a:solidFill>
            <a:srgbClr val="003A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632807" y="6537960"/>
            <a:ext cx="3200400" cy="25400"/>
          </a:xfrm>
          <a:prstGeom prst="rect">
            <a:avLst/>
          </a:prstGeom>
          <a:solidFill>
            <a:srgbClr val="4A90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924647" y="6537960"/>
            <a:ext cx="3200400" cy="25400"/>
          </a:xfrm>
          <a:prstGeom prst="rect">
            <a:avLst/>
          </a:prstGeom>
          <a:solidFill>
            <a:srgbClr val="F08C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