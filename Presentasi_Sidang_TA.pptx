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286000" y="-2743200"/>
            <a:ext cx="8229600" cy="8229600"/>
          </a:xfrm>
          <a:prstGeom prst="ellipse">
            <a:avLst/>
          </a:prstGeom>
          <a:solidFill>
            <a:srgbClr val="0A3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91295" y="2743200"/>
            <a:ext cx="5486400" cy="5486400"/>
          </a:xfrm>
          <a:prstGeom prst="ellipse">
            <a:avLst/>
          </a:prstGeom>
          <a:solidFill>
            <a:srgbClr val="0A3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03535" y="-113792"/>
            <a:ext cx="2473960" cy="647192"/>
          </a:xfrm>
          <a:prstGeom prst="roundRect">
            <a:avLst/>
          </a:prstGeom>
          <a:solidFill>
            <a:srgbClr val="00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54335" y="-164592"/>
            <a:ext cx="242316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stitut Teknologi Sepuluh Nopember - 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4063" y="53340"/>
            <a:ext cx="567698" cy="365760"/>
          </a:xfrm>
          <a:prstGeom prst="rect">
            <a:avLst/>
          </a:prstGeom>
        </p:spPr>
      </p:pic>
      <p:pic>
        <p:nvPicPr>
          <p:cNvPr id="7" name="Picture 6" descr="Elektro-tr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1489" y="53340"/>
            <a:ext cx="370921" cy="365760"/>
          </a:xfrm>
          <a:prstGeom prst="rect">
            <a:avLst/>
          </a:prstGeom>
        </p:spPr>
      </p:pic>
      <p:pic>
        <p:nvPicPr>
          <p:cNvPr id="8" name="Picture 7" descr="ELKA b2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22139" y="53340"/>
            <a:ext cx="436050" cy="365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143000"/>
            <a:ext cx="63500" cy="192024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143000"/>
            <a:ext cx="82296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60"/>
              </a:lnSpc>
              <a:spcAft>
                <a:spcPts val="400"/>
              </a:spcAft>
              <a:defRPr sz="3000" b="1" i="0">
                <a:solidFill>
                  <a:srgbClr val="FFFFFF"/>
                </a:solidFill>
                <a:latin typeface="Montserrat"/>
              </a:defRPr>
            </a:pPr>
            <a:r>
              <a:t>NAVIGASI ROBOT BERBASIS</a:t>
            </a:r>
          </a:p>
          <a:p>
            <a:pPr algn="l">
              <a:lnSpc>
                <a:spcPts val="3660"/>
              </a:lnSpc>
              <a:spcAft>
                <a:spcPts val="400"/>
              </a:spcAft>
              <a:defRPr sz="3000" b="1" i="0">
                <a:solidFill>
                  <a:srgbClr val="FFFFFF"/>
                </a:solidFill>
                <a:latin typeface="Montserrat"/>
              </a:defRPr>
            </a:pPr>
            <a:r>
              <a:t>LAYERED COSTMAP</a:t>
            </a:r>
          </a:p>
          <a:p>
            <a:pPr algn="l">
              <a:lnSpc>
                <a:spcPts val="3660"/>
              </a:lnSpc>
              <a:spcAft>
                <a:spcPts val="400"/>
              </a:spcAft>
              <a:defRPr sz="3000" b="1" i="0">
                <a:solidFill>
                  <a:srgbClr val="C8DCEE"/>
                </a:solidFill>
                <a:latin typeface="Montserrat"/>
              </a:defRPr>
            </a:pPr>
            <a:r>
              <a:t>UNTUK PERGERAKAN ANTAR LANTAI</a:t>
            </a:r>
          </a:p>
          <a:p>
            <a:pPr algn="l">
              <a:lnSpc>
                <a:spcPts val="3900"/>
              </a:lnSpc>
              <a:spcAft>
                <a:spcPts val="2800"/>
              </a:spcAft>
              <a:defRPr sz="3000" b="1" i="0">
                <a:solidFill>
                  <a:srgbClr val="A0BEDA"/>
                </a:solidFill>
                <a:latin typeface="Montserrat"/>
              </a:defRPr>
            </a:pPr>
            <a:r>
              <a:t>PADA LINGKUNGAN INDOOR PASCA GEMPA BUMI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200400"/>
            <a:ext cx="3291840" cy="3175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6400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529"/>
              </a:lnSpc>
              <a:spcAft>
                <a:spcPts val="400"/>
              </a:spcAft>
              <a:defRPr sz="2200" b="1" i="0">
                <a:solidFill>
                  <a:srgbClr val="FFFFFF"/>
                </a:solidFill>
                <a:latin typeface="Montserrat"/>
              </a:defRPr>
            </a:pPr>
            <a:r>
              <a:t>Bagas Surya Wirawan</a:t>
            </a:r>
          </a:p>
          <a:p>
            <a:pPr algn="l">
              <a:lnSpc>
                <a:spcPts val="1600"/>
              </a:lnSpc>
              <a:spcAft>
                <a:spcPts val="400"/>
              </a:spcAft>
              <a:defRPr sz="1600" b="0" i="0">
                <a:solidFill>
                  <a:srgbClr val="BBD5EC"/>
                </a:solidFill>
                <a:latin typeface="Lato"/>
              </a:defRPr>
            </a:pPr>
            <a:r>
              <a:t>NRP. 5022221026</a:t>
            </a:r>
          </a:p>
          <a:p>
            <a:pPr algn="l">
              <a:lnSpc>
                <a:spcPts val="800"/>
              </a:lnSpc>
              <a:spcAft>
                <a:spcPts val="400"/>
              </a:spcAft>
              <a:defRPr sz="800" b="0" i="0">
                <a:solidFill>
                  <a:srgbClr val="FFFFFF"/>
                </a:solidFill>
                <a:latin typeface="Lato"/>
              </a:defRPr>
            </a:pPr>
          </a:p>
          <a:p>
            <a:pPr algn="l">
              <a:lnSpc>
                <a:spcPts val="1470"/>
              </a:lnSpc>
              <a:spcAft>
                <a:spcPts val="400"/>
              </a:spcAft>
              <a:defRPr sz="1400" b="1" i="0">
                <a:solidFill>
                  <a:srgbClr val="CCCCCC"/>
                </a:solidFill>
                <a:latin typeface="Lato"/>
              </a:defRPr>
            </a:pPr>
            <a:r>
              <a:t>Dosen Pembimbing:</a:t>
            </a:r>
          </a:p>
          <a:p>
            <a:pPr algn="l">
              <a:lnSpc>
                <a:spcPts val="1330"/>
              </a:lnSpc>
              <a:spcAft>
                <a:spcPts val="400"/>
              </a:spcAft>
              <a:defRPr sz="1400" b="0" i="0">
                <a:solidFill>
                  <a:srgbClr val="BBD5EC"/>
                </a:solidFill>
                <a:latin typeface="Lato"/>
              </a:defRPr>
            </a:pPr>
            <a:r>
              <a:t>Dr. Ir. Djoko Purwanto, M.Eng.</a:t>
            </a:r>
          </a:p>
          <a:p>
            <a:pPr algn="l">
              <a:lnSpc>
                <a:spcPts val="1330"/>
              </a:lnSpc>
              <a:spcAft>
                <a:spcPts val="400"/>
              </a:spcAft>
              <a:defRPr sz="1400" b="0" i="0">
                <a:solidFill>
                  <a:srgbClr val="BBD5EC"/>
                </a:solidFill>
                <a:latin typeface="Lato"/>
              </a:defRPr>
            </a:pPr>
            <a:r>
              <a:t>Fajar Budiman, S.T., M.Sc.</a:t>
            </a:r>
          </a:p>
          <a:p>
            <a:pPr algn="l">
              <a:lnSpc>
                <a:spcPts val="800"/>
              </a:lnSpc>
              <a:spcAft>
                <a:spcPts val="400"/>
              </a:spcAft>
              <a:defRPr sz="800" b="0" i="0">
                <a:solidFill>
                  <a:srgbClr val="FFFFFF"/>
                </a:solidFill>
                <a:latin typeface="Lato"/>
              </a:defRPr>
            </a:pPr>
          </a:p>
          <a:p>
            <a:pPr algn="l">
              <a:lnSpc>
                <a:spcPts val="1139"/>
              </a:lnSpc>
              <a:spcAft>
                <a:spcPts val="400"/>
              </a:spcAft>
              <a:defRPr sz="1200" b="0" i="0">
                <a:solidFill>
                  <a:srgbClr val="9BBBDB"/>
                </a:solidFill>
                <a:latin typeface="Lato"/>
              </a:defRPr>
            </a:pPr>
            <a:r>
              <a:t>Departemen Teknik Elektro</a:t>
            </a:r>
          </a:p>
          <a:p>
            <a:pPr algn="l">
              <a:lnSpc>
                <a:spcPts val="1139"/>
              </a:lnSpc>
              <a:spcAft>
                <a:spcPts val="400"/>
              </a:spcAft>
              <a:defRPr sz="1200" b="0" i="0">
                <a:solidFill>
                  <a:srgbClr val="9BBBDB"/>
                </a:solidFill>
                <a:latin typeface="Lato"/>
              </a:defRPr>
            </a:pPr>
            <a:r>
              <a:t>Fakultas Teknologi Elektro dan Informatika Cerdas</a:t>
            </a:r>
          </a:p>
          <a:p>
            <a:pPr algn="l">
              <a:lnSpc>
                <a:spcPts val="1139"/>
              </a:lnSpc>
              <a:spcAft>
                <a:spcPts val="400"/>
              </a:spcAft>
              <a:defRPr sz="1200" b="0" i="0">
                <a:solidFill>
                  <a:srgbClr val="85A8CA"/>
                </a:solidFill>
                <a:latin typeface="Lato"/>
              </a:defRPr>
            </a:pPr>
            <a:r>
              <a:t>Institut Teknologi Sepuluh Nopember  ·  Surabaya  · 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537960"/>
            <a:ext cx="2286000" cy="19050"/>
          </a:xfrm>
          <a:prstGeom prst="rect">
            <a:avLst/>
          </a:prstGeom>
          <a:solidFill>
            <a:srgbClr val="144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2EEFC"/>
            </a:gs>
            <a:gs pos="100000">
              <a:srgbClr val="BED4E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65760"/>
            <a:ext cx="3657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DAFTAR ISI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868680"/>
            <a:ext cx="164592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234440"/>
            <a:ext cx="347472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325880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7632" y="132588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Latar Belakang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1673352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Konteks gempa bumi di Indonesia dan urgensi robot SAR otonom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" y="2267712"/>
            <a:ext cx="347472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359152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359152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Rumusan Masalah &amp; Tujuan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2706624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Pertanyaan penelitian, batasan, dan tujuan yang ingin dicapai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53712" y="1234440"/>
            <a:ext cx="347472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6592" y="1325880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0952" y="132588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Metodologi &amp; Desain Sistem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0952" y="1673352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Arsitektur navigasi: costmap, ICP, A*, dan DWA planner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53712" y="2267712"/>
            <a:ext cx="347472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2359152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2359152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Hasil Pengujian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2706624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Evaluasi ICP, costmap, dan navigasi penuh pada arena simulasi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1234440"/>
            <a:ext cx="347472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1325880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4272" y="132588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Kesimpulan &amp; Saran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272" y="1673352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Temuan utama dan arah pengembangan selanjutnya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4F0FF"/>
            </a:gs>
            <a:gs pos="100000">
              <a:srgbClr val="C1D7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4572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LATAR BELAKANG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01168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05840"/>
            <a:ext cx="6217920" cy="9144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1051560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005840"/>
            <a:ext cx="571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INDONESIA RAWAN GEMPA BUMI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252728"/>
            <a:ext cx="571500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Terletak di pertemuan 4 lempeng tektonik (Pasifik, Eurasia, Indo-Australia, Laut Filipina). Rata-rata 18 gempa per hari (BMKG, 2020).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" y="1993392"/>
            <a:ext cx="6217920" cy="9144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392" y="2039112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993392"/>
            <a:ext cx="571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OPERASI SAR BERISIKO TINGGI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240280"/>
            <a:ext cx="571500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Petugas SAR menghadapi ancaman keselamatan di area terdampak. Bangunan rusak, atap hampir roboh, struktur tidak stabil. Robot darat pernah digunakan pasca gempa Jepang untuk inspeksi bangunan (Lin et al., 2022).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" y="2980944"/>
            <a:ext cx="6217920" cy="9144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0392" y="3026664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980944"/>
            <a:ext cx="571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ROBOT OTONOM MEMBANTU MISI SAR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3227832"/>
            <a:ext cx="571500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Robot UAV memberi gambaran medan dari udara. Robot darat (track/quadruped/hexapod) mengangkut barang berat dan inspeksi area berbahaya. Robot otonom krusial saat infrastruktur komunikasi rusak.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" y="3968496"/>
            <a:ext cx="6217920" cy="9144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2" y="4014216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968496"/>
            <a:ext cx="571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TANTANGAN: NAVIGASI INDOOR PASCA GEMPA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215384"/>
            <a:ext cx="571500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Lingkungan tidak terstruktur: puing, lantai tidak rata, tangga. Costmap 2D konvensional terbatas pada satu bidang datar. Robot perlu bernavigasi ANTAR LANTAI.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" y="4956048"/>
            <a:ext cx="6217920" cy="9144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0392" y="5001768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4956048"/>
            <a:ext cx="571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SOLUSI: LAYERED COSTMAP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5202936"/>
            <a:ext cx="571500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Menyederhanakan informasi 3D → beberapa bidang costmap 2D. Setiap layer mewakili satu lantai/region. Layer transisi menghubungkan antar lantai. Robot berpindah layer sesuai posisi di bangunan.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1005840"/>
            <a:ext cx="4389120" cy="13716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1051560"/>
            <a:ext cx="40233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A2B4C"/>
                </a:solidFill>
                <a:latin typeface="Montserrat"/>
              </a:defRPr>
            </a:pPr>
            <a:r>
              <a:t>Kondisi Geografis Indonesia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1325880"/>
            <a:ext cx="40233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80"/>
              </a:lnSpc>
              <a:spcAft>
                <a:spcPts val="400"/>
              </a:spcAft>
              <a:defRPr sz="1200" b="1" i="0">
                <a:solidFill>
                  <a:srgbClr val="333333"/>
                </a:solidFill>
                <a:latin typeface="Lato"/>
              </a:defRPr>
            </a:pPr>
            <a:r>
              <a:t>4 Lempeng Tektonik Aktif</a:t>
            </a:r>
          </a:p>
          <a:p>
            <a:pPr algn="l">
              <a:lnSpc>
                <a:spcPts val="1264"/>
              </a:lnSpc>
              <a:spcAft>
                <a:spcPts val="40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Pasifik · Eurasia · Indo-Australia · Laut Filipina</a:t>
            </a:r>
          </a:p>
          <a:p>
            <a:pPr algn="l">
              <a:lnSpc>
                <a:spcPts val="1430"/>
              </a:lnSpc>
              <a:spcAft>
                <a:spcPts val="40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± 18 gempa / hari (BMKG 2020)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23760" y="2560320"/>
            <a:ext cx="4389120" cy="13716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2606040"/>
            <a:ext cx="40233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A2B4C"/>
                </a:solidFill>
                <a:latin typeface="Montserrat"/>
              </a:defRPr>
            </a:pPr>
            <a:r>
              <a:t>Pasca Gempa Bumi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880360"/>
            <a:ext cx="40233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80"/>
              </a:lnSpc>
              <a:spcAft>
                <a:spcPts val="400"/>
              </a:spcAft>
              <a:defRPr sz="1200" b="1" i="0">
                <a:solidFill>
                  <a:srgbClr val="333333"/>
                </a:solidFill>
                <a:latin typeface="Lato"/>
              </a:defRPr>
            </a:pPr>
            <a:r>
              <a:t>Dampak pada Bangunan:</a:t>
            </a:r>
          </a:p>
          <a:p>
            <a:pPr algn="l">
              <a:lnSpc>
                <a:spcPts val="1264"/>
              </a:lnSpc>
              <a:spcAft>
                <a:spcPts val="40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Puing dan reruntuhan • Lantai tidak rata</a:t>
            </a:r>
          </a:p>
          <a:p>
            <a:pPr algn="l">
              <a:lnSpc>
                <a:spcPts val="1264"/>
              </a:lnSpc>
              <a:spcAft>
                <a:spcPts val="40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Tangga rusak • Struktur multi-lantai tidak stabil</a:t>
            </a:r>
          </a:p>
          <a:p>
            <a:pPr algn="l">
              <a:lnSpc>
                <a:spcPts val="1430"/>
              </a:lnSpc>
              <a:spcAft>
                <a:spcPts val="40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Robot darat digunakan di Jepang untuk inspeksi (Lin 2022)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4114800"/>
            <a:ext cx="4389120" cy="1371600"/>
          </a:xfrm>
          <a:prstGeom prst="roundRect">
            <a:avLst/>
          </a:prstGeom>
          <a:solidFill>
            <a:srgbClr val="FDF2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0" y="4160520"/>
            <a:ext cx="40233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F08C2E"/>
                </a:solidFill>
                <a:latin typeface="Montserrat"/>
              </a:defRPr>
            </a:pPr>
            <a:r>
              <a:t>Solusi: Layered Costmap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4434840"/>
            <a:ext cx="40233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80"/>
              </a:lnSpc>
              <a:spcAft>
                <a:spcPts val="400"/>
              </a:spcAft>
              <a:defRPr sz="1200" b="1" i="0">
                <a:solidFill>
                  <a:srgbClr val="333333"/>
                </a:solidFill>
                <a:latin typeface="Lato"/>
              </a:defRPr>
            </a:pPr>
            <a:r>
              <a:t>3D → 2D Multi-Layer</a:t>
            </a:r>
          </a:p>
          <a:p>
            <a:pPr algn="l">
              <a:lnSpc>
                <a:spcPts val="1264"/>
              </a:lnSpc>
              <a:spcAft>
                <a:spcPts val="40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Setiap layer = 1 lantai/region pada bangunan</a:t>
            </a:r>
          </a:p>
          <a:p>
            <a:pPr algn="l">
              <a:lnSpc>
                <a:spcPts val="1264"/>
              </a:lnSpc>
              <a:spcAft>
                <a:spcPts val="40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Layer transisi = penghubung antar lantai</a:t>
            </a:r>
          </a:p>
          <a:p>
            <a:pPr algn="l">
              <a:lnSpc>
                <a:spcPts val="1430"/>
              </a:lnSpc>
              <a:spcAft>
                <a:spcPts val="40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Robot berpindah layer sesuai posisi di bangunan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0392" y="5989320"/>
            <a:ext cx="10515600" cy="41148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" y="5989320"/>
            <a:ext cx="50800" cy="41148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989320"/>
            <a:ext cx="10332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333333"/>
                </a:solidFill>
                <a:latin typeface="Lato"/>
              </a:defRPr>
            </a:pPr>
            <a:r>
              <a:t>Pendekatan ini menyederhanakan kompleksitas 3D menjadi representasi 2D yang manageable, memungkinkan penggunaan sensor LiDAR 2D.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4F0FF"/>
            </a:gs>
            <a:gs pos="100000">
              <a:srgbClr val="C1D7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4572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RUMUSAN MASALAH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10515600" cy="914400"/>
          </a:xfrm>
          <a:prstGeom prst="round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51560"/>
            <a:ext cx="63500" cy="914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143000"/>
            <a:ext cx="548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4A90D9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124712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REPRESENTASI LINGKUNGAN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1435608"/>
            <a:ext cx="9509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Bagaimana merepresentasikan informasi lingkungan multi-lantai menggunakan layered costmap agar dapat digunakan pada algoritma navigasi antar lantai?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" y="2130552"/>
            <a:ext cx="10515600" cy="914400"/>
          </a:xfrm>
          <a:prstGeom prst="round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" y="2130552"/>
            <a:ext cx="63500" cy="914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221992"/>
            <a:ext cx="548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4A90D9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203704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ALGORITMA NAVIGASI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514600"/>
            <a:ext cx="9509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Bagaimana merancang algoritma lokalisasi, path planning, dan path tracking yang bekerja pada sistem navigasi berbasis layered costmap?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" y="3209544"/>
            <a:ext cx="10515600" cy="914400"/>
          </a:xfrm>
          <a:prstGeom prst="round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0392" y="3209544"/>
            <a:ext cx="63500" cy="914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" y="3300984"/>
            <a:ext cx="548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4A90D9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3282696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VALIDASI SISTEM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593592"/>
            <a:ext cx="9509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Apakah robot darat otonom dapat melakukan navigasi hingga mencapai tujuan pada arena uji menggunakan metode navigasi antar lantai yang dikembangkan?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" y="4160520"/>
            <a:ext cx="10515600" cy="2103120"/>
          </a:xfrm>
          <a:prstGeom prst="round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25196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F08C2E"/>
                </a:solidFill>
                <a:latin typeface="Montserrat"/>
              </a:defRPr>
            </a:pPr>
            <a:r>
              <a:t>BATASAN PENELITIAN</a:t>
            </a:r>
          </a:p>
        </p:txBody>
      </p:sp>
      <p:sp>
        <p:nvSpPr>
          <p:cNvPr id="21" name="Isosceles Triangle 20"/>
          <p:cNvSpPr/>
          <p:nvPr/>
        </p:nvSpPr>
        <p:spPr>
          <a:xfrm>
            <a:off x="1170432" y="4773168"/>
            <a:ext cx="182880" cy="164592"/>
          </a:xfrm>
          <a:prstGeom prst="triangle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90472" y="4663440"/>
            <a:ext cx="94183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Pengujian dilakukan pada SIMULASI (Mujoco) — bukan kondisi pasca gempa</a:t>
            </a:r>
            <a:br/>
            <a:r>
              <a:t>sebenarnya, melainkan rekayasa arena uji (rintangan tidak diketahui,</a:t>
            </a:r>
            <a:br/>
            <a:r>
              <a:t>tanjakan, permukaan tidak rata)</a:t>
            </a:r>
          </a:p>
        </p:txBody>
      </p:sp>
      <p:sp>
        <p:nvSpPr>
          <p:cNvPr id="23" name="Isosceles Triangle 22"/>
          <p:cNvSpPr/>
          <p:nvPr/>
        </p:nvSpPr>
        <p:spPr>
          <a:xfrm>
            <a:off x="1170432" y="5276088"/>
            <a:ext cx="182880" cy="164592"/>
          </a:xfrm>
          <a:prstGeom prst="triangle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0472" y="5166360"/>
            <a:ext cx="94183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Robot yang digunakan: HEXAPOD (6 kaki), navigasi otonom dari titik</a:t>
            </a:r>
            <a:br/>
            <a:r>
              <a:t>awal ke tujuan yang telah ditentukan</a:t>
            </a:r>
          </a:p>
        </p:txBody>
      </p:sp>
      <p:sp>
        <p:nvSpPr>
          <p:cNvPr id="25" name="Isosceles Triangle 24"/>
          <p:cNvSpPr/>
          <p:nvPr/>
        </p:nvSpPr>
        <p:spPr>
          <a:xfrm>
            <a:off x="1170432" y="5779008"/>
            <a:ext cx="182880" cy="164592"/>
          </a:xfrm>
          <a:prstGeom prst="triangle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90472" y="5669280"/>
            <a:ext cx="94183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Algoritma navigasi bekerja pada kondisi rintangan statis yang SUDAH</a:t>
            </a:r>
            <a:br/>
            <a:r>
              <a:t>DIKETAHUI (known map)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4F0FF"/>
            </a:gs>
            <a:gs pos="100000">
              <a:srgbClr val="C1D7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4572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TUJUAN &amp; MANFAAT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01168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005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03A70"/>
                </a:solidFill>
                <a:latin typeface="Montserrat"/>
              </a:defRPr>
            </a:pPr>
            <a:r>
              <a:t>Tujuan Penelitian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1832" y="1463040"/>
            <a:ext cx="53035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1832" y="1481328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4752" y="1463040"/>
            <a:ext cx="4800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Representasi Multi-Lantai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1719072"/>
            <a:ext cx="480060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Mengembangkan metode representasi lingkungan menggunakan layered costmap untuk menyederhanakan informasi lingkungan multi-lantai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" y="2606040"/>
            <a:ext cx="53035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624328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2606040"/>
            <a:ext cx="4800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Algoritma Navigasi Antar Lantai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2862072"/>
            <a:ext cx="480060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Merancang dan mengimplementasikan algoritma lokalisasi, path planning, dan path tracking yang menggunakan layered costmap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" y="3749040"/>
            <a:ext cx="53035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767328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3749040"/>
            <a:ext cx="4800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Evaluasi di Simulasi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005072"/>
            <a:ext cx="480060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Melakukan pengujian sistem di lingkungan simulasi untuk mengevaluasi efektivitas dan keterbatasan pendekatan yang diusulkan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005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03A70"/>
                </a:solidFill>
                <a:latin typeface="Montserrat"/>
              </a:defRPr>
            </a:pPr>
            <a:r>
              <a:t>Manfaat Penelitian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463040"/>
            <a:ext cx="5303520" cy="5029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1463040"/>
            <a:ext cx="411480" cy="4114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444752"/>
            <a:ext cx="4754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A2B4C"/>
                </a:solidFill>
                <a:latin typeface="Montserrat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7040880" y="1691640"/>
            <a:ext cx="4754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Kontribusi pada sistem navigasi robot otonom di lingkungan kompleks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331720"/>
            <a:ext cx="5303520" cy="5029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92240" y="2331720"/>
            <a:ext cx="411480" cy="4114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313432"/>
            <a:ext cx="4754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A2B4C"/>
                </a:solidFill>
                <a:latin typeface="Montserrat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7040880" y="2560320"/>
            <a:ext cx="4754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Dasar awal navigasi robot di area bertingkat atau runtuh pasca gempa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200400"/>
            <a:ext cx="5303520" cy="5029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92240" y="3200400"/>
            <a:ext cx="411480" cy="4114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182112"/>
            <a:ext cx="4754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A2B4C"/>
                </a:solidFill>
                <a:latin typeface="Montserrat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7040880" y="3429000"/>
            <a:ext cx="4754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Fondasi penelitian lanjutan untuk robot SAR otonom di area bencana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5486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TINJAUAN PUSTAKA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01168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5120640" cy="18288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51560"/>
            <a:ext cx="51206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18872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Layered Costmap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554480"/>
            <a:ext cx="475488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Grid 2D bertingkat (0–255). Layers: static map, obstacle, inflation. Setiap layer menyimpan informasi lingkungan spesifik. (macenski 2023)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51560"/>
            <a:ext cx="5120640" cy="18288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2" y="1051560"/>
            <a:ext cx="5120640" cy="50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18872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ICP Localization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554480"/>
            <a:ext cx="475488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Scan matching berbasis point cloud. Iterative minimization MSD antara data sensor dan fixed map. Prekomputasi KNN untuk lookup O(1).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" y="3108960"/>
            <a:ext cx="5120640" cy="18288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0392" y="3108960"/>
            <a:ext cx="5120640" cy="508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24612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A* Path Planning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3611880"/>
            <a:ext cx="475488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BFS dengan fungsi heuristik f(n)=g(n)+h(n). Open/closed list. Kualitas path bergantung pada kualitas fungsi heuristik.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3108960"/>
            <a:ext cx="5120640" cy="18288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3108960"/>
            <a:ext cx="5120640" cy="508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24612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DWA Local Planner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3611880"/>
            <a:ext cx="475488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Dynamic Window Approach. Sampling velocity → simulasi kinematik → scoring trajectory → pilih terbaik. Mampu menghindari obstacle tidak diketahui.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5074920"/>
            <a:ext cx="10515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State of the Art — Navigasi Antar Lantai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53949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Hu 2022: Adaptive slope navigation dengan multi-layer costmap · Kim 2024: Indoor delivery robot multi-floor dengan integrated nav map · Palacin 2023: Inter-floor navigation menggunakan elevator + ICP · Jung 2024: A* dengan realistic cost functions (elevator vs stairs)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1A2B4C"/>
                </a:solidFill>
                <a:latin typeface="Montserrat"/>
              </a:defRPr>
            </a:pPr>
            <a:r>
              <a:t>PENELITIAN TERDAHULU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50392" y="1051560"/>
          <a:ext cx="105156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5577840"/>
              </a:tblGrid>
              <a:tr h="868680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Pendekatan Unik pada Penelitian Terdahulu</a:t>
                      </a:r>
                    </a:p>
                  </a:txBody>
                  <a:tcPr anchor="ctr" marL="63500" marR="63500" marT="38100" marB="38100">
                    <a:solidFill>
                      <a:srgbClr val="003A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Perbandingan dengan Penelitian Ini</a:t>
                      </a:r>
                    </a:p>
                  </a:txBody>
                  <a:tcPr anchor="ctr" marL="63500" marR="63500" marT="38100" marB="38100">
                    <a:solidFill>
                      <a:srgbClr val="003A70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Macenski et al. (2023)</a:t>
                      </a:r>
                      <a:br/>
                      <a:r>
                        <a:t>Layered Costmap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Mengusulkan arsitektur layered costmap pertama — membagi costmap menjadi layer semantik terpisah (static, obstacle, inflation) yang memperbarui master grid secara terstruktur.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Mengadopsi layered costmap dan memperluas dengan tiga layer spesifik: Global Costmap, Local Costmap, serta Transition Costmap yang menyimpan informasi koneksi dan zona transisi antar region.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Hu et al. (2022)</a:t>
                      </a:r>
                      <a:br/>
                      <a:r>
                        <a:t>Adaptive Slope Navigation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Multi-layer costmap adaptif untuk navigasi permukaan berkemiringan. Algoritma deteksi slope mengubah peta biaya agar kemiringan dianggap dapat dilalui (dengan biaya tambahan), bukan sebagai obstacle.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Fokus berbeda: Hu menangani variasi kemiringan, sedangkan penelitian ini menangani transisi antar lantai. Keduanya menyederhanakan informasi 3D menjadi representasi costmap 2D bertingkat.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Kim et al. (2024)</a:t>
                      </a:r>
                      <a:br/>
                      <a:r>
                        <a:t>Integrated Navigation Map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Membuat peta navigasi terintegrasi dengan menggabungkan point cloud multi-lantai dan topologi node graph. Mengandalkan elevator sebagai penghubung antar lantai pada gedung bertingkat.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Tidak bergantung pada elevator — menggunakan mekanisme region transition dan zona transisi yang terdeteksi dari combined map. Lebih adaptif untuk skenario pasca gempa.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Palacín et al. (2023)</a:t>
                      </a:r>
                      <a:br/>
                      <a:r>
                        <a:t>Inter-floor ICP + Elevator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Navigasi antar lantai menggunakan elevator dengan lokalisasi berbasis ICP. Evaluasi performa ICP dilakukan pada kondisi pintu lift terbuka maupun tertutup.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Menggunakan ICP yang sama dengan optimasi prekomputasi KNN (hash table, lookup O(1), k=8, r=10). Dilengkapi region switcher untuk mendeteksi perpindahan region secara otomatis dari pose robot.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Jung et al. (2024)</a:t>
                      </a:r>
                      <a:br/>
                      <a:r>
                        <a:t>A* dengan Realistic Cost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A* dengan fungsi biaya realistis — mempertimbangkan faktor seperti waktu tunggu lift. Robot dapat memilih antara lift atau tangga berdasarkan perhitungan biaya total.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A* dilengkapi Path Interceptor yang memecah jalur multi-region menjadi segmen per region. Cost Scaling Factor (CSF=100) menghasilkan jalur terpendek dengan tetap menjaga obstacle clearance optimal.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4572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ARSITEKTUR SISTEM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01168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02440" y="1051560"/>
            <a:ext cx="7786813" cy="5120640"/>
          </a:xfrm>
          <a:prstGeom prst="rect">
            <a:avLst/>
          </a:prstGeom>
          <a:noFill/>
          <a:ln w="38100">
            <a:solidFill>
              <a:srgbClr val="003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avig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440" y="1051560"/>
            <a:ext cx="7786813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DETAIL ALUR NAVIGASI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606955" y="1097280"/>
            <a:ext cx="6977783" cy="5029200"/>
          </a:xfrm>
          <a:prstGeom prst="rect">
            <a:avLst/>
          </a:prstGeom>
          <a:noFill/>
          <a:ln w="38100">
            <a:solidFill>
              <a:srgbClr val="003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in_nav_flow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955" y="1097280"/>
            <a:ext cx="6977783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1A2B4C"/>
                </a:solidFill>
                <a:latin typeface="Montserrat"/>
              </a:defRPr>
            </a:pPr>
            <a:r>
              <a:t>PENGOLAHAN DATA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18288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69967" y="886968"/>
            <a:ext cx="2651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3A70"/>
                </a:solidFill>
                <a:latin typeface="Montserrat"/>
              </a:defRPr>
            </a:pPr>
            <a:r>
              <a:t>Combined Map — Gabungan Region A, B, C</a:t>
            </a:r>
          </a:p>
        </p:txBody>
      </p:sp>
      <p:pic>
        <p:nvPicPr>
          <p:cNvPr id="5" name="Picture 4" descr="combine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967" y="114300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80016" y="3794760"/>
            <a:ext cx="21488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3A70"/>
                </a:solidFill>
                <a:latin typeface="Montserrat"/>
              </a:defRPr>
            </a:pPr>
            <a:r>
              <a:t>Transition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7496" y="3794760"/>
            <a:ext cx="2134182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F08C2E"/>
                </a:solidFill>
                <a:latin typeface="Montserrat"/>
              </a:defRPr>
            </a:pPr>
            <a:r>
              <a:t>Transition Map Overlay</a:t>
            </a:r>
          </a:p>
        </p:txBody>
      </p:sp>
      <p:pic>
        <p:nvPicPr>
          <p:cNvPr id="8" name="Picture 7" descr="transition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016" y="4050792"/>
            <a:ext cx="2148840" cy="2148840"/>
          </a:xfrm>
          <a:prstGeom prst="rect">
            <a:avLst/>
          </a:prstGeom>
        </p:spPr>
      </p:pic>
      <p:pic>
        <p:nvPicPr>
          <p:cNvPr id="9" name="Picture 8" descr="transition_map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496" y="4050792"/>
            <a:ext cx="2134182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6080760"/>
            <a:ext cx="10515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Transition Map menyimpan koneksi spasial (A↔B, B↔C), orientasi region, dan pose awal robot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1A2B4C"/>
                </a:solidFill>
                <a:latin typeface="Montserrat"/>
              </a:defRPr>
            </a:pPr>
            <a:r>
              <a:t>STRUKTUR LAYERED COSTMAP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05840"/>
            <a:ext cx="530352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05840"/>
            <a:ext cx="63500" cy="9601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078992"/>
            <a:ext cx="4937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GLOBAL COSTMAP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353312"/>
            <a:ext cx="320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Static layer (obstacle tetap) + Inflation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5112" y="1078992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defRPr sz="900" b="0" i="1">
                <a:solidFill>
                  <a:srgbClr val="555555"/>
                </a:solidFill>
                <a:latin typeface="Lato"/>
              </a:defRPr>
            </a:pPr>
            <a:r>
              <a:t>Cost Scaling Factor (CSF) mempengaruhi</a:t>
            </a:r>
            <a:br/>
            <a:r>
              <a:t>gradient biaya di sekitar obstacle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" y="2103120"/>
            <a:ext cx="530352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" y="2103120"/>
            <a:ext cx="63500" cy="9601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176272"/>
            <a:ext cx="4937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4A90D9"/>
                </a:solidFill>
                <a:latin typeface="Montserrat"/>
              </a:defRPr>
            </a:pPr>
            <a:r>
              <a:t>LOCAL COSTMAP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2450592"/>
            <a:ext cx="320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Obstacle layer (LiDAR real-time) + Inflation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5112" y="2176272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defRPr sz="900" b="0" i="1">
                <a:solidFill>
                  <a:srgbClr val="555555"/>
                </a:solidFill>
                <a:latin typeface="Lato"/>
              </a:defRPr>
            </a:pPr>
            <a:r>
              <a:t>Diperbarui secara dinamis dari</a:t>
            </a:r>
            <a:br/>
            <a:r>
              <a:t>data scan LiDAR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" y="3200400"/>
            <a:ext cx="530352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0392" y="3200400"/>
            <a:ext cx="63500" cy="96012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" y="3273552"/>
            <a:ext cx="4937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F08C2E"/>
                </a:solidFill>
                <a:latin typeface="Montserrat"/>
              </a:defRPr>
            </a:pPr>
            <a:r>
              <a:t>TRANSITION COSTMAP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3547872"/>
            <a:ext cx="320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Menyimpan informasi koneksi antar region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273552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defRPr sz="900" b="0" i="1">
                <a:solidFill>
                  <a:srgbClr val="555555"/>
                </a:solidFill>
                <a:latin typeface="Lato"/>
              </a:defRPr>
            </a:pPr>
            <a:r>
              <a:t>Memungkinkan robot berpindah</a:t>
            </a:r>
            <a:br/>
            <a:r>
              <a:t>region secara mulus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1005840"/>
            <a:ext cx="5029200" cy="1188720"/>
          </a:xfrm>
          <a:prstGeom prst="roundRect">
            <a:avLst/>
          </a:prstGeom>
          <a:solidFill>
            <a:srgbClr val="FDF2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051560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08C2E"/>
                </a:solidFill>
                <a:latin typeface="Montserrat"/>
              </a:defRPr>
            </a:pPr>
            <a:r>
              <a:t>Fungsi Inflasi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325880"/>
            <a:ext cx="4663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C(d) = 253 · e^(-α · (d − r_inscribed))   untuk d ≤ R</a:t>
            </a:r>
            <a:br/>
            <a:r>
              <a:t>C(d) = 0                                            untuk d &gt; R</a:t>
            </a:r>
            <a:br/>
            <a:br/>
            <a:r>
              <a:t>Di mana d = jarak dari obstacle, R = radius inflasi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2423160"/>
            <a:ext cx="5029200" cy="18288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2468880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Nilai Sel Costmap (Occupancy Grid)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788920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FREE_SPACE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788920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788920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Area bebas, dapat dilalui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044952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TRANSITION_CELL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04495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1–5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3044952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Zona transisi antar region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300984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INFLATED_OBSTACLE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300984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6–252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300984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Area inflasi di sekitar obstacle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557016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LETHAL_OBSTACLE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557016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254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3557016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Obstacle tidak dapat dilalui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813048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NO_INFORMATION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3813048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255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3813048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Area belum diketahui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LOKALISASI ICP &amp; REGION SWITCHER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0058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03A70"/>
                </a:solidFill>
                <a:latin typeface="Montserrat"/>
              </a:defRPr>
            </a:pPr>
            <a:r>
              <a:t>ICP (Iterative Closest Point)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392" y="1417320"/>
            <a:ext cx="1828800" cy="12801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1463040"/>
            <a:ext cx="320040" cy="32004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463040"/>
            <a:ext cx="1325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Prekomputasi KNN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920240"/>
            <a:ext cx="155448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Hash table, lookup O(1)</a:t>
            </a:r>
            <a:br/>
            <a:r>
              <a:t>k=8, r=10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88336" y="1920240"/>
            <a:ext cx="118872" cy="13716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16352" y="1417320"/>
            <a:ext cx="1828800" cy="12801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62072" y="1463040"/>
            <a:ext cx="320040" cy="32004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7832" y="1463040"/>
            <a:ext cx="1325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Correspondence</a:t>
            </a:r>
            <a:br/>
            <a:r>
              <a:t>Matching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3512" y="1920240"/>
            <a:ext cx="155448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Pasangkan titik</a:t>
            </a:r>
            <a:br/>
            <a:r>
              <a:t>scan → map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654296" y="1920240"/>
            <a:ext cx="118872" cy="13716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82312" y="1417320"/>
            <a:ext cx="1828800" cy="12801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28032" y="1463040"/>
            <a:ext cx="320040" cy="32004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1463040"/>
            <a:ext cx="1325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SVD Solver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1920240"/>
            <a:ext cx="155448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Estimasi rotasi &amp;</a:t>
            </a:r>
            <a:br/>
            <a:r>
              <a:t>translasi optimal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620256" y="1920240"/>
            <a:ext cx="118872" cy="13716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48272" y="1417320"/>
            <a:ext cx="1828800" cy="12801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793992" y="1463040"/>
            <a:ext cx="320040" cy="32004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1463040"/>
            <a:ext cx="1325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Transformasi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432" y="1920240"/>
            <a:ext cx="155448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Perbarui pose robot</a:t>
            </a:r>
            <a:br/>
            <a:r>
              <a:t>(R, 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" y="2880360"/>
            <a:ext cx="10515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1">
                <a:solidFill>
                  <a:srgbClr val="333333"/>
                </a:solidFill>
                <a:latin typeface="Lato"/>
              </a:defRPr>
            </a:pPr>
            <a:r>
              <a:t>Parameter: max_iter=50, k=8, r=10, t_norm=0.01m, r_norm=0.01rad, s=2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" y="329184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F08C2E"/>
                </a:solidFill>
                <a:latin typeface="Montserrat"/>
              </a:defRPr>
            </a:pPr>
            <a:r>
              <a:t>Region Switcher &amp; Zona Transisi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07592" y="3749039"/>
            <a:ext cx="2560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99032" y="3840479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Region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99032" y="4160519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555555"/>
                </a:solidFill>
                <a:latin typeface="Lato"/>
              </a:defRPr>
            </a:pPr>
            <a:r>
              <a:t>Peta 2D region</a:t>
            </a:r>
            <a:br/>
            <a:r>
              <a:t>Navigasi di dalam region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82312" y="3749039"/>
            <a:ext cx="2560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73752" y="3840479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Region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3752" y="4160519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555555"/>
                </a:solidFill>
                <a:latin typeface="Lato"/>
              </a:defRPr>
            </a:pPr>
            <a:r>
              <a:t>Peta 2D region</a:t>
            </a:r>
            <a:br/>
            <a:r>
              <a:t>Navigasi di dalam region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7032" y="3749039"/>
            <a:ext cx="2560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2" y="3840479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Region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2" y="4160519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555555"/>
                </a:solidFill>
                <a:latin typeface="Lato"/>
              </a:defRPr>
            </a:pPr>
            <a:r>
              <a:t>Peta 2D region</a:t>
            </a:r>
            <a:br/>
            <a:r>
              <a:t>Navigasi di dalam region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050792" y="4114799"/>
            <a:ext cx="502920" cy="22860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59352" y="4389119"/>
            <a:ext cx="685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F08C2E"/>
                </a:solidFill>
                <a:latin typeface="Lato"/>
              </a:defRPr>
            </a:pPr>
            <a:r>
              <a:t>Transisi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525512" y="4114799"/>
            <a:ext cx="502920" cy="22860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34072" y="4389119"/>
            <a:ext cx="685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F08C2E"/>
                </a:solidFill>
                <a:latin typeface="Lato"/>
              </a:defRPr>
            </a:pPr>
            <a:r>
              <a:t>Transisi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0392" y="5029200"/>
            <a:ext cx="10515600" cy="54864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" y="5029200"/>
            <a:ext cx="50800" cy="54864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5047488"/>
            <a:ext cx="10241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Zona transisi memerlukan radius minimal 0.26 m agar robot dapat berpindah region dengan aman sebelum kualitas lokalisasi ICP menurun signifikan.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PATH PLANNING — A* GLOBAL PLANNER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0058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03A70"/>
                </a:solidFill>
                <a:latin typeface="Montserrat"/>
              </a:defRPr>
            </a:pPr>
            <a:r>
              <a:t>Algoritma A*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325880"/>
            <a:ext cx="5029200" cy="19202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71600"/>
            <a:ext cx="484632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• f(n) = g(n) + h(n)</a:t>
            </a:r>
            <a:br/>
            <a:r>
              <a:t>    g(n) = biaya dari start ke node n</a:t>
            </a:r>
            <a:br/>
            <a:r>
              <a:t>    h(n) = estimasi heuristik dari n ke goal</a:t>
            </a:r>
            <a:br/>
            <a:br/>
            <a:r>
              <a:t>• Quadratic potential calculation untuk</a:t>
            </a:r>
            <a:br/>
            <a:r>
              <a:t>  menghitung cost gradient pada grid</a:t>
            </a:r>
            <a:br/>
            <a:br/>
            <a:r>
              <a:t>• Open list / Closed list untuk eksplorasi</a:t>
            </a:r>
            <a:br/>
            <a:r>
              <a:t>  node secara optimal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33756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Integrasi dengan Global Costmap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611880"/>
            <a:ext cx="5029200" cy="24688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703320"/>
            <a:ext cx="484632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Global planner menggunakan static layer dari global</a:t>
            </a:r>
            <a:br/>
            <a:r>
              <a:t>costmap untuk membangun cost gradient pada occupancy</a:t>
            </a:r>
            <a:br/>
            <a:r>
              <a:t>grid. Setiap sel memiliki biaya navigasi berdasarkan</a:t>
            </a:r>
            <a:br/>
            <a:r>
              <a:t>jarak ke obstacle terdekat dan Cost Scaling Factor.</a:t>
            </a:r>
            <a:br/>
            <a:br/>
            <a:r>
              <a:t>Inflasi obstacle menghasilkan gradien biaya halus yang</a:t>
            </a:r>
            <a:br/>
            <a:r>
              <a:t>mendorong path menjauhi rintangan. Fungsi biaya:</a:t>
            </a:r>
            <a:br/>
            <a:r>
              <a:t>  C(d) = 253 · e^(−α · (d − r))  untuk d ≤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0584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F08C2E"/>
                </a:solidFill>
                <a:latin typeface="Montserrat"/>
              </a:defRPr>
            </a:pPr>
            <a:r>
              <a:t>Path Interceptor (Multi-Region)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508760"/>
            <a:ext cx="1828800" cy="8229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1508760"/>
            <a:ext cx="1828800" cy="381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1554480"/>
            <a:ext cx="17373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03A70"/>
                </a:solidFill>
                <a:latin typeface="Montserrat"/>
              </a:defRPr>
            </a:pPr>
            <a:r>
              <a:t>Region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874520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A* planning pada</a:t>
            </a:r>
            <a:br/>
            <a:r>
              <a:t>costmap region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7452360" y="2148840"/>
            <a:ext cx="274320" cy="320040"/>
          </a:xfrm>
          <a:prstGeom prst="down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0" y="2880360"/>
            <a:ext cx="1828800" cy="8229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0" y="2880360"/>
            <a:ext cx="1828800" cy="381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2926080"/>
            <a:ext cx="17373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03A70"/>
                </a:solidFill>
                <a:latin typeface="Montserrat"/>
              </a:defRPr>
            </a:pPr>
            <a:r>
              <a:t>Region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246120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A* planning pada</a:t>
            </a:r>
            <a:br/>
            <a:r>
              <a:t>costmap region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7452360" y="3520440"/>
            <a:ext cx="274320" cy="320040"/>
          </a:xfrm>
          <a:prstGeom prst="down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0" y="4251960"/>
            <a:ext cx="1828800" cy="8229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251960"/>
            <a:ext cx="1828800" cy="381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4297680"/>
            <a:ext cx="17373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03A70"/>
                </a:solidFill>
                <a:latin typeface="Montserrat"/>
              </a:defRPr>
            </a:pPr>
            <a:r>
              <a:t>Region 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617720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A* planning pada</a:t>
            </a:r>
            <a:br/>
            <a:r>
              <a:t>costmap region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206240"/>
            <a:ext cx="5029200" cy="2103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4206240"/>
            <a:ext cx="50800" cy="210312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4297680"/>
            <a:ext cx="475488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Path interceptor memecah rute global multi-region</a:t>
            </a:r>
            <a:br/>
            <a:r>
              <a:t>menjadi segmen per region yang di-plan secara</a:t>
            </a:r>
            <a:br/>
            <a:r>
              <a:t>independen oleh A*:</a:t>
            </a:r>
            <a:br/>
            <a:br/>
            <a:r>
              <a:t>  Region A  →  Titik Transisi A-B  →</a:t>
            </a:r>
            <a:br/>
            <a:r>
              <a:t>  Region B  →  Titik Transisi B-C  →</a:t>
            </a:r>
            <a:br/>
            <a:r>
              <a:t>  Region C  →  Goal</a:t>
            </a:r>
            <a:br/>
            <a:br/>
            <a:r>
              <a:t>Setiap segmen menggunakan costmap region masing-</a:t>
            </a:r>
            <a:br/>
            <a:r>
              <a:t>masing. Transition costmap menyediakan informasi</a:t>
            </a:r>
            <a:br/>
            <a:r>
              <a:t>konektor untuk perpindahan mulus antar region.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PATH TRACKING — DWA LOCAL PLANNER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1920240" cy="13258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1. Velocity</a:t>
            </a:r>
            <a:br/>
            <a:r>
              <a:t>Sampling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6 vx × 6 vy × 30 ω</a:t>
            </a:r>
            <a:br/>
            <a:r>
              <a:t>= 1080 trajectory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88920" y="1554480"/>
            <a:ext cx="201168" cy="18288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08376" y="1051560"/>
            <a:ext cx="1920240" cy="13258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8376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9816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2. Kinematic</a:t>
            </a:r>
            <a:br/>
            <a:r>
              <a:t>Simulation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9816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Simulasi robot</a:t>
            </a:r>
            <a:br/>
            <a:r>
              <a:t>selama Δt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46904" y="1554480"/>
            <a:ext cx="201168" cy="18288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66360" y="1051560"/>
            <a:ext cx="1920240" cy="13258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66360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3. Trajectory</a:t>
            </a:r>
            <a:br/>
            <a:r>
              <a:t>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7 kriteria</a:t>
            </a:r>
            <a:br/>
            <a:r>
              <a:t>penilaian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04888" y="1554480"/>
            <a:ext cx="201168" cy="18288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24344" y="1051560"/>
            <a:ext cx="1920240" cy="13258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24344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4. Best</a:t>
            </a:r>
            <a:br/>
            <a:r>
              <a:t>Selection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5784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Pilih trajectory</a:t>
            </a:r>
            <a:br/>
            <a:r>
              <a:t>dengan biaya terendah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62872" y="1554480"/>
            <a:ext cx="201168" cy="18288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482328" y="1051560"/>
            <a:ext cx="1920240" cy="13258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82328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73768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5. Send to</a:t>
            </a:r>
            <a:br/>
            <a:r>
              <a:t>Robot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73768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Eksekusi gerakan</a:t>
            </a:r>
            <a:br/>
            <a:r>
              <a:t>pada hexapod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2560320"/>
            <a:ext cx="10515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1A2B4C"/>
                </a:solidFill>
                <a:latin typeface="Montserrat"/>
              </a:defRPr>
            </a:pPr>
            <a:r>
              <a:t>7 Kriteria Scoring DWA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039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C_osc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Oscillation</a:t>
            </a:r>
            <a:br/>
            <a:r>
              <a:t>penalty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w_osc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5915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0487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C_obs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0487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Obstacle</a:t>
            </a:r>
            <a:br/>
            <a:r>
              <a:t>distance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0487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w_obs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6791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1363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C_gf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1363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Goal front</a:t>
            </a:r>
            <a:br/>
            <a:r>
              <a:t>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1363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w_gf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37667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2239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C_align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2239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Path</a:t>
            </a:r>
            <a:br/>
            <a:r>
              <a:t>alignment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2239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w_align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8543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3115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C_path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Distance to</a:t>
            </a:r>
            <a:br/>
            <a:r>
              <a:t>global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3115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w_path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9419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991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C_goal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3991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Distance</a:t>
            </a:r>
            <a:br/>
            <a:r>
              <a:t>to goal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991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w_goal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0295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4867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08C2E"/>
                </a:solidFill>
                <a:latin typeface="Lato"/>
              </a:defRPr>
            </a:pPr>
            <a:r>
              <a:t>C_twirl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4867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Rotation</a:t>
            </a:r>
            <a:br/>
            <a:r>
              <a:t>penalty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4867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w_twirl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8952" y="4096512"/>
            <a:ext cx="10698480" cy="4114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0392" y="4160520"/>
            <a:ext cx="10515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333333"/>
                </a:solidFill>
                <a:latin typeface="Lato"/>
              </a:defRPr>
            </a:pPr>
            <a:r>
              <a:t>C_total = C_osc + Σ(wi · Ci)  →  Minimalkan total cost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50392" y="4709160"/>
            <a:ext cx="10515600" cy="50292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7552" y="4754880"/>
            <a:ext cx="10241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Mampu menghindari obstacle dinamis yang tidak ada di global path, tercermin dari peningkatan max cross track error pada kondisi gempa.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5486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1A2B4C"/>
                </a:solidFill>
                <a:latin typeface="Montserrat"/>
              </a:defRPr>
            </a:pPr>
            <a:r>
              <a:t>ARENA PENGUJIAN &amp; SKENARIO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54833" y="896112"/>
            <a:ext cx="3535273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003A70"/>
                </a:solidFill>
                <a:latin typeface="Lato"/>
              </a:defRPr>
            </a:pPr>
            <a:r>
              <a:t>Region A — Lorong &amp; Ramp</a:t>
            </a:r>
          </a:p>
        </p:txBody>
      </p:sp>
      <p:pic>
        <p:nvPicPr>
          <p:cNvPr id="5" name="Picture 4" descr="sim_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833" y="1097280"/>
            <a:ext cx="3535273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1587" y="896112"/>
            <a:ext cx="3535273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003A70"/>
                </a:solidFill>
                <a:latin typeface="Lato"/>
              </a:defRPr>
            </a:pPr>
            <a:r>
              <a:t>Region A — Rough Floor</a:t>
            </a:r>
          </a:p>
        </p:txBody>
      </p:sp>
      <p:pic>
        <p:nvPicPr>
          <p:cNvPr id="7" name="Picture 6" descr="sim_RA_rou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7" y="1097280"/>
            <a:ext cx="3535273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54833" y="3227832"/>
            <a:ext cx="3535273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003A70"/>
                </a:solidFill>
                <a:latin typeface="Lato"/>
              </a:defRPr>
            </a:pPr>
            <a:r>
              <a:t>Region B — Lorong Sempit</a:t>
            </a:r>
          </a:p>
        </p:txBody>
      </p:sp>
      <p:pic>
        <p:nvPicPr>
          <p:cNvPr id="9" name="Picture 8" descr="sim_R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833" y="3429000"/>
            <a:ext cx="3535273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1587" y="3227832"/>
            <a:ext cx="3535273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003A70"/>
                </a:solidFill>
                <a:latin typeface="Lato"/>
              </a:defRPr>
            </a:pPr>
            <a:r>
              <a:t>Region C — Area Terbuka</a:t>
            </a:r>
          </a:p>
        </p:txBody>
      </p:sp>
      <p:pic>
        <p:nvPicPr>
          <p:cNvPr id="11" name="Picture 10" descr="sim_R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7" y="3429000"/>
            <a:ext cx="3535273" cy="2011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392" y="5623560"/>
            <a:ext cx="10515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Platform: Mujoco Simulator  ·  Robot: Hexapod (6 kaki)  ·  Sensor: LiDAR 2D  ·  Peta: Known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HASIL PENGUJIAN: ICP LOCALIZATION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38247" y="822960"/>
            <a:ext cx="3429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Region A — Normal Floor</a:t>
            </a:r>
          </a:p>
        </p:txBody>
      </p:sp>
      <p:pic>
        <p:nvPicPr>
          <p:cNvPr id="5" name="Picture 4" descr="icp_errors_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051560"/>
            <a:ext cx="342900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24447" y="822960"/>
            <a:ext cx="3429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Region A — Rough Floor</a:t>
            </a:r>
          </a:p>
        </p:txBody>
      </p:sp>
      <p:pic>
        <p:nvPicPr>
          <p:cNvPr id="7" name="Picture 6" descr="icp_errors_RA_rou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051560"/>
            <a:ext cx="34290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0392" y="4114800"/>
            <a:ext cx="10515600" cy="50292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0392" y="4114800"/>
            <a:ext cx="50800" cy="50292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4133087"/>
            <a:ext cx="10241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ICP akurat pada lantai normal. Rough floor menyebabkan osilasi signifikan pada sumbu x dan yaw akibat variasi vertikal scan LiDAR.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743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1A2B4C"/>
                </a:solidFill>
                <a:latin typeface="Montserrat"/>
              </a:defRPr>
            </a:pPr>
            <a:r>
              <a:t>HASIL PATH PLANNING — REGION A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68580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p_with_paths_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960120"/>
            <a:ext cx="4114800" cy="41148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330952.0" y="960120"/>
          <a:ext cx="42062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91440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Cost Scaling Factor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Panjang path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Waktu komputasi (ms)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min clearance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Jumlah waypoint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1.116051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6.666027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0.220000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222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1.114836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6.897399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0.220000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223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1.122597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5.688345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0.219650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225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0.971836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6.484874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0.216470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193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30952" y="731520"/>
            <a:ext cx="42062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Tabel CSF — Panjang, Waktu, Clearance, Waypoint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30952.0" y="2514600"/>
          <a:ext cx="32918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CSF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mean cross track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max cross track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standard deviation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0.006029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0.025937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0.006468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0.006880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0.029719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0.007214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0.006536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0.033099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0.007537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0.003537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0.010000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0.002203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30952" y="2286000"/>
            <a:ext cx="32918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Tabel Deviasi — Mean/Max Cross Track &amp; SD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0952" y="4160520"/>
            <a:ext cx="4206240" cy="9144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0952" y="4160520"/>
            <a:ext cx="5080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8112" y="4206240"/>
            <a:ext cx="3931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CSF 100 = path terpendek (0.97 m) &amp; paling efisien.</a:t>
            </a:r>
            <a:br/>
            <a:r>
              <a:t>CSF 10/20/50 = path lebih panjang, di tengah lorong.</a:t>
            </a:r>
            <a:br/>
            <a:r>
              <a:t>SD CSF 100 paling rendah (0.002 m) -&gt; konsistensi tinggi.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743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1A2B4C"/>
                </a:solidFill>
                <a:latin typeface="Montserrat"/>
              </a:defRPr>
            </a:pPr>
            <a:r>
              <a:t>HASIL PATH PLANNING — REGION B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68580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p_with_paths_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960120"/>
            <a:ext cx="4114800" cy="41148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330952.0" y="960120"/>
          <a:ext cx="42062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91440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Cost Scaling Factor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Panjang path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Waktu komputasi (ms)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min clearance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Jumlah waypoint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0.591730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152.256312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0.208163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118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0.591773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135.818868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0.208066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118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0.591600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20.557631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0.208224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118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0.591590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10.574465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0.208132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118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30952" y="731520"/>
            <a:ext cx="42062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Tabel CSF — Panjang, Waktu, Clearance, Waypoint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30952.0" y="2514600"/>
          <a:ext cx="32918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CSF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mean cross track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max cross track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standard deviation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0.005756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0.011590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0.003508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0.005778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0.011591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0.003492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0.005678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0.011591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0.003483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0.005678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0.011591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0.003483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30952" y="2286000"/>
            <a:ext cx="32918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Tabel Deviasi — Mean/Max Cross Track &amp; SD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0952" y="4160520"/>
            <a:ext cx="4206240" cy="9144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0952" y="4160520"/>
            <a:ext cx="5080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8112" y="4206240"/>
            <a:ext cx="3931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CSF tidak signifikan: layout lorong sempit -&gt; semua</a:t>
            </a:r>
            <a:br/>
            <a:r>
              <a:t>CSF menghasilkan path hampir identik (~0.59 m).</a:t>
            </a:r>
            <a:br/>
            <a:r>
              <a:t>SD sangat kecil (&lt; 0.004 m) untuk semua CSF.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743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1A2B4C"/>
                </a:solidFill>
                <a:latin typeface="Montserrat"/>
              </a:defRPr>
            </a:pPr>
            <a:r>
              <a:t>HASIL PATH PLANNING — REGION C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68580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p_with_paths_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960120"/>
            <a:ext cx="4114800" cy="41148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330952.0" y="960120"/>
          <a:ext cx="42062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91440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Cost Scaling Factor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Panjang path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Waktu komputasi (ms)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min clearance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Jumlah waypoint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2.542122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10.629525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0.197048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2.596590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10.268101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0.196292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521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2.596873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9.922248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0.197185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520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2.524643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10.224478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0.195499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30952" y="731520"/>
            <a:ext cx="42062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Tabel CSF — Panjang, Waktu, Clearance, Waypoint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30952.0" y="2514600"/>
          <a:ext cx="3291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CSF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mean cross track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max cross track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standard deviation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0.002228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0.013089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0.012802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0.018897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0.089070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0.020026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0.024742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0.099313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30952" y="2286000"/>
            <a:ext cx="32918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Tabel Deviasi — Mean/Max Cross Track &amp; SD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0952" y="4160520"/>
            <a:ext cx="4206240" cy="9144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0952" y="4160520"/>
            <a:ext cx="5080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8112" y="4206240"/>
            <a:ext cx="3931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CSF 100 = path terpendek (2.52 m).</a:t>
            </a:r>
            <a:br/>
            <a:r>
              <a:t>CSF 10 lebih aman di tengah lorong, lebih panjang.</a:t>
            </a:r>
            <a:br/>
            <a:r>
              <a:t>Trade-off: path pendek vs deviasi ground truth.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743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1A2B4C"/>
                </a:solidFill>
                <a:latin typeface="Montserrat"/>
              </a:defRPr>
            </a:pPr>
            <a:r>
              <a:t>HASIL PENGUJIAN: NAVIGASI PENUH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658368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50392" y="914400"/>
          <a:ext cx="470916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51560"/>
                <a:gridCol w="1417320"/>
                <a:gridCol w="141732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Waktu (s)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 Mean cross track error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Max cross track error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13.412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0.009814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0.033543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7.707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0.041840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0.029113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96.141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0.022437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0.086539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0392" y="685800"/>
            <a:ext cx="47091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Cross Track Error — Kondisi Normal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50392" y="2395728"/>
          <a:ext cx="470916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51560"/>
                <a:gridCol w="1417320"/>
                <a:gridCol w="141732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Waktu (s)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 Mean cross track error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Max cross track error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13.144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0.004394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0.026285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7.243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0.013691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0.064845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94.119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0.039834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0.174556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0392" y="2167128"/>
            <a:ext cx="47091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Cross Track Error — Kondisi Rough Floor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914400"/>
            <a:ext cx="5394960" cy="9144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914400"/>
            <a:ext cx="5080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950976"/>
            <a:ext cx="18288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2E7D32"/>
                </a:solidFill>
                <a:latin typeface="Montserrat"/>
              </a:defRPr>
            </a:pPr>
            <a:r>
              <a:t>✓  Kondisi Normal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1170432"/>
            <a:ext cx="5120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Mean &amp; max cross track error rendah.</a:t>
            </a:r>
            <a:br/>
            <a:r>
              <a:t>DWA mengikuti global path dengan baik.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920240"/>
            <a:ext cx="5394960" cy="9144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920240"/>
            <a:ext cx="50800" cy="914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8" y="1956816"/>
            <a:ext cx="18288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F08C2E"/>
                </a:solidFill>
                <a:latin typeface="Montserrat"/>
              </a:defRPr>
            </a:pPr>
            <a:r>
              <a:t>⚠  Kondisi Gempa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176272"/>
            <a:ext cx="5120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Max cross track error meningkat signifikan.</a:t>
            </a:r>
            <a:br/>
            <a:r>
              <a:t>Obstacle tidak diketahui di global path →</a:t>
            </a:r>
            <a:br/>
            <a:r>
              <a:t>DWA menyimpang untuk menghindari tabrakan.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971800"/>
            <a:ext cx="5394960" cy="1463040"/>
          </a:xfrm>
          <a:prstGeom prst="roundRect">
            <a:avLst/>
          </a:prstGeom>
          <a:solidFill>
            <a:srgbClr val="E3F0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971800"/>
            <a:ext cx="539496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3017520"/>
            <a:ext cx="53949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NAVIGASI PENUH (Region A → 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291840"/>
            <a:ext cx="5394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5040"/>
              </a:lnSpc>
              <a:spcBef>
                <a:spcPts val="0"/>
              </a:spcBef>
              <a:spcAft>
                <a:spcPts val="0"/>
              </a:spcAft>
              <a:defRPr sz="4200" b="1" i="0">
                <a:solidFill>
                  <a:srgbClr val="003A70"/>
                </a:solidFill>
                <a:latin typeface="Montserrat"/>
              </a:defRPr>
            </a:pPr>
            <a:r>
              <a:t>127.26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749040"/>
            <a:ext cx="53949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DETIK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977640"/>
            <a:ext cx="53949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Robot berhasil menavigasi Region A → C secara otonom penuh.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4572000"/>
            <a:ext cx="5394960" cy="12344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617720"/>
            <a:ext cx="51206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1A2B4C"/>
                </a:solidFill>
                <a:latin typeface="Montserrat"/>
              </a:defRPr>
            </a:pPr>
            <a:r>
              <a:t>Semua Komponen Bekerja Terintegrasi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846320"/>
            <a:ext cx="50292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✓  ICP Localization → estimasi pose real-time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047488"/>
            <a:ext cx="50292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✓  Costmap Transisi → perpindahan antar region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248656"/>
            <a:ext cx="50292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✓  A* Global Planner → rute multi-region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449824"/>
            <a:ext cx="50292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✓  DWA Local Planner → trajectory + obstacle avoidance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8F1FC"/>
            </a:gs>
            <a:gs pos="100000">
              <a:srgbClr val="CDDFF1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3200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KESIMPULAN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164592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3246120" cy="2011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0392" y="1051560"/>
            <a:ext cx="3246120" cy="54864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09728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8308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Layered costmap berhasil merepresentasikan lingkungan</a:t>
            </a:r>
            <a:br/>
            <a:r>
              <a:t>multi-lantai sebagai kumpulan peta 2D region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051560"/>
            <a:ext cx="3246120" cy="2011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25112" y="1051560"/>
            <a:ext cx="3246120" cy="54864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109728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178308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ICP localization akurat untuk navigasi, dengan peningkatan</a:t>
            </a:r>
            <a:br/>
            <a:r>
              <a:t>error pada lantai tidak rata dan region kompleks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99832" y="1051560"/>
            <a:ext cx="3246120" cy="2011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99832" y="1051560"/>
            <a:ext cx="3246120" cy="548640"/>
          </a:xfrm>
          <a:prstGeom prst="round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2" y="109728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2" y="178308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Cost Scaling Factor 100 menghasilkan jalur terpendek</a:t>
            </a:r>
            <a:br/>
            <a:r>
              <a:t>dengan tetap menghindari obstacle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87752" y="3291840"/>
            <a:ext cx="3246120" cy="2011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87752" y="3291840"/>
            <a:ext cx="3246120" cy="54864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7752" y="333756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402336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Costmap transisi berhasil menggabungkan region pada</a:t>
            </a:r>
            <a:br/>
            <a:r>
              <a:t>radius transisi minimal 0.26 meter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62472" y="3291840"/>
            <a:ext cx="3246120" cy="2011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62472" y="3291840"/>
            <a:ext cx="3246120" cy="548640"/>
          </a:xfrm>
          <a:prstGeom prst="round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62472" y="333756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402336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DWA Planner mampu mengakomodasi obstacle tidak</a:t>
            </a:r>
            <a:br/>
            <a:r>
              <a:t>diketahui dan menghasilkan trajectory aman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8F1FC"/>
            </a:gs>
            <a:gs pos="100000">
              <a:srgbClr val="CDDFF1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3657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SARAN PENGEMBANGAN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18288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5120640" cy="19202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51560"/>
            <a:ext cx="51206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143000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003A70"/>
                </a:solidFill>
                <a:latin typeface="Montserrat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114300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Prekomputasi KNN per Region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1645920"/>
            <a:ext cx="47548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Parameter radius dan jumlah nearest neighbors</a:t>
            </a:r>
            <a:br/>
            <a:r>
              <a:t>dapat disetel independen per region untuk</a:t>
            </a:r>
            <a:br/>
            <a:r>
              <a:t>akurasi ICP yang lebih optimal.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051560"/>
            <a:ext cx="5120640" cy="19202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051560"/>
            <a:ext cx="5120640" cy="50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143000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4A90D9"/>
                </a:solidFill>
                <a:latin typeface="Montserrat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3992" y="114300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Fusion ICP + 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1645920"/>
            <a:ext cx="47548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Kompensasi lonjakan error ICP di zona transisi</a:t>
            </a:r>
            <a:br/>
            <a:r>
              <a:t>dengan data IMU saat fitur LiDAR terbatas.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" y="3200400"/>
            <a:ext cx="5120640" cy="19202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0392" y="3200400"/>
            <a:ext cx="5120640" cy="50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" y="3291840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4A90D9"/>
                </a:solidFill>
                <a:latin typeface="Montserrat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329184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Integrasi Depth Camera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794760"/>
            <a:ext cx="47548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Keterbatasan LiDAR 2D dalam mendeteksi</a:t>
            </a:r>
            <a:br/>
            <a:r>
              <a:t>obstacle vertikal dapat dilengkapi dengan</a:t>
            </a:r>
            <a:br/>
            <a:r>
              <a:t>data visual dari depth sensor.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200400"/>
            <a:ext cx="5120640" cy="19202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5352" y="3200400"/>
            <a:ext cx="5120640" cy="508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291840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F08C2E"/>
                </a:solidFill>
                <a:latin typeface="Montserrat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3992" y="329184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Pengujian pada Robot Fisik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794760"/>
            <a:ext cx="47548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Validasi sistem di lingkungan nyata setelah</a:t>
            </a:r>
            <a:br/>
            <a:r>
              <a:t>terbukti berhasil di lingkungan simulasi Mujoco.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24247" y="1097280"/>
            <a:ext cx="2743200" cy="381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5040"/>
              </a:lnSpc>
              <a:spcBef>
                <a:spcPts val="0"/>
              </a:spcBef>
              <a:spcAft>
                <a:spcPts val="0"/>
              </a:spcAft>
              <a:defRPr sz="4200" b="1" i="0">
                <a:solidFill>
                  <a:srgbClr val="FFFFFF"/>
                </a:solidFill>
                <a:latin typeface="Montserrat"/>
              </a:defRPr>
            </a:pPr>
            <a: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56032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0" i="0">
                <a:solidFill>
                  <a:srgbClr val="BBD5EC"/>
                </a:solidFill>
                <a:latin typeface="Montserrat"/>
              </a:defRPr>
            </a:pPr>
            <a:r>
              <a:t>Bagas Surya Wirawan  ·  NRP. 5022221026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959"/>
              </a:lnSpc>
              <a:spcBef>
                <a:spcPts val="0"/>
              </a:spcBef>
              <a:spcAft>
                <a:spcPts val="0"/>
              </a:spcAft>
              <a:defRPr sz="1400" b="0" i="0">
                <a:solidFill>
                  <a:srgbClr val="99BBDD"/>
                </a:solidFill>
                <a:latin typeface="Lato"/>
              </a:defRPr>
            </a:pPr>
            <a:r>
              <a:t>Dosen Pembimbing:</a:t>
            </a:r>
            <a:br/>
            <a:r>
              <a:t>Dr. Ir. Djoko Purwanto, M.Eng.</a:t>
            </a:r>
            <a:br/>
            <a:r>
              <a:t>Fajar Budiman, S.T., M.Sc.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846320"/>
            <a:ext cx="1219169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88AACC"/>
                </a:solidFill>
                <a:latin typeface="Lato"/>
              </a:defRPr>
            </a:pPr>
            <a:r>
              <a:t>Departemen Teknik Elektro</a:t>
            </a:r>
            <a:br/>
            <a:r>
              <a:t>Fakultas Teknologi Elektro dan Informatika Cerdas</a:t>
            </a:r>
            <a:br/>
            <a:r>
              <a:t>Institut Teknologi Sepuluh Nopember</a:t>
            </a:r>
            <a:br/>
            <a:r>
              <a:t>Surabaya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0967" y="6537960"/>
            <a:ext cx="3200400" cy="254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32807" y="6537960"/>
            <a:ext cx="3200400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24647" y="6537960"/>
            <a:ext cx="32004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