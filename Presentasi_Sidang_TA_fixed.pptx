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286000" y="-2743200"/>
            <a:ext cx="8229600" cy="8229600"/>
          </a:xfrm>
          <a:prstGeom prst="ellipse">
            <a:avLst/>
          </a:prstGeom>
          <a:solidFill>
            <a:srgbClr val="0A3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91295" y="2743200"/>
            <a:ext cx="5486400" cy="5486400"/>
          </a:xfrm>
          <a:prstGeom prst="ellipse">
            <a:avLst/>
          </a:prstGeom>
          <a:solidFill>
            <a:srgbClr val="0A3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403535" y="-113792"/>
            <a:ext cx="2473960" cy="647192"/>
          </a:xfrm>
          <a:prstGeom prst="round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454335" y="-164592"/>
            <a:ext cx="24231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nstitut Teknologi Sepuluh Nopember -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53340"/>
            <a:ext cx="567698" cy="365760"/>
          </a:xfrm>
          <a:prstGeom prst="rect">
            <a:avLst/>
          </a:prstGeom>
        </p:spPr>
      </p:pic>
      <p:pic>
        <p:nvPicPr>
          <p:cNvPr id="7" name="Picture 6" descr="Elektro-tr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1489" y="53340"/>
            <a:ext cx="370921" cy="365760"/>
          </a:xfrm>
          <a:prstGeom prst="rect">
            <a:avLst/>
          </a:prstGeom>
        </p:spPr>
      </p:pic>
      <p:pic>
        <p:nvPicPr>
          <p:cNvPr id="8" name="Picture 7" descr="ELKA b2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2139" y="53340"/>
            <a:ext cx="436050" cy="365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44456" y="1296035"/>
            <a:ext cx="63500" cy="192024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1812" y="1280160"/>
            <a:ext cx="831511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just">
              <a:lnSpc>
                <a:spcPts val="3660"/>
              </a:lnSpc>
              <a:spcAft>
                <a:spcPts val="400"/>
              </a:spcAft>
              <a:defRPr sz="3000" b="1" i="0">
                <a:solidFill>
                  <a:srgbClr val="FFFFFF"/>
                </a:solidFill>
                <a:latin typeface="Montserrat"/>
              </a:defRPr>
            </a:pPr>
            <a:r>
              <a:rPr dirty="0"/>
              <a:t>NAVIGASI ROBOT BERBASIS</a:t>
            </a:r>
            <a:r>
              <a:rPr lang="en-ID" dirty="0"/>
              <a:t> </a:t>
            </a:r>
            <a:r>
              <a:rPr dirty="0"/>
              <a:t>LAYERED COSTMAP</a:t>
            </a:r>
            <a:r>
              <a:rPr lang="en-ID" dirty="0"/>
              <a:t> </a:t>
            </a:r>
            <a:r>
              <a:rPr dirty="0"/>
              <a:t>UNTUK PERGERAKAN ANTAR LANTAI</a:t>
            </a:r>
            <a:r>
              <a:rPr lang="en-ID" dirty="0"/>
              <a:t> </a:t>
            </a:r>
            <a:r>
              <a:rPr dirty="0"/>
              <a:t>PADA LINGKUNGAN INDOOR PASCA GEMPA BUMI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7956" y="5866765"/>
            <a:ext cx="3291840" cy="3175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6400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9"/>
              </a:lnSpc>
              <a:spcAft>
                <a:spcPts val="400"/>
              </a:spcAft>
              <a:defRPr sz="2200" b="1" i="0">
                <a:solidFill>
                  <a:srgbClr val="FFFFFF"/>
                </a:solidFill>
                <a:latin typeface="Montserrat"/>
              </a:defRPr>
            </a:pPr>
            <a:r>
              <a:rPr dirty="0"/>
              <a:t>Bagas Surya Wirawan</a:t>
            </a:r>
          </a:p>
          <a:p>
            <a:pPr algn="l">
              <a:lnSpc>
                <a:spcPts val="1600"/>
              </a:lnSpc>
              <a:spcAft>
                <a:spcPts val="400"/>
              </a:spcAft>
              <a:defRPr sz="1600" b="0" i="0">
                <a:solidFill>
                  <a:srgbClr val="BBD5EC"/>
                </a:solidFill>
                <a:latin typeface="Lato"/>
              </a:defRPr>
            </a:pPr>
            <a:r>
              <a:rPr dirty="0"/>
              <a:t>NRP. 5022221026</a:t>
            </a:r>
          </a:p>
          <a:p>
            <a:pPr algn="l">
              <a:lnSpc>
                <a:spcPts val="800"/>
              </a:lnSpc>
              <a:spcAft>
                <a:spcPts val="400"/>
              </a:spcAft>
              <a:defRPr sz="800" b="0" i="0">
                <a:solidFill>
                  <a:srgbClr val="FFFFFF"/>
                </a:solidFill>
                <a:latin typeface="Lato"/>
              </a:defRPr>
            </a:pPr>
            <a:endParaRPr dirty="0"/>
          </a:p>
          <a:p>
            <a:pPr algn="l">
              <a:lnSpc>
                <a:spcPts val="1470"/>
              </a:lnSpc>
              <a:spcAft>
                <a:spcPts val="400"/>
              </a:spcAft>
              <a:defRPr sz="1400" b="1" i="0">
                <a:solidFill>
                  <a:srgbClr val="CCCCCC"/>
                </a:solidFill>
                <a:latin typeface="Lato"/>
              </a:defRPr>
            </a:pPr>
            <a:r>
              <a:rPr dirty="0"/>
              <a:t>Dosen </a:t>
            </a:r>
            <a:r>
              <a:rPr dirty="0" err="1"/>
              <a:t>Pembimbing</a:t>
            </a:r>
            <a:r>
              <a:rPr dirty="0"/>
              <a:t>:</a:t>
            </a:r>
          </a:p>
          <a:p>
            <a:pPr algn="l">
              <a:lnSpc>
                <a:spcPts val="1330"/>
              </a:lnSpc>
              <a:spcAft>
                <a:spcPts val="400"/>
              </a:spcAft>
              <a:defRPr sz="1400" b="0" i="0">
                <a:solidFill>
                  <a:srgbClr val="BBD5EC"/>
                </a:solidFill>
                <a:latin typeface="Lato"/>
              </a:defRPr>
            </a:pPr>
            <a:r>
              <a:rPr dirty="0"/>
              <a:t>Dr. Ir. Djoko Purwanto, M.Eng.</a:t>
            </a:r>
          </a:p>
          <a:p>
            <a:pPr algn="l">
              <a:lnSpc>
                <a:spcPts val="1330"/>
              </a:lnSpc>
              <a:spcAft>
                <a:spcPts val="400"/>
              </a:spcAft>
              <a:defRPr sz="1400" b="0" i="0">
                <a:solidFill>
                  <a:srgbClr val="BBD5EC"/>
                </a:solidFill>
                <a:latin typeface="Lato"/>
              </a:defRPr>
            </a:pPr>
            <a:r>
              <a:rPr dirty="0"/>
              <a:t>Fajar Budiman, S.T., M.Sc.</a:t>
            </a:r>
          </a:p>
          <a:p>
            <a:pPr algn="l">
              <a:lnSpc>
                <a:spcPts val="800"/>
              </a:lnSpc>
              <a:spcAft>
                <a:spcPts val="400"/>
              </a:spcAft>
              <a:defRPr sz="800" b="0" i="0">
                <a:solidFill>
                  <a:srgbClr val="FFFFFF"/>
                </a:solidFill>
                <a:latin typeface="Lato"/>
              </a:defRPr>
            </a:pPr>
            <a:endParaRPr dirty="0"/>
          </a:p>
          <a:p>
            <a:pPr algn="l">
              <a:lnSpc>
                <a:spcPts val="1139"/>
              </a:lnSpc>
              <a:spcAft>
                <a:spcPts val="400"/>
              </a:spcAft>
              <a:defRPr sz="1200" b="0" i="0">
                <a:solidFill>
                  <a:srgbClr val="9BBBDB"/>
                </a:solidFill>
                <a:latin typeface="Lato"/>
              </a:defRPr>
            </a:pPr>
            <a:r>
              <a:rPr dirty="0"/>
              <a:t>Departemen Teknik Elektro</a:t>
            </a:r>
          </a:p>
          <a:p>
            <a:pPr algn="l">
              <a:lnSpc>
                <a:spcPts val="1139"/>
              </a:lnSpc>
              <a:spcAft>
                <a:spcPts val="400"/>
              </a:spcAft>
              <a:defRPr sz="1200" b="0" i="0">
                <a:solidFill>
                  <a:srgbClr val="9BBBDB"/>
                </a:solidFill>
                <a:latin typeface="Lato"/>
              </a:defRPr>
            </a:pPr>
            <a:r>
              <a:rPr dirty="0" err="1"/>
              <a:t>Fakultas</a:t>
            </a:r>
            <a:r>
              <a:rPr dirty="0"/>
              <a:t> </a:t>
            </a:r>
            <a:r>
              <a:rPr dirty="0" err="1"/>
              <a:t>Teknologi</a:t>
            </a:r>
            <a:r>
              <a:rPr dirty="0"/>
              <a:t> Elektro dan </a:t>
            </a:r>
            <a:r>
              <a:rPr dirty="0" err="1"/>
              <a:t>Informatika</a:t>
            </a:r>
            <a:r>
              <a:rPr dirty="0"/>
              <a:t> Cerdas</a:t>
            </a:r>
          </a:p>
          <a:p>
            <a:pPr algn="l">
              <a:lnSpc>
                <a:spcPts val="1139"/>
              </a:lnSpc>
              <a:spcAft>
                <a:spcPts val="400"/>
              </a:spcAft>
              <a:defRPr sz="1200" b="0" i="0">
                <a:solidFill>
                  <a:srgbClr val="85A8CA"/>
                </a:solidFill>
                <a:latin typeface="Lato"/>
              </a:defRPr>
            </a:pPr>
            <a:r>
              <a:rPr dirty="0" err="1"/>
              <a:t>Institut</a:t>
            </a:r>
            <a:r>
              <a:rPr dirty="0"/>
              <a:t> </a:t>
            </a:r>
            <a:r>
              <a:rPr dirty="0" err="1"/>
              <a:t>Teknologi</a:t>
            </a:r>
            <a:r>
              <a:rPr dirty="0"/>
              <a:t> </a:t>
            </a:r>
            <a:r>
              <a:rPr dirty="0" err="1"/>
              <a:t>Sepuluh</a:t>
            </a:r>
            <a:r>
              <a:rPr dirty="0"/>
              <a:t> </a:t>
            </a:r>
            <a:r>
              <a:rPr dirty="0" err="1"/>
              <a:t>Nopember</a:t>
            </a:r>
            <a:r>
              <a:rPr dirty="0"/>
              <a:t>  ·  Surabaya  · 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37960"/>
            <a:ext cx="2286000" cy="19050"/>
          </a:xfrm>
          <a:prstGeom prst="rect">
            <a:avLst/>
          </a:prstGeom>
          <a:solidFill>
            <a:srgbClr val="144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2EEFC"/>
            </a:gs>
            <a:gs pos="100000">
              <a:srgbClr val="BED4E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6576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DAFTAR 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868680"/>
            <a:ext cx="164592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234440"/>
            <a:ext cx="3474720" cy="868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" y="13258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325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Latar Belakang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2267712"/>
            <a:ext cx="3474720" cy="868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2359152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359152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rPr dirty="0" err="1"/>
              <a:t>Rumusan</a:t>
            </a:r>
            <a:r>
              <a:rPr dirty="0"/>
              <a:t> </a:t>
            </a:r>
            <a:r>
              <a:rPr dirty="0" err="1"/>
              <a:t>Masalah</a:t>
            </a:r>
            <a:r>
              <a:rPr dirty="0"/>
              <a:t> &amp; Tujuan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234440"/>
            <a:ext cx="3474720" cy="868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3258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325880"/>
            <a:ext cx="260770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rPr dirty="0" err="1"/>
              <a:t>Metodologi</a:t>
            </a:r>
            <a:r>
              <a:rPr dirty="0"/>
              <a:t> &amp; Desain </a:t>
            </a:r>
            <a:r>
              <a:rPr dirty="0" err="1"/>
              <a:t>Sistem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553712" y="2267712"/>
            <a:ext cx="3474720" cy="868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6592" y="2359152"/>
            <a:ext cx="708244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rPr dirty="0"/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359152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Hasil Pengujian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1234440"/>
            <a:ext cx="3474720" cy="868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2" y="13258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1325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Kesimpulan &amp; Saran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0FF"/>
            </a:gs>
            <a:gs pos="100000">
              <a:srgbClr val="C1D7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LATAR BELAKANG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01168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005840"/>
            <a:ext cx="10515600" cy="9144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" y="1051560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005840"/>
            <a:ext cx="10012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INDONESIA RAWAN GEMPA BUMI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252728"/>
            <a:ext cx="5936950" cy="5577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rPr sz="1600" dirty="0" err="1"/>
              <a:t>Terletak</a:t>
            </a:r>
            <a:r>
              <a:rPr sz="1600" dirty="0"/>
              <a:t> di 4 </a:t>
            </a:r>
            <a:r>
              <a:rPr sz="1600" dirty="0" err="1"/>
              <a:t>lempeng</a:t>
            </a:r>
            <a:r>
              <a:rPr sz="1600" dirty="0"/>
              <a:t> </a:t>
            </a:r>
            <a:r>
              <a:rPr sz="1600" dirty="0" err="1"/>
              <a:t>tektonik</a:t>
            </a:r>
            <a:r>
              <a:rPr sz="1600" dirty="0"/>
              <a:t> (</a:t>
            </a:r>
            <a:r>
              <a:rPr sz="1600" dirty="0" err="1"/>
              <a:t>Pasifik</a:t>
            </a:r>
            <a:r>
              <a:rPr sz="1600" dirty="0"/>
              <a:t>, Eurasia, Indo-Australia,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rPr sz="1600" dirty="0"/>
              <a:t>Laut Filipina). Rata-rata 18 </a:t>
            </a:r>
            <a:r>
              <a:rPr sz="1600" dirty="0" err="1"/>
              <a:t>gempa</a:t>
            </a:r>
            <a:r>
              <a:rPr sz="1600" dirty="0"/>
              <a:t>/</a:t>
            </a:r>
            <a:r>
              <a:rPr sz="1600" dirty="0" err="1"/>
              <a:t>hari</a:t>
            </a:r>
            <a:r>
              <a:rPr sz="1600" dirty="0"/>
              <a:t> (BMKG, </a:t>
            </a:r>
            <a:r>
              <a:rPr sz="1600" dirty="0" err="1"/>
              <a:t>Sabtaji</a:t>
            </a:r>
            <a:r>
              <a:rPr sz="1600" dirty="0"/>
              <a:t> 2020).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1993392"/>
            <a:ext cx="10515600" cy="9144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" y="2039112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993392"/>
            <a:ext cx="10012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OPERASI SAR &amp; PERAN ROBOT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40280"/>
            <a:ext cx="1001268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rPr sz="1600" dirty="0" err="1"/>
              <a:t>Petugas</a:t>
            </a:r>
            <a:r>
              <a:rPr sz="1600" dirty="0"/>
              <a:t> SAR </a:t>
            </a:r>
            <a:r>
              <a:rPr lang="en-ID" sz="1600" dirty="0"/>
              <a:t>meng</a:t>
            </a:r>
            <a:r>
              <a:rPr sz="1600" dirty="0" err="1"/>
              <a:t>hadapi</a:t>
            </a:r>
            <a:r>
              <a:rPr sz="1600" dirty="0"/>
              <a:t> </a:t>
            </a:r>
            <a:r>
              <a:rPr sz="1600" dirty="0" err="1"/>
              <a:t>ancaman</a:t>
            </a:r>
            <a:r>
              <a:rPr sz="1600" dirty="0"/>
              <a:t> </a:t>
            </a:r>
            <a:r>
              <a:rPr sz="1600" dirty="0" err="1"/>
              <a:t>keselamatan</a:t>
            </a:r>
            <a:r>
              <a:rPr sz="1600" dirty="0"/>
              <a:t>. </a:t>
            </a:r>
            <a:br>
              <a:rPr lang="en-ID" sz="1600" dirty="0"/>
            </a:br>
            <a:r>
              <a:rPr lang="en-ID" sz="1600" dirty="0"/>
              <a:t>Robot </a:t>
            </a:r>
            <a:r>
              <a:rPr lang="en-ID" sz="1600" dirty="0" err="1"/>
              <a:t>berperan</a:t>
            </a:r>
            <a:r>
              <a:rPr lang="en-ID" sz="1600" dirty="0"/>
              <a:t> </a:t>
            </a:r>
            <a:r>
              <a:rPr lang="en-ID" sz="1600" dirty="0" err="1"/>
              <a:t>melakukan</a:t>
            </a:r>
            <a:r>
              <a:rPr lang="en-ID" sz="1600" dirty="0"/>
              <a:t> </a:t>
            </a:r>
            <a:r>
              <a:rPr lang="en-ID" sz="1600" dirty="0" err="1"/>
              <a:t>ekplorasi</a:t>
            </a:r>
            <a:r>
              <a:rPr lang="en-ID" sz="1600" dirty="0"/>
              <a:t> </a:t>
            </a:r>
            <a:r>
              <a:rPr lang="en-ID" sz="1600" dirty="0" err="1"/>
              <a:t>bangunan</a:t>
            </a:r>
            <a:r>
              <a:rPr lang="en-ID" sz="1600" dirty="0"/>
              <a:t> </a:t>
            </a:r>
            <a:r>
              <a:rPr lang="en-ID" sz="1600" dirty="0" err="1"/>
              <a:t>pasca</a:t>
            </a:r>
            <a:r>
              <a:rPr lang="en-ID" sz="1600" dirty="0"/>
              <a:t> </a:t>
            </a:r>
            <a:r>
              <a:rPr lang="en-ID" sz="1600" dirty="0" err="1"/>
              <a:t>gempa</a:t>
            </a:r>
            <a:r>
              <a:rPr lang="en-ID" sz="1600" dirty="0"/>
              <a:t>. </a:t>
            </a:r>
            <a:r>
              <a:rPr lang="en-ID" sz="1600" dirty="0" err="1"/>
              <a:t>Pernah</a:t>
            </a:r>
            <a:r>
              <a:rPr lang="en-ID" sz="1600" dirty="0"/>
              <a:t> </a:t>
            </a:r>
            <a:r>
              <a:rPr lang="en-ID" sz="1600" dirty="0" err="1"/>
              <a:t>dilakukan</a:t>
            </a:r>
            <a:r>
              <a:rPr lang="en-ID" sz="1600" dirty="0"/>
              <a:t> di </a:t>
            </a:r>
            <a:r>
              <a:rPr lang="en-ID" sz="1600" dirty="0" err="1"/>
              <a:t>Jepang</a:t>
            </a:r>
            <a:r>
              <a:rPr lang="en-ID" sz="1600" dirty="0"/>
              <a:t> </a:t>
            </a:r>
            <a:r>
              <a:rPr sz="1600" dirty="0"/>
              <a:t>(Lin et al., 2022).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2980944"/>
            <a:ext cx="10515600" cy="9144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50392" y="3026664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980944"/>
            <a:ext cx="10012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rPr lang="en-ID" dirty="0"/>
              <a:t>TANTANGAN NAVIGASI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353312" y="3227832"/>
            <a:ext cx="1001268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rPr sz="1600" dirty="0"/>
              <a:t>Robot </a:t>
            </a:r>
            <a:r>
              <a:rPr sz="1600" dirty="0" err="1"/>
              <a:t>perlu</a:t>
            </a:r>
            <a:r>
              <a:rPr sz="1600" dirty="0"/>
              <a:t> </a:t>
            </a:r>
            <a:r>
              <a:rPr sz="1600" dirty="0" err="1"/>
              <a:t>lokalisasi</a:t>
            </a:r>
            <a:r>
              <a:rPr sz="1600" dirty="0"/>
              <a:t>, path planning, dan </a:t>
            </a:r>
            <a:r>
              <a:rPr lang="en-ID" sz="1600" dirty="0"/>
              <a:t>path tracking </a:t>
            </a:r>
            <a:r>
              <a:rPr sz="1600" dirty="0"/>
              <a:t>di </a:t>
            </a:r>
            <a:r>
              <a:rPr lang="en-ID" sz="1600" dirty="0" err="1"/>
              <a:t>bangunan</a:t>
            </a:r>
            <a:r>
              <a:rPr lang="en-ID" sz="1600" dirty="0"/>
              <a:t> </a:t>
            </a:r>
            <a:r>
              <a:rPr lang="en-ID" sz="1600" dirty="0" err="1"/>
              <a:t>pasca</a:t>
            </a:r>
            <a:r>
              <a:rPr lang="en-ID" sz="1600" dirty="0"/>
              <a:t> </a:t>
            </a:r>
            <a:r>
              <a:rPr lang="en-ID" sz="1600" dirty="0" err="1"/>
              <a:t>gempa</a:t>
            </a:r>
            <a:r>
              <a:rPr sz="1600" dirty="0"/>
              <a:t>.</a:t>
            </a:r>
            <a:r>
              <a:rPr lang="en-ID" sz="1600" dirty="0"/>
              <a:t> </a:t>
            </a:r>
          </a:p>
          <a:p>
            <a:pPr>
              <a:defRPr sz="1100" b="0" i="0">
                <a:solidFill>
                  <a:srgbClr val="333333"/>
                </a:solidFill>
                <a:latin typeface="Lato"/>
              </a:defRPr>
            </a:pPr>
            <a:r>
              <a:rPr lang="en-ID" sz="1600" dirty="0" err="1"/>
              <a:t>Lingkungan</a:t>
            </a:r>
            <a:r>
              <a:rPr lang="en-ID" sz="1600" dirty="0"/>
              <a:t> </a:t>
            </a:r>
            <a:r>
              <a:rPr lang="en-ID" sz="1600" dirty="0" err="1"/>
              <a:t>bertingkat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puing</a:t>
            </a:r>
            <a:r>
              <a:rPr lang="en-ID" sz="1600" dirty="0"/>
              <a:t> dan </a:t>
            </a:r>
            <a:r>
              <a:rPr lang="en-ID" sz="1600" dirty="0" err="1"/>
              <a:t>lantai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rata. </a:t>
            </a:r>
            <a:r>
              <a:rPr sz="1600" dirty="0"/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" y="3968496"/>
            <a:ext cx="10515600" cy="9144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" y="4014216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968496"/>
            <a:ext cx="10012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rPr dirty="0"/>
              <a:t>SIMULASI </a:t>
            </a:r>
            <a:r>
              <a:rPr lang="en-ID" dirty="0"/>
              <a:t>PENGUJIAN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353312" y="4215384"/>
            <a:ext cx="1001268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rPr sz="1600" dirty="0"/>
              <a:t>Sulit </a:t>
            </a:r>
            <a:r>
              <a:rPr sz="1600" dirty="0" err="1"/>
              <a:t>diuji</a:t>
            </a:r>
            <a:r>
              <a:rPr sz="1600" dirty="0"/>
              <a:t> di </a:t>
            </a:r>
            <a:r>
              <a:rPr sz="1600" dirty="0" err="1"/>
              <a:t>kondisi</a:t>
            </a:r>
            <a:r>
              <a:rPr sz="1600" dirty="0"/>
              <a:t> </a:t>
            </a:r>
            <a:r>
              <a:rPr sz="1600" dirty="0" err="1"/>
              <a:t>nyat</a:t>
            </a:r>
            <a:r>
              <a:rPr lang="en-ID" sz="1600" dirty="0"/>
              <a:t>a, </a:t>
            </a:r>
            <a:r>
              <a:rPr lang="en-ID" sz="1600" dirty="0" err="1"/>
              <a:t>sehingga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lingkungan</a:t>
            </a:r>
            <a:r>
              <a:rPr lang="en-ID" sz="1600" dirty="0"/>
              <a:t> </a:t>
            </a:r>
            <a:r>
              <a:rPr lang="en-ID" sz="1600" dirty="0" err="1"/>
              <a:t>simulasi</a:t>
            </a:r>
            <a:r>
              <a:rPr sz="1600" dirty="0"/>
              <a:t> </a:t>
            </a:r>
            <a:r>
              <a:rPr lang="en-ID" sz="1600" dirty="0" err="1"/>
              <a:t>berdasarkan</a:t>
            </a:r>
            <a:r>
              <a:rPr sz="1600" dirty="0"/>
              <a:t> Kontes Robot SAR Indonesia 2024. Platform: robot hexapod + LiDAR 2D. </a:t>
            </a:r>
            <a:r>
              <a:rPr sz="1600" dirty="0" err="1"/>
              <a:t>Keterbatasan</a:t>
            </a:r>
            <a:r>
              <a:rPr sz="1600" dirty="0"/>
              <a:t> LiDAR 2D pada </a:t>
            </a:r>
            <a:r>
              <a:rPr sz="1600" dirty="0" err="1"/>
              <a:t>lingkungan</a:t>
            </a:r>
            <a:r>
              <a:rPr sz="1600" dirty="0"/>
              <a:t> </a:t>
            </a:r>
            <a:r>
              <a:rPr sz="1600" dirty="0" err="1"/>
              <a:t>bertingkat</a:t>
            </a:r>
            <a:r>
              <a:rPr sz="1600" dirty="0"/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" y="4956048"/>
            <a:ext cx="10515600" cy="9144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0392" y="5001768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956048"/>
            <a:ext cx="10012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SOLUSI: LAYERED COSTMAP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5202936"/>
            <a:ext cx="1001268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rPr sz="1600" dirty="0" err="1"/>
              <a:t>Informasi</a:t>
            </a:r>
            <a:r>
              <a:rPr sz="1600" dirty="0"/>
              <a:t> 3D → occupancy grid + </a:t>
            </a:r>
            <a:r>
              <a:rPr lang="en-ID" sz="1600" dirty="0"/>
              <a:t>layered</a:t>
            </a:r>
            <a:r>
              <a:rPr sz="1600" dirty="0"/>
              <a:t> </a:t>
            </a:r>
            <a:r>
              <a:rPr sz="1600" dirty="0" err="1"/>
              <a:t>costmap</a:t>
            </a:r>
            <a:r>
              <a:rPr sz="1600" dirty="0"/>
              <a:t> 2D. Setia</a:t>
            </a:r>
            <a:r>
              <a:rPr lang="en-ID" sz="1600" dirty="0"/>
              <a:t>p </a:t>
            </a:r>
            <a:r>
              <a:rPr lang="en-ID" sz="1600" dirty="0" err="1"/>
              <a:t>lantai</a:t>
            </a:r>
            <a:r>
              <a:rPr sz="1600" dirty="0"/>
              <a:t> </a:t>
            </a:r>
            <a:r>
              <a:rPr sz="1600" dirty="0" err="1"/>
              <a:t>satu</a:t>
            </a:r>
            <a:r>
              <a:rPr sz="1600" dirty="0"/>
              <a:t> </a:t>
            </a:r>
            <a:r>
              <a:rPr lang="en-ID" sz="1600" dirty="0"/>
              <a:t>map</a:t>
            </a:r>
            <a:r>
              <a:rPr sz="1600" dirty="0"/>
              <a:t>/region. Layer </a:t>
            </a:r>
            <a:r>
              <a:rPr sz="1600" dirty="0" err="1"/>
              <a:t>transisi</a:t>
            </a:r>
            <a:r>
              <a:rPr sz="1600" dirty="0"/>
              <a:t> </a:t>
            </a:r>
            <a:r>
              <a:rPr sz="1600" dirty="0" err="1"/>
              <a:t>menghubungkan</a:t>
            </a:r>
            <a:r>
              <a:rPr sz="1600" dirty="0"/>
              <a:t> </a:t>
            </a:r>
            <a:r>
              <a:rPr sz="1600" dirty="0" err="1"/>
              <a:t>antar</a:t>
            </a:r>
            <a:r>
              <a:rPr sz="1600" dirty="0"/>
              <a:t> </a:t>
            </a:r>
            <a:r>
              <a:rPr sz="1600" dirty="0" err="1"/>
              <a:t>lantai</a:t>
            </a:r>
            <a:r>
              <a:rPr sz="1600" dirty="0"/>
              <a:t>. Robot </a:t>
            </a:r>
            <a:r>
              <a:rPr sz="1600" dirty="0" err="1"/>
              <a:t>berpindah</a:t>
            </a:r>
            <a:r>
              <a:rPr sz="1600" dirty="0"/>
              <a:t> layer </a:t>
            </a:r>
            <a:r>
              <a:rPr sz="1600" dirty="0" err="1"/>
              <a:t>sesuai</a:t>
            </a:r>
            <a:r>
              <a:rPr sz="1600" dirty="0"/>
              <a:t> </a:t>
            </a:r>
            <a:r>
              <a:rPr sz="1600" dirty="0" err="1"/>
              <a:t>posisi</a:t>
            </a:r>
            <a:r>
              <a:rPr sz="1600" dirty="0"/>
              <a:t> di </a:t>
            </a:r>
            <a:r>
              <a:rPr lang="en-ID" sz="1600" dirty="0" err="1"/>
              <a:t>asli</a:t>
            </a:r>
            <a:r>
              <a:rPr sz="1600" dirty="0"/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0FF"/>
            </a:gs>
            <a:gs pos="100000">
              <a:srgbClr val="C1D7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RUMUSAN MASALAH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10515600" cy="123444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0392" y="1051560"/>
            <a:ext cx="63500" cy="1234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" y="118872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rPr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161288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REPRESENTASI LINGKUNGAN 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554480"/>
            <a:ext cx="9509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Lato"/>
              </a:defRPr>
            </a:pPr>
            <a:r>
              <a:rPr sz="1600" dirty="0" err="1"/>
              <a:t>Bagaimana</a:t>
            </a:r>
            <a:r>
              <a:rPr sz="1600" dirty="0"/>
              <a:t> </a:t>
            </a:r>
            <a:r>
              <a:rPr sz="1600" dirty="0" err="1"/>
              <a:t>cara</a:t>
            </a:r>
            <a:r>
              <a:rPr sz="1600" dirty="0"/>
              <a:t> </a:t>
            </a:r>
            <a:r>
              <a:rPr sz="1600" dirty="0" err="1"/>
              <a:t>menggunakan</a:t>
            </a:r>
            <a:r>
              <a:rPr sz="1600" dirty="0"/>
              <a:t> layered </a:t>
            </a:r>
            <a:r>
              <a:rPr sz="1600" dirty="0" err="1"/>
              <a:t>costmap</a:t>
            </a:r>
            <a:r>
              <a:rPr sz="1600" dirty="0"/>
              <a:t> </a:t>
            </a:r>
            <a:r>
              <a:rPr sz="1600" dirty="0" err="1"/>
              <a:t>untuk</a:t>
            </a:r>
            <a:r>
              <a:rPr sz="1600" dirty="0"/>
              <a:t> </a:t>
            </a:r>
            <a:r>
              <a:rPr sz="1600" dirty="0" err="1"/>
              <a:t>mewakilkan</a:t>
            </a:r>
            <a:r>
              <a:rPr sz="1600" dirty="0"/>
              <a:t> </a:t>
            </a:r>
            <a:r>
              <a:rPr sz="1600" dirty="0" err="1"/>
              <a:t>informasi</a:t>
            </a:r>
            <a:r>
              <a:rPr sz="1600" dirty="0"/>
              <a:t> </a:t>
            </a:r>
            <a:r>
              <a:rPr sz="1600" dirty="0" err="1"/>
              <a:t>lingkungan</a:t>
            </a:r>
            <a:r>
              <a:rPr sz="1600" dirty="0"/>
              <a:t> 3D yang </a:t>
            </a:r>
            <a:r>
              <a:rPr sz="1600" dirty="0" err="1"/>
              <a:t>terdiri</a:t>
            </a:r>
            <a:r>
              <a:rPr sz="1600" dirty="0"/>
              <a:t> </a:t>
            </a:r>
            <a:r>
              <a:rPr sz="1600" dirty="0" err="1"/>
              <a:t>dari</a:t>
            </a:r>
            <a:r>
              <a:rPr sz="1600" dirty="0"/>
              <a:t> </a:t>
            </a:r>
            <a:r>
              <a:rPr sz="1600" dirty="0" err="1"/>
              <a:t>beberapa</a:t>
            </a:r>
            <a:r>
              <a:rPr sz="1600" dirty="0"/>
              <a:t> </a:t>
            </a:r>
            <a:r>
              <a:rPr sz="1600" dirty="0" err="1"/>
              <a:t>lantai</a:t>
            </a:r>
            <a:r>
              <a:rPr sz="1600" dirty="0"/>
              <a:t> </a:t>
            </a:r>
            <a:r>
              <a:rPr sz="1600" dirty="0" err="1"/>
              <a:t>sehingga</a:t>
            </a:r>
            <a:r>
              <a:rPr sz="1600" dirty="0"/>
              <a:t> </a:t>
            </a:r>
            <a:r>
              <a:rPr sz="1600" dirty="0" err="1"/>
              <a:t>bisa</a:t>
            </a:r>
            <a:r>
              <a:rPr sz="1600" dirty="0"/>
              <a:t> </a:t>
            </a:r>
            <a:r>
              <a:rPr sz="1600" dirty="0" err="1"/>
              <a:t>digunakan</a:t>
            </a:r>
            <a:r>
              <a:rPr sz="1600" dirty="0"/>
              <a:t> pada </a:t>
            </a:r>
            <a:r>
              <a:rPr sz="1600" dirty="0" err="1"/>
              <a:t>algoritma</a:t>
            </a:r>
            <a:r>
              <a:rPr sz="1600" dirty="0"/>
              <a:t> </a:t>
            </a:r>
            <a:r>
              <a:rPr sz="1600" dirty="0" err="1"/>
              <a:t>navigasi</a:t>
            </a:r>
            <a:r>
              <a:rPr sz="1600" dirty="0"/>
              <a:t> 2D?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2514600"/>
            <a:ext cx="10515600" cy="123444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0392" y="2514600"/>
            <a:ext cx="63500" cy="1234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265176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rPr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24328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ALGORITMA NAVIGASI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017520"/>
            <a:ext cx="9509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Lato"/>
              </a:defRPr>
            </a:pPr>
            <a:r>
              <a:rPr sz="1600" dirty="0" err="1"/>
              <a:t>Bagaimana</a:t>
            </a:r>
            <a:r>
              <a:rPr sz="1600" dirty="0"/>
              <a:t> </a:t>
            </a:r>
            <a:r>
              <a:rPr sz="1600" dirty="0" err="1"/>
              <a:t>merancang</a:t>
            </a:r>
            <a:r>
              <a:rPr sz="1600" dirty="0"/>
              <a:t> </a:t>
            </a:r>
            <a:r>
              <a:rPr sz="1600" dirty="0" err="1"/>
              <a:t>algoritma</a:t>
            </a:r>
            <a:r>
              <a:rPr sz="1600" dirty="0"/>
              <a:t> </a:t>
            </a:r>
            <a:r>
              <a:rPr sz="1600" dirty="0" err="1"/>
              <a:t>lokalisasi</a:t>
            </a:r>
            <a:r>
              <a:rPr sz="1600" dirty="0"/>
              <a:t>, path planning, dan path tracking yang </a:t>
            </a:r>
            <a:r>
              <a:rPr sz="1600" dirty="0" err="1"/>
              <a:t>bekerja</a:t>
            </a:r>
            <a:r>
              <a:rPr sz="1600" dirty="0"/>
              <a:t> pada </a:t>
            </a:r>
            <a:r>
              <a:rPr sz="1600" dirty="0" err="1"/>
              <a:t>sistem</a:t>
            </a:r>
            <a:r>
              <a:rPr sz="1600" dirty="0"/>
              <a:t> </a:t>
            </a:r>
            <a:r>
              <a:rPr sz="1600" dirty="0" err="1"/>
              <a:t>navigasi</a:t>
            </a:r>
            <a:r>
              <a:rPr sz="1600" dirty="0"/>
              <a:t> </a:t>
            </a:r>
            <a:r>
              <a:rPr sz="1600" dirty="0" err="1"/>
              <a:t>berbasis</a:t>
            </a:r>
            <a:r>
              <a:rPr sz="1600" dirty="0"/>
              <a:t> layered </a:t>
            </a:r>
            <a:r>
              <a:rPr sz="1600" dirty="0" err="1"/>
              <a:t>costmap</a:t>
            </a:r>
            <a:r>
              <a:rPr sz="1600" dirty="0"/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3977640"/>
            <a:ext cx="10515600" cy="123444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3977640"/>
            <a:ext cx="63500" cy="1234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" y="411480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rPr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087368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VALIDASI SISTEM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480560"/>
            <a:ext cx="9509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Lato"/>
              </a:defRPr>
            </a:pPr>
            <a:r>
              <a:rPr sz="1600" dirty="0" err="1"/>
              <a:t>Apakah</a:t>
            </a:r>
            <a:r>
              <a:rPr sz="1600" dirty="0"/>
              <a:t> robot </a:t>
            </a:r>
            <a:r>
              <a:rPr sz="1600" dirty="0" err="1"/>
              <a:t>darat</a:t>
            </a:r>
            <a:r>
              <a:rPr sz="1600" dirty="0"/>
              <a:t> </a:t>
            </a:r>
            <a:r>
              <a:rPr sz="1600" dirty="0" err="1"/>
              <a:t>otonom</a:t>
            </a:r>
            <a:r>
              <a:rPr sz="1600" dirty="0"/>
              <a:t> </a:t>
            </a:r>
            <a:r>
              <a:rPr sz="1600" dirty="0" err="1"/>
              <a:t>dapat</a:t>
            </a:r>
            <a:r>
              <a:rPr sz="1600" dirty="0"/>
              <a:t> </a:t>
            </a:r>
            <a:r>
              <a:rPr sz="1600" dirty="0" err="1"/>
              <a:t>melakukan</a:t>
            </a:r>
            <a:r>
              <a:rPr sz="1600" dirty="0"/>
              <a:t> </a:t>
            </a:r>
            <a:r>
              <a:rPr sz="1600" dirty="0" err="1"/>
              <a:t>navigasi</a:t>
            </a:r>
            <a:r>
              <a:rPr sz="1600" dirty="0"/>
              <a:t> </a:t>
            </a:r>
            <a:r>
              <a:rPr sz="1600" dirty="0" err="1"/>
              <a:t>hingga</a:t>
            </a:r>
            <a:r>
              <a:rPr sz="1600" dirty="0"/>
              <a:t> </a:t>
            </a:r>
            <a:r>
              <a:rPr sz="1600" dirty="0" err="1"/>
              <a:t>mencapai</a:t>
            </a:r>
            <a:r>
              <a:rPr sz="1600" dirty="0"/>
              <a:t> </a:t>
            </a:r>
            <a:r>
              <a:rPr sz="1600" dirty="0" err="1"/>
              <a:t>tujuan</a:t>
            </a:r>
            <a:r>
              <a:rPr sz="1600" dirty="0"/>
              <a:t> pada </a:t>
            </a:r>
            <a:r>
              <a:rPr sz="1600" dirty="0" err="1"/>
              <a:t>lingkungan</a:t>
            </a:r>
            <a:r>
              <a:rPr sz="1600" dirty="0"/>
              <a:t> </a:t>
            </a:r>
            <a:r>
              <a:rPr sz="1600" dirty="0" err="1"/>
              <a:t>simulasi</a:t>
            </a:r>
            <a:r>
              <a:rPr sz="1600" dirty="0"/>
              <a:t> </a:t>
            </a:r>
            <a:r>
              <a:rPr sz="1600" dirty="0" err="1"/>
              <a:t>menggunakan</a:t>
            </a:r>
            <a:r>
              <a:rPr sz="1600" dirty="0"/>
              <a:t> </a:t>
            </a:r>
            <a:r>
              <a:rPr sz="1600" dirty="0" err="1"/>
              <a:t>metode</a:t>
            </a:r>
            <a:r>
              <a:rPr sz="1600" dirty="0"/>
              <a:t> </a:t>
            </a:r>
            <a:r>
              <a:rPr sz="1600" dirty="0" err="1"/>
              <a:t>navigasi</a:t>
            </a:r>
            <a:r>
              <a:rPr sz="1600" dirty="0"/>
              <a:t> </a:t>
            </a:r>
            <a:r>
              <a:rPr sz="1600" dirty="0" err="1"/>
              <a:t>antar</a:t>
            </a:r>
            <a:r>
              <a:rPr sz="1600" dirty="0"/>
              <a:t> </a:t>
            </a:r>
            <a:r>
              <a:rPr sz="1600" dirty="0" err="1"/>
              <a:t>lantai</a:t>
            </a:r>
            <a:r>
              <a:rPr sz="1600" dirty="0"/>
              <a:t> yang </a:t>
            </a:r>
            <a:r>
              <a:rPr sz="1600" dirty="0" err="1"/>
              <a:t>dikembangkan</a:t>
            </a:r>
            <a:r>
              <a:rPr sz="1600" dirty="0"/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0FF"/>
            </a:gs>
            <a:gs pos="100000">
              <a:srgbClr val="C1D7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5051644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rPr dirty="0"/>
              <a:t>BATASAN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097280"/>
            <a:ext cx="10515600" cy="14173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0392" y="1097280"/>
            <a:ext cx="63500" cy="14173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78992" y="1280160"/>
            <a:ext cx="320040" cy="292608"/>
          </a:xfrm>
          <a:prstGeom prst="triangl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20700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3A70"/>
                </a:solidFill>
                <a:latin typeface="Montserrat"/>
              </a:defRPr>
            </a:pPr>
            <a:r>
              <a:rPr dirty="0" err="1"/>
              <a:t>Simulasi</a:t>
            </a:r>
            <a:r>
              <a:rPr dirty="0"/>
              <a:t> </a:t>
            </a:r>
            <a:r>
              <a:rPr lang="en-ID" dirty="0" err="1"/>
              <a:t>lingkungan</a:t>
            </a:r>
            <a:r>
              <a:rPr dirty="0"/>
              <a:t> (</a:t>
            </a:r>
            <a:r>
              <a:rPr dirty="0" err="1"/>
              <a:t>Mujoco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536192"/>
            <a:ext cx="950976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pada </a:t>
            </a:r>
            <a:r>
              <a:rPr lang="en-ID" dirty="0" err="1"/>
              <a:t>simulasi</a:t>
            </a:r>
            <a:r>
              <a:rPr lang="en-ID" dirty="0"/>
              <a:t> yang </a:t>
            </a:r>
            <a:r>
              <a:rPr lang="en-ID" dirty="0" err="1"/>
              <a:t>didesain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merekayasa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pasca</a:t>
            </a:r>
            <a:r>
              <a:rPr lang="en-ID" dirty="0"/>
              <a:t> </a:t>
            </a:r>
            <a:r>
              <a:rPr lang="en-ID" dirty="0" err="1"/>
              <a:t>gempa</a:t>
            </a:r>
            <a:r>
              <a:rPr lang="en-ID" dirty="0"/>
              <a:t>. Arena </a:t>
            </a:r>
            <a:r>
              <a:rPr lang="en-ID" dirty="0" err="1"/>
              <a:t>dilengkapi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rekayasa</a:t>
            </a:r>
            <a:r>
              <a:rPr lang="en-ID" dirty="0"/>
              <a:t> </a:t>
            </a:r>
            <a:r>
              <a:rPr lang="en-ID" dirty="0" err="1"/>
              <a:t>rintangan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diketahui</a:t>
            </a:r>
            <a:r>
              <a:rPr lang="en-ID" dirty="0"/>
              <a:t>, </a:t>
            </a:r>
            <a:r>
              <a:rPr lang="en-ID" dirty="0" err="1"/>
              <a:t>tanjakan</a:t>
            </a:r>
            <a:r>
              <a:rPr lang="en-ID" dirty="0"/>
              <a:t>, dan </a:t>
            </a:r>
            <a:r>
              <a:rPr lang="en-ID" dirty="0" err="1"/>
              <a:t>permukaan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rata, yang </a:t>
            </a:r>
            <a:r>
              <a:rPr lang="en-ID" dirty="0" err="1"/>
              <a:t>dibuat</a:t>
            </a:r>
            <a:r>
              <a:rPr lang="en-ID" dirty="0"/>
              <a:t> pada </a:t>
            </a:r>
            <a:r>
              <a:rPr lang="en-ID" dirty="0" err="1"/>
              <a:t>skala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2743200"/>
            <a:ext cx="10515600" cy="14173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0392" y="2743200"/>
            <a:ext cx="63500" cy="1417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>
            <a:off x="1078992" y="2926080"/>
            <a:ext cx="320040" cy="292608"/>
          </a:xfrm>
          <a:prstGeom prst="triangl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8529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4A90D9"/>
                </a:solidFill>
                <a:latin typeface="Montserrat"/>
              </a:defRPr>
            </a:pPr>
            <a:r>
              <a:rPr dirty="0"/>
              <a:t>Platform Robot Hexapod + LiDAR 2D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182112"/>
            <a:ext cx="9710928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oleh robot </a:t>
            </a:r>
            <a:r>
              <a:rPr lang="en-ID" dirty="0" err="1"/>
              <a:t>darat</a:t>
            </a:r>
            <a:r>
              <a:rPr lang="en-ID" dirty="0"/>
              <a:t> hexapod yang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otonom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bergerak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menuju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ditentukan</a:t>
            </a:r>
            <a:r>
              <a:rPr lang="en-ID" dirty="0"/>
              <a:t>.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4389120"/>
            <a:ext cx="10515600" cy="14173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4389120"/>
            <a:ext cx="63500" cy="141732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>
            <a:off x="1078992" y="4572000"/>
            <a:ext cx="320040" cy="292608"/>
          </a:xfrm>
          <a:prstGeom prst="triangle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1" y="4498848"/>
            <a:ext cx="483551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08C2E"/>
                </a:solidFill>
                <a:latin typeface="Montserrat"/>
              </a:defRPr>
            </a:pPr>
            <a:r>
              <a:rPr dirty="0" err="1"/>
              <a:t>Lingkungan</a:t>
            </a:r>
            <a:r>
              <a:rPr dirty="0"/>
              <a:t> Statis </a:t>
            </a:r>
            <a:r>
              <a:rPr dirty="0" err="1"/>
              <a:t>Diketahui</a:t>
            </a:r>
            <a:r>
              <a:rPr dirty="0"/>
              <a:t> (Known Map)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828032"/>
            <a:ext cx="950976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pada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diketahui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utamanya</a:t>
            </a:r>
            <a:endParaRPr lang="en-ID" dirty="0"/>
          </a:p>
        </p:txBody>
      </p:sp>
      <p:sp>
        <p:nvSpPr>
          <p:cNvPr id="22" name="TextBox 2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0FF"/>
            </a:gs>
            <a:gs pos="100000">
              <a:srgbClr val="C1D7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TUJUAN &amp; MANFAAT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01168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280720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3A70"/>
                </a:solidFill>
                <a:latin typeface="Montserrat"/>
              </a:defRPr>
            </a:pPr>
            <a:r>
              <a:rPr dirty="0"/>
              <a:t>Tujuan </a:t>
            </a:r>
            <a:r>
              <a:rPr dirty="0" err="1"/>
              <a:t>Penelitian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41832" y="1463040"/>
            <a:ext cx="53035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1481328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46304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Representasi Multi-Lantai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719072"/>
            <a:ext cx="48006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Mengembangkan metode representasi lingkungan menggunakan layered costmap untuk menyederhanakan informasi lingkungan multi-lantai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2606040"/>
            <a:ext cx="53035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624328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60604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Algoritma Navigasi Antar Lantai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862072"/>
            <a:ext cx="48006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Merancang dan mengimplementasikan algoritma lokalisasi, path planning, dan path tracking yang menggunakan layered costmap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3749040"/>
            <a:ext cx="53035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1832" y="3767328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74904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Evaluasi di Simulasi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4005072"/>
            <a:ext cx="48006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rPr dirty="0" err="1"/>
              <a:t>Melakukan</a:t>
            </a:r>
            <a:r>
              <a:rPr dirty="0"/>
              <a:t> </a:t>
            </a:r>
            <a:r>
              <a:rPr dirty="0" err="1"/>
              <a:t>pengujian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di </a:t>
            </a:r>
            <a:r>
              <a:rPr dirty="0" err="1"/>
              <a:t>lingkungan</a:t>
            </a:r>
            <a:r>
              <a:rPr dirty="0"/>
              <a:t> </a:t>
            </a:r>
            <a:r>
              <a:rPr dirty="0" err="1"/>
              <a:t>simulasi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mengevaluasi</a:t>
            </a:r>
            <a:r>
              <a:rPr dirty="0"/>
              <a:t> </a:t>
            </a:r>
            <a:r>
              <a:rPr dirty="0" err="1"/>
              <a:t>efektivitas</a:t>
            </a:r>
            <a:r>
              <a:rPr dirty="0"/>
              <a:t> dan </a:t>
            </a:r>
            <a:r>
              <a:rPr dirty="0" err="1"/>
              <a:t>keterbatasan</a:t>
            </a:r>
            <a:r>
              <a:rPr dirty="0"/>
              <a:t> </a:t>
            </a:r>
            <a:r>
              <a:rPr dirty="0" err="1"/>
              <a:t>pendekatan</a:t>
            </a:r>
            <a:r>
              <a:rPr dirty="0"/>
              <a:t> yang </a:t>
            </a:r>
            <a:r>
              <a:rPr dirty="0" err="1"/>
              <a:t>diusulkan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400799" y="1005840"/>
            <a:ext cx="2552007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3A70"/>
                </a:solidFill>
                <a:latin typeface="Montserrat"/>
              </a:defRPr>
            </a:pPr>
            <a:r>
              <a:rPr dirty="0"/>
              <a:t>Manfaat </a:t>
            </a:r>
            <a:r>
              <a:rPr dirty="0" err="1"/>
              <a:t>Penelitian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492240" y="1463040"/>
            <a:ext cx="5303520" cy="5029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92240" y="1463040"/>
            <a:ext cx="411480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44475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B4C"/>
                </a:solidFill>
                <a:latin typeface="Montserrat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72300" y="1467196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rPr dirty="0" err="1"/>
              <a:t>Kontribusi</a:t>
            </a:r>
            <a:r>
              <a:rPr dirty="0"/>
              <a:t> pada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navigasi</a:t>
            </a:r>
            <a:r>
              <a:rPr dirty="0"/>
              <a:t> robot </a:t>
            </a:r>
            <a:r>
              <a:rPr dirty="0" err="1"/>
              <a:t>otonom</a:t>
            </a:r>
            <a:r>
              <a:rPr dirty="0"/>
              <a:t> di </a:t>
            </a:r>
            <a:r>
              <a:rPr dirty="0" err="1"/>
              <a:t>lingkungan</a:t>
            </a:r>
            <a:r>
              <a:rPr dirty="0"/>
              <a:t> </a:t>
            </a:r>
            <a:r>
              <a:rPr dirty="0" err="1"/>
              <a:t>kompleks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492240" y="2331720"/>
            <a:ext cx="5303520" cy="5029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92240" y="2331720"/>
            <a:ext cx="411480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31343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B4C"/>
                </a:solidFill>
                <a:latin typeface="Montserrat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72300" y="2350008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rPr dirty="0"/>
              <a:t>Dasar </a:t>
            </a:r>
            <a:r>
              <a:rPr dirty="0" err="1"/>
              <a:t>awal</a:t>
            </a:r>
            <a:r>
              <a:rPr dirty="0"/>
              <a:t> </a:t>
            </a:r>
            <a:r>
              <a:rPr dirty="0" err="1"/>
              <a:t>navigasi</a:t>
            </a:r>
            <a:r>
              <a:rPr dirty="0"/>
              <a:t> robot di area </a:t>
            </a:r>
            <a:r>
              <a:rPr dirty="0" err="1"/>
              <a:t>bertingkat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runtuh</a:t>
            </a:r>
            <a:r>
              <a:rPr dirty="0"/>
              <a:t> </a:t>
            </a:r>
            <a:r>
              <a:rPr dirty="0" err="1"/>
              <a:t>pasca</a:t>
            </a:r>
            <a:r>
              <a:rPr dirty="0"/>
              <a:t> </a:t>
            </a:r>
            <a:r>
              <a:rPr dirty="0" err="1"/>
              <a:t>gempa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492240" y="3200400"/>
            <a:ext cx="5303520" cy="5029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92240" y="3200400"/>
            <a:ext cx="411480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8211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B4C"/>
                </a:solidFill>
                <a:latin typeface="Montserrat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2300" y="3236976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rPr dirty="0" err="1"/>
              <a:t>Fondasi</a:t>
            </a:r>
            <a:r>
              <a:rPr dirty="0"/>
              <a:t> </a:t>
            </a:r>
            <a:r>
              <a:rPr dirty="0" err="1"/>
              <a:t>penelitian</a:t>
            </a:r>
            <a:r>
              <a:rPr dirty="0"/>
              <a:t> </a:t>
            </a:r>
            <a:r>
              <a:rPr dirty="0" err="1"/>
              <a:t>lanjutan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robot SAR </a:t>
            </a:r>
            <a:r>
              <a:rPr dirty="0" err="1"/>
              <a:t>otonom</a:t>
            </a:r>
            <a:r>
              <a:rPr dirty="0"/>
              <a:t> di area </a:t>
            </a:r>
            <a:r>
              <a:rPr dirty="0" err="1"/>
              <a:t>bencana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TINJAUAN PUSTAKA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01168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5120640" cy="18288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0392" y="1051560"/>
            <a:ext cx="51206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" y="11887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Layered Costmap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554480"/>
            <a:ext cx="47548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Grid 2D bertingkat (0–255). Layers: static map, obstacle, inflation. Setiap layer menyimpan informasi lingkungan spesifik. (macenski 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51560"/>
            <a:ext cx="5120640" cy="18288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5352" y="1051560"/>
            <a:ext cx="5120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11887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ICP Localization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554480"/>
            <a:ext cx="47548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Scan matching berbasis point cloud. Iterative minimization MSD antara data sensor dan fixed map. Prekomputasi KNN untuk lookup O(1).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3108960"/>
            <a:ext cx="5120640" cy="18288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0392" y="3108960"/>
            <a:ext cx="5120640" cy="508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" y="32461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A* Path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611880"/>
            <a:ext cx="47548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BFS dengan fungsi heuristik f(n)=g(n)+h(n). Open/closed list. Kualitas path bergantung pada kualitas fungsi heuristik.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108960"/>
            <a:ext cx="5120640" cy="18288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5352" y="3108960"/>
            <a:ext cx="5120640" cy="508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2461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DWA Local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611880"/>
            <a:ext cx="47548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Dynamic Window Approach. Sampling velocity → simulasi kinematik → scoring trajectory → pilih terbaik. Mampu menghindari obstacle tidak diketahui.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0749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State of the Art — Navigasi Antar Lantai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3949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Hu 2022: Adaptive slope navigation dengan multi-layer costmap · Kim 2024: Indoor delivery robot multi-floor dengan integrated nav map · Palacin 2023: Inter-floor navigation menggunakan elevator + ICP · Jung 2024: A* dengan realistic cost functions (elevator vs stairs)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2B4C"/>
                </a:solidFill>
                <a:latin typeface="Montserrat"/>
              </a:defRPr>
            </a:pPr>
            <a:r>
              <a:t>PENELITIAN TERDAHULU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50392" y="1051560"/>
          <a:ext cx="105156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Pendekatan Unik pada Penelitian Terdahulu</a:t>
                      </a:r>
                    </a:p>
                  </a:txBody>
                  <a:tcPr marL="63500" marR="63500" marT="38100" marB="38100" anchor="ctr"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Perbandingan dengan Penelitian Ini</a:t>
                      </a:r>
                    </a:p>
                  </a:txBody>
                  <a:tcPr marL="63500" marR="63500" marT="38100" marB="38100" anchor="ctr"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000" b="1">
                          <a:solidFill>
                            <a:srgbClr val="003A70"/>
                          </a:solidFill>
                          <a:latin typeface="Montserrat"/>
                        </a:defRPr>
                      </a:pPr>
                      <a:r>
                        <a:t>Macenski et al. (2023)</a:t>
                      </a:r>
                      <a:br/>
                      <a:r>
                        <a:t>Layered Costmap</a:t>
                      </a:r>
                    </a:p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Mengusulkan arsitektur layered costmap pertama — membagi costmap menjadi layer semantik terpisah (static, obstacle, inflation) yang memperbarui master grid secara terstruktur.</a:t>
                      </a:r>
                    </a:p>
                  </a:txBody>
                  <a:tcPr marL="63500" marR="63500" marT="38100" marB="38100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Mengadopsi layered costmap dan memperluas dengan tiga layer spesifik: Global Costmap, Local Costmap, serta Transition Costmap yang menyimpan informasi koneksi dan zona transisi antar region.</a:t>
                      </a:r>
                    </a:p>
                  </a:txBody>
                  <a:tcPr marL="63500" marR="63500" marT="38100" marB="38100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000" b="1">
                          <a:solidFill>
                            <a:srgbClr val="003A70"/>
                          </a:solidFill>
                          <a:latin typeface="Montserrat"/>
                        </a:defRPr>
                      </a:pPr>
                      <a:r>
                        <a:rPr dirty="0"/>
                        <a:t>Hu et al. (2022)</a:t>
                      </a:r>
                      <a:br>
                        <a:rPr dirty="0"/>
                      </a:br>
                      <a:r>
                        <a:rPr dirty="0"/>
                        <a:t>Adaptive Slope Navigation</a:t>
                      </a:r>
                    </a:p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rPr dirty="0"/>
                        <a:t>Multi-layer </a:t>
                      </a:r>
                      <a:r>
                        <a:rPr dirty="0" err="1"/>
                        <a:t>costmap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adaptif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untuk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navigasi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permukaan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berkemiringan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Algoritma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deteksi</a:t>
                      </a:r>
                      <a:r>
                        <a:rPr dirty="0"/>
                        <a:t> slope </a:t>
                      </a:r>
                      <a:r>
                        <a:rPr dirty="0" err="1"/>
                        <a:t>mengubah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peta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biaya</a:t>
                      </a:r>
                      <a:r>
                        <a:rPr dirty="0"/>
                        <a:t> agar </a:t>
                      </a:r>
                      <a:r>
                        <a:rPr dirty="0" err="1"/>
                        <a:t>kemiringan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dianggap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dapat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dilalui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dengan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biaya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tambahan</a:t>
                      </a:r>
                      <a:r>
                        <a:rPr dirty="0"/>
                        <a:t>), </a:t>
                      </a:r>
                      <a:r>
                        <a:rPr dirty="0" err="1"/>
                        <a:t>bukan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sebagai</a:t>
                      </a:r>
                      <a:r>
                        <a:rPr dirty="0"/>
                        <a:t> obstacle.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Fokus berbeda: Hu menangani variasi kemiringan, sedangkan penelitian ini menangani transisi antar lantai. Keduanya menyederhanakan informasi 3D menjadi representasi costmap 2D bertingkat.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000" b="1">
                          <a:solidFill>
                            <a:srgbClr val="003A70"/>
                          </a:solidFill>
                          <a:latin typeface="Montserrat"/>
                        </a:defRPr>
                      </a:pPr>
                      <a:r>
                        <a:t>Kim et al. (2024)</a:t>
                      </a:r>
                      <a:br/>
                      <a:r>
                        <a:t>Integrated Navigation Map</a:t>
                      </a:r>
                    </a:p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Membuat peta navigasi terintegrasi dengan menggabungkan point cloud multi-lantai dan topologi node graph. Mengandalkan elevator sebagai penghubung antar lantai pada gedung bertingkat.</a:t>
                      </a:r>
                    </a:p>
                  </a:txBody>
                  <a:tcPr marL="63500" marR="63500" marT="38100" marB="38100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Tidak bergantung pada elevator — menggunakan mekanisme region transition dan zona transisi yang terdeteksi dari combined map. Lebih adaptif untuk skenario pasca gempa.</a:t>
                      </a:r>
                    </a:p>
                  </a:txBody>
                  <a:tcPr marL="63500" marR="63500" marT="38100" marB="38100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000" b="1">
                          <a:solidFill>
                            <a:srgbClr val="003A70"/>
                          </a:solidFill>
                          <a:latin typeface="Montserrat"/>
                        </a:defRPr>
                      </a:pPr>
                      <a:r>
                        <a:t>Palacín et al. (2023)</a:t>
                      </a:r>
                      <a:br/>
                      <a:r>
                        <a:t>Inter-floor ICP + Elevator</a:t>
                      </a:r>
                    </a:p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Navigasi antar lantai menggunakan elevator dengan lokalisasi berbasis ICP. Evaluasi performa ICP dilakukan pada kondisi pintu lift terbuka maupun tertutup.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Menggunakan ICP yang sama dengan optimasi prekomputasi KNN (hash table, lookup O(1), k=8, r=10). Dilengkapi region switcher untuk mendeteksi perpindahan region secara otomatis dari pose robot.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defRPr sz="1000" b="1">
                          <a:solidFill>
                            <a:srgbClr val="003A70"/>
                          </a:solidFill>
                          <a:latin typeface="Montserrat"/>
                        </a:defRPr>
                      </a:pPr>
                      <a:r>
                        <a:t>Jung et al. (2024)</a:t>
                      </a:r>
                      <a:br/>
                      <a:r>
                        <a:t>A* dengan Realistic Cost</a:t>
                      </a:r>
                    </a:p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A* dengan fungsi biaya realistis — mempertimbangkan faktor seperti waktu tunggu lift. Robot dapat memilih antara lift atau tangga berdasarkan perhitungan biaya total.</a:t>
                      </a:r>
                    </a:p>
                  </a:txBody>
                  <a:tcPr marL="63500" marR="63500" marT="38100" marB="38100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rPr dirty="0"/>
                        <a:t>A* </a:t>
                      </a:r>
                      <a:r>
                        <a:rPr dirty="0" err="1"/>
                        <a:t>dilengkapi</a:t>
                      </a:r>
                      <a:r>
                        <a:rPr dirty="0"/>
                        <a:t> Path Interceptor yang </a:t>
                      </a:r>
                      <a:r>
                        <a:rPr dirty="0" err="1"/>
                        <a:t>memecah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jalur</a:t>
                      </a:r>
                      <a:r>
                        <a:rPr dirty="0"/>
                        <a:t> multi-region </a:t>
                      </a:r>
                      <a:r>
                        <a:rPr dirty="0" err="1"/>
                        <a:t>menjadi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segmen</a:t>
                      </a:r>
                      <a:r>
                        <a:rPr dirty="0"/>
                        <a:t> per region. Cost Scaling Factor (CSF=100) </a:t>
                      </a:r>
                      <a:r>
                        <a:rPr dirty="0" err="1"/>
                        <a:t>menghasilkan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jalur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terpendek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dengan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tetap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menjaga</a:t>
                      </a:r>
                      <a:r>
                        <a:rPr dirty="0"/>
                        <a:t> obstacle clearance optimal.</a:t>
                      </a:r>
                    </a:p>
                  </a:txBody>
                  <a:tcPr marL="63500" marR="63500" marT="38100" marB="38100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ARSITEKTUR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01168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02441" y="1051560"/>
            <a:ext cx="7786813" cy="5120640"/>
          </a:xfrm>
          <a:prstGeom prst="rect">
            <a:avLst/>
          </a:prstGeom>
          <a:noFill/>
          <a:ln w="38100">
            <a:solidFill>
              <a:srgbClr val="003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avig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41" y="1051560"/>
            <a:ext cx="7786813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DETAIL ALUR NAVIGASI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606956" y="1097280"/>
            <a:ext cx="6977783" cy="5029200"/>
          </a:xfrm>
          <a:prstGeom prst="rect">
            <a:avLst/>
          </a:prstGeom>
          <a:noFill/>
          <a:ln w="38100">
            <a:solidFill>
              <a:srgbClr val="003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ain_nav_flow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956" y="1097280"/>
            <a:ext cx="6977783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2B4C"/>
                </a:solidFill>
                <a:latin typeface="Montserrat"/>
              </a:defRPr>
            </a:pPr>
            <a:r>
              <a:t>PENGOLAHAN DATA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18288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69967" y="886968"/>
            <a:ext cx="2651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3A70"/>
                </a:solidFill>
                <a:latin typeface="Montserrat"/>
              </a:defRPr>
            </a:pPr>
            <a:r>
              <a:t>Combined Map — Gabungan Region A, B, C</a:t>
            </a:r>
          </a:p>
        </p:txBody>
      </p:sp>
      <p:pic>
        <p:nvPicPr>
          <p:cNvPr id="5" name="Picture 4" descr="combine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67" y="1143000"/>
            <a:ext cx="26517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80016" y="3794760"/>
            <a:ext cx="2148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3A70"/>
                </a:solidFill>
                <a:latin typeface="Montserrat"/>
              </a:defRPr>
            </a:pPr>
            <a:r>
              <a:t>Transition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7496" y="3794760"/>
            <a:ext cx="213418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08C2E"/>
                </a:solidFill>
                <a:latin typeface="Montserrat"/>
              </a:defRPr>
            </a:pPr>
            <a:r>
              <a:t>Transition Map Overlay</a:t>
            </a:r>
          </a:p>
        </p:txBody>
      </p:sp>
      <p:pic>
        <p:nvPicPr>
          <p:cNvPr id="8" name="Picture 7" descr="transitio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016" y="4050792"/>
            <a:ext cx="2148840" cy="2148840"/>
          </a:xfrm>
          <a:prstGeom prst="rect">
            <a:avLst/>
          </a:prstGeom>
        </p:spPr>
      </p:pic>
      <p:pic>
        <p:nvPicPr>
          <p:cNvPr id="9" name="Picture 8" descr="transition_map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496" y="4050792"/>
            <a:ext cx="2134182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" y="6236208"/>
            <a:ext cx="10515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Transition Map menyimpan koneksi spasial (A↔B, B↔C), orientasi region, dan pose awal robot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2B4C"/>
                </a:solidFill>
                <a:latin typeface="Montserrat"/>
              </a:defRPr>
            </a:pPr>
            <a:r>
              <a:t>STRUKTUR LAYERED COSTMAP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005840"/>
            <a:ext cx="5303520" cy="9601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0392" y="1005840"/>
            <a:ext cx="63500" cy="9601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" y="107899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GLOBAL COSTMAP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353312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Static layer (obstacle tetap) + Inflation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1078992"/>
            <a:ext cx="1645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Cost Scaling Factor (CSF) mempengaruhi</a:t>
            </a:r>
            <a:br/>
            <a:r>
              <a:t>gradient biaya di sekitar obstacle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2103120"/>
            <a:ext cx="5303520" cy="9601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0392" y="2103120"/>
            <a:ext cx="63500" cy="960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217627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A90D9"/>
                </a:solidFill>
                <a:latin typeface="Montserrat"/>
              </a:defRPr>
            </a:pPr>
            <a:r>
              <a:t>LOCAL COSTMAP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0592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Obstacle layer (LiDAR real-time) + Inflation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176272"/>
            <a:ext cx="1645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Diperbarui secara dinamis dari</a:t>
            </a:r>
            <a:br/>
            <a:r>
              <a:t>data scan LiDAR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3200400"/>
            <a:ext cx="5303520" cy="96012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3200400"/>
            <a:ext cx="63500" cy="96012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" y="32735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08C2E"/>
                </a:solidFill>
                <a:latin typeface="Montserrat"/>
              </a:defRPr>
            </a:pPr>
            <a:r>
              <a:t>TRANSITION COSTMAP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547872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Menyimpan informasi koneksi antar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273552"/>
            <a:ext cx="1645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Memungkinkan robot berpindah</a:t>
            </a:r>
            <a:br/>
            <a:r>
              <a:t>region secara mulus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005840"/>
            <a:ext cx="5029200" cy="1188720"/>
          </a:xfrm>
          <a:prstGeom prst="round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05156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08C2E"/>
                </a:solidFill>
                <a:latin typeface="Montserrat"/>
              </a:defRPr>
            </a:pPr>
            <a:r>
              <a:t>Fungsi Inflasi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32588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C(d) = 253 · e^(-α · (d − r_inscribed))   untuk d ≤ R</a:t>
            </a:r>
            <a:br/>
            <a:r>
              <a:t>C(d) = 0                                            untuk d &gt; R</a:t>
            </a:r>
            <a:br/>
            <a:br/>
            <a:r>
              <a:t>Di mana d = jarak dari obstacle, R = radius inflasi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423160"/>
            <a:ext cx="5029200" cy="18288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246888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Nilai Sel Costmap (Occupancy Grid)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78892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FREE_SPACE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8892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8892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Area bebas, dapat dilalui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44952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TRANSITION_CELL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44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1–5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044952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Zona transisi antar region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300984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INFLATED_OBSTACLE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30098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6–252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300984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Area inflasi di sekitar obstacle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557016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LETHAL_OBSTACLE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5570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254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557016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Obstacle tidak dapat dilalui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81304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NO_INFORMATION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8130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813048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Area belum diketahui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LOKALISASI ICP &amp; REGION SWITCHER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3A70"/>
                </a:solidFill>
                <a:latin typeface="Montserrat"/>
              </a:defRPr>
            </a:pPr>
            <a:r>
              <a:t>ICP (Iterative Closest Point)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" y="1417320"/>
            <a:ext cx="1828800" cy="128016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4630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46304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Prekomputasi 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20240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Hash table, lookup O(1)</a:t>
            </a:r>
            <a:br/>
            <a:r>
              <a:t>k=8, r=10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88336" y="1920240"/>
            <a:ext cx="118872" cy="13716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16352" y="1417320"/>
            <a:ext cx="1828800" cy="128016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862072" y="14630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46304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Correspondence</a:t>
            </a:r>
            <a:br/>
            <a:r>
              <a:t>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1920240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Pasangkan titik</a:t>
            </a:r>
            <a:br/>
            <a:r>
              <a:t>scan → map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54296" y="1920240"/>
            <a:ext cx="118872" cy="13716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82312" y="1417320"/>
            <a:ext cx="1828800" cy="128016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28032" y="14630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6304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SVD 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920240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Estimasi rotasi &amp;</a:t>
            </a:r>
            <a:br/>
            <a:r>
              <a:t>translasi optimal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20256" y="1920240"/>
            <a:ext cx="118872" cy="13716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48272" y="1417320"/>
            <a:ext cx="1828800" cy="128016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93992" y="14630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146304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Transformasi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1920240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Perbarui pose robot</a:t>
            </a:r>
            <a:br/>
            <a:r>
              <a:t>(R, 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2880360"/>
            <a:ext cx="10515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333333"/>
                </a:solidFill>
                <a:latin typeface="Lato"/>
              </a:defRPr>
            </a:pPr>
            <a:r>
              <a:t>Parameter: max_iter=50, k=8, r=10, t_norm=0.01m, r_norm=0.01rad, s=2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2918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08C2E"/>
                </a:solidFill>
                <a:latin typeface="Montserrat"/>
              </a:defRPr>
            </a:pPr>
            <a:r>
              <a:t>Region Switcher &amp; Zona Transisi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07592" y="3749039"/>
            <a:ext cx="2560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99032" y="384047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Region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2" y="416051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Peta 2D region</a:t>
            </a:r>
            <a:br/>
            <a:r>
              <a:t>Navigasi di dalam region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82312" y="3749039"/>
            <a:ext cx="2560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73752" y="384047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Region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416051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Peta 2D region</a:t>
            </a:r>
            <a:br/>
            <a:r>
              <a:t>Navigasi di dalam region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57032" y="3749039"/>
            <a:ext cx="2560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48472" y="384047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Region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16051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Peta 2D region</a:t>
            </a:r>
            <a:br/>
            <a:r>
              <a:t>Navigasi di dalam region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050792" y="4114799"/>
            <a:ext cx="502920" cy="22860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9352" y="4389119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08C2E"/>
                </a:solidFill>
                <a:latin typeface="Lato"/>
              </a:defRPr>
            </a:pPr>
            <a:r>
              <a:t>Transisi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525512" y="4114799"/>
            <a:ext cx="502920" cy="22860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34072" y="4389119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08C2E"/>
                </a:solidFill>
                <a:latin typeface="Lato"/>
              </a:defRPr>
            </a:pPr>
            <a:r>
              <a:t>Transisi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" y="5029200"/>
            <a:ext cx="10515600" cy="5486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0392" y="5029200"/>
            <a:ext cx="50800" cy="54864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" y="5047488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Zona transisi memerlukan radius minimal 0.26 m agar robot dapat berpindah region dengan aman sebelum kualitas lokalisasi ICP menurun signifikan.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PATH PLANNING — A* GLOBAL PLANNER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3A70"/>
                </a:solidFill>
                <a:latin typeface="Montserrat"/>
              </a:defRPr>
            </a:pPr>
            <a:r>
              <a:t>Algoritma A*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325880"/>
            <a:ext cx="5029200" cy="19202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71600"/>
            <a:ext cx="4846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• f(n) = g(n) + h(n)</a:t>
            </a:r>
            <a:br/>
            <a:r>
              <a:t>    g(n) = biaya dari start ke node n</a:t>
            </a:r>
            <a:br/>
            <a:r>
              <a:t>    h(n) = estimasi heuristik dari n ke goal</a:t>
            </a:r>
            <a:br/>
            <a:br/>
            <a:r>
              <a:t>• Quadratic potential calculation untuk</a:t>
            </a:r>
            <a:br/>
            <a:r>
              <a:t>  menghitung cost gradient pada grid</a:t>
            </a:r>
            <a:br/>
            <a:br/>
            <a:r>
              <a:t>• Open list / Closed list untuk eksplorasi</a:t>
            </a:r>
            <a:br/>
            <a:r>
              <a:t>  node secara optimal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3375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Integrasi dengan Global Costmap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611880"/>
            <a:ext cx="5029200" cy="24688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3703320"/>
            <a:ext cx="48463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Global planner menggunakan static layer dari global</a:t>
            </a:r>
            <a:br/>
            <a:r>
              <a:t>costmap untuk membangun cost gradient pada occupancy</a:t>
            </a:r>
            <a:br/>
            <a:r>
              <a:t>grid. Setiap sel memiliki biaya navigasi berdasarkan</a:t>
            </a:r>
            <a:br/>
            <a:r>
              <a:t>jarak ke obstacle terdekat dan Cost Scaling Factor.</a:t>
            </a:r>
            <a:br/>
            <a:br/>
            <a:r>
              <a:t>Inflasi obstacle menghasilkan gradien biaya halus yang</a:t>
            </a:r>
            <a:br/>
            <a:r>
              <a:t>mendorong path menjauhi rintangan. Fungsi biaya:</a:t>
            </a:r>
            <a:br/>
            <a:r>
              <a:t>  C(d) = 253 · e^(−α · (d − r))  untuk d ≤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05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08C2E"/>
                </a:solidFill>
                <a:latin typeface="Montserrat"/>
              </a:defRPr>
            </a:pPr>
            <a:r>
              <a:t>Path Interceptor (Multi-Region)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417320"/>
            <a:ext cx="1828800" cy="6858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0" y="1417320"/>
            <a:ext cx="1828800" cy="381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444752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3A70"/>
                </a:solidFill>
                <a:latin typeface="Montserrat"/>
              </a:defRPr>
            </a:pPr>
            <a:r>
              <a:t>Region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3736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A* planning pada</a:t>
            </a:r>
            <a:br/>
            <a:r>
              <a:t>costmap region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452360" y="1851660"/>
            <a:ext cx="274320" cy="320040"/>
          </a:xfrm>
          <a:prstGeom prst="down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75120" y="2377440"/>
            <a:ext cx="1828800" cy="6858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2377440"/>
            <a:ext cx="1828800" cy="381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404872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3A70"/>
                </a:solidFill>
                <a:latin typeface="Montserrat"/>
              </a:defRPr>
            </a:pPr>
            <a:r>
              <a:t>Region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9748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A* planning pada</a:t>
            </a:r>
            <a:br/>
            <a:r>
              <a:t>costmap region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452360" y="2811780"/>
            <a:ext cx="274320" cy="320040"/>
          </a:xfrm>
          <a:prstGeom prst="down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75120" y="3337560"/>
            <a:ext cx="1828800" cy="6858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75120" y="3337560"/>
            <a:ext cx="1828800" cy="381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3364992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3A70"/>
                </a:solidFill>
                <a:latin typeface="Montserrat"/>
              </a:defRPr>
            </a:pPr>
            <a:r>
              <a:t>Region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65760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A* planning pada</a:t>
            </a:r>
            <a:br/>
            <a:r>
              <a:t>costmap region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60520"/>
            <a:ext cx="5029200" cy="19202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50800" cy="192024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251960"/>
            <a:ext cx="4754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Path interceptor memecah rute global multi-region</a:t>
            </a:r>
            <a:br/>
            <a:r>
              <a:t>menjadi segmen per region yang di-plan secara</a:t>
            </a:r>
            <a:br/>
            <a:r>
              <a:t>independen oleh A*:</a:t>
            </a:r>
            <a:br/>
            <a:br/>
            <a:r>
              <a:t>  Region A  →  Titik Transisi A-B  →</a:t>
            </a:r>
            <a:br/>
            <a:r>
              <a:t>  Region B  →  Titik Transisi B-C  →</a:t>
            </a:r>
            <a:br/>
            <a:r>
              <a:t>  Region C  →  Goal</a:t>
            </a:r>
            <a:br/>
            <a:br/>
            <a:r>
              <a:t>Setiap segmen menggunakan costmap region masing-</a:t>
            </a:r>
            <a:br/>
            <a:r>
              <a:t>masing. Transition costmap menyediakan informasi</a:t>
            </a:r>
            <a:br/>
            <a:r>
              <a:t>konektor untuk perpindahan mulus antar region.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F4FC"/>
            </a:gs>
            <a:gs pos="100000">
              <a:srgbClr val="D2E3F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PATH TRACKING — DWA LOCAL PLANNER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1920240" cy="13258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0392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1. Velocity</a:t>
            </a:r>
            <a:br/>
            <a:r>
              <a:t>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6 vx × 6 vy × 30 ω</a:t>
            </a:r>
            <a:br/>
            <a:r>
              <a:t>= 1080 trajectory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1554480"/>
            <a:ext cx="201168" cy="18288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8376" y="1051560"/>
            <a:ext cx="1920240" cy="13258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08376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99816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2. Kinematic</a:t>
            </a:r>
            <a:br/>
            <a:r>
              <a:t>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Simulasi robot</a:t>
            </a:r>
            <a:br/>
            <a:r>
              <a:t>selama Δt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46904" y="1554480"/>
            <a:ext cx="201168" cy="18288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6360" y="1051560"/>
            <a:ext cx="1920240" cy="13258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66360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3. Trajectory</a:t>
            </a:r>
            <a:br/>
            <a:r>
              <a:t>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7 kriteria</a:t>
            </a:r>
            <a:br/>
            <a:r>
              <a:t>penilaian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04888" y="1554480"/>
            <a:ext cx="201168" cy="18288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24344" y="1051560"/>
            <a:ext cx="1920240" cy="13258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24344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15784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4. Best</a:t>
            </a:r>
            <a:br/>
            <a:r>
              <a:t>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4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Pilih trajectory</a:t>
            </a:r>
            <a:br/>
            <a:r>
              <a:t>dengan biaya terendah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62872" y="1554480"/>
            <a:ext cx="201168" cy="18288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82328" y="1051560"/>
            <a:ext cx="1920240" cy="13258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82328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73768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5. Send to</a:t>
            </a:r>
            <a:br/>
            <a:r>
              <a:t>Robot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Eksekusi gerakan</a:t>
            </a:r>
            <a:br/>
            <a:r>
              <a:t>pada hexapod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5603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B4C"/>
                </a:solidFill>
                <a:latin typeface="Montserrat"/>
              </a:defRPr>
            </a:pPr>
            <a:r>
              <a:t>7 Kriteria Scoring DWA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" y="2971800"/>
            <a:ext cx="1417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C_osc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Oscillation</a:t>
            </a:r>
            <a:br/>
            <a:r>
              <a:t>penalty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w_osc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59152" y="2971800"/>
            <a:ext cx="1417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0487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487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Obstacle</a:t>
            </a:r>
            <a:br/>
            <a:r>
              <a:t>distance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0487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w_obs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67912" y="2971800"/>
            <a:ext cx="1417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1363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C_gf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1363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Goal front</a:t>
            </a:r>
            <a:br/>
            <a:r>
              <a:t>alignment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1363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w_gf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76672" y="2971800"/>
            <a:ext cx="1417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2239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C_align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239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Path</a:t>
            </a:r>
            <a:br/>
            <a:r>
              <a:t>alignment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w_align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85432" y="2971800"/>
            <a:ext cx="1417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3115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C_path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Distance to</a:t>
            </a:r>
            <a:br/>
            <a:r>
              <a:t>global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115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w_path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4192" y="2971800"/>
            <a:ext cx="1417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3991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C_goal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991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Distance</a:t>
            </a:r>
            <a:br/>
            <a:r>
              <a:t>to goal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w_goal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02952" y="2971800"/>
            <a:ext cx="1417320" cy="10058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4867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08C2E"/>
                </a:solidFill>
                <a:latin typeface="Lato"/>
              </a:defRPr>
            </a:pPr>
            <a:r>
              <a:t>C_twirl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867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Rotation</a:t>
            </a:r>
            <a:br/>
            <a:r>
              <a:t>penalty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867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w_twirl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952" y="4096512"/>
            <a:ext cx="10698480" cy="4114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0392" y="4160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33333"/>
                </a:solidFill>
                <a:latin typeface="Lato"/>
              </a:defRPr>
            </a:pPr>
            <a:r>
              <a:t>C_total = C_osc + Σ(wi · Ci)  →  Minimalkan total cost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" y="4709160"/>
            <a:ext cx="10515600" cy="5029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7552" y="475488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Mampu menghindari obstacle dinamis yang tidak ada di global path, tercermin dari peningkatan max cross track error pada kondisi gempa.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3E8"/>
            </a:gs>
            <a:gs pos="100000">
              <a:srgbClr val="E4D2B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2B4C"/>
                </a:solidFill>
                <a:latin typeface="Montserrat"/>
              </a:defRPr>
            </a:pPr>
            <a:r>
              <a:t>ARENA PENGUJIAN &amp; SKENARIO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54834" y="896112"/>
            <a:ext cx="3535273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3A70"/>
                </a:solidFill>
                <a:latin typeface="Lato"/>
              </a:defRPr>
            </a:pPr>
            <a:r>
              <a:t>Region A — Lorong &amp; Ramp</a:t>
            </a:r>
          </a:p>
        </p:txBody>
      </p:sp>
      <p:pic>
        <p:nvPicPr>
          <p:cNvPr id="5" name="Picture 4" descr="sim_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834" y="1097280"/>
            <a:ext cx="3535273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1587" y="896112"/>
            <a:ext cx="3535273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3A70"/>
                </a:solidFill>
                <a:latin typeface="Lato"/>
              </a:defRPr>
            </a:pPr>
            <a:r>
              <a:t>Region A — Rough Floor</a:t>
            </a:r>
          </a:p>
        </p:txBody>
      </p:sp>
      <p:pic>
        <p:nvPicPr>
          <p:cNvPr id="7" name="Picture 6" descr="sim_RA_rou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87" y="1097280"/>
            <a:ext cx="3535273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54834" y="3227832"/>
            <a:ext cx="3535273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3A70"/>
                </a:solidFill>
                <a:latin typeface="Lato"/>
              </a:defRPr>
            </a:pPr>
            <a:r>
              <a:t>Region B — Lorong Sempit</a:t>
            </a:r>
          </a:p>
        </p:txBody>
      </p:sp>
      <p:pic>
        <p:nvPicPr>
          <p:cNvPr id="9" name="Picture 8" descr="sim_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34" y="3429000"/>
            <a:ext cx="3535273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1587" y="3227832"/>
            <a:ext cx="3535273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3A70"/>
                </a:solidFill>
                <a:latin typeface="Lato"/>
              </a:defRPr>
            </a:pPr>
            <a:r>
              <a:t>Region C — Area Terbuka</a:t>
            </a:r>
          </a:p>
        </p:txBody>
      </p:sp>
      <p:pic>
        <p:nvPicPr>
          <p:cNvPr id="11" name="Picture 10" descr="sim_R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7" y="3429000"/>
            <a:ext cx="3535273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" y="56235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Platform: Mujoco Simulator  ·  Robot: Hexapod (6 kaki)  ·  Sensor: LiDAR 2D  ·  Peta: Known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3E8"/>
            </a:gs>
            <a:gs pos="100000">
              <a:srgbClr val="E4D2B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HASIL PENGUJIAN: ICP LOCALIZATION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247" y="822960"/>
            <a:ext cx="3429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Region A — Normal Floor</a:t>
            </a:r>
          </a:p>
        </p:txBody>
      </p:sp>
      <p:pic>
        <p:nvPicPr>
          <p:cNvPr id="5" name="Picture 4" descr="icp_errors_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051560"/>
            <a:ext cx="34290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4447" y="822960"/>
            <a:ext cx="3429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Region A — Rough Floor</a:t>
            </a:r>
          </a:p>
        </p:txBody>
      </p:sp>
      <p:pic>
        <p:nvPicPr>
          <p:cNvPr id="7" name="Picture 6" descr="icp_errors_RA_rou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051560"/>
            <a:ext cx="34290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0392" y="4114800"/>
            <a:ext cx="10515600" cy="5029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0392" y="4114800"/>
            <a:ext cx="50800" cy="50292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4133087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ICP akurat pada lantai normal. Rough floor menyebabkan osilasi signifikan pada sumbu x dan yaw akibat variasi vertikal scan LiDAR.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3E8"/>
            </a:gs>
            <a:gs pos="100000">
              <a:srgbClr val="E4D2B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A2B4C"/>
                </a:solidFill>
                <a:latin typeface="Montserrat"/>
              </a:defRPr>
            </a:pPr>
            <a:r>
              <a:t>HASIL PATH PLANNING — REGION A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68580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p_with_paths_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960120"/>
            <a:ext cx="4114800" cy="411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0952" y="960120"/>
          <a:ext cx="4206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Cost Scaling Factor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Panjang path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Waktu komputasi (ms)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min clearance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Jumlah waypoint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1.116051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6.666027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0.220000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1.114836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6.897399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0.220000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1.122597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5.688345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0.219650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0.971836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6.484874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0.216470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193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0952" y="731520"/>
            <a:ext cx="4206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A2B4C"/>
                </a:solidFill>
                <a:latin typeface="Montserrat"/>
              </a:defRPr>
            </a:pPr>
            <a:r>
              <a:t>Tabel CSF — Panjang, Waktu, Clearance, Waypoint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0952" y="2514600"/>
          <a:ext cx="3291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CSF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mean cross track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max cross track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standard deviation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0.006029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0.025937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0.006468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0.006880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0.029719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0.007214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0.006536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0.033099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0.007537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0.003537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0.010000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0.002203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0952" y="2286000"/>
            <a:ext cx="3291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A2B4C"/>
                </a:solidFill>
                <a:latin typeface="Montserrat"/>
              </a:defRPr>
            </a:pPr>
            <a:r>
              <a:t>Tabel Deviasi — Mean/Max Cross Track &amp; SD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0952" y="4160520"/>
            <a:ext cx="42062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0952" y="4160520"/>
            <a:ext cx="508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8112" y="4206240"/>
            <a:ext cx="3931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CSF 100 = path terpendek (0.97 m) &amp; paling efisien.</a:t>
            </a:r>
            <a:br/>
            <a:r>
              <a:t>CSF 10/20/50 = path lebih panjang, di tengah lorong.</a:t>
            </a:r>
            <a:br/>
            <a:r>
              <a:t>SD CSF 100 paling rendah (0.002 m) -&gt; konsistensi tinggi.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3E8"/>
            </a:gs>
            <a:gs pos="100000">
              <a:srgbClr val="E4D2B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A2B4C"/>
                </a:solidFill>
                <a:latin typeface="Montserrat"/>
              </a:defRPr>
            </a:pPr>
            <a:r>
              <a:t>HASIL PATH PLANNING — REGION B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68580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p_with_paths_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960120"/>
            <a:ext cx="4114800" cy="411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0952" y="960120"/>
          <a:ext cx="4206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Cost Scaling Factor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Panjang path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Waktu komputasi (ms)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min clearance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Jumlah waypoint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0.591730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152.256312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0.208163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0.591773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135.818868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0.208066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0.591600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20.557631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0.208224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0.591590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10.574465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0.208132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0952" y="731520"/>
            <a:ext cx="4206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A2B4C"/>
                </a:solidFill>
                <a:latin typeface="Montserrat"/>
              </a:defRPr>
            </a:pPr>
            <a:r>
              <a:t>Tabel CSF — Panjang, Waktu, Clearance, Waypoint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0952" y="2514600"/>
          <a:ext cx="3291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CSF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mean cross track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max cross track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standard deviation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0.005756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0.011590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0.003508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0.005778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0.011591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0.003492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0.011591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0.003483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0.005678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0.011591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0.003483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0952" y="2286000"/>
            <a:ext cx="3291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A2B4C"/>
                </a:solidFill>
                <a:latin typeface="Montserrat"/>
              </a:defRPr>
            </a:pPr>
            <a:r>
              <a:t>Tabel Deviasi — Mean/Max Cross Track &amp; SD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0952" y="4160520"/>
            <a:ext cx="42062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0952" y="4160520"/>
            <a:ext cx="508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8112" y="4206240"/>
            <a:ext cx="3931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CSF tidak signifikan: layout lorong sempit -&gt; semua</a:t>
            </a:r>
            <a:br/>
            <a:r>
              <a:t>CSF menghasilkan path hampir identik (~0.59 m).</a:t>
            </a:r>
            <a:br/>
            <a:r>
              <a:t>SD sangat kecil (&lt; 0.004 m) untuk semua CSF.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3E8"/>
            </a:gs>
            <a:gs pos="100000">
              <a:srgbClr val="E4D2B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A2B4C"/>
                </a:solidFill>
                <a:latin typeface="Montserrat"/>
              </a:defRPr>
            </a:pPr>
            <a:r>
              <a:t>HASIL PATH PLANNING — REGION C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68580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p_with_paths_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960120"/>
            <a:ext cx="4114800" cy="411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0952" y="960120"/>
          <a:ext cx="4206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Cost Scaling Factor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Panjang path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Waktu komputasi (ms)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min clearance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Jumlah waypoint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2.542122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10.629525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0.197048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2.596590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10.268101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0.196292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521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2.596873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9.922248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0.197185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2.524643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10.224478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0.195499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506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0952" y="731520"/>
            <a:ext cx="4206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A2B4C"/>
                </a:solidFill>
                <a:latin typeface="Montserrat"/>
              </a:defRPr>
            </a:pPr>
            <a:r>
              <a:t>Tabel CSF — Panjang, Waktu, Clearance, Waypoint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0952" y="2514600"/>
          <a:ext cx="329184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CSF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mean cross track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max cross track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standard deviation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0.005548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0.002228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0.013089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0.012802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0.018897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0.089070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0.020026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0.024742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0.099313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0952" y="2286000"/>
            <a:ext cx="3291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A2B4C"/>
                </a:solidFill>
                <a:latin typeface="Montserrat"/>
              </a:defRPr>
            </a:pPr>
            <a:r>
              <a:t>Tabel Deviasi — Mean/Max Cross Track &amp; SD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0952" y="4160520"/>
            <a:ext cx="420624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0952" y="4160520"/>
            <a:ext cx="508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8112" y="4206240"/>
            <a:ext cx="3931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CSF 100 = path terpendek (2.52 m).</a:t>
            </a:r>
            <a:br/>
            <a:r>
              <a:t>CSF 10 lebih aman di tengah lorong, lebih panjang.</a:t>
            </a:r>
            <a:br/>
            <a:r>
              <a:t>Trade-off: path pendek vs deviasi ground truth.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3E8"/>
            </a:gs>
            <a:gs pos="100000">
              <a:srgbClr val="E4D2B8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A2B4C"/>
                </a:solidFill>
                <a:latin typeface="Montserrat"/>
              </a:defRPr>
            </a:pPr>
            <a:r>
              <a:t>HASIL PENGUJIAN: NAVIGASI PENUH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658368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50392" y="960120"/>
          <a:ext cx="470916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Waktu (s)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 Mean cross track error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Max cross track error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13.412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0.009814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0.033543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7.707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0.041840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0.029113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96.141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0.022437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0.086539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" y="731520"/>
            <a:ext cx="4709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A2B4C"/>
                </a:solidFill>
                <a:latin typeface="Montserrat"/>
              </a:defRPr>
            </a:pPr>
            <a:r>
              <a:t>Cross Track Error — Kondisi Normal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50392" y="2441448"/>
          <a:ext cx="470916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Waktu (s)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 Mean cross track error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Max cross track error (m)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13.144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0.004394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0.026285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7.243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0.013691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0.064845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94.119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0.039834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Lato"/>
                        </a:defRPr>
                      </a:pPr>
                      <a:r>
                        <a:t>0.174556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" y="2212848"/>
            <a:ext cx="4709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A2B4C"/>
                </a:solidFill>
                <a:latin typeface="Montserrat"/>
              </a:defRPr>
            </a:pPr>
            <a:r>
              <a:t>Cross Track Error — Kondisi Rough Floor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914400"/>
            <a:ext cx="5394960" cy="9144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914400"/>
            <a:ext cx="508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950976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E7D32"/>
                </a:solidFill>
                <a:latin typeface="Montserrat"/>
              </a:defRPr>
            </a:pPr>
            <a:r>
              <a:t>✓  Kondisi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170432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Mean &amp; max cross track error rendah.</a:t>
            </a:r>
            <a:br/>
            <a:r>
              <a:t>DWA mengikuti global path dengan baik.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20240"/>
            <a:ext cx="5394960" cy="9144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50800" cy="914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956816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08C2E"/>
                </a:solidFill>
                <a:latin typeface="Montserrat"/>
              </a:defRPr>
            </a:pPr>
            <a:r>
              <a:t>⚠  Kondisi Gempa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176272"/>
            <a:ext cx="5120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Max cross track error meningkat signifikan.</a:t>
            </a:r>
            <a:br/>
            <a:r>
              <a:t>Obstacle tidak diketahui di global path →</a:t>
            </a:r>
            <a:br/>
            <a:r>
              <a:t>DWA menyimpang untuk menghindari tabrakan.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971800"/>
            <a:ext cx="5394960" cy="1463040"/>
          </a:xfrm>
          <a:prstGeom prst="roundRect">
            <a:avLst/>
          </a:prstGeom>
          <a:solidFill>
            <a:srgbClr val="E3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2971800"/>
            <a:ext cx="539496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3017520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NAVIGASI PENUH (Region A → 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9184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003A70"/>
                </a:solidFill>
                <a:latin typeface="Montserrat"/>
              </a:defRPr>
            </a:pPr>
            <a:r>
              <a:t>127.26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749040"/>
            <a:ext cx="5394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DETIK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97764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Robot berhasil menavigasi Region A → C secara otonom penuh.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572000"/>
            <a:ext cx="5394960" cy="12344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4617720"/>
            <a:ext cx="5120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A2B4C"/>
                </a:solidFill>
                <a:latin typeface="Montserrat"/>
              </a:defRPr>
            </a:pPr>
            <a:r>
              <a:t>Semua Komponen Bekerja Terintegrasi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846320"/>
            <a:ext cx="5029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✓  ICP Localization → estimasi pose 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47488"/>
            <a:ext cx="5029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✓  Costmap Transisi → perpindahan antar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248656"/>
            <a:ext cx="5029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✓  A* Global Planner → rute multi-region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49824"/>
            <a:ext cx="5029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✓  DWA Local Planner → trajectory + obstacle avoidance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1FC"/>
            </a:gs>
            <a:gs pos="100000">
              <a:srgbClr val="CDDFF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320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164592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3246120" cy="2011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0392" y="1051560"/>
            <a:ext cx="324612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09728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8308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Layered costmap berhasil merepresentasikan lingkungan</a:t>
            </a:r>
            <a:br/>
            <a:r>
              <a:t>multi-lantai sebagai kumpulan peta 2D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051560"/>
            <a:ext cx="3246120" cy="2011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5112" y="1051560"/>
            <a:ext cx="324612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5112" y="109728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8308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ICP localization akurat untuk navigasi, dengan peningkatan</a:t>
            </a:r>
            <a:br/>
            <a:r>
              <a:t>error pada lantai tidak rata dan region kompleks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9832" y="1051560"/>
            <a:ext cx="3246120" cy="2011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99832" y="1051560"/>
            <a:ext cx="3246120" cy="54864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2" y="109728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178308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Cost Scaling Factor 100 menghasilkan jalur terpendek</a:t>
            </a:r>
            <a:br/>
            <a:r>
              <a:t>dengan tetap menghindari obstacle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7752" y="3291840"/>
            <a:ext cx="3246120" cy="2011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87752" y="3291840"/>
            <a:ext cx="324612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87752" y="333756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402336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Costmap transisi berhasil menggabungkan region pada</a:t>
            </a:r>
            <a:br/>
            <a:r>
              <a:t>radius transisi minimal 0.26 meter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3291840"/>
            <a:ext cx="3246120" cy="20116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62472" y="3291840"/>
            <a:ext cx="3246120" cy="54864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62472" y="333756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402336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DWA Planner mampu mengakomodasi obstacle tidak</a:t>
            </a:r>
            <a:br/>
            <a:r>
              <a:t>diketahui dan menghasilkan trajectory aman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8F1FC"/>
            </a:gs>
            <a:gs pos="100000">
              <a:srgbClr val="CDDFF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3200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SARAN PENGEMBANGAN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18288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5120640" cy="19202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0392" y="1051560"/>
            <a:ext cx="51206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" y="11430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03A70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11430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Prekomputasi KNN per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64592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Parameter radius dan jumlah nearest neighbors</a:t>
            </a:r>
            <a:br/>
            <a:r>
              <a:t>dapat disetel independen per region untuk</a:t>
            </a:r>
            <a:br/>
            <a:r>
              <a:t>akurasi ICP yang lebih optimal.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051560"/>
            <a:ext cx="5120640" cy="19202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5352" y="1051560"/>
            <a:ext cx="5120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1430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4A90D9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11430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Fusion ICP + IMU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64592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Kompensasi lonjakan error ICP di zona transisi</a:t>
            </a:r>
            <a:br/>
            <a:r>
              <a:t>dengan data IMU saat fitur LiDAR terbatas.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3200400"/>
            <a:ext cx="5120640" cy="19202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3200400"/>
            <a:ext cx="5120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" y="329184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4A90D9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32918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Integrasi Depth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79476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Keterbatasan LiDAR 2D dalam mendeteksi</a:t>
            </a:r>
            <a:br/>
            <a:r>
              <a:t>obstacle vertikal dapat dilengkapi dengan</a:t>
            </a:r>
            <a:br/>
            <a:r>
              <a:t>data visual dari depth sensor.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200400"/>
            <a:ext cx="5120640" cy="192024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5352" y="3200400"/>
            <a:ext cx="5120640" cy="508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29184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08C2E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2918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Pengujian pada Robot Fisik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79476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Validasi sistem di lingkungan nyata setelah</a:t>
            </a:r>
            <a:br/>
            <a:r>
              <a:t>terbukti berhasil di lingkungan simulasi Mujoco.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24247" y="1097280"/>
            <a:ext cx="2743200" cy="381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FFF"/>
                </a:solidFill>
                <a:latin typeface="Montserrat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BBD5EC"/>
                </a:solidFill>
                <a:latin typeface="Montserrat"/>
              </a:defRPr>
            </a:pPr>
            <a:r>
              <a:t>Bagas Surya Wirawan  ·  NRP. 5022221026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9BBDD"/>
                </a:solidFill>
                <a:latin typeface="Lato"/>
              </a:defRPr>
            </a:pPr>
            <a:r>
              <a:t>Dosen Pembimbing:</a:t>
            </a:r>
            <a:br/>
            <a:r>
              <a:t>Dr. Ir. Djoko Purwanto, M.Eng.</a:t>
            </a:r>
            <a:br/>
            <a:r>
              <a:t>Fajar Budiman, S.T., M.Sc.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463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88AACC"/>
                </a:solidFill>
                <a:latin typeface="Lato"/>
              </a:defRPr>
            </a:pPr>
            <a:r>
              <a:t>Departemen Teknik Elektro</a:t>
            </a:r>
            <a:br/>
            <a:r>
              <a:t>Fakultas Teknologi Elektro dan Informatika Cerdas</a:t>
            </a:r>
            <a:br/>
            <a:r>
              <a:t>Institut Teknologi Sepuluh Nopember</a:t>
            </a:r>
            <a:br/>
            <a:r>
              <a:t>Surabaya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0967" y="6537960"/>
            <a:ext cx="320040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32807" y="6537960"/>
            <a:ext cx="3200400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24647" y="6537960"/>
            <a:ext cx="32004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2678</Words>
  <Application>Microsoft Office PowerPoint</Application>
  <PresentationFormat>Widescreen</PresentationFormat>
  <Paragraphs>466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Bagas Surya</cp:lastModifiedBy>
  <cp:revision>7</cp:revision>
  <dcterms:created xsi:type="dcterms:W3CDTF">2013-01-27T09:14:16Z</dcterms:created>
  <dcterms:modified xsi:type="dcterms:W3CDTF">2026-06-27T19:49:47Z</dcterms:modified>
  <cp:category/>
</cp:coreProperties>
</file>