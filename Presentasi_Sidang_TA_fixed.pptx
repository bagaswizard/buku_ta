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3" r:id="rId8"/>
    <p:sldId id="284" r:id="rId9"/>
    <p:sldId id="264" r:id="rId10"/>
    <p:sldId id="265" r:id="rId11"/>
    <p:sldId id="266" r:id="rId12"/>
    <p:sldId id="280" r:id="rId13"/>
    <p:sldId id="281" r:id="rId14"/>
    <p:sldId id="282" r:id="rId15"/>
    <p:sldId id="283"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2" d="100"/>
          <a:sy n="92" d="100"/>
        </p:scale>
        <p:origin x="307" y="8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B54"/>
        </a:solidFill>
        <a:effectLst/>
      </p:bgPr>
    </p:bg>
    <p:spTree>
      <p:nvGrpSpPr>
        <p:cNvPr id="1" name=""/>
        <p:cNvGrpSpPr/>
        <p:nvPr/>
      </p:nvGrpSpPr>
      <p:grpSpPr>
        <a:xfrm>
          <a:off x="0" y="0"/>
          <a:ext cx="0" cy="0"/>
          <a:chOff x="0" y="0"/>
          <a:chExt cx="0" cy="0"/>
        </a:xfrm>
      </p:grpSpPr>
      <p:sp>
        <p:nvSpPr>
          <p:cNvPr id="2" name="Oval 1"/>
          <p:cNvSpPr/>
          <p:nvPr/>
        </p:nvSpPr>
        <p:spPr>
          <a:xfrm>
            <a:off x="-2286000" y="-2743200"/>
            <a:ext cx="8229600" cy="8229600"/>
          </a:xfrm>
          <a:prstGeom prst="ellipse">
            <a:avLst/>
          </a:prstGeom>
          <a:solidFill>
            <a:srgbClr val="0A3C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8991295" y="2743200"/>
            <a:ext cx="5486400" cy="5486400"/>
          </a:xfrm>
          <a:prstGeom prst="ellipse">
            <a:avLst/>
          </a:prstGeom>
          <a:solidFill>
            <a:srgbClr val="0A3C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0403535" y="-113792"/>
            <a:ext cx="2473960" cy="647192"/>
          </a:xfrm>
          <a:prstGeom prst="roundRect">
            <a:avLst/>
          </a:prstGeom>
          <a:solidFill>
            <a:srgbClr val="00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454335" y="-164592"/>
            <a:ext cx="242316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nstitut Teknologi Sepuluh Nopember - Blue.png"/>
          <p:cNvPicPr>
            <a:picLocks noChangeAspect="1"/>
          </p:cNvPicPr>
          <p:nvPr/>
        </p:nvPicPr>
        <p:blipFill>
          <a:blip r:embed="rId2"/>
          <a:stretch>
            <a:fillRect/>
          </a:stretch>
        </p:blipFill>
        <p:spPr>
          <a:xfrm>
            <a:off x="10564063" y="53340"/>
            <a:ext cx="567698" cy="365760"/>
          </a:xfrm>
          <a:prstGeom prst="rect">
            <a:avLst/>
          </a:prstGeom>
        </p:spPr>
      </p:pic>
      <p:pic>
        <p:nvPicPr>
          <p:cNvPr id="7" name="Picture 6" descr="Elektro-trans.png"/>
          <p:cNvPicPr>
            <a:picLocks noChangeAspect="1"/>
          </p:cNvPicPr>
          <p:nvPr/>
        </p:nvPicPr>
        <p:blipFill>
          <a:blip r:embed="rId3"/>
          <a:stretch>
            <a:fillRect/>
          </a:stretch>
        </p:blipFill>
        <p:spPr>
          <a:xfrm>
            <a:off x="11241489" y="53340"/>
            <a:ext cx="370921" cy="365760"/>
          </a:xfrm>
          <a:prstGeom prst="rect">
            <a:avLst/>
          </a:prstGeom>
        </p:spPr>
      </p:pic>
      <p:pic>
        <p:nvPicPr>
          <p:cNvPr id="8" name="Picture 7" descr="ELKA b202.png"/>
          <p:cNvPicPr>
            <a:picLocks noChangeAspect="1"/>
          </p:cNvPicPr>
          <p:nvPr/>
        </p:nvPicPr>
        <p:blipFill>
          <a:blip r:embed="rId4"/>
          <a:stretch>
            <a:fillRect/>
          </a:stretch>
        </p:blipFill>
        <p:spPr>
          <a:xfrm>
            <a:off x="11722139" y="53340"/>
            <a:ext cx="436050" cy="365760"/>
          </a:xfrm>
          <a:prstGeom prst="rect">
            <a:avLst/>
          </a:prstGeom>
        </p:spPr>
      </p:pic>
      <p:sp>
        <p:nvSpPr>
          <p:cNvPr id="9" name="Rectangle 8"/>
          <p:cNvSpPr/>
          <p:nvPr/>
        </p:nvSpPr>
        <p:spPr>
          <a:xfrm>
            <a:off x="944456" y="1296035"/>
            <a:ext cx="63500" cy="19202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1812" y="1280160"/>
            <a:ext cx="8315115" cy="2286000"/>
          </a:xfrm>
          <a:prstGeom prst="rect">
            <a:avLst/>
          </a:prstGeom>
          <a:noFill/>
        </p:spPr>
        <p:txBody>
          <a:bodyPr wrap="square"/>
          <a:lstStyle/>
          <a:p>
            <a:pPr algn="just">
              <a:lnSpc>
                <a:spcPts val="3660"/>
              </a:lnSpc>
              <a:spcAft>
                <a:spcPts val="400"/>
              </a:spcAft>
              <a:defRPr sz="3000" b="1" i="0">
                <a:solidFill>
                  <a:srgbClr val="FFFFFF"/>
                </a:solidFill>
                <a:latin typeface="Montserrat"/>
              </a:defRPr>
            </a:pPr>
            <a:r>
              <a:rPr dirty="0"/>
              <a:t>NAVIGASI ROBOT BERBASIS</a:t>
            </a:r>
            <a:r>
              <a:rPr lang="en-ID" dirty="0"/>
              <a:t> </a:t>
            </a:r>
            <a:r>
              <a:rPr dirty="0"/>
              <a:t>LAYERED COSTMAP</a:t>
            </a:r>
            <a:r>
              <a:rPr lang="en-ID" dirty="0"/>
              <a:t> </a:t>
            </a:r>
            <a:r>
              <a:rPr dirty="0"/>
              <a:t>UNTUK PERGERAKAN ANTAR LANTAI</a:t>
            </a:r>
            <a:r>
              <a:rPr lang="en-ID" dirty="0"/>
              <a:t> </a:t>
            </a:r>
            <a:r>
              <a:rPr dirty="0"/>
              <a:t>PADA LINGKUNGAN INDOOR PASCA GEMPA BUMI</a:t>
            </a:r>
          </a:p>
        </p:txBody>
      </p:sp>
      <p:sp>
        <p:nvSpPr>
          <p:cNvPr id="11" name="Rectangle 10"/>
          <p:cNvSpPr/>
          <p:nvPr/>
        </p:nvSpPr>
        <p:spPr>
          <a:xfrm>
            <a:off x="1007956" y="5866765"/>
            <a:ext cx="3291840" cy="3175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 y="3611880"/>
            <a:ext cx="6400800" cy="1828800"/>
          </a:xfrm>
          <a:prstGeom prst="rect">
            <a:avLst/>
          </a:prstGeom>
          <a:noFill/>
        </p:spPr>
        <p:txBody>
          <a:bodyPr wrap="square"/>
          <a:lstStyle/>
          <a:p>
            <a:pPr algn="l">
              <a:lnSpc>
                <a:spcPts val="2529"/>
              </a:lnSpc>
              <a:spcAft>
                <a:spcPts val="400"/>
              </a:spcAft>
              <a:defRPr sz="2200" b="1" i="0">
                <a:solidFill>
                  <a:srgbClr val="FFFFFF"/>
                </a:solidFill>
                <a:latin typeface="Montserrat"/>
              </a:defRPr>
            </a:pPr>
            <a:r>
              <a:rPr dirty="0"/>
              <a:t>Bagas Surya Wirawan</a:t>
            </a:r>
          </a:p>
          <a:p>
            <a:pPr algn="l">
              <a:lnSpc>
                <a:spcPts val="1600"/>
              </a:lnSpc>
              <a:spcAft>
                <a:spcPts val="400"/>
              </a:spcAft>
              <a:defRPr sz="1600" b="0" i="0">
                <a:solidFill>
                  <a:srgbClr val="BBD5EC"/>
                </a:solidFill>
                <a:latin typeface="Lato"/>
              </a:defRPr>
            </a:pPr>
            <a:r>
              <a:rPr dirty="0"/>
              <a:t>NRP. 5022221026</a:t>
            </a:r>
          </a:p>
          <a:p>
            <a:pPr algn="l">
              <a:lnSpc>
                <a:spcPts val="800"/>
              </a:lnSpc>
              <a:spcAft>
                <a:spcPts val="400"/>
              </a:spcAft>
              <a:defRPr sz="800" b="0" i="0">
                <a:solidFill>
                  <a:srgbClr val="FFFFFF"/>
                </a:solidFill>
                <a:latin typeface="Lato"/>
              </a:defRPr>
            </a:pPr>
            <a:endParaRPr dirty="0"/>
          </a:p>
          <a:p>
            <a:pPr algn="l">
              <a:lnSpc>
                <a:spcPts val="1470"/>
              </a:lnSpc>
              <a:spcAft>
                <a:spcPts val="400"/>
              </a:spcAft>
              <a:defRPr sz="1400" b="1" i="0">
                <a:solidFill>
                  <a:srgbClr val="CCCCCC"/>
                </a:solidFill>
                <a:latin typeface="Lato"/>
              </a:defRPr>
            </a:pPr>
            <a:r>
              <a:rPr dirty="0"/>
              <a:t>Dosen </a:t>
            </a:r>
            <a:r>
              <a:rPr dirty="0" err="1"/>
              <a:t>Pembimbing</a:t>
            </a:r>
            <a:r>
              <a:rPr dirty="0"/>
              <a:t>:</a:t>
            </a:r>
          </a:p>
          <a:p>
            <a:pPr algn="l">
              <a:lnSpc>
                <a:spcPts val="1330"/>
              </a:lnSpc>
              <a:spcAft>
                <a:spcPts val="400"/>
              </a:spcAft>
              <a:defRPr sz="1400" b="0" i="0">
                <a:solidFill>
                  <a:srgbClr val="BBD5EC"/>
                </a:solidFill>
                <a:latin typeface="Lato"/>
              </a:defRPr>
            </a:pPr>
            <a:r>
              <a:rPr dirty="0"/>
              <a:t>Dr. Ir. Djoko Purwanto, M.Eng.</a:t>
            </a:r>
          </a:p>
          <a:p>
            <a:pPr algn="l">
              <a:lnSpc>
                <a:spcPts val="1330"/>
              </a:lnSpc>
              <a:spcAft>
                <a:spcPts val="400"/>
              </a:spcAft>
              <a:defRPr sz="1400" b="0" i="0">
                <a:solidFill>
                  <a:srgbClr val="BBD5EC"/>
                </a:solidFill>
                <a:latin typeface="Lato"/>
              </a:defRPr>
            </a:pPr>
            <a:r>
              <a:rPr dirty="0"/>
              <a:t>Fajar Budiman, S.T., M.Sc.</a:t>
            </a:r>
          </a:p>
          <a:p>
            <a:pPr algn="l">
              <a:lnSpc>
                <a:spcPts val="800"/>
              </a:lnSpc>
              <a:spcAft>
                <a:spcPts val="400"/>
              </a:spcAft>
              <a:defRPr sz="800" b="0" i="0">
                <a:solidFill>
                  <a:srgbClr val="FFFFFF"/>
                </a:solidFill>
                <a:latin typeface="Lato"/>
              </a:defRPr>
            </a:pPr>
            <a:endParaRPr dirty="0"/>
          </a:p>
          <a:p>
            <a:pPr algn="l">
              <a:lnSpc>
                <a:spcPts val="1139"/>
              </a:lnSpc>
              <a:spcAft>
                <a:spcPts val="400"/>
              </a:spcAft>
              <a:defRPr sz="1200" b="0" i="0">
                <a:solidFill>
                  <a:srgbClr val="9BBBDB"/>
                </a:solidFill>
                <a:latin typeface="Lato"/>
              </a:defRPr>
            </a:pPr>
            <a:r>
              <a:rPr dirty="0"/>
              <a:t>Departemen Teknik Elektro</a:t>
            </a:r>
          </a:p>
          <a:p>
            <a:pPr algn="l">
              <a:lnSpc>
                <a:spcPts val="1139"/>
              </a:lnSpc>
              <a:spcAft>
                <a:spcPts val="400"/>
              </a:spcAft>
              <a:defRPr sz="1200" b="0" i="0">
                <a:solidFill>
                  <a:srgbClr val="9BBBDB"/>
                </a:solidFill>
                <a:latin typeface="Lato"/>
              </a:defRPr>
            </a:pPr>
            <a:r>
              <a:rPr dirty="0" err="1"/>
              <a:t>Fakultas</a:t>
            </a:r>
            <a:r>
              <a:rPr dirty="0"/>
              <a:t> </a:t>
            </a:r>
            <a:r>
              <a:rPr dirty="0" err="1"/>
              <a:t>Teknologi</a:t>
            </a:r>
            <a:r>
              <a:rPr dirty="0"/>
              <a:t> Elektro dan </a:t>
            </a:r>
            <a:r>
              <a:rPr dirty="0" err="1"/>
              <a:t>Informatika</a:t>
            </a:r>
            <a:r>
              <a:rPr dirty="0"/>
              <a:t> Cerdas</a:t>
            </a:r>
          </a:p>
          <a:p>
            <a:pPr algn="l">
              <a:lnSpc>
                <a:spcPts val="1139"/>
              </a:lnSpc>
              <a:spcAft>
                <a:spcPts val="400"/>
              </a:spcAft>
              <a:defRPr sz="1200" b="0" i="0">
                <a:solidFill>
                  <a:srgbClr val="85A8CA"/>
                </a:solidFill>
                <a:latin typeface="Lato"/>
              </a:defRPr>
            </a:pPr>
            <a:r>
              <a:rPr dirty="0" err="1"/>
              <a:t>Institut</a:t>
            </a:r>
            <a:r>
              <a:rPr dirty="0"/>
              <a:t> </a:t>
            </a:r>
            <a:r>
              <a:rPr dirty="0" err="1"/>
              <a:t>Teknologi</a:t>
            </a:r>
            <a:r>
              <a:rPr dirty="0"/>
              <a:t> </a:t>
            </a:r>
            <a:r>
              <a:rPr dirty="0" err="1"/>
              <a:t>Sepuluh</a:t>
            </a:r>
            <a:r>
              <a:rPr dirty="0"/>
              <a:t> </a:t>
            </a:r>
            <a:r>
              <a:rPr dirty="0" err="1"/>
              <a:t>Nopember</a:t>
            </a:r>
            <a:r>
              <a:rPr dirty="0"/>
              <a:t>  ·  Surabaya  ·  2026</a:t>
            </a:r>
          </a:p>
        </p:txBody>
      </p:sp>
      <p:sp>
        <p:nvSpPr>
          <p:cNvPr id="13" name="Rectangle 12"/>
          <p:cNvSpPr/>
          <p:nvPr/>
        </p:nvSpPr>
        <p:spPr>
          <a:xfrm>
            <a:off x="502920" y="6537960"/>
            <a:ext cx="2286000" cy="19050"/>
          </a:xfrm>
          <a:prstGeom prst="rect">
            <a:avLst/>
          </a:prstGeom>
          <a:solidFill>
            <a:srgbClr val="144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E2EEFC"/>
            </a:gs>
            <a:gs pos="100000">
              <a:srgbClr val="BED4EF"/>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65760"/>
            <a:ext cx="3657600" cy="54864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DAFTAR ISI</a:t>
            </a:r>
          </a:p>
        </p:txBody>
      </p:sp>
      <p:sp>
        <p:nvSpPr>
          <p:cNvPr id="3" name="Rectangle 2"/>
          <p:cNvSpPr/>
          <p:nvPr/>
        </p:nvSpPr>
        <p:spPr>
          <a:xfrm>
            <a:off x="850392" y="868680"/>
            <a:ext cx="164592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50392" y="1234440"/>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3272" y="1325880"/>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01</a:t>
            </a:r>
          </a:p>
        </p:txBody>
      </p:sp>
      <p:sp>
        <p:nvSpPr>
          <p:cNvPr id="6" name="TextBox 5"/>
          <p:cNvSpPr txBox="1"/>
          <p:nvPr/>
        </p:nvSpPr>
        <p:spPr>
          <a:xfrm>
            <a:off x="1627632" y="1325880"/>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Latar Belakang</a:t>
            </a:r>
          </a:p>
        </p:txBody>
      </p:sp>
      <p:sp>
        <p:nvSpPr>
          <p:cNvPr id="8" name="Rounded Rectangle 7"/>
          <p:cNvSpPr/>
          <p:nvPr/>
        </p:nvSpPr>
        <p:spPr>
          <a:xfrm>
            <a:off x="850392" y="2267712"/>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3272" y="2359152"/>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02</a:t>
            </a:r>
          </a:p>
        </p:txBody>
      </p:sp>
      <p:sp>
        <p:nvSpPr>
          <p:cNvPr id="10" name="TextBox 9"/>
          <p:cNvSpPr txBox="1"/>
          <p:nvPr/>
        </p:nvSpPr>
        <p:spPr>
          <a:xfrm>
            <a:off x="1627632" y="2359152"/>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rPr dirty="0" err="1"/>
              <a:t>Rumusan</a:t>
            </a:r>
            <a:r>
              <a:rPr dirty="0"/>
              <a:t> </a:t>
            </a:r>
            <a:r>
              <a:rPr dirty="0" err="1"/>
              <a:t>Masalah</a:t>
            </a:r>
            <a:r>
              <a:rPr dirty="0"/>
              <a:t> &amp; Tujuan</a:t>
            </a:r>
          </a:p>
        </p:txBody>
      </p:sp>
      <p:sp>
        <p:nvSpPr>
          <p:cNvPr id="12" name="Rounded Rectangle 11"/>
          <p:cNvSpPr/>
          <p:nvPr/>
        </p:nvSpPr>
        <p:spPr>
          <a:xfrm>
            <a:off x="4553712" y="1234440"/>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36592" y="1325880"/>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03</a:t>
            </a:r>
          </a:p>
        </p:txBody>
      </p:sp>
      <p:sp>
        <p:nvSpPr>
          <p:cNvPr id="14" name="TextBox 13"/>
          <p:cNvSpPr txBox="1"/>
          <p:nvPr/>
        </p:nvSpPr>
        <p:spPr>
          <a:xfrm>
            <a:off x="5330952" y="1325880"/>
            <a:ext cx="2607704"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rPr dirty="0" err="1"/>
              <a:t>Metodologi</a:t>
            </a:r>
            <a:r>
              <a:rPr dirty="0"/>
              <a:t> &amp; Desain </a:t>
            </a:r>
            <a:r>
              <a:rPr dirty="0" err="1"/>
              <a:t>Sistem</a:t>
            </a:r>
            <a:endParaRPr dirty="0"/>
          </a:p>
        </p:txBody>
      </p:sp>
      <p:sp>
        <p:nvSpPr>
          <p:cNvPr id="16" name="Rounded Rectangle 15"/>
          <p:cNvSpPr/>
          <p:nvPr/>
        </p:nvSpPr>
        <p:spPr>
          <a:xfrm>
            <a:off x="4553712" y="2267712"/>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736592" y="2359152"/>
            <a:ext cx="708244"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rPr dirty="0"/>
              <a:t>04</a:t>
            </a:r>
          </a:p>
        </p:txBody>
      </p:sp>
      <p:sp>
        <p:nvSpPr>
          <p:cNvPr id="18" name="TextBox 17"/>
          <p:cNvSpPr txBox="1"/>
          <p:nvPr/>
        </p:nvSpPr>
        <p:spPr>
          <a:xfrm>
            <a:off x="5330952" y="2359152"/>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Hasil Pengujian</a:t>
            </a:r>
          </a:p>
        </p:txBody>
      </p:sp>
      <p:sp>
        <p:nvSpPr>
          <p:cNvPr id="20" name="Rounded Rectangle 19"/>
          <p:cNvSpPr/>
          <p:nvPr/>
        </p:nvSpPr>
        <p:spPr>
          <a:xfrm>
            <a:off x="8257032" y="1234440"/>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39912" y="1325880"/>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05</a:t>
            </a:r>
          </a:p>
        </p:txBody>
      </p:sp>
      <p:sp>
        <p:nvSpPr>
          <p:cNvPr id="22" name="TextBox 21"/>
          <p:cNvSpPr txBox="1"/>
          <p:nvPr/>
        </p:nvSpPr>
        <p:spPr>
          <a:xfrm>
            <a:off x="9034272" y="1325880"/>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Kesimpulan &amp; Saran</a:t>
            </a:r>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E4F0FF"/>
            </a:gs>
            <a:gs pos="100000">
              <a:srgbClr val="C1D7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LATAR BELAKANG</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50392" y="1005840"/>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50392" y="1051560"/>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1</a:t>
            </a:r>
          </a:p>
        </p:txBody>
      </p:sp>
      <p:sp>
        <p:nvSpPr>
          <p:cNvPr id="6" name="TextBox 5"/>
          <p:cNvSpPr txBox="1"/>
          <p:nvPr/>
        </p:nvSpPr>
        <p:spPr>
          <a:xfrm>
            <a:off x="1353312" y="1005840"/>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INDONESIA RAWAN GEMPA BUMI</a:t>
            </a:r>
          </a:p>
        </p:txBody>
      </p:sp>
      <p:sp>
        <p:nvSpPr>
          <p:cNvPr id="7" name="TextBox 6"/>
          <p:cNvSpPr txBox="1"/>
          <p:nvPr/>
        </p:nvSpPr>
        <p:spPr>
          <a:xfrm>
            <a:off x="1353312" y="1252728"/>
            <a:ext cx="5936950" cy="557784"/>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rPr sz="1600" dirty="0" err="1"/>
              <a:t>Terletak</a:t>
            </a:r>
            <a:r>
              <a:rPr sz="1600" dirty="0"/>
              <a:t> di 4 </a:t>
            </a:r>
            <a:r>
              <a:rPr sz="1600" dirty="0" err="1"/>
              <a:t>lempeng</a:t>
            </a:r>
            <a:r>
              <a:rPr sz="1600" dirty="0"/>
              <a:t> </a:t>
            </a:r>
            <a:r>
              <a:rPr sz="1600" dirty="0" err="1"/>
              <a:t>tektonik</a:t>
            </a:r>
            <a:r>
              <a:rPr sz="1600" dirty="0"/>
              <a:t> (</a:t>
            </a:r>
            <a:r>
              <a:rPr sz="1600" dirty="0" err="1"/>
              <a:t>Pasifik</a:t>
            </a:r>
            <a:r>
              <a:rPr sz="1600" dirty="0"/>
              <a:t>, Eurasia, Indo-Australia,</a:t>
            </a:r>
          </a:p>
          <a:p>
            <a:pPr algn="l">
              <a:spcBef>
                <a:spcPts val="0"/>
              </a:spcBef>
              <a:spcAft>
                <a:spcPts val="0"/>
              </a:spcAft>
              <a:defRPr sz="1100" b="0" i="0">
                <a:solidFill>
                  <a:srgbClr val="333333"/>
                </a:solidFill>
                <a:latin typeface="Lato"/>
              </a:defRPr>
            </a:pPr>
            <a:r>
              <a:rPr sz="1600" dirty="0"/>
              <a:t>Laut Filipina). Rata-rata 18 </a:t>
            </a:r>
            <a:r>
              <a:rPr sz="1600" dirty="0" err="1"/>
              <a:t>gempa</a:t>
            </a:r>
            <a:r>
              <a:rPr sz="1600" dirty="0"/>
              <a:t>/</a:t>
            </a:r>
            <a:r>
              <a:rPr sz="1600" dirty="0" err="1"/>
              <a:t>hari</a:t>
            </a:r>
            <a:r>
              <a:rPr sz="1600" dirty="0"/>
              <a:t> (BMKG, </a:t>
            </a:r>
            <a:r>
              <a:rPr sz="1600" dirty="0" err="1"/>
              <a:t>Sabtaji</a:t>
            </a:r>
            <a:r>
              <a:rPr sz="1600" dirty="0"/>
              <a:t> 2020).</a:t>
            </a:r>
          </a:p>
        </p:txBody>
      </p:sp>
      <p:sp>
        <p:nvSpPr>
          <p:cNvPr id="8" name="Rounded Rectangle 7"/>
          <p:cNvSpPr/>
          <p:nvPr/>
        </p:nvSpPr>
        <p:spPr>
          <a:xfrm>
            <a:off x="850392" y="1993392"/>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50392" y="2039112"/>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2</a:t>
            </a:r>
          </a:p>
        </p:txBody>
      </p:sp>
      <p:sp>
        <p:nvSpPr>
          <p:cNvPr id="10" name="TextBox 9"/>
          <p:cNvSpPr txBox="1"/>
          <p:nvPr/>
        </p:nvSpPr>
        <p:spPr>
          <a:xfrm>
            <a:off x="1353312" y="1993392"/>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OPERASI SAR &amp; PERAN ROBOT</a:t>
            </a:r>
          </a:p>
        </p:txBody>
      </p:sp>
      <p:sp>
        <p:nvSpPr>
          <p:cNvPr id="11" name="TextBox 10"/>
          <p:cNvSpPr txBox="1"/>
          <p:nvPr/>
        </p:nvSpPr>
        <p:spPr>
          <a:xfrm>
            <a:off x="1353312" y="2240280"/>
            <a:ext cx="10012680" cy="667512"/>
          </a:xfrm>
          <a:prstGeom prst="rect">
            <a:avLst/>
          </a:prstGeom>
          <a:noFill/>
        </p:spPr>
        <p:txBody>
          <a:bodyPr wrap="square"/>
          <a:lstStyle/>
          <a:p>
            <a:pPr algn="l">
              <a:spcBef>
                <a:spcPts val="0"/>
              </a:spcBef>
              <a:spcAft>
                <a:spcPts val="0"/>
              </a:spcAft>
              <a:defRPr sz="1100" b="0" i="0">
                <a:solidFill>
                  <a:srgbClr val="333333"/>
                </a:solidFill>
                <a:latin typeface="Lato"/>
              </a:defRPr>
            </a:pPr>
            <a:r>
              <a:rPr sz="1600" dirty="0" err="1"/>
              <a:t>Petugas</a:t>
            </a:r>
            <a:r>
              <a:rPr sz="1600" dirty="0"/>
              <a:t> SAR </a:t>
            </a:r>
            <a:r>
              <a:rPr lang="en-ID" sz="1600" dirty="0"/>
              <a:t>meng</a:t>
            </a:r>
            <a:r>
              <a:rPr sz="1600" dirty="0" err="1"/>
              <a:t>hadapi</a:t>
            </a:r>
            <a:r>
              <a:rPr sz="1600" dirty="0"/>
              <a:t> </a:t>
            </a:r>
            <a:r>
              <a:rPr sz="1600" dirty="0" err="1"/>
              <a:t>ancaman</a:t>
            </a:r>
            <a:r>
              <a:rPr sz="1600" dirty="0"/>
              <a:t> </a:t>
            </a:r>
            <a:r>
              <a:rPr sz="1600" dirty="0" err="1"/>
              <a:t>keselamatan</a:t>
            </a:r>
            <a:r>
              <a:rPr sz="1600" dirty="0"/>
              <a:t>. </a:t>
            </a:r>
            <a:br>
              <a:rPr lang="en-ID" sz="1600" dirty="0"/>
            </a:br>
            <a:r>
              <a:rPr lang="en-ID" sz="1600" dirty="0"/>
              <a:t>Robot </a:t>
            </a:r>
            <a:r>
              <a:rPr lang="en-ID" sz="1600" dirty="0" err="1"/>
              <a:t>berperan</a:t>
            </a:r>
            <a:r>
              <a:rPr lang="en-ID" sz="1600" dirty="0"/>
              <a:t> </a:t>
            </a:r>
            <a:r>
              <a:rPr lang="en-ID" sz="1600" dirty="0" err="1"/>
              <a:t>melakukan</a:t>
            </a:r>
            <a:r>
              <a:rPr lang="en-ID" sz="1600" dirty="0"/>
              <a:t> </a:t>
            </a:r>
            <a:r>
              <a:rPr lang="en-ID" sz="1600" dirty="0" err="1"/>
              <a:t>ekplorasi</a:t>
            </a:r>
            <a:r>
              <a:rPr lang="en-ID" sz="1600" dirty="0"/>
              <a:t> </a:t>
            </a:r>
            <a:r>
              <a:rPr lang="en-ID" sz="1600" dirty="0" err="1"/>
              <a:t>bangunan</a:t>
            </a:r>
            <a:r>
              <a:rPr lang="en-ID" sz="1600" dirty="0"/>
              <a:t> </a:t>
            </a:r>
            <a:r>
              <a:rPr lang="en-ID" sz="1600" dirty="0" err="1"/>
              <a:t>pasca</a:t>
            </a:r>
            <a:r>
              <a:rPr lang="en-ID" sz="1600" dirty="0"/>
              <a:t> </a:t>
            </a:r>
            <a:r>
              <a:rPr lang="en-ID" sz="1600" dirty="0" err="1"/>
              <a:t>gempa</a:t>
            </a:r>
            <a:r>
              <a:rPr lang="en-ID" sz="1600" dirty="0"/>
              <a:t>. </a:t>
            </a:r>
            <a:r>
              <a:rPr lang="en-ID" sz="1600" dirty="0" err="1"/>
              <a:t>Pernah</a:t>
            </a:r>
            <a:r>
              <a:rPr lang="en-ID" sz="1600" dirty="0"/>
              <a:t> </a:t>
            </a:r>
            <a:r>
              <a:rPr lang="en-ID" sz="1600" dirty="0" err="1"/>
              <a:t>dilakukan</a:t>
            </a:r>
            <a:r>
              <a:rPr lang="en-ID" sz="1600" dirty="0"/>
              <a:t> di </a:t>
            </a:r>
            <a:r>
              <a:rPr lang="en-ID" sz="1600" dirty="0" err="1"/>
              <a:t>Jepang</a:t>
            </a:r>
            <a:r>
              <a:rPr lang="en-ID" sz="1600" dirty="0"/>
              <a:t> </a:t>
            </a:r>
            <a:r>
              <a:rPr sz="1600" dirty="0"/>
              <a:t>(Lin et al., 2022).</a:t>
            </a:r>
          </a:p>
        </p:txBody>
      </p:sp>
      <p:sp>
        <p:nvSpPr>
          <p:cNvPr id="12" name="Rounded Rectangle 11"/>
          <p:cNvSpPr/>
          <p:nvPr/>
        </p:nvSpPr>
        <p:spPr>
          <a:xfrm>
            <a:off x="850392" y="2980944"/>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50392" y="3026664"/>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3</a:t>
            </a:r>
          </a:p>
        </p:txBody>
      </p:sp>
      <p:sp>
        <p:nvSpPr>
          <p:cNvPr id="14" name="TextBox 13"/>
          <p:cNvSpPr txBox="1"/>
          <p:nvPr/>
        </p:nvSpPr>
        <p:spPr>
          <a:xfrm>
            <a:off x="1353312" y="2980944"/>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rPr lang="en-ID" dirty="0"/>
              <a:t>TANTANGAN NAVIGASI</a:t>
            </a:r>
            <a:endParaRPr dirty="0"/>
          </a:p>
        </p:txBody>
      </p:sp>
      <p:sp>
        <p:nvSpPr>
          <p:cNvPr id="15" name="TextBox 14"/>
          <p:cNvSpPr txBox="1"/>
          <p:nvPr/>
        </p:nvSpPr>
        <p:spPr>
          <a:xfrm>
            <a:off x="1353312" y="3227832"/>
            <a:ext cx="10012680" cy="667512"/>
          </a:xfrm>
          <a:prstGeom prst="rect">
            <a:avLst/>
          </a:prstGeom>
          <a:noFill/>
        </p:spPr>
        <p:txBody>
          <a:bodyPr wrap="square"/>
          <a:lstStyle/>
          <a:p>
            <a:pPr algn="l">
              <a:spcBef>
                <a:spcPts val="0"/>
              </a:spcBef>
              <a:spcAft>
                <a:spcPts val="0"/>
              </a:spcAft>
              <a:defRPr sz="1100" b="0" i="0">
                <a:solidFill>
                  <a:srgbClr val="333333"/>
                </a:solidFill>
                <a:latin typeface="Lato"/>
              </a:defRPr>
            </a:pPr>
            <a:r>
              <a:rPr sz="1600" dirty="0"/>
              <a:t>Robot </a:t>
            </a:r>
            <a:r>
              <a:rPr sz="1600" dirty="0" err="1"/>
              <a:t>perlu</a:t>
            </a:r>
            <a:r>
              <a:rPr sz="1600" dirty="0"/>
              <a:t> </a:t>
            </a:r>
            <a:r>
              <a:rPr sz="1600" dirty="0" err="1"/>
              <a:t>lokalisasi</a:t>
            </a:r>
            <a:r>
              <a:rPr sz="1600" dirty="0"/>
              <a:t>, path planning, dan </a:t>
            </a:r>
            <a:r>
              <a:rPr lang="en-ID" sz="1600" dirty="0"/>
              <a:t>path tracking </a:t>
            </a:r>
            <a:r>
              <a:rPr sz="1600" dirty="0"/>
              <a:t>di </a:t>
            </a:r>
            <a:r>
              <a:rPr lang="en-ID" sz="1600" dirty="0" err="1"/>
              <a:t>bangunan</a:t>
            </a:r>
            <a:r>
              <a:rPr lang="en-ID" sz="1600" dirty="0"/>
              <a:t> </a:t>
            </a:r>
            <a:r>
              <a:rPr lang="en-ID" sz="1600" dirty="0" err="1"/>
              <a:t>pasca</a:t>
            </a:r>
            <a:r>
              <a:rPr lang="en-ID" sz="1600" dirty="0"/>
              <a:t> </a:t>
            </a:r>
            <a:r>
              <a:rPr lang="en-ID" sz="1600" dirty="0" err="1"/>
              <a:t>gempa</a:t>
            </a:r>
            <a:r>
              <a:rPr sz="1600" dirty="0"/>
              <a:t>.</a:t>
            </a:r>
            <a:r>
              <a:rPr lang="en-ID" sz="1600" dirty="0"/>
              <a:t> </a:t>
            </a:r>
          </a:p>
          <a:p>
            <a:pPr>
              <a:defRPr sz="1100" b="0" i="0">
                <a:solidFill>
                  <a:srgbClr val="333333"/>
                </a:solidFill>
                <a:latin typeface="Lato"/>
              </a:defRPr>
            </a:pPr>
            <a:r>
              <a:rPr lang="en-ID" sz="1600" dirty="0" err="1"/>
              <a:t>Lingkungan</a:t>
            </a:r>
            <a:r>
              <a:rPr lang="en-ID" sz="1600" dirty="0"/>
              <a:t> </a:t>
            </a:r>
            <a:r>
              <a:rPr lang="en-ID" sz="1600" dirty="0" err="1"/>
              <a:t>bertingkat</a:t>
            </a:r>
            <a:r>
              <a:rPr lang="en-ID" sz="1600" dirty="0"/>
              <a:t> </a:t>
            </a:r>
            <a:r>
              <a:rPr lang="en-ID" sz="1600" dirty="0" err="1"/>
              <a:t>dengan</a:t>
            </a:r>
            <a:r>
              <a:rPr lang="en-ID" sz="1600" dirty="0"/>
              <a:t> </a:t>
            </a:r>
            <a:r>
              <a:rPr lang="en-ID" sz="1600" dirty="0" err="1"/>
              <a:t>puing</a:t>
            </a:r>
            <a:r>
              <a:rPr lang="en-ID" sz="1600" dirty="0"/>
              <a:t> dan </a:t>
            </a:r>
            <a:r>
              <a:rPr lang="en-ID" sz="1600" dirty="0" err="1"/>
              <a:t>lantai</a:t>
            </a:r>
            <a:r>
              <a:rPr lang="en-ID" sz="1600" dirty="0"/>
              <a:t> </a:t>
            </a:r>
            <a:r>
              <a:rPr lang="en-ID" sz="1600" dirty="0" err="1"/>
              <a:t>tidak</a:t>
            </a:r>
            <a:r>
              <a:rPr lang="en-ID" sz="1600" dirty="0"/>
              <a:t> rata. </a:t>
            </a:r>
            <a:r>
              <a:rPr sz="1600" dirty="0"/>
              <a:t> </a:t>
            </a:r>
          </a:p>
        </p:txBody>
      </p:sp>
      <p:sp>
        <p:nvSpPr>
          <p:cNvPr id="16" name="Rounded Rectangle 15"/>
          <p:cNvSpPr/>
          <p:nvPr/>
        </p:nvSpPr>
        <p:spPr>
          <a:xfrm>
            <a:off x="850392" y="3968496"/>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850392" y="4014216"/>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4</a:t>
            </a:r>
          </a:p>
        </p:txBody>
      </p:sp>
      <p:sp>
        <p:nvSpPr>
          <p:cNvPr id="18" name="TextBox 17"/>
          <p:cNvSpPr txBox="1"/>
          <p:nvPr/>
        </p:nvSpPr>
        <p:spPr>
          <a:xfrm>
            <a:off x="1353312" y="3968496"/>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rPr dirty="0"/>
              <a:t>SIMULASI </a:t>
            </a:r>
            <a:r>
              <a:rPr lang="en-ID" dirty="0"/>
              <a:t>PENGUJIAN</a:t>
            </a:r>
            <a:endParaRPr dirty="0"/>
          </a:p>
        </p:txBody>
      </p:sp>
      <p:sp>
        <p:nvSpPr>
          <p:cNvPr id="19" name="TextBox 18"/>
          <p:cNvSpPr txBox="1"/>
          <p:nvPr/>
        </p:nvSpPr>
        <p:spPr>
          <a:xfrm>
            <a:off x="1353312" y="4215384"/>
            <a:ext cx="10012680" cy="667512"/>
          </a:xfrm>
          <a:prstGeom prst="rect">
            <a:avLst/>
          </a:prstGeom>
          <a:noFill/>
        </p:spPr>
        <p:txBody>
          <a:bodyPr wrap="square"/>
          <a:lstStyle/>
          <a:p>
            <a:pPr algn="l">
              <a:spcBef>
                <a:spcPts val="0"/>
              </a:spcBef>
              <a:spcAft>
                <a:spcPts val="0"/>
              </a:spcAft>
              <a:defRPr sz="1100" b="0" i="0">
                <a:solidFill>
                  <a:srgbClr val="333333"/>
                </a:solidFill>
                <a:latin typeface="Lato"/>
              </a:defRPr>
            </a:pPr>
            <a:r>
              <a:rPr sz="1600" dirty="0"/>
              <a:t>Sulit </a:t>
            </a:r>
            <a:r>
              <a:rPr sz="1600" dirty="0" err="1"/>
              <a:t>diuji</a:t>
            </a:r>
            <a:r>
              <a:rPr sz="1600" dirty="0"/>
              <a:t> di </a:t>
            </a:r>
            <a:r>
              <a:rPr sz="1600" dirty="0" err="1"/>
              <a:t>kondisi</a:t>
            </a:r>
            <a:r>
              <a:rPr sz="1600" dirty="0"/>
              <a:t> </a:t>
            </a:r>
            <a:r>
              <a:rPr sz="1600" dirty="0" err="1"/>
              <a:t>nyat</a:t>
            </a:r>
            <a:r>
              <a:rPr lang="en-ID" sz="1600" dirty="0"/>
              <a:t>a, </a:t>
            </a:r>
            <a:r>
              <a:rPr lang="en-ID" sz="1600" dirty="0" err="1"/>
              <a:t>sehingga</a:t>
            </a:r>
            <a:r>
              <a:rPr lang="en-ID" sz="1600" dirty="0"/>
              <a:t> </a:t>
            </a:r>
            <a:r>
              <a:rPr lang="en-ID" sz="1600" dirty="0" err="1"/>
              <a:t>menggunakan</a:t>
            </a:r>
            <a:r>
              <a:rPr lang="en-ID" sz="1600" dirty="0"/>
              <a:t> </a:t>
            </a:r>
            <a:r>
              <a:rPr lang="en-ID" sz="1600" dirty="0" err="1"/>
              <a:t>lingkungan</a:t>
            </a:r>
            <a:r>
              <a:rPr lang="en-ID" sz="1600" dirty="0"/>
              <a:t> </a:t>
            </a:r>
            <a:r>
              <a:rPr lang="en-ID" sz="1600" dirty="0" err="1"/>
              <a:t>simulasi</a:t>
            </a:r>
            <a:r>
              <a:rPr sz="1600" dirty="0"/>
              <a:t> </a:t>
            </a:r>
            <a:r>
              <a:rPr lang="en-ID" sz="1600" dirty="0" err="1"/>
              <a:t>berdasarkan</a:t>
            </a:r>
            <a:r>
              <a:rPr sz="1600" dirty="0"/>
              <a:t> Kontes Robot SAR Indonesia 2024. Platform: robot hexapod + LiDAR 2D. </a:t>
            </a:r>
            <a:r>
              <a:rPr sz="1600" dirty="0" err="1"/>
              <a:t>Keterbatasan</a:t>
            </a:r>
            <a:r>
              <a:rPr sz="1600" dirty="0"/>
              <a:t> LiDAR 2D pada </a:t>
            </a:r>
            <a:r>
              <a:rPr sz="1600" dirty="0" err="1"/>
              <a:t>lingkungan</a:t>
            </a:r>
            <a:r>
              <a:rPr sz="1600" dirty="0"/>
              <a:t> </a:t>
            </a:r>
            <a:r>
              <a:rPr sz="1600" dirty="0" err="1"/>
              <a:t>bertingkat</a:t>
            </a:r>
            <a:r>
              <a:rPr sz="1600" dirty="0"/>
              <a:t>.</a:t>
            </a:r>
          </a:p>
        </p:txBody>
      </p:sp>
      <p:sp>
        <p:nvSpPr>
          <p:cNvPr id="20" name="Rounded Rectangle 19"/>
          <p:cNvSpPr/>
          <p:nvPr/>
        </p:nvSpPr>
        <p:spPr>
          <a:xfrm>
            <a:off x="850392" y="4956048"/>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50392" y="500176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5</a:t>
            </a:r>
          </a:p>
        </p:txBody>
      </p:sp>
      <p:sp>
        <p:nvSpPr>
          <p:cNvPr id="22" name="TextBox 21"/>
          <p:cNvSpPr txBox="1"/>
          <p:nvPr/>
        </p:nvSpPr>
        <p:spPr>
          <a:xfrm>
            <a:off x="1353312" y="4956048"/>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SOLUSI: LAYERED COSTMAP</a:t>
            </a:r>
          </a:p>
        </p:txBody>
      </p:sp>
      <p:sp>
        <p:nvSpPr>
          <p:cNvPr id="23" name="TextBox 22"/>
          <p:cNvSpPr txBox="1"/>
          <p:nvPr/>
        </p:nvSpPr>
        <p:spPr>
          <a:xfrm>
            <a:off x="1353312" y="5202936"/>
            <a:ext cx="10012680" cy="667512"/>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rPr sz="1600" dirty="0" err="1"/>
              <a:t>Informasi</a:t>
            </a:r>
            <a:r>
              <a:rPr sz="1600" dirty="0"/>
              <a:t> 3D → occupancy grid + </a:t>
            </a:r>
            <a:r>
              <a:rPr lang="en-ID" sz="1600" dirty="0"/>
              <a:t>layered</a:t>
            </a:r>
            <a:r>
              <a:rPr sz="1600" dirty="0"/>
              <a:t> </a:t>
            </a:r>
            <a:r>
              <a:rPr sz="1600" dirty="0" err="1"/>
              <a:t>costmap</a:t>
            </a:r>
            <a:r>
              <a:rPr sz="1600" dirty="0"/>
              <a:t> 2D. Setia</a:t>
            </a:r>
            <a:r>
              <a:rPr lang="en-ID" sz="1600" dirty="0"/>
              <a:t>p </a:t>
            </a:r>
            <a:r>
              <a:rPr lang="en-ID" sz="1600" dirty="0" err="1"/>
              <a:t>lantai</a:t>
            </a:r>
            <a:r>
              <a:rPr sz="1600" dirty="0"/>
              <a:t> </a:t>
            </a:r>
            <a:r>
              <a:rPr sz="1600" dirty="0" err="1"/>
              <a:t>satu</a:t>
            </a:r>
            <a:r>
              <a:rPr sz="1600" dirty="0"/>
              <a:t> </a:t>
            </a:r>
            <a:r>
              <a:rPr lang="en-ID" sz="1600" dirty="0"/>
              <a:t>map</a:t>
            </a:r>
            <a:r>
              <a:rPr sz="1600" dirty="0"/>
              <a:t>/region. Layer </a:t>
            </a:r>
            <a:r>
              <a:rPr sz="1600" dirty="0" err="1"/>
              <a:t>transisi</a:t>
            </a:r>
            <a:r>
              <a:rPr sz="1600" dirty="0"/>
              <a:t> </a:t>
            </a:r>
            <a:r>
              <a:rPr sz="1600" dirty="0" err="1"/>
              <a:t>menghubungkan</a:t>
            </a:r>
            <a:r>
              <a:rPr sz="1600" dirty="0"/>
              <a:t> </a:t>
            </a:r>
            <a:r>
              <a:rPr sz="1600" dirty="0" err="1"/>
              <a:t>antar</a:t>
            </a:r>
            <a:r>
              <a:rPr sz="1600" dirty="0"/>
              <a:t> </a:t>
            </a:r>
            <a:r>
              <a:rPr sz="1600" dirty="0" err="1"/>
              <a:t>lantai</a:t>
            </a:r>
            <a:r>
              <a:rPr sz="1600" dirty="0"/>
              <a:t>. Robot </a:t>
            </a:r>
            <a:r>
              <a:rPr sz="1600" dirty="0" err="1"/>
              <a:t>berpindah</a:t>
            </a:r>
            <a:r>
              <a:rPr sz="1600" dirty="0"/>
              <a:t> layer </a:t>
            </a:r>
            <a:r>
              <a:rPr sz="1600" dirty="0" err="1"/>
              <a:t>sesuai</a:t>
            </a:r>
            <a:r>
              <a:rPr sz="1600" dirty="0"/>
              <a:t> </a:t>
            </a:r>
            <a:r>
              <a:rPr sz="1600" dirty="0" err="1"/>
              <a:t>posisi</a:t>
            </a:r>
            <a:r>
              <a:rPr sz="1600" dirty="0"/>
              <a:t> di </a:t>
            </a:r>
            <a:r>
              <a:rPr lang="en-ID" sz="1600" dirty="0" err="1"/>
              <a:t>asli</a:t>
            </a:r>
            <a:r>
              <a:rPr sz="1600" dirty="0"/>
              <a:t>.</a:t>
            </a:r>
          </a:p>
        </p:txBody>
      </p:sp>
      <p:sp>
        <p:nvSpPr>
          <p:cNvPr id="27" name="TextBox 26"/>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E4F0FF"/>
            </a:gs>
            <a:gs pos="100000">
              <a:srgbClr val="C1D7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RUMUSAN MASALAH</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50392" y="1051560"/>
            <a:ext cx="10515600" cy="1234440"/>
          </a:xfrm>
          <a:prstGeom prst="roundRect">
            <a:avLst/>
          </a:prstGeom>
          <a:solidFill>
            <a:srgbClr val="F5F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50392" y="105156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33272" y="1188720"/>
            <a:ext cx="548640" cy="50292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rPr dirty="0"/>
              <a:t>1</a:t>
            </a:r>
          </a:p>
        </p:txBody>
      </p:sp>
      <p:sp>
        <p:nvSpPr>
          <p:cNvPr id="7" name="TextBox 6"/>
          <p:cNvSpPr txBox="1"/>
          <p:nvPr/>
        </p:nvSpPr>
        <p:spPr>
          <a:xfrm>
            <a:off x="1581912" y="1161288"/>
            <a:ext cx="3657600" cy="36576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REPRESENTASI LINGKUNGAN 3D</a:t>
            </a:r>
          </a:p>
        </p:txBody>
      </p:sp>
      <p:sp>
        <p:nvSpPr>
          <p:cNvPr id="8" name="TextBox 7"/>
          <p:cNvSpPr txBox="1"/>
          <p:nvPr/>
        </p:nvSpPr>
        <p:spPr>
          <a:xfrm>
            <a:off x="1581912" y="1554480"/>
            <a:ext cx="9509760" cy="640080"/>
          </a:xfrm>
          <a:prstGeom prst="rect">
            <a:avLst/>
          </a:prstGeom>
          <a:noFill/>
        </p:spPr>
        <p:txBody>
          <a:bodyPr wrap="square"/>
          <a:lstStyle/>
          <a:p>
            <a:pPr algn="l">
              <a:lnSpc>
                <a:spcPts val="1755"/>
              </a:lnSpc>
              <a:spcBef>
                <a:spcPts val="0"/>
              </a:spcBef>
              <a:spcAft>
                <a:spcPts val="0"/>
              </a:spcAft>
              <a:defRPr sz="1300" b="0" i="0">
                <a:solidFill>
                  <a:srgbClr val="333333"/>
                </a:solidFill>
                <a:latin typeface="Lato"/>
              </a:defRPr>
            </a:pPr>
            <a:r>
              <a:rPr sz="1600" dirty="0" err="1"/>
              <a:t>Bagaimana</a:t>
            </a:r>
            <a:r>
              <a:rPr sz="1600" dirty="0"/>
              <a:t> </a:t>
            </a:r>
            <a:r>
              <a:rPr sz="1600" dirty="0" err="1"/>
              <a:t>cara</a:t>
            </a:r>
            <a:r>
              <a:rPr sz="1600" dirty="0"/>
              <a:t> </a:t>
            </a:r>
            <a:r>
              <a:rPr sz="1600" dirty="0" err="1"/>
              <a:t>menggunakan</a:t>
            </a:r>
            <a:r>
              <a:rPr sz="1600" dirty="0"/>
              <a:t> layered </a:t>
            </a:r>
            <a:r>
              <a:rPr sz="1600" dirty="0" err="1"/>
              <a:t>costmap</a:t>
            </a:r>
            <a:r>
              <a:rPr sz="1600" dirty="0"/>
              <a:t> </a:t>
            </a:r>
            <a:r>
              <a:rPr sz="1600" dirty="0" err="1"/>
              <a:t>untuk</a:t>
            </a:r>
            <a:r>
              <a:rPr sz="1600" dirty="0"/>
              <a:t> </a:t>
            </a:r>
            <a:r>
              <a:rPr sz="1600" dirty="0" err="1"/>
              <a:t>mewakilkan</a:t>
            </a:r>
            <a:r>
              <a:rPr sz="1600" dirty="0"/>
              <a:t> </a:t>
            </a:r>
            <a:r>
              <a:rPr sz="1600" dirty="0" err="1"/>
              <a:t>informasi</a:t>
            </a:r>
            <a:r>
              <a:rPr sz="1600" dirty="0"/>
              <a:t> </a:t>
            </a:r>
            <a:r>
              <a:rPr sz="1600" dirty="0" err="1"/>
              <a:t>lingkungan</a:t>
            </a:r>
            <a:r>
              <a:rPr sz="1600" dirty="0"/>
              <a:t> 3D yang </a:t>
            </a:r>
            <a:r>
              <a:rPr sz="1600" dirty="0" err="1"/>
              <a:t>terdiri</a:t>
            </a:r>
            <a:r>
              <a:rPr sz="1600" dirty="0"/>
              <a:t> </a:t>
            </a:r>
            <a:r>
              <a:rPr sz="1600" dirty="0" err="1"/>
              <a:t>dari</a:t>
            </a:r>
            <a:r>
              <a:rPr sz="1600" dirty="0"/>
              <a:t> </a:t>
            </a:r>
            <a:r>
              <a:rPr sz="1600" dirty="0" err="1"/>
              <a:t>beberapa</a:t>
            </a:r>
            <a:r>
              <a:rPr sz="1600" dirty="0"/>
              <a:t> </a:t>
            </a:r>
            <a:r>
              <a:rPr sz="1600" dirty="0" err="1"/>
              <a:t>lantai</a:t>
            </a:r>
            <a:r>
              <a:rPr sz="1600" dirty="0"/>
              <a:t> </a:t>
            </a:r>
            <a:r>
              <a:rPr sz="1600" dirty="0" err="1"/>
              <a:t>sehingga</a:t>
            </a:r>
            <a:r>
              <a:rPr sz="1600" dirty="0"/>
              <a:t> </a:t>
            </a:r>
            <a:r>
              <a:rPr sz="1600" dirty="0" err="1"/>
              <a:t>bisa</a:t>
            </a:r>
            <a:r>
              <a:rPr sz="1600" dirty="0"/>
              <a:t> </a:t>
            </a:r>
            <a:r>
              <a:rPr sz="1600" dirty="0" err="1"/>
              <a:t>digunakan</a:t>
            </a:r>
            <a:r>
              <a:rPr sz="1600" dirty="0"/>
              <a:t> pada </a:t>
            </a:r>
            <a:r>
              <a:rPr sz="1600" dirty="0" err="1"/>
              <a:t>algoritma</a:t>
            </a:r>
            <a:r>
              <a:rPr sz="1600" dirty="0"/>
              <a:t> </a:t>
            </a:r>
            <a:r>
              <a:rPr sz="1600" dirty="0" err="1"/>
              <a:t>navigasi</a:t>
            </a:r>
            <a:r>
              <a:rPr sz="1600" dirty="0"/>
              <a:t> 2D?</a:t>
            </a:r>
          </a:p>
        </p:txBody>
      </p:sp>
      <p:sp>
        <p:nvSpPr>
          <p:cNvPr id="9" name="Rounded Rectangle 8"/>
          <p:cNvSpPr/>
          <p:nvPr/>
        </p:nvSpPr>
        <p:spPr>
          <a:xfrm>
            <a:off x="850392" y="2514600"/>
            <a:ext cx="10515600" cy="1234440"/>
          </a:xfrm>
          <a:prstGeom prst="roundRect">
            <a:avLst/>
          </a:prstGeom>
          <a:solidFill>
            <a:srgbClr val="F5F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50392" y="251460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33272" y="2651760"/>
            <a:ext cx="548640" cy="50292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rPr dirty="0"/>
              <a:t>2</a:t>
            </a:r>
          </a:p>
        </p:txBody>
      </p:sp>
      <p:sp>
        <p:nvSpPr>
          <p:cNvPr id="12" name="TextBox 11"/>
          <p:cNvSpPr txBox="1"/>
          <p:nvPr/>
        </p:nvSpPr>
        <p:spPr>
          <a:xfrm>
            <a:off x="1581912" y="2624328"/>
            <a:ext cx="3657600" cy="36576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ALGORITMA NAVIGASI</a:t>
            </a:r>
          </a:p>
        </p:txBody>
      </p:sp>
      <p:sp>
        <p:nvSpPr>
          <p:cNvPr id="13" name="TextBox 12"/>
          <p:cNvSpPr txBox="1"/>
          <p:nvPr/>
        </p:nvSpPr>
        <p:spPr>
          <a:xfrm>
            <a:off x="1581912" y="3017520"/>
            <a:ext cx="9509760" cy="640080"/>
          </a:xfrm>
          <a:prstGeom prst="rect">
            <a:avLst/>
          </a:prstGeom>
          <a:noFill/>
        </p:spPr>
        <p:txBody>
          <a:bodyPr wrap="square"/>
          <a:lstStyle/>
          <a:p>
            <a:pPr algn="l">
              <a:lnSpc>
                <a:spcPts val="1755"/>
              </a:lnSpc>
              <a:spcBef>
                <a:spcPts val="0"/>
              </a:spcBef>
              <a:spcAft>
                <a:spcPts val="0"/>
              </a:spcAft>
              <a:defRPr sz="1300" b="0" i="0">
                <a:solidFill>
                  <a:srgbClr val="333333"/>
                </a:solidFill>
                <a:latin typeface="Lato"/>
              </a:defRPr>
            </a:pPr>
            <a:r>
              <a:rPr sz="1600" dirty="0" err="1"/>
              <a:t>Bagaimana</a:t>
            </a:r>
            <a:r>
              <a:rPr sz="1600" dirty="0"/>
              <a:t> </a:t>
            </a:r>
            <a:r>
              <a:rPr sz="1600" dirty="0" err="1"/>
              <a:t>merancang</a:t>
            </a:r>
            <a:r>
              <a:rPr sz="1600" dirty="0"/>
              <a:t> </a:t>
            </a:r>
            <a:r>
              <a:rPr sz="1600" dirty="0" err="1"/>
              <a:t>algoritma</a:t>
            </a:r>
            <a:r>
              <a:rPr sz="1600" dirty="0"/>
              <a:t> </a:t>
            </a:r>
            <a:r>
              <a:rPr sz="1600" dirty="0" err="1"/>
              <a:t>lokalisasi</a:t>
            </a:r>
            <a:r>
              <a:rPr sz="1600" dirty="0"/>
              <a:t>, path planning, dan path tracking yang </a:t>
            </a:r>
            <a:r>
              <a:rPr sz="1600" dirty="0" err="1"/>
              <a:t>bekerja</a:t>
            </a:r>
            <a:r>
              <a:rPr sz="1600" dirty="0"/>
              <a:t> pada </a:t>
            </a:r>
            <a:r>
              <a:rPr sz="1600" dirty="0" err="1"/>
              <a:t>sistem</a:t>
            </a:r>
            <a:r>
              <a:rPr sz="1600" dirty="0"/>
              <a:t> </a:t>
            </a:r>
            <a:r>
              <a:rPr sz="1600" dirty="0" err="1"/>
              <a:t>navigasi</a:t>
            </a:r>
            <a:r>
              <a:rPr sz="1600" dirty="0"/>
              <a:t> </a:t>
            </a:r>
            <a:r>
              <a:rPr sz="1600" dirty="0" err="1"/>
              <a:t>berbasis</a:t>
            </a:r>
            <a:r>
              <a:rPr sz="1600" dirty="0"/>
              <a:t> layered </a:t>
            </a:r>
            <a:r>
              <a:rPr sz="1600" dirty="0" err="1"/>
              <a:t>costmap</a:t>
            </a:r>
            <a:r>
              <a:rPr sz="1600" dirty="0"/>
              <a:t>?</a:t>
            </a:r>
          </a:p>
        </p:txBody>
      </p:sp>
      <p:sp>
        <p:nvSpPr>
          <p:cNvPr id="14" name="Rounded Rectangle 13"/>
          <p:cNvSpPr/>
          <p:nvPr/>
        </p:nvSpPr>
        <p:spPr>
          <a:xfrm>
            <a:off x="850392" y="3977640"/>
            <a:ext cx="10515600" cy="1234440"/>
          </a:xfrm>
          <a:prstGeom prst="roundRect">
            <a:avLst/>
          </a:prstGeom>
          <a:solidFill>
            <a:srgbClr val="F5F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392" y="397764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33272" y="4114800"/>
            <a:ext cx="548640" cy="50292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rPr dirty="0"/>
              <a:t>3</a:t>
            </a:r>
          </a:p>
        </p:txBody>
      </p:sp>
      <p:sp>
        <p:nvSpPr>
          <p:cNvPr id="17" name="TextBox 16"/>
          <p:cNvSpPr txBox="1"/>
          <p:nvPr/>
        </p:nvSpPr>
        <p:spPr>
          <a:xfrm>
            <a:off x="1581912" y="4087368"/>
            <a:ext cx="3657600" cy="36576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VALIDASI SISTEM</a:t>
            </a:r>
          </a:p>
        </p:txBody>
      </p:sp>
      <p:sp>
        <p:nvSpPr>
          <p:cNvPr id="18" name="TextBox 17"/>
          <p:cNvSpPr txBox="1"/>
          <p:nvPr/>
        </p:nvSpPr>
        <p:spPr>
          <a:xfrm>
            <a:off x="1581912" y="4480560"/>
            <a:ext cx="9509760" cy="640080"/>
          </a:xfrm>
          <a:prstGeom prst="rect">
            <a:avLst/>
          </a:prstGeom>
          <a:noFill/>
        </p:spPr>
        <p:txBody>
          <a:bodyPr wrap="square"/>
          <a:lstStyle/>
          <a:p>
            <a:pPr algn="l">
              <a:lnSpc>
                <a:spcPts val="1755"/>
              </a:lnSpc>
              <a:spcBef>
                <a:spcPts val="0"/>
              </a:spcBef>
              <a:spcAft>
                <a:spcPts val="0"/>
              </a:spcAft>
              <a:defRPr sz="1300" b="0" i="0">
                <a:solidFill>
                  <a:srgbClr val="333333"/>
                </a:solidFill>
                <a:latin typeface="Lato"/>
              </a:defRPr>
            </a:pPr>
            <a:r>
              <a:rPr sz="1600" dirty="0" err="1"/>
              <a:t>Apakah</a:t>
            </a:r>
            <a:r>
              <a:rPr sz="1600" dirty="0"/>
              <a:t> robot </a:t>
            </a:r>
            <a:r>
              <a:rPr sz="1600" dirty="0" err="1"/>
              <a:t>darat</a:t>
            </a:r>
            <a:r>
              <a:rPr sz="1600" dirty="0"/>
              <a:t> </a:t>
            </a:r>
            <a:r>
              <a:rPr sz="1600" dirty="0" err="1"/>
              <a:t>otonom</a:t>
            </a:r>
            <a:r>
              <a:rPr sz="1600" dirty="0"/>
              <a:t> </a:t>
            </a:r>
            <a:r>
              <a:rPr sz="1600" dirty="0" err="1"/>
              <a:t>dapat</a:t>
            </a:r>
            <a:r>
              <a:rPr sz="1600" dirty="0"/>
              <a:t> </a:t>
            </a:r>
            <a:r>
              <a:rPr sz="1600" dirty="0" err="1"/>
              <a:t>melakukan</a:t>
            </a:r>
            <a:r>
              <a:rPr sz="1600" dirty="0"/>
              <a:t> </a:t>
            </a:r>
            <a:r>
              <a:rPr sz="1600" dirty="0" err="1"/>
              <a:t>navigasi</a:t>
            </a:r>
            <a:r>
              <a:rPr sz="1600" dirty="0"/>
              <a:t> </a:t>
            </a:r>
            <a:r>
              <a:rPr sz="1600" dirty="0" err="1"/>
              <a:t>hingga</a:t>
            </a:r>
            <a:r>
              <a:rPr sz="1600" dirty="0"/>
              <a:t> </a:t>
            </a:r>
            <a:r>
              <a:rPr sz="1600" dirty="0" err="1"/>
              <a:t>mencapai</a:t>
            </a:r>
            <a:r>
              <a:rPr sz="1600" dirty="0"/>
              <a:t> </a:t>
            </a:r>
            <a:r>
              <a:rPr sz="1600" dirty="0" err="1"/>
              <a:t>tujuan</a:t>
            </a:r>
            <a:r>
              <a:rPr sz="1600" dirty="0"/>
              <a:t> pada </a:t>
            </a:r>
            <a:r>
              <a:rPr sz="1600" dirty="0" err="1"/>
              <a:t>lingkungan</a:t>
            </a:r>
            <a:r>
              <a:rPr sz="1600" dirty="0"/>
              <a:t> </a:t>
            </a:r>
            <a:r>
              <a:rPr sz="1600" dirty="0" err="1"/>
              <a:t>simulasi</a:t>
            </a:r>
            <a:r>
              <a:rPr sz="1600" dirty="0"/>
              <a:t> </a:t>
            </a:r>
            <a:r>
              <a:rPr sz="1600" dirty="0" err="1"/>
              <a:t>menggunakan</a:t>
            </a:r>
            <a:r>
              <a:rPr sz="1600" dirty="0"/>
              <a:t> </a:t>
            </a:r>
            <a:r>
              <a:rPr sz="1600" dirty="0" err="1"/>
              <a:t>metode</a:t>
            </a:r>
            <a:r>
              <a:rPr sz="1600" dirty="0"/>
              <a:t> </a:t>
            </a:r>
            <a:r>
              <a:rPr sz="1600" dirty="0" err="1"/>
              <a:t>navigasi</a:t>
            </a:r>
            <a:r>
              <a:rPr sz="1600" dirty="0"/>
              <a:t> </a:t>
            </a:r>
            <a:r>
              <a:rPr sz="1600" dirty="0" err="1"/>
              <a:t>antar</a:t>
            </a:r>
            <a:r>
              <a:rPr sz="1600" dirty="0"/>
              <a:t> </a:t>
            </a:r>
            <a:r>
              <a:rPr sz="1600" dirty="0" err="1"/>
              <a:t>lantai</a:t>
            </a:r>
            <a:r>
              <a:rPr sz="1600" dirty="0"/>
              <a:t> yang </a:t>
            </a:r>
            <a:r>
              <a:rPr sz="1600" dirty="0" err="1"/>
              <a:t>dikembangkan</a:t>
            </a:r>
            <a:r>
              <a:rPr sz="1600" dirty="0"/>
              <a:t>?</a:t>
            </a:r>
          </a:p>
        </p:txBody>
      </p:sp>
      <p:sp>
        <p:nvSpPr>
          <p:cNvPr id="19" name="TextBox 18"/>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E4F0FF"/>
            </a:gs>
            <a:gs pos="100000">
              <a:srgbClr val="C1D7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5051644"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rPr dirty="0"/>
              <a:t>BATASAN PENELITIAN</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50392" y="1097280"/>
            <a:ext cx="10515600" cy="14173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50392" y="1097280"/>
            <a:ext cx="63500" cy="141732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Isosceles Triangle 5"/>
          <p:cNvSpPr/>
          <p:nvPr/>
        </p:nvSpPr>
        <p:spPr>
          <a:xfrm>
            <a:off x="1078992" y="1280160"/>
            <a:ext cx="320040" cy="292608"/>
          </a:xfrm>
          <a:prstGeom prst="triangl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a:t>
            </a:r>
          </a:p>
        </p:txBody>
      </p:sp>
      <p:sp>
        <p:nvSpPr>
          <p:cNvPr id="7" name="TextBox 6"/>
          <p:cNvSpPr txBox="1"/>
          <p:nvPr/>
        </p:nvSpPr>
        <p:spPr>
          <a:xfrm>
            <a:off x="1581912" y="1207008"/>
            <a:ext cx="4572000" cy="320040"/>
          </a:xfrm>
          <a:prstGeom prst="rect">
            <a:avLst/>
          </a:prstGeom>
          <a:noFill/>
        </p:spPr>
        <p:txBody>
          <a:bodyPr wrap="square"/>
          <a:lstStyle/>
          <a:p>
            <a:pPr algn="l">
              <a:lnSpc>
                <a:spcPts val="1920"/>
              </a:lnSpc>
              <a:spcBef>
                <a:spcPts val="0"/>
              </a:spcBef>
              <a:spcAft>
                <a:spcPts val="0"/>
              </a:spcAft>
              <a:defRPr sz="1600" b="1" i="0">
                <a:solidFill>
                  <a:srgbClr val="003A70"/>
                </a:solidFill>
                <a:latin typeface="Montserrat"/>
              </a:defRPr>
            </a:pPr>
            <a:r>
              <a:rPr dirty="0" err="1"/>
              <a:t>Simulasi</a:t>
            </a:r>
            <a:r>
              <a:rPr dirty="0"/>
              <a:t> </a:t>
            </a:r>
            <a:r>
              <a:rPr lang="en-ID" dirty="0" err="1"/>
              <a:t>lingkungan</a:t>
            </a:r>
            <a:r>
              <a:rPr dirty="0"/>
              <a:t> (</a:t>
            </a:r>
            <a:r>
              <a:rPr dirty="0" err="1"/>
              <a:t>Mujoco</a:t>
            </a:r>
            <a:r>
              <a:rPr dirty="0"/>
              <a:t>)</a:t>
            </a:r>
          </a:p>
        </p:txBody>
      </p:sp>
      <p:sp>
        <p:nvSpPr>
          <p:cNvPr id="8" name="TextBox 7"/>
          <p:cNvSpPr txBox="1"/>
          <p:nvPr/>
        </p:nvSpPr>
        <p:spPr>
          <a:xfrm>
            <a:off x="1581912" y="1536192"/>
            <a:ext cx="9509760" cy="914400"/>
          </a:xfrm>
          <a:prstGeom prst="rect">
            <a:avLst/>
          </a:prstGeom>
          <a:noFill/>
        </p:spPr>
        <p:txBody>
          <a:bodyPr wrap="square"/>
          <a:lstStyle/>
          <a:p>
            <a:r>
              <a:rPr lang="en-ID" dirty="0" err="1"/>
              <a:t>Pengujian</a:t>
            </a:r>
            <a:r>
              <a:rPr lang="en-ID" dirty="0"/>
              <a:t> </a:t>
            </a:r>
            <a:r>
              <a:rPr lang="en-ID" dirty="0" err="1"/>
              <a:t>dilakukan</a:t>
            </a:r>
            <a:r>
              <a:rPr lang="en-ID" dirty="0"/>
              <a:t> pada </a:t>
            </a:r>
            <a:r>
              <a:rPr lang="en-ID" dirty="0" err="1"/>
              <a:t>simulasi</a:t>
            </a:r>
            <a:r>
              <a:rPr lang="en-ID" dirty="0"/>
              <a:t> yang </a:t>
            </a:r>
            <a:r>
              <a:rPr lang="en-ID" dirty="0" err="1"/>
              <a:t>didesain</a:t>
            </a:r>
            <a:r>
              <a:rPr lang="en-ID" dirty="0"/>
              <a:t> </a:t>
            </a:r>
            <a:r>
              <a:rPr lang="en-ID" dirty="0" err="1"/>
              <a:t>untuk</a:t>
            </a:r>
            <a:r>
              <a:rPr lang="en-ID" dirty="0"/>
              <a:t> </a:t>
            </a:r>
            <a:r>
              <a:rPr lang="en-ID" dirty="0" err="1"/>
              <a:t>merekayasa</a:t>
            </a:r>
            <a:r>
              <a:rPr lang="en-ID" dirty="0"/>
              <a:t> </a:t>
            </a:r>
            <a:r>
              <a:rPr lang="en-ID" dirty="0" err="1"/>
              <a:t>kondisi</a:t>
            </a:r>
            <a:r>
              <a:rPr lang="en-ID" dirty="0"/>
              <a:t> </a:t>
            </a:r>
            <a:r>
              <a:rPr lang="en-ID" dirty="0" err="1"/>
              <a:t>pasca</a:t>
            </a:r>
            <a:r>
              <a:rPr lang="en-ID" dirty="0"/>
              <a:t> </a:t>
            </a:r>
            <a:r>
              <a:rPr lang="en-ID" dirty="0" err="1"/>
              <a:t>gempa</a:t>
            </a:r>
            <a:r>
              <a:rPr lang="en-ID" dirty="0"/>
              <a:t>. Arena </a:t>
            </a:r>
            <a:r>
              <a:rPr lang="en-ID" dirty="0" err="1"/>
              <a:t>dilengkapi</a:t>
            </a:r>
            <a:r>
              <a:rPr lang="en-ID" dirty="0"/>
              <a:t> </a:t>
            </a:r>
            <a:r>
              <a:rPr lang="en-ID" dirty="0" err="1"/>
              <a:t>dengan</a:t>
            </a:r>
            <a:r>
              <a:rPr lang="en-ID" dirty="0"/>
              <a:t> </a:t>
            </a:r>
            <a:r>
              <a:rPr lang="en-ID" dirty="0" err="1"/>
              <a:t>rekayasa</a:t>
            </a:r>
            <a:r>
              <a:rPr lang="en-ID" dirty="0"/>
              <a:t> </a:t>
            </a:r>
            <a:r>
              <a:rPr lang="en-ID" dirty="0" err="1"/>
              <a:t>rintangan</a:t>
            </a:r>
            <a:r>
              <a:rPr lang="en-ID" dirty="0"/>
              <a:t> </a:t>
            </a:r>
            <a:r>
              <a:rPr lang="en-ID" dirty="0" err="1"/>
              <a:t>tidak</a:t>
            </a:r>
            <a:r>
              <a:rPr lang="en-ID" dirty="0"/>
              <a:t> </a:t>
            </a:r>
            <a:r>
              <a:rPr lang="en-ID" dirty="0" err="1"/>
              <a:t>diketahui</a:t>
            </a:r>
            <a:r>
              <a:rPr lang="en-ID" dirty="0"/>
              <a:t>, </a:t>
            </a:r>
            <a:r>
              <a:rPr lang="en-ID" dirty="0" err="1"/>
              <a:t>tanjakan</a:t>
            </a:r>
            <a:r>
              <a:rPr lang="en-ID" dirty="0"/>
              <a:t>, dan </a:t>
            </a:r>
            <a:r>
              <a:rPr lang="en-ID" dirty="0" err="1"/>
              <a:t>permukaan</a:t>
            </a:r>
            <a:r>
              <a:rPr lang="en-ID" dirty="0"/>
              <a:t> </a:t>
            </a:r>
            <a:r>
              <a:rPr lang="en-ID" dirty="0" err="1"/>
              <a:t>tidak</a:t>
            </a:r>
            <a:r>
              <a:rPr lang="en-ID" dirty="0"/>
              <a:t> rata, yang </a:t>
            </a:r>
            <a:r>
              <a:rPr lang="en-ID" dirty="0" err="1"/>
              <a:t>dibuat</a:t>
            </a:r>
            <a:r>
              <a:rPr lang="en-ID" dirty="0"/>
              <a:t> pada </a:t>
            </a:r>
            <a:r>
              <a:rPr lang="en-ID" dirty="0" err="1"/>
              <a:t>skala</a:t>
            </a:r>
            <a:r>
              <a:rPr lang="en-ID" dirty="0"/>
              <a:t> </a:t>
            </a:r>
            <a:r>
              <a:rPr lang="en-ID" dirty="0" err="1"/>
              <a:t>lebih</a:t>
            </a:r>
            <a:r>
              <a:rPr lang="en-ID" dirty="0"/>
              <a:t> </a:t>
            </a:r>
            <a:r>
              <a:rPr lang="en-ID" dirty="0" err="1"/>
              <a:t>kecil</a:t>
            </a:r>
            <a:r>
              <a:rPr lang="en-ID" dirty="0"/>
              <a:t>. </a:t>
            </a:r>
          </a:p>
        </p:txBody>
      </p:sp>
      <p:sp>
        <p:nvSpPr>
          <p:cNvPr id="9" name="Rounded Rectangle 8"/>
          <p:cNvSpPr/>
          <p:nvPr/>
        </p:nvSpPr>
        <p:spPr>
          <a:xfrm>
            <a:off x="850392" y="2743200"/>
            <a:ext cx="10515600" cy="14173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50392" y="2743200"/>
            <a:ext cx="63500" cy="141732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sosceles Triangle 10"/>
          <p:cNvSpPr/>
          <p:nvPr/>
        </p:nvSpPr>
        <p:spPr>
          <a:xfrm>
            <a:off x="1078992" y="2926080"/>
            <a:ext cx="320040" cy="292608"/>
          </a:xfrm>
          <a:prstGeom prst="triangl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a:t>
            </a:r>
          </a:p>
        </p:txBody>
      </p:sp>
      <p:sp>
        <p:nvSpPr>
          <p:cNvPr id="12" name="TextBox 11"/>
          <p:cNvSpPr txBox="1"/>
          <p:nvPr/>
        </p:nvSpPr>
        <p:spPr>
          <a:xfrm>
            <a:off x="1581912" y="2852928"/>
            <a:ext cx="4572000" cy="320040"/>
          </a:xfrm>
          <a:prstGeom prst="rect">
            <a:avLst/>
          </a:prstGeom>
          <a:noFill/>
        </p:spPr>
        <p:txBody>
          <a:bodyPr wrap="square"/>
          <a:lstStyle/>
          <a:p>
            <a:pPr algn="l">
              <a:lnSpc>
                <a:spcPts val="1920"/>
              </a:lnSpc>
              <a:spcBef>
                <a:spcPts val="0"/>
              </a:spcBef>
              <a:spcAft>
                <a:spcPts val="0"/>
              </a:spcAft>
              <a:defRPr sz="1600" b="1" i="0">
                <a:solidFill>
                  <a:srgbClr val="4A90D9"/>
                </a:solidFill>
                <a:latin typeface="Montserrat"/>
              </a:defRPr>
            </a:pPr>
            <a:r>
              <a:rPr dirty="0"/>
              <a:t>Platform Robot Hexapod + LiDAR 2D</a:t>
            </a:r>
          </a:p>
        </p:txBody>
      </p:sp>
      <p:sp>
        <p:nvSpPr>
          <p:cNvPr id="13" name="TextBox 12"/>
          <p:cNvSpPr txBox="1"/>
          <p:nvPr/>
        </p:nvSpPr>
        <p:spPr>
          <a:xfrm>
            <a:off x="1581912" y="3182112"/>
            <a:ext cx="9710928" cy="914400"/>
          </a:xfrm>
          <a:prstGeom prst="rect">
            <a:avLst/>
          </a:prstGeom>
          <a:noFill/>
        </p:spPr>
        <p:txBody>
          <a:bodyPr wrap="square"/>
          <a:lstStyle/>
          <a:p>
            <a:r>
              <a:rPr lang="en-ID" dirty="0" err="1"/>
              <a:t>Navigasi</a:t>
            </a:r>
            <a:r>
              <a:rPr lang="en-ID" dirty="0"/>
              <a:t> </a:t>
            </a:r>
            <a:r>
              <a:rPr lang="en-ID" dirty="0" err="1"/>
              <a:t>dilakukan</a:t>
            </a:r>
            <a:r>
              <a:rPr lang="en-ID" dirty="0"/>
              <a:t> oleh robot </a:t>
            </a:r>
            <a:r>
              <a:rPr lang="en-ID" dirty="0" err="1"/>
              <a:t>darat</a:t>
            </a:r>
            <a:r>
              <a:rPr lang="en-ID" dirty="0"/>
              <a:t> hexapod yang </a:t>
            </a:r>
            <a:r>
              <a:rPr lang="en-ID" dirty="0" err="1"/>
              <a:t>melakukan</a:t>
            </a:r>
            <a:r>
              <a:rPr lang="en-ID" dirty="0"/>
              <a:t> </a:t>
            </a:r>
            <a:r>
              <a:rPr lang="en-ID" dirty="0" err="1"/>
              <a:t>navigasi</a:t>
            </a:r>
            <a:r>
              <a:rPr lang="en-ID" dirty="0"/>
              <a:t> </a:t>
            </a:r>
            <a:r>
              <a:rPr lang="en-ID" dirty="0" err="1"/>
              <a:t>secara</a:t>
            </a:r>
            <a:r>
              <a:rPr lang="en-ID" dirty="0"/>
              <a:t> </a:t>
            </a:r>
            <a:r>
              <a:rPr lang="en-ID" dirty="0" err="1"/>
              <a:t>otonom</a:t>
            </a:r>
            <a:r>
              <a:rPr lang="en-ID" dirty="0"/>
              <a:t>, </a:t>
            </a:r>
            <a:r>
              <a:rPr lang="en-ID" dirty="0" err="1"/>
              <a:t>dengan</a:t>
            </a:r>
            <a:r>
              <a:rPr lang="en-ID" dirty="0"/>
              <a:t> </a:t>
            </a:r>
            <a:r>
              <a:rPr lang="en-ID" dirty="0" err="1"/>
              <a:t>bergerak</a:t>
            </a:r>
            <a:r>
              <a:rPr lang="en-ID" dirty="0"/>
              <a:t> </a:t>
            </a:r>
            <a:r>
              <a:rPr lang="en-ID" dirty="0" err="1"/>
              <a:t>dari</a:t>
            </a:r>
            <a:r>
              <a:rPr lang="en-ID" dirty="0"/>
              <a:t> </a:t>
            </a:r>
            <a:r>
              <a:rPr lang="en-ID" dirty="0" err="1"/>
              <a:t>titik</a:t>
            </a:r>
            <a:r>
              <a:rPr lang="en-ID" dirty="0"/>
              <a:t> </a:t>
            </a:r>
            <a:r>
              <a:rPr lang="en-ID" dirty="0" err="1"/>
              <a:t>awal</a:t>
            </a:r>
            <a:r>
              <a:rPr lang="en-ID" dirty="0"/>
              <a:t> </a:t>
            </a:r>
            <a:r>
              <a:rPr lang="en-ID" dirty="0" err="1"/>
              <a:t>menuju</a:t>
            </a:r>
            <a:r>
              <a:rPr lang="en-ID" dirty="0"/>
              <a:t> </a:t>
            </a:r>
            <a:r>
              <a:rPr lang="en-ID" dirty="0" err="1"/>
              <a:t>tujuan</a:t>
            </a:r>
            <a:r>
              <a:rPr lang="en-ID" dirty="0"/>
              <a:t> yang </a:t>
            </a:r>
            <a:r>
              <a:rPr lang="en-ID" dirty="0" err="1"/>
              <a:t>telah</a:t>
            </a:r>
            <a:r>
              <a:rPr lang="en-ID" dirty="0"/>
              <a:t> </a:t>
            </a:r>
            <a:r>
              <a:rPr lang="en-ID" dirty="0" err="1"/>
              <a:t>ditentukan</a:t>
            </a:r>
            <a:r>
              <a:rPr lang="en-ID" dirty="0"/>
              <a:t>. </a:t>
            </a:r>
          </a:p>
        </p:txBody>
      </p:sp>
      <p:sp>
        <p:nvSpPr>
          <p:cNvPr id="14" name="Rounded Rectangle 13"/>
          <p:cNvSpPr/>
          <p:nvPr/>
        </p:nvSpPr>
        <p:spPr>
          <a:xfrm>
            <a:off x="850392" y="4389120"/>
            <a:ext cx="10515600" cy="14173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392" y="4389120"/>
            <a:ext cx="63500" cy="14173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Isosceles Triangle 15"/>
          <p:cNvSpPr/>
          <p:nvPr/>
        </p:nvSpPr>
        <p:spPr>
          <a:xfrm>
            <a:off x="1078992" y="4572000"/>
            <a:ext cx="320040" cy="292608"/>
          </a:xfrm>
          <a:prstGeom prst="triangle">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a:t>
            </a:r>
          </a:p>
        </p:txBody>
      </p:sp>
      <p:sp>
        <p:nvSpPr>
          <p:cNvPr id="17" name="TextBox 16"/>
          <p:cNvSpPr txBox="1"/>
          <p:nvPr/>
        </p:nvSpPr>
        <p:spPr>
          <a:xfrm>
            <a:off x="1581911" y="4498848"/>
            <a:ext cx="4835513" cy="320040"/>
          </a:xfrm>
          <a:prstGeom prst="rect">
            <a:avLst/>
          </a:prstGeom>
          <a:noFill/>
        </p:spPr>
        <p:txBody>
          <a:bodyPr wrap="square"/>
          <a:lstStyle/>
          <a:p>
            <a:pPr algn="l">
              <a:lnSpc>
                <a:spcPts val="1920"/>
              </a:lnSpc>
              <a:spcBef>
                <a:spcPts val="0"/>
              </a:spcBef>
              <a:spcAft>
                <a:spcPts val="0"/>
              </a:spcAft>
              <a:defRPr sz="1600" b="1" i="0">
                <a:solidFill>
                  <a:srgbClr val="F08C2E"/>
                </a:solidFill>
                <a:latin typeface="Montserrat"/>
              </a:defRPr>
            </a:pPr>
            <a:r>
              <a:rPr dirty="0" err="1"/>
              <a:t>Lingkungan</a:t>
            </a:r>
            <a:r>
              <a:rPr dirty="0"/>
              <a:t> Statis </a:t>
            </a:r>
            <a:r>
              <a:rPr dirty="0" err="1"/>
              <a:t>Diketahui</a:t>
            </a:r>
            <a:r>
              <a:rPr dirty="0"/>
              <a:t> (Known Map)</a:t>
            </a:r>
          </a:p>
        </p:txBody>
      </p:sp>
      <p:sp>
        <p:nvSpPr>
          <p:cNvPr id="18" name="TextBox 17"/>
          <p:cNvSpPr txBox="1"/>
          <p:nvPr/>
        </p:nvSpPr>
        <p:spPr>
          <a:xfrm>
            <a:off x="1581912" y="4828032"/>
            <a:ext cx="9509760" cy="914400"/>
          </a:xfrm>
          <a:prstGeom prst="rect">
            <a:avLst/>
          </a:prstGeom>
          <a:noFill/>
        </p:spPr>
        <p:txBody>
          <a:bodyPr wrap="square"/>
          <a:lstStyle/>
          <a:p>
            <a:r>
              <a:rPr lang="en-ID" dirty="0" err="1"/>
              <a:t>Algoritma</a:t>
            </a:r>
            <a:r>
              <a:rPr lang="en-ID" dirty="0"/>
              <a:t> </a:t>
            </a:r>
            <a:r>
              <a:rPr lang="en-ID" dirty="0" err="1"/>
              <a:t>navigasi</a:t>
            </a:r>
            <a:r>
              <a:rPr lang="en-ID" dirty="0"/>
              <a:t> </a:t>
            </a:r>
            <a:r>
              <a:rPr lang="en-ID" dirty="0" err="1"/>
              <a:t>digunakan</a:t>
            </a:r>
            <a:r>
              <a:rPr lang="en-ID" dirty="0"/>
              <a:t> pada </a:t>
            </a:r>
            <a:r>
              <a:rPr lang="en-ID" dirty="0" err="1"/>
              <a:t>kondisi</a:t>
            </a:r>
            <a:r>
              <a:rPr lang="en-ID" dirty="0"/>
              <a:t> </a:t>
            </a:r>
            <a:r>
              <a:rPr lang="en-ID" dirty="0" err="1"/>
              <a:t>sudah</a:t>
            </a:r>
            <a:r>
              <a:rPr lang="en-ID" dirty="0"/>
              <a:t> </a:t>
            </a:r>
            <a:r>
              <a:rPr lang="en-ID" dirty="0" err="1"/>
              <a:t>diketahui</a:t>
            </a:r>
            <a:r>
              <a:rPr lang="en-ID" dirty="0"/>
              <a:t> </a:t>
            </a:r>
            <a:r>
              <a:rPr lang="en-ID" dirty="0" err="1"/>
              <a:t>lingkungan</a:t>
            </a:r>
            <a:r>
              <a:rPr lang="en-ID" dirty="0"/>
              <a:t> </a:t>
            </a:r>
            <a:r>
              <a:rPr lang="en-ID" dirty="0" err="1"/>
              <a:t>utamanya</a:t>
            </a:r>
            <a:endParaRPr lang="en-ID" dirty="0"/>
          </a:p>
        </p:txBody>
      </p:sp>
      <p:sp>
        <p:nvSpPr>
          <p:cNvPr id="22" name="TextBox 2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E4F0FF"/>
            </a:gs>
            <a:gs pos="100000">
              <a:srgbClr val="C1D7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TUJUAN &amp; MANFAAT</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0392" y="1005840"/>
            <a:ext cx="2807208" cy="365760"/>
          </a:xfrm>
          <a:prstGeom prst="rect">
            <a:avLst/>
          </a:prstGeom>
          <a:noFill/>
        </p:spPr>
        <p:txBody>
          <a:bodyPr wrap="square"/>
          <a:lstStyle/>
          <a:p>
            <a:pPr algn="l">
              <a:lnSpc>
                <a:spcPts val="2160"/>
              </a:lnSpc>
              <a:spcBef>
                <a:spcPts val="0"/>
              </a:spcBef>
              <a:spcAft>
                <a:spcPts val="0"/>
              </a:spcAft>
              <a:defRPr sz="1800" b="1" i="0">
                <a:solidFill>
                  <a:srgbClr val="003A70"/>
                </a:solidFill>
                <a:latin typeface="Montserrat"/>
              </a:defRPr>
            </a:pPr>
            <a:r>
              <a:rPr dirty="0"/>
              <a:t>Tujuan </a:t>
            </a:r>
            <a:r>
              <a:rPr dirty="0" err="1"/>
              <a:t>Penelitian</a:t>
            </a:r>
            <a:endParaRPr dirty="0"/>
          </a:p>
        </p:txBody>
      </p:sp>
      <p:sp>
        <p:nvSpPr>
          <p:cNvPr id="5" name="Rounded Rectangle 4"/>
          <p:cNvSpPr/>
          <p:nvPr/>
        </p:nvSpPr>
        <p:spPr>
          <a:xfrm>
            <a:off x="941832" y="1463040"/>
            <a:ext cx="53035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41832" y="148132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a:t>
            </a:r>
          </a:p>
        </p:txBody>
      </p:sp>
      <p:sp>
        <p:nvSpPr>
          <p:cNvPr id="7" name="TextBox 6"/>
          <p:cNvSpPr txBox="1"/>
          <p:nvPr/>
        </p:nvSpPr>
        <p:spPr>
          <a:xfrm>
            <a:off x="1444752" y="1463040"/>
            <a:ext cx="480060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Representasi Multi-Lantai</a:t>
            </a:r>
          </a:p>
        </p:txBody>
      </p:sp>
      <p:sp>
        <p:nvSpPr>
          <p:cNvPr id="8" name="TextBox 7"/>
          <p:cNvSpPr txBox="1"/>
          <p:nvPr/>
        </p:nvSpPr>
        <p:spPr>
          <a:xfrm>
            <a:off x="1444752" y="1719072"/>
            <a:ext cx="4800600" cy="749808"/>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Mengembangkan metode representasi lingkungan menggunakan layered costmap untuk menyederhanakan informasi lingkungan multi-lantai</a:t>
            </a:r>
          </a:p>
        </p:txBody>
      </p:sp>
      <p:sp>
        <p:nvSpPr>
          <p:cNvPr id="9" name="Rounded Rectangle 8"/>
          <p:cNvSpPr/>
          <p:nvPr/>
        </p:nvSpPr>
        <p:spPr>
          <a:xfrm>
            <a:off x="941832" y="2606040"/>
            <a:ext cx="53035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41832" y="262432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a:t>
            </a:r>
          </a:p>
        </p:txBody>
      </p:sp>
      <p:sp>
        <p:nvSpPr>
          <p:cNvPr id="11" name="TextBox 10"/>
          <p:cNvSpPr txBox="1"/>
          <p:nvPr/>
        </p:nvSpPr>
        <p:spPr>
          <a:xfrm>
            <a:off x="1444752" y="2606040"/>
            <a:ext cx="480060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Algoritma Navigasi Antar Lantai</a:t>
            </a:r>
          </a:p>
        </p:txBody>
      </p:sp>
      <p:sp>
        <p:nvSpPr>
          <p:cNvPr id="12" name="TextBox 11"/>
          <p:cNvSpPr txBox="1"/>
          <p:nvPr/>
        </p:nvSpPr>
        <p:spPr>
          <a:xfrm>
            <a:off x="1444752" y="2862072"/>
            <a:ext cx="4800600" cy="749808"/>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Merancang dan mengimplementasikan algoritma lokalisasi, path planning, dan path tracking yang menggunakan layered costmap</a:t>
            </a:r>
          </a:p>
        </p:txBody>
      </p:sp>
      <p:sp>
        <p:nvSpPr>
          <p:cNvPr id="13" name="Rounded Rectangle 12"/>
          <p:cNvSpPr/>
          <p:nvPr/>
        </p:nvSpPr>
        <p:spPr>
          <a:xfrm>
            <a:off x="941832" y="3749040"/>
            <a:ext cx="53035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41832" y="376732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a:t>
            </a:r>
          </a:p>
        </p:txBody>
      </p:sp>
      <p:sp>
        <p:nvSpPr>
          <p:cNvPr id="15" name="TextBox 14"/>
          <p:cNvSpPr txBox="1"/>
          <p:nvPr/>
        </p:nvSpPr>
        <p:spPr>
          <a:xfrm>
            <a:off x="1444752" y="3749040"/>
            <a:ext cx="480060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Evaluasi di Simulasi</a:t>
            </a:r>
          </a:p>
        </p:txBody>
      </p:sp>
      <p:sp>
        <p:nvSpPr>
          <p:cNvPr id="16" name="TextBox 15"/>
          <p:cNvSpPr txBox="1"/>
          <p:nvPr/>
        </p:nvSpPr>
        <p:spPr>
          <a:xfrm>
            <a:off x="1444752" y="4005072"/>
            <a:ext cx="4800600" cy="749808"/>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rPr dirty="0" err="1"/>
              <a:t>Melakukan</a:t>
            </a:r>
            <a:r>
              <a:rPr dirty="0"/>
              <a:t> </a:t>
            </a:r>
            <a:r>
              <a:rPr dirty="0" err="1"/>
              <a:t>pengujian</a:t>
            </a:r>
            <a:r>
              <a:rPr dirty="0"/>
              <a:t> </a:t>
            </a:r>
            <a:r>
              <a:rPr dirty="0" err="1"/>
              <a:t>sistem</a:t>
            </a:r>
            <a:r>
              <a:rPr dirty="0"/>
              <a:t> di </a:t>
            </a:r>
            <a:r>
              <a:rPr dirty="0" err="1"/>
              <a:t>lingkungan</a:t>
            </a:r>
            <a:r>
              <a:rPr dirty="0"/>
              <a:t> </a:t>
            </a:r>
            <a:r>
              <a:rPr dirty="0" err="1"/>
              <a:t>simulasi</a:t>
            </a:r>
            <a:r>
              <a:rPr dirty="0"/>
              <a:t> </a:t>
            </a:r>
            <a:r>
              <a:rPr dirty="0" err="1"/>
              <a:t>untuk</a:t>
            </a:r>
            <a:r>
              <a:rPr dirty="0"/>
              <a:t> </a:t>
            </a:r>
            <a:r>
              <a:rPr dirty="0" err="1"/>
              <a:t>mengevaluasi</a:t>
            </a:r>
            <a:r>
              <a:rPr dirty="0"/>
              <a:t> </a:t>
            </a:r>
            <a:r>
              <a:rPr dirty="0" err="1"/>
              <a:t>efektivitas</a:t>
            </a:r>
            <a:r>
              <a:rPr dirty="0"/>
              <a:t> dan </a:t>
            </a:r>
            <a:r>
              <a:rPr dirty="0" err="1"/>
              <a:t>keterbatasan</a:t>
            </a:r>
            <a:r>
              <a:rPr dirty="0"/>
              <a:t> </a:t>
            </a:r>
            <a:r>
              <a:rPr dirty="0" err="1"/>
              <a:t>pendekatan</a:t>
            </a:r>
            <a:r>
              <a:rPr dirty="0"/>
              <a:t> yang </a:t>
            </a:r>
            <a:r>
              <a:rPr dirty="0" err="1"/>
              <a:t>diusulkan</a:t>
            </a:r>
            <a:endParaRPr dirty="0"/>
          </a:p>
        </p:txBody>
      </p:sp>
      <p:sp>
        <p:nvSpPr>
          <p:cNvPr id="17" name="TextBox 16"/>
          <p:cNvSpPr txBox="1"/>
          <p:nvPr/>
        </p:nvSpPr>
        <p:spPr>
          <a:xfrm>
            <a:off x="6400799" y="1005840"/>
            <a:ext cx="2552007" cy="365760"/>
          </a:xfrm>
          <a:prstGeom prst="rect">
            <a:avLst/>
          </a:prstGeom>
          <a:noFill/>
        </p:spPr>
        <p:txBody>
          <a:bodyPr wrap="square"/>
          <a:lstStyle/>
          <a:p>
            <a:pPr algn="l">
              <a:lnSpc>
                <a:spcPts val="2160"/>
              </a:lnSpc>
              <a:spcBef>
                <a:spcPts val="0"/>
              </a:spcBef>
              <a:spcAft>
                <a:spcPts val="0"/>
              </a:spcAft>
              <a:defRPr sz="1800" b="1" i="0">
                <a:solidFill>
                  <a:srgbClr val="003A70"/>
                </a:solidFill>
                <a:latin typeface="Montserrat"/>
              </a:defRPr>
            </a:pPr>
            <a:r>
              <a:rPr dirty="0"/>
              <a:t>Manfaat </a:t>
            </a:r>
            <a:r>
              <a:rPr dirty="0" err="1"/>
              <a:t>Penelitian</a:t>
            </a:r>
            <a:endParaRPr dirty="0"/>
          </a:p>
        </p:txBody>
      </p:sp>
      <p:sp>
        <p:nvSpPr>
          <p:cNvPr id="18" name="Rounded Rectangle 17"/>
          <p:cNvSpPr/>
          <p:nvPr/>
        </p:nvSpPr>
        <p:spPr>
          <a:xfrm>
            <a:off x="6492240" y="1463040"/>
            <a:ext cx="5303520" cy="5029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92240" y="1463040"/>
            <a:ext cx="411480" cy="41148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solidFill>
                  <a:srgbClr val="FFFFFF"/>
                </a:solidFill>
              </a:defRPr>
            </a:pPr>
            <a:r>
              <a:t>⭐</a:t>
            </a:r>
          </a:p>
        </p:txBody>
      </p:sp>
      <p:sp>
        <p:nvSpPr>
          <p:cNvPr id="20" name="TextBox 19"/>
          <p:cNvSpPr txBox="1"/>
          <p:nvPr/>
        </p:nvSpPr>
        <p:spPr>
          <a:xfrm>
            <a:off x="7040880" y="1444752"/>
            <a:ext cx="4754880" cy="228600"/>
          </a:xfrm>
          <a:prstGeom prst="rect">
            <a:avLst/>
          </a:prstGeom>
          <a:noFill/>
        </p:spPr>
        <p:txBody>
          <a:bodyPr wrap="square"/>
          <a:lstStyle/>
          <a:p>
            <a:pPr algn="l">
              <a:lnSpc>
                <a:spcPts val="1680"/>
              </a:lnSpc>
              <a:spcBef>
                <a:spcPts val="0"/>
              </a:spcBef>
              <a:spcAft>
                <a:spcPts val="0"/>
              </a:spcAft>
              <a:defRPr sz="1400" b="1" i="0">
                <a:solidFill>
                  <a:srgbClr val="1A2B4C"/>
                </a:solidFill>
                <a:latin typeface="Montserrat"/>
              </a:defRPr>
            </a:pPr>
            <a:endParaRPr/>
          </a:p>
        </p:txBody>
      </p:sp>
      <p:sp>
        <p:nvSpPr>
          <p:cNvPr id="21" name="TextBox 20"/>
          <p:cNvSpPr txBox="1"/>
          <p:nvPr/>
        </p:nvSpPr>
        <p:spPr>
          <a:xfrm>
            <a:off x="6972300" y="1467196"/>
            <a:ext cx="4754880" cy="274320"/>
          </a:xfrm>
          <a:prstGeom prst="rect">
            <a:avLst/>
          </a:prstGeom>
          <a:noFill/>
        </p:spPr>
        <p:txBody>
          <a:bodyPr wrap="square"/>
          <a:lstStyle/>
          <a:p>
            <a:pPr algn="l">
              <a:lnSpc>
                <a:spcPts val="1560"/>
              </a:lnSpc>
              <a:spcBef>
                <a:spcPts val="0"/>
              </a:spcBef>
              <a:spcAft>
                <a:spcPts val="0"/>
              </a:spcAft>
              <a:defRPr sz="1200" b="0" i="0">
                <a:solidFill>
                  <a:srgbClr val="333333"/>
                </a:solidFill>
                <a:latin typeface="Lato"/>
              </a:defRPr>
            </a:pPr>
            <a:r>
              <a:rPr dirty="0" err="1"/>
              <a:t>Kontribusi</a:t>
            </a:r>
            <a:r>
              <a:rPr dirty="0"/>
              <a:t> pada </a:t>
            </a:r>
            <a:r>
              <a:rPr dirty="0" err="1"/>
              <a:t>sistem</a:t>
            </a:r>
            <a:r>
              <a:rPr dirty="0"/>
              <a:t> </a:t>
            </a:r>
            <a:r>
              <a:rPr dirty="0" err="1"/>
              <a:t>navigasi</a:t>
            </a:r>
            <a:r>
              <a:rPr dirty="0"/>
              <a:t> robot </a:t>
            </a:r>
            <a:r>
              <a:rPr dirty="0" err="1"/>
              <a:t>otonom</a:t>
            </a:r>
            <a:r>
              <a:rPr dirty="0"/>
              <a:t> di </a:t>
            </a:r>
            <a:r>
              <a:rPr dirty="0" err="1"/>
              <a:t>lingkungan</a:t>
            </a:r>
            <a:r>
              <a:rPr dirty="0"/>
              <a:t> </a:t>
            </a:r>
            <a:r>
              <a:rPr dirty="0" err="1"/>
              <a:t>kompleks</a:t>
            </a:r>
            <a:endParaRPr dirty="0"/>
          </a:p>
        </p:txBody>
      </p:sp>
      <p:sp>
        <p:nvSpPr>
          <p:cNvPr id="22" name="Rounded Rectangle 21"/>
          <p:cNvSpPr/>
          <p:nvPr/>
        </p:nvSpPr>
        <p:spPr>
          <a:xfrm>
            <a:off x="6492240" y="2331720"/>
            <a:ext cx="5303520" cy="5029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492240" y="2331720"/>
            <a:ext cx="411480" cy="41148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solidFill>
                  <a:srgbClr val="FFFFFF"/>
                </a:solidFill>
              </a:defRPr>
            </a:pPr>
            <a:r>
              <a:t>⭐</a:t>
            </a:r>
          </a:p>
        </p:txBody>
      </p:sp>
      <p:sp>
        <p:nvSpPr>
          <p:cNvPr id="24" name="TextBox 23"/>
          <p:cNvSpPr txBox="1"/>
          <p:nvPr/>
        </p:nvSpPr>
        <p:spPr>
          <a:xfrm>
            <a:off x="7040880" y="2313432"/>
            <a:ext cx="4754880" cy="228600"/>
          </a:xfrm>
          <a:prstGeom prst="rect">
            <a:avLst/>
          </a:prstGeom>
          <a:noFill/>
        </p:spPr>
        <p:txBody>
          <a:bodyPr wrap="square"/>
          <a:lstStyle/>
          <a:p>
            <a:pPr algn="l">
              <a:lnSpc>
                <a:spcPts val="1680"/>
              </a:lnSpc>
              <a:spcBef>
                <a:spcPts val="0"/>
              </a:spcBef>
              <a:spcAft>
                <a:spcPts val="0"/>
              </a:spcAft>
              <a:defRPr sz="1400" b="1" i="0">
                <a:solidFill>
                  <a:srgbClr val="1A2B4C"/>
                </a:solidFill>
                <a:latin typeface="Montserrat"/>
              </a:defRPr>
            </a:pPr>
            <a:endParaRPr/>
          </a:p>
        </p:txBody>
      </p:sp>
      <p:sp>
        <p:nvSpPr>
          <p:cNvPr id="25" name="TextBox 24"/>
          <p:cNvSpPr txBox="1"/>
          <p:nvPr/>
        </p:nvSpPr>
        <p:spPr>
          <a:xfrm>
            <a:off x="6972300" y="2350008"/>
            <a:ext cx="4754880" cy="274320"/>
          </a:xfrm>
          <a:prstGeom prst="rect">
            <a:avLst/>
          </a:prstGeom>
          <a:noFill/>
        </p:spPr>
        <p:txBody>
          <a:bodyPr wrap="square"/>
          <a:lstStyle/>
          <a:p>
            <a:pPr algn="l">
              <a:lnSpc>
                <a:spcPts val="1560"/>
              </a:lnSpc>
              <a:spcBef>
                <a:spcPts val="0"/>
              </a:spcBef>
              <a:spcAft>
                <a:spcPts val="0"/>
              </a:spcAft>
              <a:defRPr sz="1200" b="0" i="0">
                <a:solidFill>
                  <a:srgbClr val="333333"/>
                </a:solidFill>
                <a:latin typeface="Lato"/>
              </a:defRPr>
            </a:pPr>
            <a:r>
              <a:rPr dirty="0"/>
              <a:t>Dasar </a:t>
            </a:r>
            <a:r>
              <a:rPr dirty="0" err="1"/>
              <a:t>awal</a:t>
            </a:r>
            <a:r>
              <a:rPr dirty="0"/>
              <a:t> </a:t>
            </a:r>
            <a:r>
              <a:rPr dirty="0" err="1"/>
              <a:t>navigasi</a:t>
            </a:r>
            <a:r>
              <a:rPr dirty="0"/>
              <a:t> robot di area </a:t>
            </a:r>
            <a:r>
              <a:rPr dirty="0" err="1"/>
              <a:t>bertingkat</a:t>
            </a:r>
            <a:r>
              <a:rPr dirty="0"/>
              <a:t> </a:t>
            </a:r>
            <a:r>
              <a:rPr dirty="0" err="1"/>
              <a:t>atau</a:t>
            </a:r>
            <a:r>
              <a:rPr dirty="0"/>
              <a:t> </a:t>
            </a:r>
            <a:r>
              <a:rPr dirty="0" err="1"/>
              <a:t>runtuh</a:t>
            </a:r>
            <a:r>
              <a:rPr dirty="0"/>
              <a:t> </a:t>
            </a:r>
            <a:r>
              <a:rPr dirty="0" err="1"/>
              <a:t>pasca</a:t>
            </a:r>
            <a:r>
              <a:rPr dirty="0"/>
              <a:t> </a:t>
            </a:r>
            <a:r>
              <a:rPr dirty="0" err="1"/>
              <a:t>gempa</a:t>
            </a:r>
            <a:endParaRPr dirty="0"/>
          </a:p>
        </p:txBody>
      </p:sp>
      <p:sp>
        <p:nvSpPr>
          <p:cNvPr id="26" name="Rounded Rectangle 25"/>
          <p:cNvSpPr/>
          <p:nvPr/>
        </p:nvSpPr>
        <p:spPr>
          <a:xfrm>
            <a:off x="6492240" y="3200400"/>
            <a:ext cx="5303520" cy="5029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6492240" y="3200400"/>
            <a:ext cx="411480" cy="41148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solidFill>
                  <a:srgbClr val="FFFFFF"/>
                </a:solidFill>
              </a:defRPr>
            </a:pPr>
            <a:r>
              <a:t>⭐</a:t>
            </a:r>
          </a:p>
        </p:txBody>
      </p:sp>
      <p:sp>
        <p:nvSpPr>
          <p:cNvPr id="28" name="TextBox 27"/>
          <p:cNvSpPr txBox="1"/>
          <p:nvPr/>
        </p:nvSpPr>
        <p:spPr>
          <a:xfrm>
            <a:off x="7040880" y="3182112"/>
            <a:ext cx="4754880" cy="228600"/>
          </a:xfrm>
          <a:prstGeom prst="rect">
            <a:avLst/>
          </a:prstGeom>
          <a:noFill/>
        </p:spPr>
        <p:txBody>
          <a:bodyPr wrap="square"/>
          <a:lstStyle/>
          <a:p>
            <a:pPr algn="l">
              <a:lnSpc>
                <a:spcPts val="1680"/>
              </a:lnSpc>
              <a:spcBef>
                <a:spcPts val="0"/>
              </a:spcBef>
              <a:spcAft>
                <a:spcPts val="0"/>
              </a:spcAft>
              <a:defRPr sz="1400" b="1" i="0">
                <a:solidFill>
                  <a:srgbClr val="1A2B4C"/>
                </a:solidFill>
                <a:latin typeface="Montserrat"/>
              </a:defRPr>
            </a:pPr>
            <a:endParaRPr/>
          </a:p>
        </p:txBody>
      </p:sp>
      <p:sp>
        <p:nvSpPr>
          <p:cNvPr id="29" name="TextBox 28"/>
          <p:cNvSpPr txBox="1"/>
          <p:nvPr/>
        </p:nvSpPr>
        <p:spPr>
          <a:xfrm>
            <a:off x="6972300" y="3236976"/>
            <a:ext cx="4754880" cy="274320"/>
          </a:xfrm>
          <a:prstGeom prst="rect">
            <a:avLst/>
          </a:prstGeom>
          <a:noFill/>
        </p:spPr>
        <p:txBody>
          <a:bodyPr wrap="square"/>
          <a:lstStyle/>
          <a:p>
            <a:pPr algn="l">
              <a:lnSpc>
                <a:spcPts val="1560"/>
              </a:lnSpc>
              <a:spcBef>
                <a:spcPts val="0"/>
              </a:spcBef>
              <a:spcAft>
                <a:spcPts val="0"/>
              </a:spcAft>
              <a:defRPr sz="1200" b="0" i="0">
                <a:solidFill>
                  <a:srgbClr val="333333"/>
                </a:solidFill>
                <a:latin typeface="Lato"/>
              </a:defRPr>
            </a:pPr>
            <a:r>
              <a:rPr dirty="0" err="1"/>
              <a:t>Fondasi</a:t>
            </a:r>
            <a:r>
              <a:rPr dirty="0"/>
              <a:t> </a:t>
            </a:r>
            <a:r>
              <a:rPr dirty="0" err="1"/>
              <a:t>penelitian</a:t>
            </a:r>
            <a:r>
              <a:rPr dirty="0"/>
              <a:t> </a:t>
            </a:r>
            <a:r>
              <a:rPr dirty="0" err="1"/>
              <a:t>lanjutan</a:t>
            </a:r>
            <a:r>
              <a:rPr dirty="0"/>
              <a:t> </a:t>
            </a:r>
            <a:r>
              <a:rPr dirty="0" err="1"/>
              <a:t>untuk</a:t>
            </a:r>
            <a:r>
              <a:rPr dirty="0"/>
              <a:t> robot SAR </a:t>
            </a:r>
            <a:r>
              <a:rPr dirty="0" err="1"/>
              <a:t>otonom</a:t>
            </a:r>
            <a:r>
              <a:rPr dirty="0"/>
              <a:t> di area </a:t>
            </a:r>
            <a:r>
              <a:rPr dirty="0" err="1"/>
              <a:t>bencana</a:t>
            </a:r>
            <a:endParaRPr dirty="0"/>
          </a:p>
        </p:txBody>
      </p:sp>
      <p:sp>
        <p:nvSpPr>
          <p:cNvPr id="30" name="TextBox 29"/>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7315200" cy="502920"/>
          </a:xfrm>
          <a:prstGeom prst="rect">
            <a:avLst/>
          </a:prstGeom>
          <a:noFill/>
        </p:spPr>
        <p:txBody>
          <a:bodyPr wrap="square"/>
          <a:lstStyle/>
          <a:p>
            <a:pPr algn="l">
              <a:lnSpc>
                <a:spcPts val="3360"/>
              </a:lnSpc>
              <a:spcBef>
                <a:spcPts val="0"/>
              </a:spcBef>
              <a:spcAft>
                <a:spcPts val="0"/>
              </a:spcAft>
              <a:defRPr sz="2800" b="1" i="0">
                <a:solidFill>
                  <a:srgbClr val="1A2B4C"/>
                </a:solidFill>
                <a:latin typeface="Montserrat"/>
              </a:defRPr>
            </a:pPr>
            <a:r>
              <a:t>PENELITIAN TERDAHULU</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extLst>
              <p:ext uri="{D42A27DB-BD31-4B8C-83A1-F6EECF244321}">
                <p14:modId xmlns:p14="http://schemas.microsoft.com/office/powerpoint/2010/main" val="642821960"/>
              </p:ext>
            </p:extLst>
          </p:nvPr>
        </p:nvGraphicFramePr>
        <p:xfrm>
          <a:off x="850392" y="1051560"/>
          <a:ext cx="10515600" cy="5212080"/>
        </p:xfrm>
        <a:graphic>
          <a:graphicData uri="http://schemas.openxmlformats.org/drawingml/2006/table">
            <a:tbl>
              <a:tblPr firstRow="1" bandRow="1">
                <a:tableStyleId>{5C22544A-7EE6-4342-B048-85BDC9FD1C3A}</a:tableStyleId>
              </a:tblPr>
              <a:tblGrid>
                <a:gridCol w="4937760">
                  <a:extLst>
                    <a:ext uri="{9D8B030D-6E8A-4147-A177-3AD203B41FA5}">
                      <a16:colId xmlns:a16="http://schemas.microsoft.com/office/drawing/2014/main" val="20000"/>
                    </a:ext>
                  </a:extLst>
                </a:gridCol>
                <a:gridCol w="5577840">
                  <a:extLst>
                    <a:ext uri="{9D8B030D-6E8A-4147-A177-3AD203B41FA5}">
                      <a16:colId xmlns:a16="http://schemas.microsoft.com/office/drawing/2014/main" val="20001"/>
                    </a:ext>
                  </a:extLst>
                </a:gridCol>
              </a:tblGrid>
              <a:tr h="868680">
                <a:tc>
                  <a:txBody>
                    <a:bodyPr/>
                    <a:lstStyle/>
                    <a:p>
                      <a:pPr algn="ctr">
                        <a:defRPr sz="1100" b="1">
                          <a:solidFill>
                            <a:srgbClr val="FFFFFF"/>
                          </a:solidFill>
                          <a:latin typeface="Lato"/>
                        </a:defRPr>
                      </a:pPr>
                      <a:r>
                        <a:t>Pendekatan Unik pada Penelitian Terdahulu</a:t>
                      </a:r>
                    </a:p>
                  </a:txBody>
                  <a:tcPr marL="63500" marR="63500" marT="38100" marB="38100" anchor="ctr">
                    <a:solidFill>
                      <a:srgbClr val="003A70"/>
                    </a:solidFill>
                  </a:tcPr>
                </a:tc>
                <a:tc>
                  <a:txBody>
                    <a:bodyPr/>
                    <a:lstStyle/>
                    <a:p>
                      <a:pPr algn="ctr">
                        <a:defRPr sz="1100" b="1">
                          <a:solidFill>
                            <a:srgbClr val="FFFFFF"/>
                          </a:solidFill>
                          <a:latin typeface="Lato"/>
                        </a:defRPr>
                      </a:pPr>
                      <a:r>
                        <a:t>Perbandingan dengan Penelitian Ini</a:t>
                      </a:r>
                    </a:p>
                  </a:txBody>
                  <a:tcPr marL="63500" marR="63500" marT="38100" marB="38100" anchor="ctr">
                    <a:solidFill>
                      <a:srgbClr val="003A70"/>
                    </a:solidFill>
                  </a:tcPr>
                </a:tc>
                <a:extLst>
                  <a:ext uri="{0D108BD9-81ED-4DB2-BD59-A6C34878D82A}">
                    <a16:rowId xmlns:a16="http://schemas.microsoft.com/office/drawing/2014/main" val="10000"/>
                  </a:ext>
                </a:extLst>
              </a:tr>
              <a:tr h="868680">
                <a:tc>
                  <a:txBody>
                    <a:bodyPr/>
                    <a:lstStyle/>
                    <a:p>
                      <a:pPr algn="l">
                        <a:spcAft>
                          <a:spcPts val="200"/>
                        </a:spcAft>
                        <a:defRPr sz="1000" b="1">
                          <a:solidFill>
                            <a:srgbClr val="003A70"/>
                          </a:solidFill>
                          <a:latin typeface="Montserrat"/>
                        </a:defRPr>
                      </a:pPr>
                      <a:r>
                        <a:t>Macenski et al. (2023)</a:t>
                      </a:r>
                      <a:br/>
                      <a:r>
                        <a:t>Layered Costmap</a:t>
                      </a:r>
                    </a:p>
                    <a:p>
                      <a:pPr algn="l">
                        <a:defRPr sz="900" b="0">
                          <a:solidFill>
                            <a:srgbClr val="333333"/>
                          </a:solidFill>
                          <a:latin typeface="Lato"/>
                        </a:defRPr>
                      </a:pPr>
                      <a:r>
                        <a:t>Mengusulkan arsitektur layered costmap pertama — membagi costmap menjadi layer semantik terpisah (static, obstacle, inflation) yang memperbarui master grid secara terstruktur.</a:t>
                      </a:r>
                    </a:p>
                  </a:txBody>
                  <a:tcPr marL="63500" marR="63500" marT="38100" marB="38100" anchor="ctr">
                    <a:solidFill>
                      <a:srgbClr val="F2F7FC"/>
                    </a:solidFill>
                  </a:tcPr>
                </a:tc>
                <a:tc>
                  <a:txBody>
                    <a:bodyPr/>
                    <a:lstStyle/>
                    <a:p>
                      <a:pPr algn="l">
                        <a:defRPr sz="900" b="0">
                          <a:solidFill>
                            <a:srgbClr val="333333"/>
                          </a:solidFill>
                          <a:latin typeface="Lato"/>
                        </a:defRPr>
                      </a:pPr>
                      <a:r>
                        <a:t>Mengadopsi layered costmap dan memperluas dengan tiga layer spesifik: Global Costmap, Local Costmap, serta Transition Costmap yang menyimpan informasi koneksi dan zona transisi antar region.</a:t>
                      </a:r>
                    </a:p>
                  </a:txBody>
                  <a:tcPr marL="63500" marR="63500" marT="38100" marB="38100" anchor="ctr">
                    <a:solidFill>
                      <a:srgbClr val="F2F7FC"/>
                    </a:solidFill>
                  </a:tcPr>
                </a:tc>
                <a:extLst>
                  <a:ext uri="{0D108BD9-81ED-4DB2-BD59-A6C34878D82A}">
                    <a16:rowId xmlns:a16="http://schemas.microsoft.com/office/drawing/2014/main" val="10001"/>
                  </a:ext>
                </a:extLst>
              </a:tr>
              <a:tr h="868680">
                <a:tc>
                  <a:txBody>
                    <a:bodyPr/>
                    <a:lstStyle/>
                    <a:p>
                      <a:pPr algn="l">
                        <a:spcAft>
                          <a:spcPts val="200"/>
                        </a:spcAft>
                        <a:defRPr sz="1000" b="1">
                          <a:solidFill>
                            <a:srgbClr val="003A70"/>
                          </a:solidFill>
                          <a:latin typeface="Montserrat"/>
                        </a:defRPr>
                      </a:pPr>
                      <a:r>
                        <a:rPr dirty="0"/>
                        <a:t>Hu et al. (2022)</a:t>
                      </a:r>
                      <a:br>
                        <a:rPr dirty="0"/>
                      </a:br>
                      <a:r>
                        <a:rPr dirty="0"/>
                        <a:t>Adaptive Slope Navigation</a:t>
                      </a:r>
                    </a:p>
                    <a:p>
                      <a:pPr algn="l">
                        <a:defRPr sz="900" b="0">
                          <a:solidFill>
                            <a:srgbClr val="333333"/>
                          </a:solidFill>
                          <a:latin typeface="Lato"/>
                        </a:defRPr>
                      </a:pPr>
                      <a:r>
                        <a:rPr dirty="0"/>
                        <a:t>Multi-layer </a:t>
                      </a:r>
                      <a:r>
                        <a:rPr dirty="0" err="1"/>
                        <a:t>costmap</a:t>
                      </a:r>
                      <a:r>
                        <a:rPr dirty="0"/>
                        <a:t> </a:t>
                      </a:r>
                      <a:r>
                        <a:rPr dirty="0" err="1"/>
                        <a:t>adaptif</a:t>
                      </a:r>
                      <a:r>
                        <a:rPr dirty="0"/>
                        <a:t> </a:t>
                      </a:r>
                      <a:r>
                        <a:rPr dirty="0" err="1"/>
                        <a:t>untuk</a:t>
                      </a:r>
                      <a:r>
                        <a:rPr dirty="0"/>
                        <a:t> </a:t>
                      </a:r>
                      <a:r>
                        <a:rPr dirty="0" err="1"/>
                        <a:t>navigasi</a:t>
                      </a:r>
                      <a:r>
                        <a:rPr dirty="0"/>
                        <a:t> </a:t>
                      </a:r>
                      <a:r>
                        <a:rPr dirty="0" err="1"/>
                        <a:t>permukaan</a:t>
                      </a:r>
                      <a:r>
                        <a:rPr dirty="0"/>
                        <a:t> </a:t>
                      </a:r>
                      <a:r>
                        <a:rPr dirty="0" err="1"/>
                        <a:t>berkemiringan</a:t>
                      </a:r>
                      <a:r>
                        <a:rPr dirty="0"/>
                        <a:t>. </a:t>
                      </a:r>
                      <a:r>
                        <a:rPr dirty="0" err="1"/>
                        <a:t>Algoritma</a:t>
                      </a:r>
                      <a:r>
                        <a:rPr dirty="0"/>
                        <a:t> </a:t>
                      </a:r>
                      <a:r>
                        <a:rPr dirty="0" err="1"/>
                        <a:t>deteksi</a:t>
                      </a:r>
                      <a:r>
                        <a:rPr dirty="0"/>
                        <a:t> slope </a:t>
                      </a:r>
                      <a:r>
                        <a:rPr dirty="0" err="1"/>
                        <a:t>mengubah</a:t>
                      </a:r>
                      <a:r>
                        <a:rPr dirty="0"/>
                        <a:t> </a:t>
                      </a:r>
                      <a:r>
                        <a:rPr dirty="0" err="1"/>
                        <a:t>peta</a:t>
                      </a:r>
                      <a:r>
                        <a:rPr dirty="0"/>
                        <a:t> </a:t>
                      </a:r>
                      <a:r>
                        <a:rPr dirty="0" err="1"/>
                        <a:t>biaya</a:t>
                      </a:r>
                      <a:r>
                        <a:rPr dirty="0"/>
                        <a:t> agar </a:t>
                      </a:r>
                      <a:r>
                        <a:rPr dirty="0" err="1"/>
                        <a:t>kemiringan</a:t>
                      </a:r>
                      <a:r>
                        <a:rPr dirty="0"/>
                        <a:t> </a:t>
                      </a:r>
                      <a:r>
                        <a:rPr dirty="0" err="1"/>
                        <a:t>dianggap</a:t>
                      </a:r>
                      <a:r>
                        <a:rPr dirty="0"/>
                        <a:t> </a:t>
                      </a:r>
                      <a:r>
                        <a:rPr dirty="0" err="1"/>
                        <a:t>dapat</a:t>
                      </a:r>
                      <a:r>
                        <a:rPr dirty="0"/>
                        <a:t> </a:t>
                      </a:r>
                      <a:r>
                        <a:rPr dirty="0" err="1"/>
                        <a:t>dilalui</a:t>
                      </a:r>
                      <a:r>
                        <a:rPr dirty="0"/>
                        <a:t> (</a:t>
                      </a:r>
                      <a:r>
                        <a:rPr dirty="0" err="1"/>
                        <a:t>dengan</a:t>
                      </a:r>
                      <a:r>
                        <a:rPr dirty="0"/>
                        <a:t> </a:t>
                      </a:r>
                      <a:r>
                        <a:rPr dirty="0" err="1"/>
                        <a:t>biaya</a:t>
                      </a:r>
                      <a:r>
                        <a:rPr dirty="0"/>
                        <a:t> </a:t>
                      </a:r>
                      <a:r>
                        <a:rPr dirty="0" err="1"/>
                        <a:t>tambahan</a:t>
                      </a:r>
                      <a:r>
                        <a:rPr dirty="0"/>
                        <a:t>), </a:t>
                      </a:r>
                      <a:r>
                        <a:rPr dirty="0" err="1"/>
                        <a:t>bukan</a:t>
                      </a:r>
                      <a:r>
                        <a:rPr dirty="0"/>
                        <a:t> </a:t>
                      </a:r>
                      <a:r>
                        <a:rPr dirty="0" err="1"/>
                        <a:t>sebagai</a:t>
                      </a:r>
                      <a:r>
                        <a:rPr dirty="0"/>
                        <a:t> obstacle.</a:t>
                      </a:r>
                    </a:p>
                  </a:txBody>
                  <a:tcPr marL="63500" marR="63500" marT="38100" marB="38100" anchor="ctr">
                    <a:solidFill>
                      <a:srgbClr val="FFFFFF"/>
                    </a:solidFill>
                  </a:tcPr>
                </a:tc>
                <a:tc>
                  <a:txBody>
                    <a:bodyPr/>
                    <a:lstStyle/>
                    <a:p>
                      <a:pPr algn="l">
                        <a:defRPr sz="900" b="0">
                          <a:solidFill>
                            <a:srgbClr val="333333"/>
                          </a:solidFill>
                          <a:latin typeface="Lato"/>
                        </a:defRPr>
                      </a:pPr>
                      <a:r>
                        <a:t>Fokus berbeda: Hu menangani variasi kemiringan, sedangkan penelitian ini menangani transisi antar lantai. Keduanya menyederhanakan informasi 3D menjadi representasi costmap 2D bertingkat.</a:t>
                      </a:r>
                    </a:p>
                  </a:txBody>
                  <a:tcPr marL="63500" marR="63500" marT="38100" marB="38100" anchor="ctr">
                    <a:solidFill>
                      <a:srgbClr val="FFFFFF"/>
                    </a:solidFill>
                  </a:tcPr>
                </a:tc>
                <a:extLst>
                  <a:ext uri="{0D108BD9-81ED-4DB2-BD59-A6C34878D82A}">
                    <a16:rowId xmlns:a16="http://schemas.microsoft.com/office/drawing/2014/main" val="10002"/>
                  </a:ext>
                </a:extLst>
              </a:tr>
              <a:tr h="868680">
                <a:tc>
                  <a:txBody>
                    <a:bodyPr/>
                    <a:lstStyle/>
                    <a:p>
                      <a:pPr algn="l">
                        <a:spcAft>
                          <a:spcPts val="200"/>
                        </a:spcAft>
                        <a:defRPr sz="1000" b="1">
                          <a:solidFill>
                            <a:srgbClr val="003A70"/>
                          </a:solidFill>
                          <a:latin typeface="Montserrat"/>
                        </a:defRPr>
                      </a:pPr>
                      <a:r>
                        <a:rPr dirty="0"/>
                        <a:t>Kim et al. (2024)</a:t>
                      </a:r>
                      <a:br>
                        <a:rPr dirty="0"/>
                      </a:br>
                      <a:r>
                        <a:rPr dirty="0"/>
                        <a:t>Integrated Navigation Map</a:t>
                      </a:r>
                    </a:p>
                    <a:p>
                      <a:pPr algn="l">
                        <a:defRPr sz="900" b="0">
                          <a:solidFill>
                            <a:srgbClr val="333333"/>
                          </a:solidFill>
                          <a:latin typeface="Lato"/>
                        </a:defRPr>
                      </a:pPr>
                      <a:r>
                        <a:rPr dirty="0"/>
                        <a:t>Membuat </a:t>
                      </a:r>
                      <a:r>
                        <a:rPr dirty="0" err="1"/>
                        <a:t>peta</a:t>
                      </a:r>
                      <a:r>
                        <a:rPr dirty="0"/>
                        <a:t> </a:t>
                      </a:r>
                      <a:r>
                        <a:rPr dirty="0" err="1"/>
                        <a:t>navigasi</a:t>
                      </a:r>
                      <a:r>
                        <a:rPr dirty="0"/>
                        <a:t> </a:t>
                      </a:r>
                      <a:r>
                        <a:rPr dirty="0" err="1"/>
                        <a:t>terintegrasi</a:t>
                      </a:r>
                      <a:r>
                        <a:rPr dirty="0"/>
                        <a:t> </a:t>
                      </a:r>
                      <a:r>
                        <a:rPr dirty="0" err="1"/>
                        <a:t>dengan</a:t>
                      </a:r>
                      <a:r>
                        <a:rPr dirty="0"/>
                        <a:t> </a:t>
                      </a:r>
                      <a:r>
                        <a:rPr dirty="0" err="1"/>
                        <a:t>menggabungkan</a:t>
                      </a:r>
                      <a:r>
                        <a:rPr dirty="0"/>
                        <a:t> point cloud multi-</a:t>
                      </a:r>
                      <a:r>
                        <a:rPr dirty="0" err="1"/>
                        <a:t>lantai</a:t>
                      </a:r>
                      <a:r>
                        <a:rPr dirty="0"/>
                        <a:t> dan </a:t>
                      </a:r>
                      <a:r>
                        <a:rPr dirty="0" err="1"/>
                        <a:t>topologi</a:t>
                      </a:r>
                      <a:r>
                        <a:rPr dirty="0"/>
                        <a:t> node graph. </a:t>
                      </a:r>
                      <a:r>
                        <a:rPr dirty="0" err="1"/>
                        <a:t>Mengandalkan</a:t>
                      </a:r>
                      <a:r>
                        <a:rPr dirty="0"/>
                        <a:t> elevator </a:t>
                      </a:r>
                      <a:r>
                        <a:rPr dirty="0" err="1"/>
                        <a:t>sebagai</a:t>
                      </a:r>
                      <a:r>
                        <a:rPr dirty="0"/>
                        <a:t> </a:t>
                      </a:r>
                      <a:r>
                        <a:rPr dirty="0" err="1"/>
                        <a:t>penghubung</a:t>
                      </a:r>
                      <a:r>
                        <a:rPr dirty="0"/>
                        <a:t> </a:t>
                      </a:r>
                      <a:r>
                        <a:rPr dirty="0" err="1"/>
                        <a:t>antar</a:t>
                      </a:r>
                      <a:r>
                        <a:rPr dirty="0"/>
                        <a:t> </a:t>
                      </a:r>
                      <a:r>
                        <a:rPr dirty="0" err="1"/>
                        <a:t>lantai</a:t>
                      </a:r>
                      <a:r>
                        <a:rPr dirty="0"/>
                        <a:t> pada </a:t>
                      </a:r>
                      <a:r>
                        <a:rPr dirty="0" err="1"/>
                        <a:t>gedung</a:t>
                      </a:r>
                      <a:r>
                        <a:rPr dirty="0"/>
                        <a:t> </a:t>
                      </a:r>
                      <a:r>
                        <a:rPr dirty="0" err="1"/>
                        <a:t>bertingkat</a:t>
                      </a:r>
                      <a:r>
                        <a:rPr dirty="0"/>
                        <a:t>.</a:t>
                      </a:r>
                    </a:p>
                  </a:txBody>
                  <a:tcPr marL="63500" marR="63500" marT="38100" marB="38100" anchor="ctr">
                    <a:solidFill>
                      <a:srgbClr val="F2F7FC"/>
                    </a:solidFill>
                  </a:tcPr>
                </a:tc>
                <a:tc>
                  <a:txBody>
                    <a:bodyPr/>
                    <a:lstStyle/>
                    <a:p>
                      <a:pPr algn="l">
                        <a:defRPr sz="900" b="0">
                          <a:solidFill>
                            <a:srgbClr val="333333"/>
                          </a:solidFill>
                          <a:latin typeface="Lato"/>
                        </a:defRPr>
                      </a:pPr>
                      <a:r>
                        <a:rPr dirty="0" err="1"/>
                        <a:t>menggunakan</a:t>
                      </a:r>
                      <a:r>
                        <a:rPr dirty="0"/>
                        <a:t> </a:t>
                      </a:r>
                      <a:r>
                        <a:rPr dirty="0" err="1"/>
                        <a:t>mekanisme</a:t>
                      </a:r>
                      <a:r>
                        <a:rPr dirty="0"/>
                        <a:t> region transition dan zona </a:t>
                      </a:r>
                      <a:r>
                        <a:rPr dirty="0" err="1"/>
                        <a:t>transisi</a:t>
                      </a:r>
                      <a:r>
                        <a:rPr dirty="0"/>
                        <a:t> yang </a:t>
                      </a:r>
                      <a:r>
                        <a:rPr dirty="0" err="1"/>
                        <a:t>terdeteksi</a:t>
                      </a:r>
                      <a:r>
                        <a:rPr dirty="0"/>
                        <a:t> </a:t>
                      </a:r>
                      <a:r>
                        <a:rPr dirty="0" err="1"/>
                        <a:t>dari</a:t>
                      </a:r>
                      <a:r>
                        <a:rPr dirty="0"/>
                        <a:t> combined map. </a:t>
                      </a:r>
                      <a:r>
                        <a:rPr lang="en-ID" dirty="0"/>
                        <a:t>Juga </a:t>
                      </a:r>
                      <a:r>
                        <a:rPr lang="en-ID" dirty="0" err="1"/>
                        <a:t>menggunakan</a:t>
                      </a:r>
                      <a:r>
                        <a:rPr lang="en-ID" dirty="0"/>
                        <a:t> node graph </a:t>
                      </a:r>
                      <a:r>
                        <a:rPr lang="en-ID" dirty="0" err="1"/>
                        <a:t>untuk</a:t>
                      </a:r>
                      <a:r>
                        <a:rPr lang="en-ID" dirty="0"/>
                        <a:t>  </a:t>
                      </a:r>
                      <a:r>
                        <a:rPr lang="en-ID" dirty="0" err="1"/>
                        <a:t>menggabungkanmap</a:t>
                      </a:r>
                      <a:r>
                        <a:rPr dirty="0"/>
                        <a:t>.</a:t>
                      </a:r>
                    </a:p>
                  </a:txBody>
                  <a:tcPr marL="63500" marR="63500" marT="38100" marB="38100" anchor="ctr">
                    <a:solidFill>
                      <a:srgbClr val="F2F7FC"/>
                    </a:solidFill>
                  </a:tcPr>
                </a:tc>
                <a:extLst>
                  <a:ext uri="{0D108BD9-81ED-4DB2-BD59-A6C34878D82A}">
                    <a16:rowId xmlns:a16="http://schemas.microsoft.com/office/drawing/2014/main" val="10003"/>
                  </a:ext>
                </a:extLst>
              </a:tr>
              <a:tr h="868680">
                <a:tc>
                  <a:txBody>
                    <a:bodyPr/>
                    <a:lstStyle/>
                    <a:p>
                      <a:pPr algn="l">
                        <a:spcAft>
                          <a:spcPts val="200"/>
                        </a:spcAft>
                        <a:defRPr sz="1000" b="1">
                          <a:solidFill>
                            <a:srgbClr val="003A70"/>
                          </a:solidFill>
                          <a:latin typeface="Montserrat"/>
                        </a:defRPr>
                      </a:pPr>
                      <a:r>
                        <a:t>Palacín et al. (2023)</a:t>
                      </a:r>
                      <a:br/>
                      <a:r>
                        <a:t>Inter-floor ICP + Elevator</a:t>
                      </a:r>
                    </a:p>
                    <a:p>
                      <a:pPr algn="l">
                        <a:defRPr sz="900" b="0">
                          <a:solidFill>
                            <a:srgbClr val="333333"/>
                          </a:solidFill>
                          <a:latin typeface="Lato"/>
                        </a:defRPr>
                      </a:pPr>
                      <a:r>
                        <a:t>Navigasi antar lantai menggunakan elevator dengan lokalisasi berbasis ICP. Evaluasi performa ICP dilakukan pada kondisi pintu lift terbuka maupun tertutup.</a:t>
                      </a:r>
                    </a:p>
                  </a:txBody>
                  <a:tcPr marL="63500" marR="63500" marT="38100" marB="38100" anchor="ctr">
                    <a:solidFill>
                      <a:srgbClr val="FFFFFF"/>
                    </a:solidFill>
                  </a:tcPr>
                </a:tc>
                <a:tc>
                  <a:txBody>
                    <a:bodyPr/>
                    <a:lstStyle/>
                    <a:p>
                      <a:pPr algn="l">
                        <a:defRPr sz="900" b="0">
                          <a:solidFill>
                            <a:srgbClr val="333333"/>
                          </a:solidFill>
                          <a:latin typeface="Lato"/>
                        </a:defRPr>
                      </a:pPr>
                      <a:r>
                        <a:rPr dirty="0" err="1"/>
                        <a:t>Menggunakan</a:t>
                      </a:r>
                      <a:r>
                        <a:rPr dirty="0"/>
                        <a:t> ICP yang </a:t>
                      </a:r>
                      <a:r>
                        <a:rPr dirty="0" err="1"/>
                        <a:t>sama</a:t>
                      </a:r>
                      <a:r>
                        <a:rPr dirty="0"/>
                        <a:t> </a:t>
                      </a:r>
                      <a:r>
                        <a:rPr dirty="0" err="1"/>
                        <a:t>dengan</a:t>
                      </a:r>
                      <a:r>
                        <a:rPr dirty="0"/>
                        <a:t> </a:t>
                      </a:r>
                      <a:r>
                        <a:rPr dirty="0" err="1"/>
                        <a:t>optimasi</a:t>
                      </a:r>
                      <a:r>
                        <a:rPr dirty="0"/>
                        <a:t> </a:t>
                      </a:r>
                      <a:r>
                        <a:rPr dirty="0" err="1"/>
                        <a:t>prekomputasi</a:t>
                      </a:r>
                      <a:r>
                        <a:rPr dirty="0"/>
                        <a:t> KNN (hash table, lookup O(1), k=8, r=10). </a:t>
                      </a:r>
                      <a:r>
                        <a:rPr dirty="0" err="1"/>
                        <a:t>Dilengkapi</a:t>
                      </a:r>
                      <a:r>
                        <a:rPr dirty="0"/>
                        <a:t> region switcher </a:t>
                      </a:r>
                      <a:r>
                        <a:rPr dirty="0" err="1"/>
                        <a:t>untuk</a:t>
                      </a:r>
                      <a:r>
                        <a:rPr dirty="0"/>
                        <a:t> </a:t>
                      </a:r>
                      <a:r>
                        <a:rPr dirty="0" err="1"/>
                        <a:t>mendeteksi</a:t>
                      </a:r>
                      <a:r>
                        <a:rPr dirty="0"/>
                        <a:t> </a:t>
                      </a:r>
                      <a:r>
                        <a:rPr dirty="0" err="1"/>
                        <a:t>perpindahan</a:t>
                      </a:r>
                      <a:r>
                        <a:rPr dirty="0"/>
                        <a:t> region </a:t>
                      </a:r>
                      <a:r>
                        <a:rPr dirty="0" err="1"/>
                        <a:t>secara</a:t>
                      </a:r>
                      <a:r>
                        <a:rPr dirty="0"/>
                        <a:t> </a:t>
                      </a:r>
                      <a:r>
                        <a:rPr dirty="0" err="1"/>
                        <a:t>otomatis</a:t>
                      </a:r>
                      <a:r>
                        <a:rPr dirty="0"/>
                        <a:t> </a:t>
                      </a:r>
                      <a:r>
                        <a:rPr dirty="0" err="1"/>
                        <a:t>dari</a:t>
                      </a:r>
                      <a:r>
                        <a:rPr dirty="0"/>
                        <a:t> pose robot.</a:t>
                      </a:r>
                    </a:p>
                  </a:txBody>
                  <a:tcPr marL="63500" marR="63500" marT="38100" marB="38100" anchor="ctr">
                    <a:solidFill>
                      <a:srgbClr val="FFFFFF"/>
                    </a:solidFill>
                  </a:tcPr>
                </a:tc>
                <a:extLst>
                  <a:ext uri="{0D108BD9-81ED-4DB2-BD59-A6C34878D82A}">
                    <a16:rowId xmlns:a16="http://schemas.microsoft.com/office/drawing/2014/main" val="10004"/>
                  </a:ext>
                </a:extLst>
              </a:tr>
              <a:tr h="868680">
                <a:tc>
                  <a:txBody>
                    <a:bodyPr/>
                    <a:lstStyle/>
                    <a:p>
                      <a:pPr algn="l">
                        <a:spcAft>
                          <a:spcPts val="200"/>
                        </a:spcAft>
                        <a:defRPr sz="1000" b="1">
                          <a:solidFill>
                            <a:srgbClr val="003A70"/>
                          </a:solidFill>
                          <a:latin typeface="Montserrat"/>
                        </a:defRPr>
                      </a:pPr>
                      <a:r>
                        <a:t>Jung et al. (2024)</a:t>
                      </a:r>
                      <a:br/>
                      <a:r>
                        <a:t>A* dengan Realistic Cost</a:t>
                      </a:r>
                    </a:p>
                    <a:p>
                      <a:pPr algn="l">
                        <a:defRPr sz="900" b="0">
                          <a:solidFill>
                            <a:srgbClr val="333333"/>
                          </a:solidFill>
                          <a:latin typeface="Lato"/>
                        </a:defRPr>
                      </a:pPr>
                      <a:r>
                        <a:t>A* dengan fungsi biaya realistis — mempertimbangkan faktor seperti waktu tunggu lift. Robot dapat memilih antara lift atau tangga berdasarkan perhitungan biaya total.</a:t>
                      </a:r>
                    </a:p>
                  </a:txBody>
                  <a:tcPr marL="63500" marR="63500" marT="38100" marB="38100" anchor="ctr">
                    <a:solidFill>
                      <a:srgbClr val="F2F7FC"/>
                    </a:solidFill>
                  </a:tcPr>
                </a:tc>
                <a:tc>
                  <a:txBody>
                    <a:bodyPr/>
                    <a:lstStyle/>
                    <a:p>
                      <a:pPr algn="l">
                        <a:defRPr sz="900" b="0">
                          <a:solidFill>
                            <a:srgbClr val="333333"/>
                          </a:solidFill>
                          <a:latin typeface="Lato"/>
                        </a:defRPr>
                      </a:pPr>
                      <a:r>
                        <a:rPr dirty="0"/>
                        <a:t>A* </a:t>
                      </a:r>
                      <a:r>
                        <a:rPr dirty="0" err="1"/>
                        <a:t>dilengkapi</a:t>
                      </a:r>
                      <a:r>
                        <a:rPr dirty="0"/>
                        <a:t> Path Interceptor yang </a:t>
                      </a:r>
                      <a:r>
                        <a:rPr dirty="0" err="1"/>
                        <a:t>memecah</a:t>
                      </a:r>
                      <a:r>
                        <a:rPr dirty="0"/>
                        <a:t> </a:t>
                      </a:r>
                      <a:r>
                        <a:rPr dirty="0" err="1"/>
                        <a:t>jalur</a:t>
                      </a:r>
                      <a:r>
                        <a:rPr dirty="0"/>
                        <a:t> multi-region </a:t>
                      </a:r>
                      <a:r>
                        <a:rPr dirty="0" err="1"/>
                        <a:t>menjadi</a:t>
                      </a:r>
                      <a:r>
                        <a:rPr dirty="0"/>
                        <a:t> </a:t>
                      </a:r>
                      <a:r>
                        <a:rPr dirty="0" err="1"/>
                        <a:t>segmen</a:t>
                      </a:r>
                      <a:r>
                        <a:rPr dirty="0"/>
                        <a:t> per region. Cost Scaling Factor (CSF=100) </a:t>
                      </a:r>
                      <a:r>
                        <a:rPr dirty="0" err="1"/>
                        <a:t>menghasilkan</a:t>
                      </a:r>
                      <a:r>
                        <a:rPr dirty="0"/>
                        <a:t> </a:t>
                      </a:r>
                      <a:r>
                        <a:rPr dirty="0" err="1"/>
                        <a:t>jalur</a:t>
                      </a:r>
                      <a:r>
                        <a:rPr dirty="0"/>
                        <a:t> </a:t>
                      </a:r>
                      <a:r>
                        <a:rPr dirty="0" err="1"/>
                        <a:t>terpendek</a:t>
                      </a:r>
                      <a:r>
                        <a:rPr dirty="0"/>
                        <a:t> </a:t>
                      </a:r>
                      <a:r>
                        <a:rPr dirty="0" err="1"/>
                        <a:t>dengan</a:t>
                      </a:r>
                      <a:r>
                        <a:rPr dirty="0"/>
                        <a:t> </a:t>
                      </a:r>
                      <a:r>
                        <a:rPr dirty="0" err="1"/>
                        <a:t>tetap</a:t>
                      </a:r>
                      <a:r>
                        <a:rPr dirty="0"/>
                        <a:t> </a:t>
                      </a:r>
                      <a:r>
                        <a:rPr dirty="0" err="1"/>
                        <a:t>menjaga</a:t>
                      </a:r>
                      <a:r>
                        <a:rPr dirty="0"/>
                        <a:t> obstacle clearance optimal.</a:t>
                      </a:r>
                    </a:p>
                  </a:txBody>
                  <a:tcPr marL="63500" marR="63500" marT="38100" marB="38100" anchor="ctr">
                    <a:solidFill>
                      <a:srgbClr val="F2F7FC"/>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4572000" cy="502920"/>
          </a:xfrm>
          <a:prstGeom prst="rect">
            <a:avLst/>
          </a:prstGeom>
          <a:noFill/>
        </p:spPr>
        <p:txBody>
          <a:bodyPr wrap="square"/>
          <a:lstStyle/>
          <a:p>
            <a:pPr marL="0" marR="0" lvl="0" indent="0" algn="l" defTabSz="457200" rtl="0" eaLnBrk="1" fontAlgn="auto" latinLnBrk="0" hangingPunct="1">
              <a:lnSpc>
                <a:spcPts val="3600"/>
              </a:lnSpc>
              <a:spcBef>
                <a:spcPts val="0"/>
              </a:spcBef>
              <a:spcAft>
                <a:spcPts val="0"/>
              </a:spcAft>
              <a:buClrTx/>
              <a:buSzTx/>
              <a:buFontTx/>
              <a:buNone/>
              <a:tabLst/>
              <a:defRPr sz="3000" b="1" i="0">
                <a:solidFill>
                  <a:srgbClr val="1A2B4C"/>
                </a:solidFill>
                <a:latin typeface="Montserrat"/>
              </a:defRPr>
            </a:pPr>
            <a:r>
              <a:rPr kumimoji="0" sz="3000" b="1" i="0" u="none" strike="noStrike" kern="1200" cap="none" spc="0" normalizeH="0" baseline="0" noProof="0">
                <a:ln>
                  <a:noFill/>
                </a:ln>
                <a:solidFill>
                  <a:srgbClr val="1A2B4C"/>
                </a:solidFill>
                <a:effectLst/>
                <a:uLnTx/>
                <a:uFillTx/>
                <a:latin typeface="Montserrat"/>
                <a:ea typeface="+mn-ea"/>
                <a:cs typeface="+mn-cs"/>
              </a:rPr>
              <a:t>DASAR TEORI</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Rounded Rectangle 3"/>
          <p:cNvSpPr/>
          <p:nvPr/>
        </p:nvSpPr>
        <p:spPr>
          <a:xfrm>
            <a:off x="850392" y="109728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Rectangle 4"/>
          <p:cNvSpPr/>
          <p:nvPr/>
        </p:nvSpPr>
        <p:spPr>
          <a:xfrm>
            <a:off x="850392" y="10972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987552" y="1207008"/>
            <a:ext cx="548640" cy="411480"/>
          </a:xfrm>
          <a:prstGeom prst="rect">
            <a:avLst/>
          </a:prstGeom>
          <a:noFill/>
        </p:spPr>
        <p:txBody>
          <a:bodyPr wrap="square"/>
          <a:lstStyle/>
          <a:p>
            <a:pPr marL="0" marR="0" lvl="0" indent="0" algn="l" defTabSz="457200" rtl="0" eaLnBrk="1" fontAlgn="auto" latinLnBrk="0" hangingPunct="1">
              <a:lnSpc>
                <a:spcPts val="2879"/>
              </a:lnSpc>
              <a:spcBef>
                <a:spcPts val="0"/>
              </a:spcBef>
              <a:spcAft>
                <a:spcPts val="0"/>
              </a:spcAft>
              <a:buClrTx/>
              <a:buSzTx/>
              <a:buFontTx/>
              <a:buNone/>
              <a:tabLst/>
              <a:defRPr sz="2400" b="1" i="0">
                <a:solidFill>
                  <a:srgbClr val="003A70"/>
                </a:solidFill>
                <a:latin typeface="Montserrat"/>
              </a:defRPr>
            </a:pPr>
            <a:r>
              <a:rPr kumimoji="0" sz="2400" b="1" i="0" u="none" strike="noStrike" kern="1200" cap="none" spc="0" normalizeH="0" baseline="0" noProof="0">
                <a:ln>
                  <a:noFill/>
                </a:ln>
                <a:solidFill>
                  <a:srgbClr val="003A70"/>
                </a:solidFill>
                <a:effectLst/>
                <a:uLnTx/>
                <a:uFillTx/>
                <a:latin typeface="Montserrat"/>
                <a:ea typeface="+mn-ea"/>
                <a:cs typeface="+mn-cs"/>
              </a:rPr>
              <a:t>01</a:t>
            </a:r>
          </a:p>
        </p:txBody>
      </p:sp>
      <p:sp>
        <p:nvSpPr>
          <p:cNvPr id="7" name="TextBox 6"/>
          <p:cNvSpPr txBox="1"/>
          <p:nvPr/>
        </p:nvSpPr>
        <p:spPr>
          <a:xfrm>
            <a:off x="1581912" y="1207008"/>
            <a:ext cx="4114800" cy="777240"/>
          </a:xfrm>
          <a:prstGeom prst="rect">
            <a:avLst/>
          </a:prstGeom>
          <a:noFill/>
        </p:spPr>
        <p:txBody>
          <a:bodyPr wrap="square"/>
          <a:lstStyle/>
          <a:p>
            <a:pPr marL="0" marR="0" lvl="0" indent="0" algn="l" defTabSz="457200" rtl="0" eaLnBrk="1" fontAlgn="auto" latinLnBrk="0" hangingPunct="1">
              <a:lnSpc>
                <a:spcPts val="1920"/>
              </a:lnSpc>
              <a:spcBef>
                <a:spcPts val="0"/>
              </a:spcBef>
              <a:spcAft>
                <a:spcPts val="0"/>
              </a:spcAft>
              <a:buClrTx/>
              <a:buSzTx/>
              <a:buFontTx/>
              <a:buNone/>
              <a:tabLst/>
              <a:defRPr sz="1600" b="1" i="0">
                <a:solidFill>
                  <a:srgbClr val="1A2B4C"/>
                </a:solidFill>
                <a:latin typeface="Montserrat"/>
              </a:defRPr>
            </a:pPr>
            <a:r>
              <a:rPr kumimoji="0" sz="1600" b="1" i="0" u="none" strike="noStrike" kern="1200" cap="none" spc="0" normalizeH="0" baseline="0" noProof="0">
                <a:ln>
                  <a:noFill/>
                </a:ln>
                <a:solidFill>
                  <a:srgbClr val="1A2B4C"/>
                </a:solidFill>
                <a:effectLst/>
                <a:uLnTx/>
                <a:uFillTx/>
                <a:latin typeface="Montserrat"/>
                <a:ea typeface="+mn-ea"/>
                <a:cs typeface="+mn-cs"/>
              </a:rPr>
              <a:t>Occupancy Grid</a:t>
            </a:r>
          </a:p>
        </p:txBody>
      </p:sp>
      <p:sp>
        <p:nvSpPr>
          <p:cNvPr id="8" name="Rounded Rectangle 7"/>
          <p:cNvSpPr/>
          <p:nvPr/>
        </p:nvSpPr>
        <p:spPr>
          <a:xfrm>
            <a:off x="6245352" y="109728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Rectangle 8"/>
          <p:cNvSpPr/>
          <p:nvPr/>
        </p:nvSpPr>
        <p:spPr>
          <a:xfrm>
            <a:off x="6245352" y="10972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TextBox 9"/>
          <p:cNvSpPr txBox="1"/>
          <p:nvPr/>
        </p:nvSpPr>
        <p:spPr>
          <a:xfrm>
            <a:off x="6382512" y="1207008"/>
            <a:ext cx="548640" cy="411480"/>
          </a:xfrm>
          <a:prstGeom prst="rect">
            <a:avLst/>
          </a:prstGeom>
          <a:noFill/>
        </p:spPr>
        <p:txBody>
          <a:bodyPr wrap="square"/>
          <a:lstStyle/>
          <a:p>
            <a:pPr marL="0" marR="0" lvl="0" indent="0" algn="l" defTabSz="457200" rtl="0" eaLnBrk="1" fontAlgn="auto" latinLnBrk="0" hangingPunct="1">
              <a:lnSpc>
                <a:spcPts val="2879"/>
              </a:lnSpc>
              <a:spcBef>
                <a:spcPts val="0"/>
              </a:spcBef>
              <a:spcAft>
                <a:spcPts val="0"/>
              </a:spcAft>
              <a:buClrTx/>
              <a:buSzTx/>
              <a:buFontTx/>
              <a:buNone/>
              <a:tabLst/>
              <a:defRPr sz="2400" b="1" i="0">
                <a:solidFill>
                  <a:srgbClr val="003A70"/>
                </a:solidFill>
                <a:latin typeface="Montserrat"/>
              </a:defRPr>
            </a:pPr>
            <a:r>
              <a:rPr kumimoji="0" sz="2400" b="1" i="0" u="none" strike="noStrike" kern="1200" cap="none" spc="0" normalizeH="0" baseline="0" noProof="0">
                <a:ln>
                  <a:noFill/>
                </a:ln>
                <a:solidFill>
                  <a:srgbClr val="003A70"/>
                </a:solidFill>
                <a:effectLst/>
                <a:uLnTx/>
                <a:uFillTx/>
                <a:latin typeface="Montserrat"/>
                <a:ea typeface="+mn-ea"/>
                <a:cs typeface="+mn-cs"/>
              </a:rPr>
              <a:t>02</a:t>
            </a:r>
          </a:p>
        </p:txBody>
      </p:sp>
      <p:sp>
        <p:nvSpPr>
          <p:cNvPr id="11" name="TextBox 10"/>
          <p:cNvSpPr txBox="1"/>
          <p:nvPr/>
        </p:nvSpPr>
        <p:spPr>
          <a:xfrm>
            <a:off x="6976872" y="1207008"/>
            <a:ext cx="4114800" cy="777240"/>
          </a:xfrm>
          <a:prstGeom prst="rect">
            <a:avLst/>
          </a:prstGeom>
          <a:noFill/>
        </p:spPr>
        <p:txBody>
          <a:bodyPr wrap="square"/>
          <a:lstStyle/>
          <a:p>
            <a:pPr marL="0" marR="0" lvl="0" indent="0" algn="l" defTabSz="457200" rtl="0" eaLnBrk="1" fontAlgn="auto" latinLnBrk="0" hangingPunct="1">
              <a:lnSpc>
                <a:spcPts val="1920"/>
              </a:lnSpc>
              <a:spcBef>
                <a:spcPts val="0"/>
              </a:spcBef>
              <a:spcAft>
                <a:spcPts val="0"/>
              </a:spcAft>
              <a:buClrTx/>
              <a:buSzTx/>
              <a:buFontTx/>
              <a:buNone/>
              <a:tabLst/>
              <a:defRPr sz="1600" b="1" i="0">
                <a:solidFill>
                  <a:srgbClr val="1A2B4C"/>
                </a:solidFill>
                <a:latin typeface="Montserrat"/>
              </a:defRPr>
            </a:pPr>
            <a:r>
              <a:rPr kumimoji="0" sz="1600" b="1" i="0" u="none" strike="noStrike" kern="1200" cap="none" spc="0" normalizeH="0" baseline="0" noProof="0">
                <a:ln>
                  <a:noFill/>
                </a:ln>
                <a:solidFill>
                  <a:srgbClr val="1A2B4C"/>
                </a:solidFill>
                <a:effectLst/>
                <a:uLnTx/>
                <a:uFillTx/>
                <a:latin typeface="Montserrat"/>
                <a:ea typeface="+mn-ea"/>
                <a:cs typeface="+mn-cs"/>
              </a:rPr>
              <a:t>Layered Costmap</a:t>
            </a:r>
          </a:p>
        </p:txBody>
      </p:sp>
      <p:sp>
        <p:nvSpPr>
          <p:cNvPr id="12" name="Rounded Rectangle 11"/>
          <p:cNvSpPr/>
          <p:nvPr/>
        </p:nvSpPr>
        <p:spPr>
          <a:xfrm>
            <a:off x="850392" y="233172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Rectangle 12"/>
          <p:cNvSpPr/>
          <p:nvPr/>
        </p:nvSpPr>
        <p:spPr>
          <a:xfrm>
            <a:off x="850392" y="2331720"/>
            <a:ext cx="63500" cy="10058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987552" y="2441448"/>
            <a:ext cx="548640" cy="411480"/>
          </a:xfrm>
          <a:prstGeom prst="rect">
            <a:avLst/>
          </a:prstGeom>
          <a:noFill/>
        </p:spPr>
        <p:txBody>
          <a:bodyPr wrap="square"/>
          <a:lstStyle/>
          <a:p>
            <a:pPr marL="0" marR="0" lvl="0" indent="0" algn="l" defTabSz="457200" rtl="0" eaLnBrk="1" fontAlgn="auto" latinLnBrk="0" hangingPunct="1">
              <a:lnSpc>
                <a:spcPts val="2879"/>
              </a:lnSpc>
              <a:spcBef>
                <a:spcPts val="0"/>
              </a:spcBef>
              <a:spcAft>
                <a:spcPts val="0"/>
              </a:spcAft>
              <a:buClrTx/>
              <a:buSzTx/>
              <a:buFontTx/>
              <a:buNone/>
              <a:tabLst/>
              <a:defRPr sz="2400" b="1" i="0">
                <a:solidFill>
                  <a:srgbClr val="4A90D9"/>
                </a:solidFill>
                <a:latin typeface="Montserrat"/>
              </a:defRPr>
            </a:pPr>
            <a:r>
              <a:rPr kumimoji="0" sz="2400" b="1" i="0" u="none" strike="noStrike" kern="1200" cap="none" spc="0" normalizeH="0" baseline="0" noProof="0">
                <a:ln>
                  <a:noFill/>
                </a:ln>
                <a:solidFill>
                  <a:srgbClr val="4A90D9"/>
                </a:solidFill>
                <a:effectLst/>
                <a:uLnTx/>
                <a:uFillTx/>
                <a:latin typeface="Montserrat"/>
                <a:ea typeface="+mn-ea"/>
                <a:cs typeface="+mn-cs"/>
              </a:rPr>
              <a:t>03</a:t>
            </a:r>
          </a:p>
        </p:txBody>
      </p:sp>
      <p:sp>
        <p:nvSpPr>
          <p:cNvPr id="15" name="TextBox 14"/>
          <p:cNvSpPr txBox="1"/>
          <p:nvPr/>
        </p:nvSpPr>
        <p:spPr>
          <a:xfrm>
            <a:off x="1581912" y="2441448"/>
            <a:ext cx="4114800" cy="777240"/>
          </a:xfrm>
          <a:prstGeom prst="rect">
            <a:avLst/>
          </a:prstGeom>
          <a:noFill/>
        </p:spPr>
        <p:txBody>
          <a:bodyPr wrap="square"/>
          <a:lstStyle/>
          <a:p>
            <a:pPr marL="0" marR="0" lvl="0" indent="0" algn="l" defTabSz="457200" rtl="0" eaLnBrk="1" fontAlgn="auto" latinLnBrk="0" hangingPunct="1">
              <a:lnSpc>
                <a:spcPts val="1920"/>
              </a:lnSpc>
              <a:spcBef>
                <a:spcPts val="0"/>
              </a:spcBef>
              <a:spcAft>
                <a:spcPts val="0"/>
              </a:spcAft>
              <a:buClrTx/>
              <a:buSzTx/>
              <a:buFontTx/>
              <a:buNone/>
              <a:tabLst/>
              <a:defRPr sz="1600" b="1" i="0">
                <a:solidFill>
                  <a:srgbClr val="1A2B4C"/>
                </a:solidFill>
                <a:latin typeface="Montserrat"/>
              </a:defRPr>
            </a:pPr>
            <a:r>
              <a:rPr kumimoji="0" sz="1600" b="1" i="0" u="none" strike="noStrike" kern="1200" cap="none" spc="0" normalizeH="0" baseline="0" noProof="0" dirty="0" err="1">
                <a:ln>
                  <a:noFill/>
                </a:ln>
                <a:solidFill>
                  <a:srgbClr val="1A2B4C"/>
                </a:solidFill>
                <a:effectLst/>
                <a:uLnTx/>
                <a:uFillTx/>
                <a:latin typeface="Montserrat"/>
                <a:ea typeface="+mn-ea"/>
                <a:cs typeface="+mn-cs"/>
              </a:rPr>
              <a:t>Lokalisasi</a:t>
            </a:r>
            <a:r>
              <a:rPr kumimoji="0" sz="1600" b="1" i="0" u="none" strike="noStrike" kern="1200" cap="none" spc="0" normalizeH="0" baseline="0" noProof="0" dirty="0">
                <a:ln>
                  <a:noFill/>
                </a:ln>
                <a:solidFill>
                  <a:srgbClr val="1A2B4C"/>
                </a:solidFill>
                <a:effectLst/>
                <a:uLnTx/>
                <a:uFillTx/>
                <a:latin typeface="Montserrat"/>
                <a:ea typeface="+mn-ea"/>
                <a:cs typeface="+mn-cs"/>
              </a:rPr>
              <a:t> Iterative Closest Point (ICP)</a:t>
            </a:r>
          </a:p>
        </p:txBody>
      </p:sp>
      <p:sp>
        <p:nvSpPr>
          <p:cNvPr id="16" name="Rounded Rectangle 15"/>
          <p:cNvSpPr/>
          <p:nvPr/>
        </p:nvSpPr>
        <p:spPr>
          <a:xfrm>
            <a:off x="6245352" y="233172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Rectangle 16"/>
          <p:cNvSpPr/>
          <p:nvPr/>
        </p:nvSpPr>
        <p:spPr>
          <a:xfrm>
            <a:off x="6245352" y="2331720"/>
            <a:ext cx="63500" cy="10058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6382512" y="2441448"/>
            <a:ext cx="548640" cy="411480"/>
          </a:xfrm>
          <a:prstGeom prst="rect">
            <a:avLst/>
          </a:prstGeom>
          <a:noFill/>
        </p:spPr>
        <p:txBody>
          <a:bodyPr wrap="square"/>
          <a:lstStyle/>
          <a:p>
            <a:pPr marL="0" marR="0" lvl="0" indent="0" algn="l" defTabSz="457200" rtl="0" eaLnBrk="1" fontAlgn="auto" latinLnBrk="0" hangingPunct="1">
              <a:lnSpc>
                <a:spcPts val="2879"/>
              </a:lnSpc>
              <a:spcBef>
                <a:spcPts val="0"/>
              </a:spcBef>
              <a:spcAft>
                <a:spcPts val="0"/>
              </a:spcAft>
              <a:buClrTx/>
              <a:buSzTx/>
              <a:buFontTx/>
              <a:buNone/>
              <a:tabLst/>
              <a:defRPr sz="2400" b="1" i="0">
                <a:solidFill>
                  <a:srgbClr val="4A90D9"/>
                </a:solidFill>
                <a:latin typeface="Montserrat"/>
              </a:defRPr>
            </a:pPr>
            <a:r>
              <a:rPr kumimoji="0" sz="2400" b="1" i="0" u="none" strike="noStrike" kern="1200" cap="none" spc="0" normalizeH="0" baseline="0" noProof="0">
                <a:ln>
                  <a:noFill/>
                </a:ln>
                <a:solidFill>
                  <a:srgbClr val="4A90D9"/>
                </a:solidFill>
                <a:effectLst/>
                <a:uLnTx/>
                <a:uFillTx/>
                <a:latin typeface="Montserrat"/>
                <a:ea typeface="+mn-ea"/>
                <a:cs typeface="+mn-cs"/>
              </a:rPr>
              <a:t>04</a:t>
            </a:r>
          </a:p>
        </p:txBody>
      </p:sp>
      <p:sp>
        <p:nvSpPr>
          <p:cNvPr id="19" name="TextBox 18"/>
          <p:cNvSpPr txBox="1"/>
          <p:nvPr/>
        </p:nvSpPr>
        <p:spPr>
          <a:xfrm>
            <a:off x="6976872" y="2441448"/>
            <a:ext cx="4114800" cy="777240"/>
          </a:xfrm>
          <a:prstGeom prst="rect">
            <a:avLst/>
          </a:prstGeom>
          <a:noFill/>
        </p:spPr>
        <p:txBody>
          <a:bodyPr wrap="square"/>
          <a:lstStyle/>
          <a:p>
            <a:pPr marL="0" marR="0" lvl="0" indent="0" algn="l" defTabSz="457200" rtl="0" eaLnBrk="1" fontAlgn="auto" latinLnBrk="0" hangingPunct="1">
              <a:lnSpc>
                <a:spcPts val="1920"/>
              </a:lnSpc>
              <a:spcBef>
                <a:spcPts val="0"/>
              </a:spcBef>
              <a:spcAft>
                <a:spcPts val="0"/>
              </a:spcAft>
              <a:buClrTx/>
              <a:buSzTx/>
              <a:buFontTx/>
              <a:buNone/>
              <a:tabLst/>
              <a:defRPr sz="1600" b="1" i="0">
                <a:solidFill>
                  <a:srgbClr val="1A2B4C"/>
                </a:solidFill>
                <a:latin typeface="Montserrat"/>
              </a:defRPr>
            </a:pPr>
            <a:r>
              <a:rPr kumimoji="0" sz="1600" b="1" i="0" u="none" strike="noStrike" kern="1200" cap="none" spc="0" normalizeH="0" baseline="0" noProof="0">
                <a:ln>
                  <a:noFill/>
                </a:ln>
                <a:solidFill>
                  <a:srgbClr val="1A2B4C"/>
                </a:solidFill>
                <a:effectLst/>
                <a:uLnTx/>
                <a:uFillTx/>
                <a:latin typeface="Montserrat"/>
                <a:ea typeface="+mn-ea"/>
                <a:cs typeface="+mn-cs"/>
              </a:rPr>
              <a:t>Path Planning A*</a:t>
            </a:r>
          </a:p>
        </p:txBody>
      </p:sp>
      <p:sp>
        <p:nvSpPr>
          <p:cNvPr id="20" name="Rounded Rectangle 19"/>
          <p:cNvSpPr/>
          <p:nvPr/>
        </p:nvSpPr>
        <p:spPr>
          <a:xfrm>
            <a:off x="850392" y="356616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Rectangle 20"/>
          <p:cNvSpPr/>
          <p:nvPr/>
        </p:nvSpPr>
        <p:spPr>
          <a:xfrm>
            <a:off x="850392" y="3566160"/>
            <a:ext cx="63500" cy="10058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2" name="TextBox 21"/>
          <p:cNvSpPr txBox="1"/>
          <p:nvPr/>
        </p:nvSpPr>
        <p:spPr>
          <a:xfrm>
            <a:off x="987552" y="3675888"/>
            <a:ext cx="548640" cy="411480"/>
          </a:xfrm>
          <a:prstGeom prst="rect">
            <a:avLst/>
          </a:prstGeom>
          <a:noFill/>
        </p:spPr>
        <p:txBody>
          <a:bodyPr wrap="square"/>
          <a:lstStyle/>
          <a:p>
            <a:pPr marL="0" marR="0" lvl="0" indent="0" algn="l" defTabSz="457200" rtl="0" eaLnBrk="1" fontAlgn="auto" latinLnBrk="0" hangingPunct="1">
              <a:lnSpc>
                <a:spcPts val="2879"/>
              </a:lnSpc>
              <a:spcBef>
                <a:spcPts val="0"/>
              </a:spcBef>
              <a:spcAft>
                <a:spcPts val="0"/>
              </a:spcAft>
              <a:buClrTx/>
              <a:buSzTx/>
              <a:buFontTx/>
              <a:buNone/>
              <a:tabLst/>
              <a:defRPr sz="2400" b="1" i="0">
                <a:solidFill>
                  <a:srgbClr val="F08C2E"/>
                </a:solidFill>
                <a:latin typeface="Montserrat"/>
              </a:defRPr>
            </a:pPr>
            <a:r>
              <a:rPr kumimoji="0" sz="2400" b="1" i="0" u="none" strike="noStrike" kern="1200" cap="none" spc="0" normalizeH="0" baseline="0" noProof="0">
                <a:ln>
                  <a:noFill/>
                </a:ln>
                <a:solidFill>
                  <a:srgbClr val="F08C2E"/>
                </a:solidFill>
                <a:effectLst/>
                <a:uLnTx/>
                <a:uFillTx/>
                <a:latin typeface="Montserrat"/>
                <a:ea typeface="+mn-ea"/>
                <a:cs typeface="+mn-cs"/>
              </a:rPr>
              <a:t>05</a:t>
            </a:r>
          </a:p>
        </p:txBody>
      </p:sp>
      <p:sp>
        <p:nvSpPr>
          <p:cNvPr id="23" name="TextBox 22"/>
          <p:cNvSpPr txBox="1"/>
          <p:nvPr/>
        </p:nvSpPr>
        <p:spPr>
          <a:xfrm>
            <a:off x="1581912" y="3675888"/>
            <a:ext cx="4114800" cy="777240"/>
          </a:xfrm>
          <a:prstGeom prst="rect">
            <a:avLst/>
          </a:prstGeom>
          <a:noFill/>
        </p:spPr>
        <p:txBody>
          <a:bodyPr wrap="square"/>
          <a:lstStyle/>
          <a:p>
            <a:pPr marL="0" marR="0" lvl="0" indent="0" algn="l" defTabSz="457200" rtl="0" eaLnBrk="1" fontAlgn="auto" latinLnBrk="0" hangingPunct="1">
              <a:lnSpc>
                <a:spcPts val="1920"/>
              </a:lnSpc>
              <a:spcBef>
                <a:spcPts val="0"/>
              </a:spcBef>
              <a:spcAft>
                <a:spcPts val="0"/>
              </a:spcAft>
              <a:buClrTx/>
              <a:buSzTx/>
              <a:buFontTx/>
              <a:buNone/>
              <a:tabLst/>
              <a:defRPr sz="1600" b="1" i="0">
                <a:solidFill>
                  <a:srgbClr val="1A2B4C"/>
                </a:solidFill>
                <a:latin typeface="Montserrat"/>
              </a:defRPr>
            </a:pPr>
            <a:r>
              <a:rPr kumimoji="0" sz="1600" b="1" i="0" u="none" strike="noStrike" kern="1200" cap="none" spc="0" normalizeH="0" baseline="0" noProof="0">
                <a:ln>
                  <a:noFill/>
                </a:ln>
                <a:solidFill>
                  <a:srgbClr val="1A2B4C"/>
                </a:solidFill>
                <a:effectLst/>
                <a:uLnTx/>
                <a:uFillTx/>
                <a:latin typeface="Montserrat"/>
                <a:ea typeface="+mn-ea"/>
                <a:cs typeface="+mn-cs"/>
              </a:rPr>
              <a:t>Path Tracking</a:t>
            </a:r>
          </a:p>
        </p:txBody>
      </p:sp>
      <p:sp>
        <p:nvSpPr>
          <p:cNvPr id="24" name="TextBox 23"/>
          <p:cNvSpPr txBox="1"/>
          <p:nvPr/>
        </p:nvSpPr>
        <p:spPr>
          <a:xfrm>
            <a:off x="10884103" y="6446520"/>
            <a:ext cx="457200" cy="274320"/>
          </a:xfrm>
          <a:prstGeom prst="rect">
            <a:avLst/>
          </a:prstGeom>
          <a:noFill/>
        </p:spPr>
        <p:txBody>
          <a:bodyPr wrap="square"/>
          <a:lstStyle/>
          <a:p>
            <a:pPr marL="0" marR="0" lvl="0" indent="0" algn="r" defTabSz="457200" rtl="0" eaLnBrk="1" fontAlgn="auto" latinLnBrk="0" hangingPunct="1">
              <a:lnSpc>
                <a:spcPts val="12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ARSITEKTUR SISTEM</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2202441" y="1051560"/>
            <a:ext cx="7786813" cy="5120640"/>
          </a:xfrm>
          <a:prstGeom prst="rect">
            <a:avLst/>
          </a:prstGeom>
          <a:noFill/>
          <a:ln w="38100">
            <a:solidFill>
              <a:srgbClr val="003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navigation_architecture.png"/>
          <p:cNvPicPr>
            <a:picLocks noChangeAspect="1"/>
          </p:cNvPicPr>
          <p:nvPr/>
        </p:nvPicPr>
        <p:blipFill>
          <a:blip r:embed="rId2"/>
          <a:stretch>
            <a:fillRect/>
          </a:stretch>
        </p:blipFill>
        <p:spPr>
          <a:xfrm>
            <a:off x="2202441" y="1051560"/>
            <a:ext cx="7786813" cy="5120640"/>
          </a:xfrm>
          <a:prstGeom prst="rect">
            <a:avLst/>
          </a:prstGeom>
        </p:spPr>
      </p:pic>
      <p:sp>
        <p:nvSpPr>
          <p:cNvPr id="6" name="TextBox 5"/>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DETAIL ALUR NAVIGASI</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2606956" y="1097280"/>
            <a:ext cx="6977783" cy="5029200"/>
          </a:xfrm>
          <a:prstGeom prst="rect">
            <a:avLst/>
          </a:prstGeom>
          <a:noFill/>
          <a:ln w="38100">
            <a:solidFill>
              <a:srgbClr val="003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main_nav_flow_split.png"/>
          <p:cNvPicPr>
            <a:picLocks noChangeAspect="1"/>
          </p:cNvPicPr>
          <p:nvPr/>
        </p:nvPicPr>
        <p:blipFill>
          <a:blip r:embed="rId2"/>
          <a:stretch>
            <a:fillRect/>
          </a:stretch>
        </p:blipFill>
        <p:spPr>
          <a:xfrm>
            <a:off x="2606956" y="1097280"/>
            <a:ext cx="6977783" cy="5029200"/>
          </a:xfrm>
          <a:prstGeom prst="rect">
            <a:avLst/>
          </a:prstGeom>
        </p:spPr>
      </p:pic>
      <p:sp>
        <p:nvSpPr>
          <p:cNvPr id="6" name="TextBox 5"/>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6400800" cy="502920"/>
          </a:xfrm>
          <a:prstGeom prst="rect">
            <a:avLst/>
          </a:prstGeom>
          <a:noFill/>
        </p:spPr>
        <p:txBody>
          <a:bodyPr wrap="square"/>
          <a:lstStyle/>
          <a:p>
            <a:pPr algn="l">
              <a:lnSpc>
                <a:spcPts val="3360"/>
              </a:lnSpc>
              <a:spcBef>
                <a:spcPts val="0"/>
              </a:spcBef>
              <a:spcAft>
                <a:spcPts val="0"/>
              </a:spcAft>
              <a:defRPr sz="2800" b="1" i="0">
                <a:solidFill>
                  <a:srgbClr val="1A2B4C"/>
                </a:solidFill>
                <a:latin typeface="Montserrat"/>
              </a:defRPr>
            </a:pPr>
            <a:r>
              <a:t>PENGOLAHAN DATA MAP</a:t>
            </a:r>
          </a:p>
        </p:txBody>
      </p:sp>
      <p:sp>
        <p:nvSpPr>
          <p:cNvPr id="3" name="Rectangle 2"/>
          <p:cNvSpPr/>
          <p:nvPr/>
        </p:nvSpPr>
        <p:spPr>
          <a:xfrm>
            <a:off x="850392" y="777240"/>
            <a:ext cx="18288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769967" y="886968"/>
            <a:ext cx="3808768" cy="228600"/>
          </a:xfrm>
          <a:prstGeom prst="rect">
            <a:avLst/>
          </a:prstGeom>
          <a:noFill/>
        </p:spPr>
        <p:txBody>
          <a:bodyPr wrap="square"/>
          <a:lstStyle/>
          <a:p>
            <a:pPr algn="ctr">
              <a:lnSpc>
                <a:spcPts val="1320"/>
              </a:lnSpc>
              <a:spcBef>
                <a:spcPts val="0"/>
              </a:spcBef>
              <a:spcAft>
                <a:spcPts val="0"/>
              </a:spcAft>
              <a:defRPr sz="1100" b="1" i="0">
                <a:solidFill>
                  <a:srgbClr val="003A70"/>
                </a:solidFill>
                <a:latin typeface="Montserrat"/>
              </a:defRPr>
            </a:pPr>
            <a:r>
              <a:rPr dirty="0"/>
              <a:t>Combined Map — </a:t>
            </a:r>
            <a:r>
              <a:rPr dirty="0" err="1"/>
              <a:t>Gabungan</a:t>
            </a:r>
            <a:r>
              <a:rPr lang="en-ID" dirty="0"/>
              <a:t> </a:t>
            </a:r>
            <a:r>
              <a:rPr dirty="0"/>
              <a:t>Region A, B, C</a:t>
            </a:r>
          </a:p>
        </p:txBody>
      </p:sp>
      <p:pic>
        <p:nvPicPr>
          <p:cNvPr id="5" name="Picture 4" descr="combined_map.png"/>
          <p:cNvPicPr>
            <a:picLocks noChangeAspect="1"/>
          </p:cNvPicPr>
          <p:nvPr/>
        </p:nvPicPr>
        <p:blipFill>
          <a:blip r:embed="rId2"/>
          <a:stretch>
            <a:fillRect/>
          </a:stretch>
        </p:blipFill>
        <p:spPr>
          <a:xfrm>
            <a:off x="4792827" y="1257300"/>
            <a:ext cx="2651760" cy="2651760"/>
          </a:xfrm>
          <a:prstGeom prst="rect">
            <a:avLst/>
          </a:prstGeom>
        </p:spPr>
      </p:pic>
      <p:sp>
        <p:nvSpPr>
          <p:cNvPr id="6" name="TextBox 5"/>
          <p:cNvSpPr txBox="1"/>
          <p:nvPr/>
        </p:nvSpPr>
        <p:spPr>
          <a:xfrm>
            <a:off x="3680016" y="3794760"/>
            <a:ext cx="2148840" cy="228600"/>
          </a:xfrm>
          <a:prstGeom prst="rect">
            <a:avLst/>
          </a:prstGeom>
          <a:noFill/>
        </p:spPr>
        <p:txBody>
          <a:bodyPr wrap="square"/>
          <a:lstStyle/>
          <a:p>
            <a:pPr algn="ctr">
              <a:lnSpc>
                <a:spcPts val="1320"/>
              </a:lnSpc>
              <a:spcBef>
                <a:spcPts val="0"/>
              </a:spcBef>
              <a:spcAft>
                <a:spcPts val="0"/>
              </a:spcAft>
              <a:defRPr sz="1100" b="1" i="0">
                <a:solidFill>
                  <a:srgbClr val="003A70"/>
                </a:solidFill>
                <a:latin typeface="Montserrat"/>
              </a:defRPr>
            </a:pPr>
            <a:r>
              <a:rPr dirty="0"/>
              <a:t>Transition Map</a:t>
            </a:r>
          </a:p>
        </p:txBody>
      </p:sp>
      <p:sp>
        <p:nvSpPr>
          <p:cNvPr id="7" name="TextBox 6"/>
          <p:cNvSpPr txBox="1"/>
          <p:nvPr/>
        </p:nvSpPr>
        <p:spPr>
          <a:xfrm>
            <a:off x="6377496" y="3794760"/>
            <a:ext cx="2134182" cy="228600"/>
          </a:xfrm>
          <a:prstGeom prst="rect">
            <a:avLst/>
          </a:prstGeom>
          <a:noFill/>
        </p:spPr>
        <p:txBody>
          <a:bodyPr wrap="square"/>
          <a:lstStyle/>
          <a:p>
            <a:pPr algn="ctr">
              <a:lnSpc>
                <a:spcPts val="1320"/>
              </a:lnSpc>
              <a:spcBef>
                <a:spcPts val="0"/>
              </a:spcBef>
              <a:spcAft>
                <a:spcPts val="0"/>
              </a:spcAft>
              <a:defRPr sz="1100" b="1" i="0">
                <a:solidFill>
                  <a:srgbClr val="F08C2E"/>
                </a:solidFill>
                <a:latin typeface="Montserrat"/>
              </a:defRPr>
            </a:pPr>
            <a:r>
              <a:t>Transition Map Overlay</a:t>
            </a:r>
          </a:p>
        </p:txBody>
      </p:sp>
      <p:pic>
        <p:nvPicPr>
          <p:cNvPr id="8" name="Picture 7" descr="transition_map.png"/>
          <p:cNvPicPr>
            <a:picLocks noChangeAspect="1"/>
          </p:cNvPicPr>
          <p:nvPr/>
        </p:nvPicPr>
        <p:blipFill>
          <a:blip r:embed="rId3"/>
          <a:stretch>
            <a:fillRect/>
          </a:stretch>
        </p:blipFill>
        <p:spPr>
          <a:xfrm>
            <a:off x="3680016" y="4050792"/>
            <a:ext cx="2148840" cy="2148840"/>
          </a:xfrm>
          <a:prstGeom prst="rect">
            <a:avLst/>
          </a:prstGeom>
        </p:spPr>
      </p:pic>
      <p:pic>
        <p:nvPicPr>
          <p:cNvPr id="9" name="Picture 8" descr="transition_map_overlay.png"/>
          <p:cNvPicPr>
            <a:picLocks noChangeAspect="1"/>
          </p:cNvPicPr>
          <p:nvPr/>
        </p:nvPicPr>
        <p:blipFill>
          <a:blip r:embed="rId4"/>
          <a:stretch>
            <a:fillRect/>
          </a:stretch>
        </p:blipFill>
        <p:spPr>
          <a:xfrm>
            <a:off x="6377496" y="4050792"/>
            <a:ext cx="2134182" cy="2148840"/>
          </a:xfrm>
          <a:prstGeom prst="rect">
            <a:avLst/>
          </a:prstGeom>
        </p:spPr>
      </p:pic>
      <p:sp>
        <p:nvSpPr>
          <p:cNvPr id="10" name="TextBox 9"/>
          <p:cNvSpPr txBox="1"/>
          <p:nvPr/>
        </p:nvSpPr>
        <p:spPr>
          <a:xfrm>
            <a:off x="850392" y="6236208"/>
            <a:ext cx="10515600" cy="182880"/>
          </a:xfrm>
          <a:prstGeom prst="rect">
            <a:avLst/>
          </a:prstGeom>
          <a:noFill/>
        </p:spPr>
        <p:txBody>
          <a:bodyPr wrap="square"/>
          <a:lstStyle/>
          <a:p>
            <a:pPr algn="ctr">
              <a:lnSpc>
                <a:spcPts val="1080"/>
              </a:lnSpc>
              <a:spcBef>
                <a:spcPts val="0"/>
              </a:spcBef>
              <a:spcAft>
                <a:spcPts val="0"/>
              </a:spcAft>
              <a:defRPr sz="900" b="0" i="0">
                <a:solidFill>
                  <a:srgbClr val="333333"/>
                </a:solidFill>
                <a:latin typeface="Lato"/>
              </a:defRPr>
            </a:pPr>
            <a:r>
              <a:t>Transition Map menyimpan koneksi spasial (A↔B, B↔C), orientasi region, dan pose awal robot</a:t>
            </a:r>
          </a:p>
        </p:txBody>
      </p:sp>
      <p:sp>
        <p:nvSpPr>
          <p:cNvPr id="11" name="TextBox 10"/>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8110728" cy="502920"/>
          </a:xfrm>
          <a:prstGeom prst="rect">
            <a:avLst/>
          </a:prstGeom>
          <a:noFill/>
        </p:spPr>
        <p:txBody>
          <a:bodyPr wrap="square"/>
          <a:lstStyle/>
          <a:p>
            <a:pPr marL="0" marR="0" lvl="0" indent="0" algn="l" defTabSz="457200" rtl="0" eaLnBrk="1" fontAlgn="auto" latinLnBrk="0" hangingPunct="1">
              <a:lnSpc>
                <a:spcPts val="3120"/>
              </a:lnSpc>
              <a:spcBef>
                <a:spcPts val="0"/>
              </a:spcBef>
              <a:spcAft>
                <a:spcPts val="0"/>
              </a:spcAft>
              <a:buClrTx/>
              <a:buSzTx/>
              <a:buFontTx/>
              <a:buNone/>
              <a:tabLst/>
              <a:defRPr sz="2600" b="1" i="0">
                <a:solidFill>
                  <a:srgbClr val="1A2B4C"/>
                </a:solidFill>
                <a:latin typeface="Montserrat"/>
              </a:defRPr>
            </a:pPr>
            <a:r>
              <a:rPr kumimoji="0" sz="2600" b="1" i="0" u="none" strike="noStrike" kern="1200" cap="none" spc="0" normalizeH="0" baseline="0" noProof="0" dirty="0">
                <a:ln>
                  <a:noFill/>
                </a:ln>
                <a:solidFill>
                  <a:srgbClr val="1A2B4C"/>
                </a:solidFill>
                <a:effectLst/>
                <a:uLnTx/>
                <a:uFillTx/>
                <a:latin typeface="Montserrat"/>
                <a:ea typeface="+mn-ea"/>
                <a:cs typeface="+mn-cs"/>
              </a:rPr>
              <a:t>COSTMAP — REPRESENTASI BIAYA NAVIGASI</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850392" y="1005840"/>
            <a:ext cx="5943600" cy="731520"/>
          </a:xfrm>
          <a:prstGeom prst="rect">
            <a:avLst/>
          </a:prstGeom>
          <a:noFill/>
        </p:spPr>
        <p:txBody>
          <a:bodyPr wrap="square"/>
          <a:lstStyle/>
          <a:p>
            <a:pPr marL="0" marR="0" lvl="0" indent="0" algn="l" defTabSz="457200" rtl="0" eaLnBrk="1" fontAlgn="auto" latinLnBrk="0" hangingPunct="1">
              <a:lnSpc>
                <a:spcPts val="1485"/>
              </a:lnSpc>
              <a:spcBef>
                <a:spcPts val="0"/>
              </a:spcBef>
              <a:spcAft>
                <a:spcPts val="0"/>
              </a:spcAft>
              <a:buClrTx/>
              <a:buSzTx/>
              <a:buFontTx/>
              <a:buNone/>
              <a:tabLst/>
              <a:defRPr sz="1100" b="0" i="0">
                <a:solidFill>
                  <a:srgbClr val="333333"/>
                </a:solidFill>
                <a:latin typeface="Lato"/>
              </a:defRPr>
            </a:pPr>
            <a:r>
              <a:rPr kumimoji="0" sz="1100" b="0" i="0" u="none" strike="noStrike" kern="1200" cap="none" spc="0" normalizeH="0" baseline="0" noProof="0">
                <a:ln>
                  <a:noFill/>
                </a:ln>
                <a:solidFill>
                  <a:srgbClr val="333333"/>
                </a:solidFill>
                <a:effectLst/>
                <a:uLnTx/>
                <a:uFillTx/>
                <a:latin typeface="Lato"/>
                <a:ea typeface="+mn-ea"/>
                <a:cs typeface="+mn-cs"/>
              </a:rPr>
              <a:t>Costmap adalah grid 2D yang menyimpan informasi biaya navigasi. Nilai rendah menandakan area aman, nilai tinggi menandakan area berbahaya atau terlarang. Sistem ini membagi costmap menjadi tiga lapisan dengan fungsi berbeda:</a:t>
            </a:r>
          </a:p>
        </p:txBody>
      </p:sp>
      <p:sp>
        <p:nvSpPr>
          <p:cNvPr id="5" name="Rounded Rectangle 4"/>
          <p:cNvSpPr/>
          <p:nvPr/>
        </p:nvSpPr>
        <p:spPr>
          <a:xfrm>
            <a:off x="850392" y="1828800"/>
            <a:ext cx="59436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Rectangle 5"/>
          <p:cNvSpPr/>
          <p:nvPr/>
        </p:nvSpPr>
        <p:spPr>
          <a:xfrm>
            <a:off x="850392" y="1828800"/>
            <a:ext cx="63500" cy="685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TextBox 6"/>
          <p:cNvSpPr txBox="1"/>
          <p:nvPr/>
        </p:nvSpPr>
        <p:spPr>
          <a:xfrm>
            <a:off x="1033272" y="1874520"/>
            <a:ext cx="2286000" cy="274320"/>
          </a:xfrm>
          <a:prstGeom prst="rect">
            <a:avLst/>
          </a:prstGeom>
          <a:noFill/>
        </p:spPr>
        <p:txBody>
          <a:bodyPr wrap="square"/>
          <a:lstStyle/>
          <a:p>
            <a:pPr marL="0" marR="0" lvl="0" indent="0" algn="l" defTabSz="457200" rtl="0" eaLnBrk="1" fontAlgn="auto" latinLnBrk="0" hangingPunct="1">
              <a:lnSpc>
                <a:spcPts val="1439"/>
              </a:lnSpc>
              <a:spcBef>
                <a:spcPts val="0"/>
              </a:spcBef>
              <a:spcAft>
                <a:spcPts val="0"/>
              </a:spcAft>
              <a:buClrTx/>
              <a:buSzTx/>
              <a:buFontTx/>
              <a:buNone/>
              <a:tabLst/>
              <a:defRPr sz="1200" b="1" i="0">
                <a:solidFill>
                  <a:srgbClr val="003A70"/>
                </a:solidFill>
                <a:latin typeface="Montserrat"/>
              </a:defRPr>
            </a:pPr>
            <a:r>
              <a:rPr kumimoji="0" sz="1200" b="1" i="0" u="none" strike="noStrike" kern="1200" cap="none" spc="0" normalizeH="0" baseline="0" noProof="0">
                <a:ln>
                  <a:noFill/>
                </a:ln>
                <a:solidFill>
                  <a:srgbClr val="003A70"/>
                </a:solidFill>
                <a:effectLst/>
                <a:uLnTx/>
                <a:uFillTx/>
                <a:latin typeface="Montserrat"/>
                <a:ea typeface="+mn-ea"/>
                <a:cs typeface="+mn-cs"/>
              </a:rPr>
              <a:t>GLOBAL COSTMAP</a:t>
            </a:r>
          </a:p>
        </p:txBody>
      </p:sp>
      <p:sp>
        <p:nvSpPr>
          <p:cNvPr id="8" name="TextBox 7"/>
          <p:cNvSpPr txBox="1"/>
          <p:nvPr/>
        </p:nvSpPr>
        <p:spPr>
          <a:xfrm>
            <a:off x="3410712" y="1874520"/>
            <a:ext cx="3200400" cy="274320"/>
          </a:xfrm>
          <a:prstGeom prst="rect">
            <a:avLst/>
          </a:prstGeom>
          <a:noFill/>
        </p:spPr>
        <p:txBody>
          <a:bodyPr wrap="square"/>
          <a:lstStyle/>
          <a:p>
            <a:pPr marL="0" marR="0" lvl="0" indent="0" algn="l" defTabSz="457200" rtl="0" eaLnBrk="1" fontAlgn="auto" latinLnBrk="0" hangingPunct="1">
              <a:lnSpc>
                <a:spcPts val="1200"/>
              </a:lnSpc>
              <a:spcBef>
                <a:spcPts val="0"/>
              </a:spcBef>
              <a:spcAft>
                <a:spcPts val="0"/>
              </a:spcAft>
              <a:buClrTx/>
              <a:buSzTx/>
              <a:buFontTx/>
              <a:buNone/>
              <a:tabLst/>
              <a:defRPr sz="1000" b="1" i="0">
                <a:solidFill>
                  <a:srgbClr val="1A2B4C"/>
                </a:solidFill>
                <a:latin typeface="Lato"/>
              </a:defRPr>
            </a:pPr>
            <a:r>
              <a:rPr kumimoji="0" sz="1000" b="1" i="0" u="none" strike="noStrike" kern="1200" cap="none" spc="0" normalizeH="0" baseline="0" noProof="0">
                <a:ln>
                  <a:noFill/>
                </a:ln>
                <a:solidFill>
                  <a:srgbClr val="1A2B4C"/>
                </a:solidFill>
                <a:effectLst/>
                <a:uLnTx/>
                <a:uFillTx/>
                <a:latin typeface="Lato"/>
                <a:ea typeface="+mn-ea"/>
                <a:cs typeface="+mn-cs"/>
              </a:rPr>
              <a:t>Static Layer + Inflation Layer</a:t>
            </a:r>
          </a:p>
        </p:txBody>
      </p:sp>
      <p:sp>
        <p:nvSpPr>
          <p:cNvPr id="9" name="TextBox 8"/>
          <p:cNvSpPr txBox="1"/>
          <p:nvPr/>
        </p:nvSpPr>
        <p:spPr>
          <a:xfrm>
            <a:off x="1033272" y="2176272"/>
            <a:ext cx="5577840" cy="274320"/>
          </a:xfrm>
          <a:prstGeom prst="rect">
            <a:avLst/>
          </a:prstGeom>
          <a:noFill/>
        </p:spPr>
        <p:txBody>
          <a:bodyPr wrap="square"/>
          <a:lstStyle/>
          <a:p>
            <a:pPr marL="0" marR="0" lvl="0" indent="0" algn="l" defTabSz="457200" rtl="0" eaLnBrk="1" fontAlgn="auto" latinLnBrk="0" hangingPunct="1">
              <a:lnSpc>
                <a:spcPts val="1080"/>
              </a:lnSpc>
              <a:spcBef>
                <a:spcPts val="0"/>
              </a:spcBef>
              <a:spcAft>
                <a:spcPts val="0"/>
              </a:spcAft>
              <a:buClrTx/>
              <a:buSzTx/>
              <a:buFontTx/>
              <a:buNone/>
              <a:tabLst/>
              <a:defRPr sz="900" b="0" i="0">
                <a:solidFill>
                  <a:srgbClr val="555555"/>
                </a:solidFill>
                <a:latin typeface="Lato"/>
              </a:defRPr>
            </a:pPr>
            <a:r>
              <a:rPr kumimoji="0" sz="900" b="0" i="0" u="none" strike="noStrike" kern="1200" cap="none" spc="0" normalizeH="0" baseline="0" noProof="0">
                <a:ln>
                  <a:noFill/>
                </a:ln>
                <a:solidFill>
                  <a:srgbClr val="555555"/>
                </a:solidFill>
                <a:effectLst/>
                <a:uLnTx/>
                <a:uFillTx/>
                <a:latin typeface="Lato"/>
                <a:ea typeface="+mn-ea"/>
                <a:cs typeface="+mn-cs"/>
              </a:rPr>
              <a:t>Perencanaan path skala luas dari peta tetap</a:t>
            </a:r>
          </a:p>
        </p:txBody>
      </p:sp>
      <p:sp>
        <p:nvSpPr>
          <p:cNvPr id="10" name="Rounded Rectangle 9"/>
          <p:cNvSpPr/>
          <p:nvPr/>
        </p:nvSpPr>
        <p:spPr>
          <a:xfrm>
            <a:off x="850392" y="2606040"/>
            <a:ext cx="59436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 name="Rectangle 10"/>
          <p:cNvSpPr/>
          <p:nvPr/>
        </p:nvSpPr>
        <p:spPr>
          <a:xfrm>
            <a:off x="850392" y="2606040"/>
            <a:ext cx="63500" cy="685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p:cNvSpPr txBox="1"/>
          <p:nvPr/>
        </p:nvSpPr>
        <p:spPr>
          <a:xfrm>
            <a:off x="1033272" y="2651760"/>
            <a:ext cx="2286000" cy="274320"/>
          </a:xfrm>
          <a:prstGeom prst="rect">
            <a:avLst/>
          </a:prstGeom>
          <a:noFill/>
        </p:spPr>
        <p:txBody>
          <a:bodyPr wrap="square"/>
          <a:lstStyle/>
          <a:p>
            <a:pPr marL="0" marR="0" lvl="0" indent="0" algn="l" defTabSz="457200" rtl="0" eaLnBrk="1" fontAlgn="auto" latinLnBrk="0" hangingPunct="1">
              <a:lnSpc>
                <a:spcPts val="1439"/>
              </a:lnSpc>
              <a:spcBef>
                <a:spcPts val="0"/>
              </a:spcBef>
              <a:spcAft>
                <a:spcPts val="0"/>
              </a:spcAft>
              <a:buClrTx/>
              <a:buSzTx/>
              <a:buFontTx/>
              <a:buNone/>
              <a:tabLst/>
              <a:defRPr sz="1200" b="1" i="0">
                <a:solidFill>
                  <a:srgbClr val="4A90D9"/>
                </a:solidFill>
                <a:latin typeface="Montserrat"/>
              </a:defRPr>
            </a:pPr>
            <a:r>
              <a:rPr kumimoji="0" sz="1200" b="1" i="0" u="none" strike="noStrike" kern="1200" cap="none" spc="0" normalizeH="0" baseline="0" noProof="0">
                <a:ln>
                  <a:noFill/>
                </a:ln>
                <a:solidFill>
                  <a:srgbClr val="4A90D9"/>
                </a:solidFill>
                <a:effectLst/>
                <a:uLnTx/>
                <a:uFillTx/>
                <a:latin typeface="Montserrat"/>
                <a:ea typeface="+mn-ea"/>
                <a:cs typeface="+mn-cs"/>
              </a:rPr>
              <a:t>LOCAL COSTMAP</a:t>
            </a:r>
          </a:p>
        </p:txBody>
      </p:sp>
      <p:sp>
        <p:nvSpPr>
          <p:cNvPr id="13" name="TextBox 12"/>
          <p:cNvSpPr txBox="1"/>
          <p:nvPr/>
        </p:nvSpPr>
        <p:spPr>
          <a:xfrm>
            <a:off x="3410712" y="2651760"/>
            <a:ext cx="3200400" cy="274320"/>
          </a:xfrm>
          <a:prstGeom prst="rect">
            <a:avLst/>
          </a:prstGeom>
          <a:noFill/>
        </p:spPr>
        <p:txBody>
          <a:bodyPr wrap="square"/>
          <a:lstStyle/>
          <a:p>
            <a:pPr marL="0" marR="0" lvl="0" indent="0" algn="l" defTabSz="457200" rtl="0" eaLnBrk="1" fontAlgn="auto" latinLnBrk="0" hangingPunct="1">
              <a:lnSpc>
                <a:spcPts val="1200"/>
              </a:lnSpc>
              <a:spcBef>
                <a:spcPts val="0"/>
              </a:spcBef>
              <a:spcAft>
                <a:spcPts val="0"/>
              </a:spcAft>
              <a:buClrTx/>
              <a:buSzTx/>
              <a:buFontTx/>
              <a:buNone/>
              <a:tabLst/>
              <a:defRPr sz="1000" b="1" i="0">
                <a:solidFill>
                  <a:srgbClr val="1A2B4C"/>
                </a:solidFill>
                <a:latin typeface="Lato"/>
              </a:defRPr>
            </a:pPr>
            <a:r>
              <a:rPr kumimoji="0" sz="1000" b="1" i="0" u="none" strike="noStrike" kern="1200" cap="none" spc="0" normalizeH="0" baseline="0" noProof="0">
                <a:ln>
                  <a:noFill/>
                </a:ln>
                <a:solidFill>
                  <a:srgbClr val="1A2B4C"/>
                </a:solidFill>
                <a:effectLst/>
                <a:uLnTx/>
                <a:uFillTx/>
                <a:latin typeface="Lato"/>
                <a:ea typeface="+mn-ea"/>
                <a:cs typeface="+mn-cs"/>
              </a:rPr>
              <a:t>Obstacle Layer + Inflation Layer</a:t>
            </a:r>
          </a:p>
        </p:txBody>
      </p:sp>
      <p:sp>
        <p:nvSpPr>
          <p:cNvPr id="14" name="TextBox 13"/>
          <p:cNvSpPr txBox="1"/>
          <p:nvPr/>
        </p:nvSpPr>
        <p:spPr>
          <a:xfrm>
            <a:off x="1033272" y="2953512"/>
            <a:ext cx="5577840" cy="274320"/>
          </a:xfrm>
          <a:prstGeom prst="rect">
            <a:avLst/>
          </a:prstGeom>
          <a:noFill/>
        </p:spPr>
        <p:txBody>
          <a:bodyPr wrap="square"/>
          <a:lstStyle/>
          <a:p>
            <a:pPr marL="0" marR="0" lvl="0" indent="0" algn="l" defTabSz="457200" rtl="0" eaLnBrk="1" fontAlgn="auto" latinLnBrk="0" hangingPunct="1">
              <a:lnSpc>
                <a:spcPts val="1080"/>
              </a:lnSpc>
              <a:spcBef>
                <a:spcPts val="0"/>
              </a:spcBef>
              <a:spcAft>
                <a:spcPts val="0"/>
              </a:spcAft>
              <a:buClrTx/>
              <a:buSzTx/>
              <a:buFontTx/>
              <a:buNone/>
              <a:tabLst/>
              <a:defRPr sz="900" b="0" i="0">
                <a:solidFill>
                  <a:srgbClr val="555555"/>
                </a:solidFill>
                <a:latin typeface="Lato"/>
              </a:defRPr>
            </a:pPr>
            <a:r>
              <a:rPr kumimoji="0" sz="900" b="0" i="0" u="none" strike="noStrike" kern="1200" cap="none" spc="0" normalizeH="0" baseline="0" noProof="0">
                <a:ln>
                  <a:noFill/>
                </a:ln>
                <a:solidFill>
                  <a:srgbClr val="555555"/>
                </a:solidFill>
                <a:effectLst/>
                <a:uLnTx/>
                <a:uFillTx/>
                <a:latin typeface="Lato"/>
                <a:ea typeface="+mn-ea"/>
                <a:cs typeface="+mn-cs"/>
              </a:rPr>
              <a:t>Navigasi jangka pendek, real-time dari LiDAR</a:t>
            </a:r>
          </a:p>
        </p:txBody>
      </p:sp>
      <p:sp>
        <p:nvSpPr>
          <p:cNvPr id="15" name="Rounded Rectangle 14"/>
          <p:cNvSpPr/>
          <p:nvPr/>
        </p:nvSpPr>
        <p:spPr>
          <a:xfrm>
            <a:off x="850392" y="3383280"/>
            <a:ext cx="59436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 name="Rectangle 15"/>
          <p:cNvSpPr/>
          <p:nvPr/>
        </p:nvSpPr>
        <p:spPr>
          <a:xfrm>
            <a:off x="850392" y="3383280"/>
            <a:ext cx="63500" cy="6858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1033272" y="3429000"/>
            <a:ext cx="2286000" cy="274320"/>
          </a:xfrm>
          <a:prstGeom prst="rect">
            <a:avLst/>
          </a:prstGeom>
          <a:noFill/>
        </p:spPr>
        <p:txBody>
          <a:bodyPr wrap="square"/>
          <a:lstStyle/>
          <a:p>
            <a:pPr marL="0" marR="0" lvl="0" indent="0" algn="l" defTabSz="457200" rtl="0" eaLnBrk="1" fontAlgn="auto" latinLnBrk="0" hangingPunct="1">
              <a:lnSpc>
                <a:spcPts val="1439"/>
              </a:lnSpc>
              <a:spcBef>
                <a:spcPts val="0"/>
              </a:spcBef>
              <a:spcAft>
                <a:spcPts val="0"/>
              </a:spcAft>
              <a:buClrTx/>
              <a:buSzTx/>
              <a:buFontTx/>
              <a:buNone/>
              <a:tabLst/>
              <a:defRPr sz="1200" b="1" i="0">
                <a:solidFill>
                  <a:srgbClr val="F08C2E"/>
                </a:solidFill>
                <a:latin typeface="Montserrat"/>
              </a:defRPr>
            </a:pPr>
            <a:r>
              <a:rPr kumimoji="0" sz="1200" b="1" i="0" u="none" strike="noStrike" kern="1200" cap="none" spc="0" normalizeH="0" baseline="0" noProof="0">
                <a:ln>
                  <a:noFill/>
                </a:ln>
                <a:solidFill>
                  <a:srgbClr val="F08C2E"/>
                </a:solidFill>
                <a:effectLst/>
                <a:uLnTx/>
                <a:uFillTx/>
                <a:latin typeface="Montserrat"/>
                <a:ea typeface="+mn-ea"/>
                <a:cs typeface="+mn-cs"/>
              </a:rPr>
              <a:t>TRANSITION COSTMAP</a:t>
            </a:r>
          </a:p>
        </p:txBody>
      </p:sp>
      <p:sp>
        <p:nvSpPr>
          <p:cNvPr id="18" name="TextBox 17"/>
          <p:cNvSpPr txBox="1"/>
          <p:nvPr/>
        </p:nvSpPr>
        <p:spPr>
          <a:xfrm>
            <a:off x="3410712" y="3429000"/>
            <a:ext cx="3200400" cy="274320"/>
          </a:xfrm>
          <a:prstGeom prst="rect">
            <a:avLst/>
          </a:prstGeom>
          <a:noFill/>
        </p:spPr>
        <p:txBody>
          <a:bodyPr wrap="square"/>
          <a:lstStyle/>
          <a:p>
            <a:pPr marL="0" marR="0" lvl="0" indent="0" algn="l" defTabSz="457200" rtl="0" eaLnBrk="1" fontAlgn="auto" latinLnBrk="0" hangingPunct="1">
              <a:lnSpc>
                <a:spcPts val="1200"/>
              </a:lnSpc>
              <a:spcBef>
                <a:spcPts val="0"/>
              </a:spcBef>
              <a:spcAft>
                <a:spcPts val="0"/>
              </a:spcAft>
              <a:buClrTx/>
              <a:buSzTx/>
              <a:buFontTx/>
              <a:buNone/>
              <a:tabLst/>
              <a:defRPr sz="1000" b="1" i="0">
                <a:solidFill>
                  <a:srgbClr val="1A2B4C"/>
                </a:solidFill>
                <a:latin typeface="Lato"/>
              </a:defRPr>
            </a:pPr>
            <a:r>
              <a:rPr kumimoji="0" sz="1000" b="1" i="0" u="none" strike="noStrike" kern="1200" cap="none" spc="0" normalizeH="0" baseline="0" noProof="0">
                <a:ln>
                  <a:noFill/>
                </a:ln>
                <a:solidFill>
                  <a:srgbClr val="1A2B4C"/>
                </a:solidFill>
                <a:effectLst/>
                <a:uLnTx/>
                <a:uFillTx/>
                <a:latin typeface="Lato"/>
                <a:ea typeface="+mn-ea"/>
                <a:cs typeface="+mn-cs"/>
              </a:rPr>
              <a:t>Static Layer + Transition Layer</a:t>
            </a:r>
          </a:p>
        </p:txBody>
      </p:sp>
      <p:sp>
        <p:nvSpPr>
          <p:cNvPr id="19" name="TextBox 18"/>
          <p:cNvSpPr txBox="1"/>
          <p:nvPr/>
        </p:nvSpPr>
        <p:spPr>
          <a:xfrm>
            <a:off x="1033272" y="3730752"/>
            <a:ext cx="5577840" cy="274320"/>
          </a:xfrm>
          <a:prstGeom prst="rect">
            <a:avLst/>
          </a:prstGeom>
          <a:noFill/>
        </p:spPr>
        <p:txBody>
          <a:bodyPr wrap="square"/>
          <a:lstStyle/>
          <a:p>
            <a:pPr marL="0" marR="0" lvl="0" indent="0" algn="l" defTabSz="457200" rtl="0" eaLnBrk="1" fontAlgn="auto" latinLnBrk="0" hangingPunct="1">
              <a:lnSpc>
                <a:spcPts val="1080"/>
              </a:lnSpc>
              <a:spcBef>
                <a:spcPts val="0"/>
              </a:spcBef>
              <a:spcAft>
                <a:spcPts val="0"/>
              </a:spcAft>
              <a:buClrTx/>
              <a:buSzTx/>
              <a:buFontTx/>
              <a:buNone/>
              <a:tabLst/>
              <a:defRPr sz="900" b="0" i="0">
                <a:solidFill>
                  <a:srgbClr val="555555"/>
                </a:solidFill>
                <a:latin typeface="Lato"/>
              </a:defRPr>
            </a:pPr>
            <a:r>
              <a:rPr kumimoji="0" sz="900" b="0" i="0" u="none" strike="noStrike" kern="1200" cap="none" spc="0" normalizeH="0" baseline="0" noProof="0">
                <a:ln>
                  <a:noFill/>
                </a:ln>
                <a:solidFill>
                  <a:srgbClr val="555555"/>
                </a:solidFill>
                <a:effectLst/>
                <a:uLnTx/>
                <a:uFillTx/>
                <a:latin typeface="Lato"/>
                <a:ea typeface="+mn-ea"/>
                <a:cs typeface="+mn-cs"/>
              </a:rPr>
              <a:t>Perpindahan antar region, zona transisi</a:t>
            </a:r>
          </a:p>
        </p:txBody>
      </p:sp>
      <p:sp>
        <p:nvSpPr>
          <p:cNvPr id="20" name="Rounded Rectangle 19"/>
          <p:cNvSpPr/>
          <p:nvPr/>
        </p:nvSpPr>
        <p:spPr>
          <a:xfrm>
            <a:off x="6858000" y="1005840"/>
            <a:ext cx="4846320" cy="4754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040880" y="1051560"/>
            <a:ext cx="4480560" cy="274320"/>
          </a:xfrm>
          <a:prstGeom prst="rect">
            <a:avLst/>
          </a:prstGeom>
          <a:noFill/>
        </p:spPr>
        <p:txBody>
          <a:bodyPr wrap="square"/>
          <a:lstStyle/>
          <a:p>
            <a:pPr marL="0" marR="0" lvl="0" indent="0" algn="l" defTabSz="457200" rtl="0" eaLnBrk="1" fontAlgn="auto" latinLnBrk="0" hangingPunct="1">
              <a:lnSpc>
                <a:spcPts val="1680"/>
              </a:lnSpc>
              <a:spcBef>
                <a:spcPts val="0"/>
              </a:spcBef>
              <a:spcAft>
                <a:spcPts val="0"/>
              </a:spcAft>
              <a:buClrTx/>
              <a:buSzTx/>
              <a:buFontTx/>
              <a:buNone/>
              <a:tabLst/>
              <a:defRPr sz="1400" b="1" i="0">
                <a:solidFill>
                  <a:srgbClr val="1A2B4C"/>
                </a:solidFill>
                <a:latin typeface="Montserrat"/>
              </a:defRPr>
            </a:pPr>
            <a:r>
              <a:rPr kumimoji="0" sz="1400" b="1" i="0" u="none" strike="noStrike" kern="1200" cap="none" spc="0" normalizeH="0" baseline="0" noProof="0">
                <a:ln>
                  <a:noFill/>
                </a:ln>
                <a:solidFill>
                  <a:srgbClr val="1A2B4C"/>
                </a:solidFill>
                <a:effectLst/>
                <a:uLnTx/>
                <a:uFillTx/>
                <a:latin typeface="Montserrat"/>
                <a:ea typeface="+mn-ea"/>
                <a:cs typeface="+mn-cs"/>
              </a:rPr>
              <a:t>Nilai Konstanta Costmap</a:t>
            </a:r>
          </a:p>
        </p:txBody>
      </p:sp>
      <p:sp>
        <p:nvSpPr>
          <p:cNvPr id="22" name="TextBox 21"/>
          <p:cNvSpPr txBox="1"/>
          <p:nvPr/>
        </p:nvSpPr>
        <p:spPr>
          <a:xfrm>
            <a:off x="7040880" y="1463040"/>
            <a:ext cx="182880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1" i="0">
                <a:solidFill>
                  <a:srgbClr val="1A2B4C"/>
                </a:solidFill>
                <a:latin typeface="Lato"/>
              </a:defRPr>
            </a:pPr>
            <a:r>
              <a:rPr kumimoji="0" sz="800" b="1" i="0" u="none" strike="noStrike" kern="1200" cap="none" spc="0" normalizeH="0" baseline="0" noProof="0">
                <a:ln>
                  <a:noFill/>
                </a:ln>
                <a:solidFill>
                  <a:srgbClr val="1A2B4C"/>
                </a:solidFill>
                <a:effectLst/>
                <a:uLnTx/>
                <a:uFillTx/>
                <a:latin typeface="Lato"/>
                <a:ea typeface="+mn-ea"/>
                <a:cs typeface="+mn-cs"/>
              </a:rPr>
              <a:t>NO_INFORMATION</a:t>
            </a:r>
          </a:p>
        </p:txBody>
      </p:sp>
      <p:sp>
        <p:nvSpPr>
          <p:cNvPr id="23" name="TextBox 22"/>
          <p:cNvSpPr txBox="1"/>
          <p:nvPr/>
        </p:nvSpPr>
        <p:spPr>
          <a:xfrm>
            <a:off x="8961120" y="1463040"/>
            <a:ext cx="731520" cy="201168"/>
          </a:xfrm>
          <a:prstGeom prst="rect">
            <a:avLst/>
          </a:prstGeom>
          <a:noFill/>
        </p:spPr>
        <p:txBody>
          <a:bodyPr wrap="square"/>
          <a:lstStyle/>
          <a:p>
            <a:pPr marL="0" marR="0" lvl="0" indent="0" algn="ctr" defTabSz="457200" rtl="0" eaLnBrk="1" fontAlgn="auto" latinLnBrk="0" hangingPunct="1">
              <a:lnSpc>
                <a:spcPts val="1080"/>
              </a:lnSpc>
              <a:spcBef>
                <a:spcPts val="0"/>
              </a:spcBef>
              <a:spcAft>
                <a:spcPts val="0"/>
              </a:spcAft>
              <a:buClrTx/>
              <a:buSzTx/>
              <a:buFontTx/>
              <a:buNone/>
              <a:tabLst/>
              <a:defRPr sz="900" b="1" i="0">
                <a:solidFill>
                  <a:srgbClr val="003A70"/>
                </a:solidFill>
                <a:latin typeface="Lato"/>
              </a:defRPr>
            </a:pPr>
            <a:r>
              <a:rPr kumimoji="0" sz="900" b="1" i="0" u="none" strike="noStrike" kern="1200" cap="none" spc="0" normalizeH="0" baseline="0" noProof="0">
                <a:ln>
                  <a:noFill/>
                </a:ln>
                <a:solidFill>
                  <a:srgbClr val="003A70"/>
                </a:solidFill>
                <a:effectLst/>
                <a:uLnTx/>
                <a:uFillTx/>
                <a:latin typeface="Lato"/>
                <a:ea typeface="+mn-ea"/>
                <a:cs typeface="+mn-cs"/>
              </a:rPr>
              <a:t>255</a:t>
            </a:r>
          </a:p>
        </p:txBody>
      </p:sp>
      <p:sp>
        <p:nvSpPr>
          <p:cNvPr id="24" name="TextBox 23"/>
          <p:cNvSpPr txBox="1"/>
          <p:nvPr/>
        </p:nvSpPr>
        <p:spPr>
          <a:xfrm>
            <a:off x="9784080" y="1463040"/>
            <a:ext cx="164592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0" i="0">
                <a:solidFill>
                  <a:srgbClr val="555555"/>
                </a:solidFill>
                <a:latin typeface="Lato"/>
              </a:defRPr>
            </a:pPr>
            <a:r>
              <a:rPr kumimoji="0" sz="800" b="0" i="0" u="none" strike="noStrike" kern="1200" cap="none" spc="0" normalizeH="0" baseline="0" noProof="0">
                <a:ln>
                  <a:noFill/>
                </a:ln>
                <a:solidFill>
                  <a:srgbClr val="555555"/>
                </a:solidFill>
                <a:effectLst/>
                <a:uLnTx/>
                <a:uFillTx/>
                <a:latin typeface="Lato"/>
                <a:ea typeface="+mn-ea"/>
                <a:cs typeface="+mn-cs"/>
              </a:rPr>
              <a:t>Area tidak diketahui</a:t>
            </a:r>
          </a:p>
        </p:txBody>
      </p:sp>
      <p:sp>
        <p:nvSpPr>
          <p:cNvPr id="25" name="TextBox 24"/>
          <p:cNvSpPr txBox="1"/>
          <p:nvPr/>
        </p:nvSpPr>
        <p:spPr>
          <a:xfrm>
            <a:off x="7040880" y="1719072"/>
            <a:ext cx="182880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1" i="0">
                <a:solidFill>
                  <a:srgbClr val="1A2B4C"/>
                </a:solidFill>
                <a:latin typeface="Lato"/>
              </a:defRPr>
            </a:pPr>
            <a:r>
              <a:rPr kumimoji="0" sz="800" b="1" i="0" u="none" strike="noStrike" kern="1200" cap="none" spc="0" normalizeH="0" baseline="0" noProof="0">
                <a:ln>
                  <a:noFill/>
                </a:ln>
                <a:solidFill>
                  <a:srgbClr val="1A2B4C"/>
                </a:solidFill>
                <a:effectLst/>
                <a:uLnTx/>
                <a:uFillTx/>
                <a:latin typeface="Lato"/>
                <a:ea typeface="+mn-ea"/>
                <a:cs typeface="+mn-cs"/>
              </a:rPr>
              <a:t>LETHAL_OBSTACLE</a:t>
            </a:r>
          </a:p>
        </p:txBody>
      </p:sp>
      <p:sp>
        <p:nvSpPr>
          <p:cNvPr id="26" name="TextBox 25"/>
          <p:cNvSpPr txBox="1"/>
          <p:nvPr/>
        </p:nvSpPr>
        <p:spPr>
          <a:xfrm>
            <a:off x="8961120" y="1719072"/>
            <a:ext cx="731520" cy="201168"/>
          </a:xfrm>
          <a:prstGeom prst="rect">
            <a:avLst/>
          </a:prstGeom>
          <a:noFill/>
        </p:spPr>
        <p:txBody>
          <a:bodyPr wrap="square"/>
          <a:lstStyle/>
          <a:p>
            <a:pPr marL="0" marR="0" lvl="0" indent="0" algn="ctr" defTabSz="457200" rtl="0" eaLnBrk="1" fontAlgn="auto" latinLnBrk="0" hangingPunct="1">
              <a:lnSpc>
                <a:spcPts val="1080"/>
              </a:lnSpc>
              <a:spcBef>
                <a:spcPts val="0"/>
              </a:spcBef>
              <a:spcAft>
                <a:spcPts val="0"/>
              </a:spcAft>
              <a:buClrTx/>
              <a:buSzTx/>
              <a:buFontTx/>
              <a:buNone/>
              <a:tabLst/>
              <a:defRPr sz="900" b="1" i="0">
                <a:solidFill>
                  <a:srgbClr val="003A70"/>
                </a:solidFill>
                <a:latin typeface="Lato"/>
              </a:defRPr>
            </a:pPr>
            <a:r>
              <a:rPr kumimoji="0" sz="900" b="1" i="0" u="none" strike="noStrike" kern="1200" cap="none" spc="0" normalizeH="0" baseline="0" noProof="0">
                <a:ln>
                  <a:noFill/>
                </a:ln>
                <a:solidFill>
                  <a:srgbClr val="003A70"/>
                </a:solidFill>
                <a:effectLst/>
                <a:uLnTx/>
                <a:uFillTx/>
                <a:latin typeface="Lato"/>
                <a:ea typeface="+mn-ea"/>
                <a:cs typeface="+mn-cs"/>
              </a:rPr>
              <a:t>254</a:t>
            </a:r>
          </a:p>
        </p:txBody>
      </p:sp>
      <p:sp>
        <p:nvSpPr>
          <p:cNvPr id="27" name="TextBox 26"/>
          <p:cNvSpPr txBox="1"/>
          <p:nvPr/>
        </p:nvSpPr>
        <p:spPr>
          <a:xfrm>
            <a:off x="9784080" y="1719072"/>
            <a:ext cx="164592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0" i="0">
                <a:solidFill>
                  <a:srgbClr val="555555"/>
                </a:solidFill>
                <a:latin typeface="Lato"/>
              </a:defRPr>
            </a:pPr>
            <a:r>
              <a:rPr kumimoji="0" sz="800" b="0" i="0" u="none" strike="noStrike" kern="1200" cap="none" spc="0" normalizeH="0" baseline="0" noProof="0">
                <a:ln>
                  <a:noFill/>
                </a:ln>
                <a:solidFill>
                  <a:srgbClr val="555555"/>
                </a:solidFill>
                <a:effectLst/>
                <a:uLnTx/>
                <a:uFillTx/>
                <a:latin typeface="Lato"/>
                <a:ea typeface="+mn-ea"/>
                <a:cs typeface="+mn-cs"/>
              </a:rPr>
              <a:t>Obstacle mematikan</a:t>
            </a:r>
          </a:p>
        </p:txBody>
      </p:sp>
      <p:sp>
        <p:nvSpPr>
          <p:cNvPr id="28" name="TextBox 27"/>
          <p:cNvSpPr txBox="1"/>
          <p:nvPr/>
        </p:nvSpPr>
        <p:spPr>
          <a:xfrm>
            <a:off x="7040880" y="1975104"/>
            <a:ext cx="182880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1" i="0">
                <a:solidFill>
                  <a:srgbClr val="1A2B4C"/>
                </a:solidFill>
                <a:latin typeface="Lato"/>
              </a:defRPr>
            </a:pPr>
            <a:r>
              <a:rPr kumimoji="0" sz="800" b="1" i="0" u="none" strike="noStrike" kern="1200" cap="none" spc="0" normalizeH="0" baseline="0" noProof="0">
                <a:ln>
                  <a:noFill/>
                </a:ln>
                <a:solidFill>
                  <a:srgbClr val="1A2B4C"/>
                </a:solidFill>
                <a:effectLst/>
                <a:uLnTx/>
                <a:uFillTx/>
                <a:latin typeface="Lato"/>
                <a:ea typeface="+mn-ea"/>
                <a:cs typeface="+mn-cs"/>
              </a:rPr>
              <a:t>INSCRIBED_INFLATED</a:t>
            </a:r>
          </a:p>
        </p:txBody>
      </p:sp>
      <p:sp>
        <p:nvSpPr>
          <p:cNvPr id="29" name="TextBox 28"/>
          <p:cNvSpPr txBox="1"/>
          <p:nvPr/>
        </p:nvSpPr>
        <p:spPr>
          <a:xfrm>
            <a:off x="8961120" y="1975104"/>
            <a:ext cx="731520" cy="201168"/>
          </a:xfrm>
          <a:prstGeom prst="rect">
            <a:avLst/>
          </a:prstGeom>
          <a:noFill/>
        </p:spPr>
        <p:txBody>
          <a:bodyPr wrap="square"/>
          <a:lstStyle/>
          <a:p>
            <a:pPr marL="0" marR="0" lvl="0" indent="0" algn="ctr" defTabSz="457200" rtl="0" eaLnBrk="1" fontAlgn="auto" latinLnBrk="0" hangingPunct="1">
              <a:lnSpc>
                <a:spcPts val="1080"/>
              </a:lnSpc>
              <a:spcBef>
                <a:spcPts val="0"/>
              </a:spcBef>
              <a:spcAft>
                <a:spcPts val="0"/>
              </a:spcAft>
              <a:buClrTx/>
              <a:buSzTx/>
              <a:buFontTx/>
              <a:buNone/>
              <a:tabLst/>
              <a:defRPr sz="900" b="1" i="0">
                <a:solidFill>
                  <a:srgbClr val="003A70"/>
                </a:solidFill>
                <a:latin typeface="Lato"/>
              </a:defRPr>
            </a:pPr>
            <a:r>
              <a:rPr kumimoji="0" sz="900" b="1" i="0" u="none" strike="noStrike" kern="1200" cap="none" spc="0" normalizeH="0" baseline="0" noProof="0">
                <a:ln>
                  <a:noFill/>
                </a:ln>
                <a:solidFill>
                  <a:srgbClr val="003A70"/>
                </a:solidFill>
                <a:effectLst/>
                <a:uLnTx/>
                <a:uFillTx/>
                <a:latin typeface="Lato"/>
                <a:ea typeface="+mn-ea"/>
                <a:cs typeface="+mn-cs"/>
              </a:rPr>
              <a:t>253</a:t>
            </a:r>
          </a:p>
        </p:txBody>
      </p:sp>
      <p:sp>
        <p:nvSpPr>
          <p:cNvPr id="30" name="TextBox 29"/>
          <p:cNvSpPr txBox="1"/>
          <p:nvPr/>
        </p:nvSpPr>
        <p:spPr>
          <a:xfrm>
            <a:off x="9784080" y="1975104"/>
            <a:ext cx="164592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0" i="0">
                <a:solidFill>
                  <a:srgbClr val="555555"/>
                </a:solidFill>
                <a:latin typeface="Lato"/>
              </a:defRPr>
            </a:pPr>
            <a:r>
              <a:rPr kumimoji="0" sz="800" b="0" i="0" u="none" strike="noStrike" kern="1200" cap="none" spc="0" normalizeH="0" baseline="0" noProof="0">
                <a:ln>
                  <a:noFill/>
                </a:ln>
                <a:solidFill>
                  <a:srgbClr val="555555"/>
                </a:solidFill>
                <a:effectLst/>
                <a:uLnTx/>
                <a:uFillTx/>
                <a:latin typeface="Lato"/>
                <a:ea typeface="+mn-ea"/>
                <a:cs typeface="+mn-cs"/>
              </a:rPr>
              <a:t>Batas inflasi maksimal</a:t>
            </a:r>
          </a:p>
        </p:txBody>
      </p:sp>
      <p:sp>
        <p:nvSpPr>
          <p:cNvPr id="31" name="TextBox 30"/>
          <p:cNvSpPr txBox="1"/>
          <p:nvPr/>
        </p:nvSpPr>
        <p:spPr>
          <a:xfrm>
            <a:off x="7040880" y="2231136"/>
            <a:ext cx="182880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1" i="0">
                <a:solidFill>
                  <a:srgbClr val="1A2B4C"/>
                </a:solidFill>
                <a:latin typeface="Lato"/>
              </a:defRPr>
            </a:pPr>
            <a:r>
              <a:rPr kumimoji="0" sz="800" b="1" i="0" u="none" strike="noStrike" kern="1200" cap="none" spc="0" normalizeH="0" baseline="0" noProof="0">
                <a:ln>
                  <a:noFill/>
                </a:ln>
                <a:solidFill>
                  <a:srgbClr val="1A2B4C"/>
                </a:solidFill>
                <a:effectLst/>
                <a:uLnTx/>
                <a:uFillTx/>
                <a:latin typeface="Lato"/>
                <a:ea typeface="+mn-ea"/>
                <a:cs typeface="+mn-cs"/>
              </a:rPr>
              <a:t>INFLATED_OBSTACLE</a:t>
            </a:r>
          </a:p>
        </p:txBody>
      </p:sp>
      <p:sp>
        <p:nvSpPr>
          <p:cNvPr id="32" name="TextBox 31"/>
          <p:cNvSpPr txBox="1"/>
          <p:nvPr/>
        </p:nvSpPr>
        <p:spPr>
          <a:xfrm>
            <a:off x="8961120" y="2231136"/>
            <a:ext cx="731520" cy="201168"/>
          </a:xfrm>
          <a:prstGeom prst="rect">
            <a:avLst/>
          </a:prstGeom>
          <a:noFill/>
        </p:spPr>
        <p:txBody>
          <a:bodyPr wrap="square"/>
          <a:lstStyle/>
          <a:p>
            <a:pPr marL="0" marR="0" lvl="0" indent="0" algn="ctr" defTabSz="457200" rtl="0" eaLnBrk="1" fontAlgn="auto" latinLnBrk="0" hangingPunct="1">
              <a:lnSpc>
                <a:spcPts val="1080"/>
              </a:lnSpc>
              <a:spcBef>
                <a:spcPts val="0"/>
              </a:spcBef>
              <a:spcAft>
                <a:spcPts val="0"/>
              </a:spcAft>
              <a:buClrTx/>
              <a:buSzTx/>
              <a:buFontTx/>
              <a:buNone/>
              <a:tabLst/>
              <a:defRPr sz="900" b="1" i="0">
                <a:solidFill>
                  <a:srgbClr val="003A70"/>
                </a:solidFill>
                <a:latin typeface="Lato"/>
              </a:defRPr>
            </a:pPr>
            <a:r>
              <a:rPr kumimoji="0" sz="900" b="1" i="0" u="none" strike="noStrike" kern="1200" cap="none" spc="0" normalizeH="0" baseline="0" noProof="0">
                <a:ln>
                  <a:noFill/>
                </a:ln>
                <a:solidFill>
                  <a:srgbClr val="003A70"/>
                </a:solidFill>
                <a:effectLst/>
                <a:uLnTx/>
                <a:uFillTx/>
                <a:latin typeface="Lato"/>
                <a:ea typeface="+mn-ea"/>
                <a:cs typeface="+mn-cs"/>
              </a:rPr>
              <a:t>1–252</a:t>
            </a:r>
          </a:p>
        </p:txBody>
      </p:sp>
      <p:sp>
        <p:nvSpPr>
          <p:cNvPr id="33" name="TextBox 32"/>
          <p:cNvSpPr txBox="1"/>
          <p:nvPr/>
        </p:nvSpPr>
        <p:spPr>
          <a:xfrm>
            <a:off x="9784080" y="2231136"/>
            <a:ext cx="164592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0" i="0">
                <a:solidFill>
                  <a:srgbClr val="555555"/>
                </a:solidFill>
                <a:latin typeface="Lato"/>
              </a:defRPr>
            </a:pPr>
            <a:r>
              <a:rPr kumimoji="0" sz="800" b="0" i="0" u="none" strike="noStrike" kern="1200" cap="none" spc="0" normalizeH="0" baseline="0" noProof="0">
                <a:ln>
                  <a:noFill/>
                </a:ln>
                <a:solidFill>
                  <a:srgbClr val="555555"/>
                </a:solidFill>
                <a:effectLst/>
                <a:uLnTx/>
                <a:uFillTx/>
                <a:latin typeface="Lato"/>
                <a:ea typeface="+mn-ea"/>
                <a:cs typeface="+mn-cs"/>
              </a:rPr>
              <a:t>Area inflasi obstacle</a:t>
            </a:r>
          </a:p>
        </p:txBody>
      </p:sp>
      <p:sp>
        <p:nvSpPr>
          <p:cNvPr id="34" name="TextBox 33"/>
          <p:cNvSpPr txBox="1"/>
          <p:nvPr/>
        </p:nvSpPr>
        <p:spPr>
          <a:xfrm>
            <a:off x="7040880" y="2487168"/>
            <a:ext cx="182880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1" i="0">
                <a:solidFill>
                  <a:srgbClr val="1A2B4C"/>
                </a:solidFill>
                <a:latin typeface="Lato"/>
              </a:defRPr>
            </a:pPr>
            <a:r>
              <a:rPr kumimoji="0" sz="800" b="1" i="0" u="none" strike="noStrike" kern="1200" cap="none" spc="0" normalizeH="0" baseline="0" noProof="0">
                <a:ln>
                  <a:noFill/>
                </a:ln>
                <a:solidFill>
                  <a:srgbClr val="1A2B4C"/>
                </a:solidFill>
                <a:effectLst/>
                <a:uLnTx/>
                <a:uFillTx/>
                <a:latin typeface="Lato"/>
                <a:ea typeface="+mn-ea"/>
                <a:cs typeface="+mn-cs"/>
              </a:rPr>
              <a:t>TRANSITION_CELL</a:t>
            </a:r>
          </a:p>
        </p:txBody>
      </p:sp>
      <p:sp>
        <p:nvSpPr>
          <p:cNvPr id="35" name="TextBox 34"/>
          <p:cNvSpPr txBox="1"/>
          <p:nvPr/>
        </p:nvSpPr>
        <p:spPr>
          <a:xfrm>
            <a:off x="8961120" y="2487168"/>
            <a:ext cx="731520" cy="201168"/>
          </a:xfrm>
          <a:prstGeom prst="rect">
            <a:avLst/>
          </a:prstGeom>
          <a:noFill/>
        </p:spPr>
        <p:txBody>
          <a:bodyPr wrap="square"/>
          <a:lstStyle/>
          <a:p>
            <a:pPr marL="0" marR="0" lvl="0" indent="0" algn="ctr" defTabSz="457200" rtl="0" eaLnBrk="1" fontAlgn="auto" latinLnBrk="0" hangingPunct="1">
              <a:lnSpc>
                <a:spcPts val="1080"/>
              </a:lnSpc>
              <a:spcBef>
                <a:spcPts val="0"/>
              </a:spcBef>
              <a:spcAft>
                <a:spcPts val="0"/>
              </a:spcAft>
              <a:buClrTx/>
              <a:buSzTx/>
              <a:buFontTx/>
              <a:buNone/>
              <a:tabLst/>
              <a:defRPr sz="900" b="1" i="0">
                <a:solidFill>
                  <a:srgbClr val="003A70"/>
                </a:solidFill>
                <a:latin typeface="Lato"/>
              </a:defRPr>
            </a:pPr>
            <a:r>
              <a:rPr kumimoji="0" sz="900" b="1" i="0" u="none" strike="noStrike" kern="1200" cap="none" spc="0" normalizeH="0" baseline="0" noProof="0">
                <a:ln>
                  <a:noFill/>
                </a:ln>
                <a:solidFill>
                  <a:srgbClr val="003A70"/>
                </a:solidFill>
                <a:effectLst/>
                <a:uLnTx/>
                <a:uFillTx/>
                <a:latin typeface="Lato"/>
                <a:ea typeface="+mn-ea"/>
                <a:cs typeface="+mn-cs"/>
              </a:rPr>
              <a:t>1–5</a:t>
            </a:r>
          </a:p>
        </p:txBody>
      </p:sp>
      <p:sp>
        <p:nvSpPr>
          <p:cNvPr id="36" name="TextBox 35"/>
          <p:cNvSpPr txBox="1"/>
          <p:nvPr/>
        </p:nvSpPr>
        <p:spPr>
          <a:xfrm>
            <a:off x="9784080" y="2487168"/>
            <a:ext cx="164592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0" i="0">
                <a:solidFill>
                  <a:srgbClr val="555555"/>
                </a:solidFill>
                <a:latin typeface="Lato"/>
              </a:defRPr>
            </a:pPr>
            <a:r>
              <a:rPr kumimoji="0" sz="800" b="0" i="0" u="none" strike="noStrike" kern="1200" cap="none" spc="0" normalizeH="0" baseline="0" noProof="0">
                <a:ln>
                  <a:noFill/>
                </a:ln>
                <a:solidFill>
                  <a:srgbClr val="555555"/>
                </a:solidFill>
                <a:effectLst/>
                <a:uLnTx/>
                <a:uFillTx/>
                <a:latin typeface="Lato"/>
                <a:ea typeface="+mn-ea"/>
                <a:cs typeface="+mn-cs"/>
              </a:rPr>
              <a:t>Zona transisi region</a:t>
            </a:r>
          </a:p>
        </p:txBody>
      </p:sp>
      <p:sp>
        <p:nvSpPr>
          <p:cNvPr id="37" name="TextBox 36"/>
          <p:cNvSpPr txBox="1"/>
          <p:nvPr/>
        </p:nvSpPr>
        <p:spPr>
          <a:xfrm>
            <a:off x="7040880" y="2743200"/>
            <a:ext cx="182880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1" i="0">
                <a:solidFill>
                  <a:srgbClr val="1A2B4C"/>
                </a:solidFill>
                <a:latin typeface="Lato"/>
              </a:defRPr>
            </a:pPr>
            <a:r>
              <a:rPr kumimoji="0" sz="800" b="1" i="0" u="none" strike="noStrike" kern="1200" cap="none" spc="0" normalizeH="0" baseline="0" noProof="0">
                <a:ln>
                  <a:noFill/>
                </a:ln>
                <a:solidFill>
                  <a:srgbClr val="1A2B4C"/>
                </a:solidFill>
                <a:effectLst/>
                <a:uLnTx/>
                <a:uFillTx/>
                <a:latin typeface="Lato"/>
                <a:ea typeface="+mn-ea"/>
                <a:cs typeface="+mn-cs"/>
              </a:rPr>
              <a:t>FREE_SPACE</a:t>
            </a:r>
          </a:p>
        </p:txBody>
      </p:sp>
      <p:sp>
        <p:nvSpPr>
          <p:cNvPr id="38" name="TextBox 37"/>
          <p:cNvSpPr txBox="1"/>
          <p:nvPr/>
        </p:nvSpPr>
        <p:spPr>
          <a:xfrm>
            <a:off x="8961120" y="2743200"/>
            <a:ext cx="731520" cy="201168"/>
          </a:xfrm>
          <a:prstGeom prst="rect">
            <a:avLst/>
          </a:prstGeom>
          <a:noFill/>
        </p:spPr>
        <p:txBody>
          <a:bodyPr wrap="square"/>
          <a:lstStyle/>
          <a:p>
            <a:pPr marL="0" marR="0" lvl="0" indent="0" algn="ctr" defTabSz="457200" rtl="0" eaLnBrk="1" fontAlgn="auto" latinLnBrk="0" hangingPunct="1">
              <a:lnSpc>
                <a:spcPts val="1080"/>
              </a:lnSpc>
              <a:spcBef>
                <a:spcPts val="0"/>
              </a:spcBef>
              <a:spcAft>
                <a:spcPts val="0"/>
              </a:spcAft>
              <a:buClrTx/>
              <a:buSzTx/>
              <a:buFontTx/>
              <a:buNone/>
              <a:tabLst/>
              <a:defRPr sz="900" b="1" i="0">
                <a:solidFill>
                  <a:srgbClr val="003A70"/>
                </a:solidFill>
                <a:latin typeface="Lato"/>
              </a:defRPr>
            </a:pPr>
            <a:r>
              <a:rPr kumimoji="0" sz="900" b="1" i="0" u="none" strike="noStrike" kern="1200" cap="none" spc="0" normalizeH="0" baseline="0" noProof="0">
                <a:ln>
                  <a:noFill/>
                </a:ln>
                <a:solidFill>
                  <a:srgbClr val="003A70"/>
                </a:solidFill>
                <a:effectLst/>
                <a:uLnTx/>
                <a:uFillTx/>
                <a:latin typeface="Lato"/>
                <a:ea typeface="+mn-ea"/>
                <a:cs typeface="+mn-cs"/>
              </a:rPr>
              <a:t>0</a:t>
            </a:r>
          </a:p>
        </p:txBody>
      </p:sp>
      <p:sp>
        <p:nvSpPr>
          <p:cNvPr id="39" name="TextBox 38"/>
          <p:cNvSpPr txBox="1"/>
          <p:nvPr/>
        </p:nvSpPr>
        <p:spPr>
          <a:xfrm>
            <a:off x="9784080" y="2743200"/>
            <a:ext cx="1645920" cy="201168"/>
          </a:xfrm>
          <a:prstGeom prst="rect">
            <a:avLst/>
          </a:prstGeom>
          <a:noFill/>
        </p:spPr>
        <p:txBody>
          <a:bodyPr wrap="square"/>
          <a:lstStyle/>
          <a:p>
            <a:pPr marL="0" marR="0" lvl="0" indent="0" algn="l" defTabSz="457200" rtl="0" eaLnBrk="1" fontAlgn="auto" latinLnBrk="0" hangingPunct="1">
              <a:lnSpc>
                <a:spcPts val="960"/>
              </a:lnSpc>
              <a:spcBef>
                <a:spcPts val="0"/>
              </a:spcBef>
              <a:spcAft>
                <a:spcPts val="0"/>
              </a:spcAft>
              <a:buClrTx/>
              <a:buSzTx/>
              <a:buFontTx/>
              <a:buNone/>
              <a:tabLst/>
              <a:defRPr sz="800" b="0" i="0">
                <a:solidFill>
                  <a:srgbClr val="555555"/>
                </a:solidFill>
                <a:latin typeface="Lato"/>
              </a:defRPr>
            </a:pPr>
            <a:r>
              <a:rPr kumimoji="0" sz="800" b="0" i="0" u="none" strike="noStrike" kern="1200" cap="none" spc="0" normalizeH="0" baseline="0" noProof="0">
                <a:ln>
                  <a:noFill/>
                </a:ln>
                <a:solidFill>
                  <a:srgbClr val="555555"/>
                </a:solidFill>
                <a:effectLst/>
                <a:uLnTx/>
                <a:uFillTx/>
                <a:latin typeface="Lato"/>
                <a:ea typeface="+mn-ea"/>
                <a:cs typeface="+mn-cs"/>
              </a:rPr>
              <a:t>Ruang bebas</a:t>
            </a:r>
          </a:p>
        </p:txBody>
      </p:sp>
      <p:sp>
        <p:nvSpPr>
          <p:cNvPr id="40" name="Rounded Rectangle 39"/>
          <p:cNvSpPr/>
          <p:nvPr/>
        </p:nvSpPr>
        <p:spPr>
          <a:xfrm>
            <a:off x="7040880" y="3090672"/>
            <a:ext cx="4480560" cy="594360"/>
          </a:xfrm>
          <a:prstGeom prst="roundRect">
            <a:avLst/>
          </a:prstGeom>
          <a:solidFill>
            <a:srgbClr val="FDF2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1" name="TextBox 40"/>
          <p:cNvSpPr txBox="1"/>
          <p:nvPr/>
        </p:nvSpPr>
        <p:spPr>
          <a:xfrm>
            <a:off x="7178040" y="3136392"/>
            <a:ext cx="4206240" cy="502920"/>
          </a:xfrm>
          <a:prstGeom prst="rect">
            <a:avLst/>
          </a:prstGeom>
          <a:noFill/>
        </p:spPr>
        <p:txBody>
          <a:bodyPr wrap="square"/>
          <a:lstStyle/>
          <a:p>
            <a:pPr marL="0" marR="0" lvl="0" indent="0" algn="l" defTabSz="457200" rtl="0" eaLnBrk="1" fontAlgn="auto" latinLnBrk="0" hangingPunct="1">
              <a:lnSpc>
                <a:spcPts val="1040"/>
              </a:lnSpc>
              <a:spcBef>
                <a:spcPts val="0"/>
              </a:spcBef>
              <a:spcAft>
                <a:spcPts val="0"/>
              </a:spcAft>
              <a:buClrTx/>
              <a:buSzTx/>
              <a:buFontTx/>
              <a:buNone/>
              <a:tabLst/>
              <a:defRPr sz="800" b="0" i="0">
                <a:solidFill>
                  <a:srgbClr val="555555"/>
                </a:solidFill>
                <a:latin typeface="Lato"/>
              </a:defRPr>
            </a:pPr>
            <a:r>
              <a:rPr kumimoji="0" sz="800" b="0" i="0" u="none" strike="noStrike" kern="1200" cap="none" spc="0" normalizeH="0" baseline="0" noProof="0" dirty="0">
                <a:ln>
                  <a:noFill/>
                </a:ln>
                <a:solidFill>
                  <a:srgbClr val="555555"/>
                </a:solidFill>
                <a:effectLst/>
                <a:uLnTx/>
                <a:uFillTx/>
                <a:latin typeface="Lato"/>
                <a:ea typeface="+mn-ea"/>
                <a:cs typeface="+mn-cs"/>
              </a:rPr>
              <a:t>Inscribed radius </a:t>
            </a:r>
            <a:r>
              <a:rPr kumimoji="0" sz="800" b="0" i="0" u="none" strike="noStrike" kern="1200" cap="none" spc="0" normalizeH="0" baseline="0" noProof="0" dirty="0" err="1">
                <a:ln>
                  <a:noFill/>
                </a:ln>
                <a:solidFill>
                  <a:srgbClr val="555555"/>
                </a:solidFill>
                <a:effectLst/>
                <a:uLnTx/>
                <a:uFillTx/>
                <a:latin typeface="Lato"/>
                <a:ea typeface="+mn-ea"/>
                <a:cs typeface="+mn-cs"/>
              </a:rPr>
              <a:t>adalah</a:t>
            </a:r>
            <a:r>
              <a:rPr kumimoji="0" sz="800" b="0" i="0" u="none" strike="noStrike" kern="1200" cap="none" spc="0" normalizeH="0" baseline="0" noProof="0" dirty="0">
                <a:ln>
                  <a:noFill/>
                </a:ln>
                <a:solidFill>
                  <a:srgbClr val="555555"/>
                </a:solidFill>
                <a:effectLst/>
                <a:uLnTx/>
                <a:uFillTx/>
                <a:latin typeface="Lato"/>
                <a:ea typeface="+mn-ea"/>
                <a:cs typeface="+mn-cs"/>
              </a:rPr>
              <a:t> </a:t>
            </a:r>
            <a:r>
              <a:rPr kumimoji="0" sz="800" b="0" i="0" u="none" strike="noStrike" kern="1200" cap="none" spc="0" normalizeH="0" baseline="0" noProof="0" dirty="0" err="1">
                <a:ln>
                  <a:noFill/>
                </a:ln>
                <a:solidFill>
                  <a:srgbClr val="555555"/>
                </a:solidFill>
                <a:effectLst/>
                <a:uLnTx/>
                <a:uFillTx/>
                <a:latin typeface="Lato"/>
                <a:ea typeface="+mn-ea"/>
                <a:cs typeface="+mn-cs"/>
              </a:rPr>
              <a:t>jarak</a:t>
            </a:r>
            <a:r>
              <a:rPr kumimoji="0" sz="800" b="0" i="0" u="none" strike="noStrike" kern="1200" cap="none" spc="0" normalizeH="0" baseline="0" noProof="0" dirty="0">
                <a:ln>
                  <a:noFill/>
                </a:ln>
                <a:solidFill>
                  <a:srgbClr val="555555"/>
                </a:solidFill>
                <a:effectLst/>
                <a:uLnTx/>
                <a:uFillTx/>
                <a:latin typeface="Lato"/>
                <a:ea typeface="+mn-ea"/>
                <a:cs typeface="+mn-cs"/>
              </a:rPr>
              <a:t> </a:t>
            </a:r>
            <a:r>
              <a:rPr kumimoji="0" sz="800" b="0" i="0" u="none" strike="noStrike" kern="1200" cap="none" spc="0" normalizeH="0" baseline="0" noProof="0" dirty="0" err="1">
                <a:ln>
                  <a:noFill/>
                </a:ln>
                <a:solidFill>
                  <a:srgbClr val="555555"/>
                </a:solidFill>
                <a:effectLst/>
                <a:uLnTx/>
                <a:uFillTx/>
                <a:latin typeface="Lato"/>
                <a:ea typeface="+mn-ea"/>
                <a:cs typeface="+mn-cs"/>
              </a:rPr>
              <a:t>dari</a:t>
            </a:r>
            <a:r>
              <a:rPr kumimoji="0" sz="800" b="0" i="0" u="none" strike="noStrike" kern="1200" cap="none" spc="0" normalizeH="0" baseline="0" noProof="0" dirty="0">
                <a:ln>
                  <a:noFill/>
                </a:ln>
                <a:solidFill>
                  <a:srgbClr val="555555"/>
                </a:solidFill>
                <a:effectLst/>
                <a:uLnTx/>
                <a:uFillTx/>
                <a:latin typeface="Lato"/>
                <a:ea typeface="+mn-ea"/>
                <a:cs typeface="+mn-cs"/>
              </a:rPr>
              <a:t> </a:t>
            </a:r>
            <a:r>
              <a:rPr kumimoji="0" sz="800" b="0" i="0" u="none" strike="noStrike" kern="1200" cap="none" spc="0" normalizeH="0" baseline="0" noProof="0" dirty="0" err="1">
                <a:ln>
                  <a:noFill/>
                </a:ln>
                <a:solidFill>
                  <a:srgbClr val="555555"/>
                </a:solidFill>
                <a:effectLst/>
                <a:uLnTx/>
                <a:uFillTx/>
                <a:latin typeface="Lato"/>
                <a:ea typeface="+mn-ea"/>
                <a:cs typeface="+mn-cs"/>
              </a:rPr>
              <a:t>pusat</a:t>
            </a:r>
            <a:r>
              <a:rPr kumimoji="0" sz="800" b="0" i="0" u="none" strike="noStrike" kern="1200" cap="none" spc="0" normalizeH="0" baseline="0" noProof="0" dirty="0">
                <a:ln>
                  <a:noFill/>
                </a:ln>
                <a:solidFill>
                  <a:srgbClr val="555555"/>
                </a:solidFill>
                <a:effectLst/>
                <a:uLnTx/>
                <a:uFillTx/>
                <a:latin typeface="Lato"/>
                <a:ea typeface="+mn-ea"/>
                <a:cs typeface="+mn-cs"/>
              </a:rPr>
              <a:t> robot </a:t>
            </a:r>
            <a:r>
              <a:rPr kumimoji="0" sz="800" b="0" i="0" u="none" strike="noStrike" kern="1200" cap="none" spc="0" normalizeH="0" baseline="0" noProof="0" dirty="0" err="1">
                <a:ln>
                  <a:noFill/>
                </a:ln>
                <a:solidFill>
                  <a:srgbClr val="555555"/>
                </a:solidFill>
                <a:effectLst/>
                <a:uLnTx/>
                <a:uFillTx/>
                <a:latin typeface="Lato"/>
                <a:ea typeface="+mn-ea"/>
                <a:cs typeface="+mn-cs"/>
              </a:rPr>
              <a:t>ke</a:t>
            </a:r>
            <a:r>
              <a:rPr kumimoji="0" sz="800" b="0" i="0" u="none" strike="noStrike" kern="1200" cap="none" spc="0" normalizeH="0" baseline="0" noProof="0" dirty="0">
                <a:ln>
                  <a:noFill/>
                </a:ln>
                <a:solidFill>
                  <a:srgbClr val="555555"/>
                </a:solidFill>
                <a:effectLst/>
                <a:uLnTx/>
                <a:uFillTx/>
                <a:latin typeface="Lato"/>
                <a:ea typeface="+mn-ea"/>
                <a:cs typeface="+mn-cs"/>
              </a:rPr>
              <a:t> batas footprint. Sel </a:t>
            </a:r>
            <a:r>
              <a:rPr kumimoji="0" sz="800" b="0" i="0" u="none" strike="noStrike" kern="1200" cap="none" spc="0" normalizeH="0" baseline="0" noProof="0" dirty="0" err="1">
                <a:ln>
                  <a:noFill/>
                </a:ln>
                <a:solidFill>
                  <a:srgbClr val="555555"/>
                </a:solidFill>
                <a:effectLst/>
                <a:uLnTx/>
                <a:uFillTx/>
                <a:latin typeface="Lato"/>
                <a:ea typeface="+mn-ea"/>
                <a:cs typeface="+mn-cs"/>
              </a:rPr>
              <a:t>dalam</a:t>
            </a:r>
            <a:r>
              <a:rPr kumimoji="0" sz="800" b="0" i="0" u="none" strike="noStrike" kern="1200" cap="none" spc="0" normalizeH="0" baseline="0" noProof="0" dirty="0">
                <a:ln>
                  <a:noFill/>
                </a:ln>
                <a:solidFill>
                  <a:srgbClr val="555555"/>
                </a:solidFill>
                <a:effectLst/>
                <a:uLnTx/>
                <a:uFillTx/>
                <a:latin typeface="Lato"/>
                <a:ea typeface="+mn-ea"/>
                <a:cs typeface="+mn-cs"/>
              </a:rPr>
              <a:t> radius </a:t>
            </a:r>
            <a:r>
              <a:rPr kumimoji="0" sz="800" b="0" i="0" u="none" strike="noStrike" kern="1200" cap="none" spc="0" normalizeH="0" baseline="0" noProof="0" dirty="0" err="1">
                <a:ln>
                  <a:noFill/>
                </a:ln>
                <a:solidFill>
                  <a:srgbClr val="555555"/>
                </a:solidFill>
                <a:effectLst/>
                <a:uLnTx/>
                <a:uFillTx/>
                <a:latin typeface="Lato"/>
                <a:ea typeface="+mn-ea"/>
                <a:cs typeface="+mn-cs"/>
              </a:rPr>
              <a:t>ini</a:t>
            </a:r>
            <a:r>
              <a:rPr kumimoji="0" sz="800" b="0" i="0" u="none" strike="noStrike" kern="1200" cap="none" spc="0" normalizeH="0" baseline="0" noProof="0" dirty="0">
                <a:ln>
                  <a:noFill/>
                </a:ln>
                <a:solidFill>
                  <a:srgbClr val="555555"/>
                </a:solidFill>
                <a:effectLst/>
                <a:uLnTx/>
                <a:uFillTx/>
                <a:latin typeface="Lato"/>
                <a:ea typeface="+mn-ea"/>
                <a:cs typeface="+mn-cs"/>
              </a:rPr>
              <a:t> </a:t>
            </a:r>
            <a:r>
              <a:rPr kumimoji="0" sz="800" b="0" i="0" u="none" strike="noStrike" kern="1200" cap="none" spc="0" normalizeH="0" baseline="0" noProof="0" dirty="0" err="1">
                <a:ln>
                  <a:noFill/>
                </a:ln>
                <a:solidFill>
                  <a:srgbClr val="555555"/>
                </a:solidFill>
                <a:effectLst/>
                <a:uLnTx/>
                <a:uFillTx/>
                <a:latin typeface="Lato"/>
                <a:ea typeface="+mn-ea"/>
                <a:cs typeface="+mn-cs"/>
              </a:rPr>
              <a:t>dianggap</a:t>
            </a:r>
            <a:r>
              <a:rPr kumimoji="0" sz="800" b="0" i="0" u="none" strike="noStrike" kern="1200" cap="none" spc="0" normalizeH="0" baseline="0" noProof="0" dirty="0">
                <a:ln>
                  <a:noFill/>
                </a:ln>
                <a:solidFill>
                  <a:srgbClr val="555555"/>
                </a:solidFill>
                <a:effectLst/>
                <a:uLnTx/>
                <a:uFillTx/>
                <a:latin typeface="Lato"/>
                <a:ea typeface="+mn-ea"/>
                <a:cs typeface="+mn-cs"/>
              </a:rPr>
              <a:t> </a:t>
            </a:r>
            <a:r>
              <a:rPr kumimoji="0" sz="800" b="0" i="0" u="none" strike="noStrike" kern="1200" cap="none" spc="0" normalizeH="0" baseline="0" noProof="0" dirty="0" err="1">
                <a:ln>
                  <a:noFill/>
                </a:ln>
                <a:solidFill>
                  <a:srgbClr val="555555"/>
                </a:solidFill>
                <a:effectLst/>
                <a:uLnTx/>
                <a:uFillTx/>
                <a:latin typeface="Lato"/>
                <a:ea typeface="+mn-ea"/>
                <a:cs typeface="+mn-cs"/>
              </a:rPr>
              <a:t>terlalu</a:t>
            </a:r>
            <a:r>
              <a:rPr kumimoji="0" sz="800" b="0" i="0" u="none" strike="noStrike" kern="1200" cap="none" spc="0" normalizeH="0" baseline="0" noProof="0" dirty="0">
                <a:ln>
                  <a:noFill/>
                </a:ln>
                <a:solidFill>
                  <a:srgbClr val="555555"/>
                </a:solidFill>
                <a:effectLst/>
                <a:uLnTx/>
                <a:uFillTx/>
                <a:latin typeface="Lato"/>
                <a:ea typeface="+mn-ea"/>
                <a:cs typeface="+mn-cs"/>
              </a:rPr>
              <a:t> </a:t>
            </a:r>
            <a:r>
              <a:rPr kumimoji="0" sz="800" b="0" i="0" u="none" strike="noStrike" kern="1200" cap="none" spc="0" normalizeH="0" baseline="0" noProof="0" dirty="0" err="1">
                <a:ln>
                  <a:noFill/>
                </a:ln>
                <a:solidFill>
                  <a:srgbClr val="555555"/>
                </a:solidFill>
                <a:effectLst/>
                <a:uLnTx/>
                <a:uFillTx/>
                <a:latin typeface="Lato"/>
                <a:ea typeface="+mn-ea"/>
                <a:cs typeface="+mn-cs"/>
              </a:rPr>
              <a:t>dekat</a:t>
            </a:r>
            <a:r>
              <a:rPr kumimoji="0" sz="800" b="0" i="0" u="none" strike="noStrike" kern="1200" cap="none" spc="0" normalizeH="0" baseline="0" noProof="0" dirty="0">
                <a:ln>
                  <a:noFill/>
                </a:ln>
                <a:solidFill>
                  <a:srgbClr val="555555"/>
                </a:solidFill>
                <a:effectLst/>
                <a:uLnTx/>
                <a:uFillTx/>
                <a:latin typeface="Lato"/>
                <a:ea typeface="+mn-ea"/>
                <a:cs typeface="+mn-cs"/>
              </a:rPr>
              <a:t> dan </a:t>
            </a:r>
            <a:r>
              <a:rPr kumimoji="0" sz="800" b="0" i="0" u="none" strike="noStrike" kern="1200" cap="none" spc="0" normalizeH="0" baseline="0" noProof="0" dirty="0" err="1">
                <a:ln>
                  <a:noFill/>
                </a:ln>
                <a:solidFill>
                  <a:srgbClr val="555555"/>
                </a:solidFill>
                <a:effectLst/>
                <a:uLnTx/>
                <a:uFillTx/>
                <a:latin typeface="Lato"/>
                <a:ea typeface="+mn-ea"/>
                <a:cs typeface="+mn-cs"/>
              </a:rPr>
              <a:t>diberi</a:t>
            </a:r>
            <a:r>
              <a:rPr kumimoji="0" sz="800" b="0" i="0" u="none" strike="noStrike" kern="1200" cap="none" spc="0" normalizeH="0" baseline="0" noProof="0" dirty="0">
                <a:ln>
                  <a:noFill/>
                </a:ln>
                <a:solidFill>
                  <a:srgbClr val="555555"/>
                </a:solidFill>
                <a:effectLst/>
                <a:uLnTx/>
                <a:uFillTx/>
                <a:latin typeface="Lato"/>
                <a:ea typeface="+mn-ea"/>
                <a:cs typeface="+mn-cs"/>
              </a:rPr>
              <a:t> cost </a:t>
            </a:r>
            <a:r>
              <a:rPr kumimoji="0" sz="800" b="0" i="0" u="none" strike="noStrike" kern="1200" cap="none" spc="0" normalizeH="0" baseline="0" noProof="0" dirty="0" err="1">
                <a:ln>
                  <a:noFill/>
                </a:ln>
                <a:solidFill>
                  <a:srgbClr val="555555"/>
                </a:solidFill>
                <a:effectLst/>
                <a:uLnTx/>
                <a:uFillTx/>
                <a:latin typeface="Lato"/>
                <a:ea typeface="+mn-ea"/>
                <a:cs typeface="+mn-cs"/>
              </a:rPr>
              <a:t>maksimal</a:t>
            </a:r>
            <a:r>
              <a:rPr kumimoji="0" sz="800" b="0" i="0" u="none" strike="noStrike" kern="1200" cap="none" spc="0" normalizeH="0" baseline="0" noProof="0" dirty="0">
                <a:ln>
                  <a:noFill/>
                </a:ln>
                <a:solidFill>
                  <a:srgbClr val="555555"/>
                </a:solidFill>
                <a:effectLst/>
                <a:uLnTx/>
                <a:uFillTx/>
                <a:latin typeface="Lato"/>
                <a:ea typeface="+mn-ea"/>
                <a:cs typeface="+mn-cs"/>
              </a:rPr>
              <a:t> 253.</a:t>
            </a:r>
          </a:p>
        </p:txBody>
      </p:sp>
      <p:sp>
        <p:nvSpPr>
          <p:cNvPr id="42" name="TextBox 41"/>
          <p:cNvSpPr txBox="1"/>
          <p:nvPr/>
        </p:nvSpPr>
        <p:spPr>
          <a:xfrm>
            <a:off x="10884103" y="6446520"/>
            <a:ext cx="457200" cy="274320"/>
          </a:xfrm>
          <a:prstGeom prst="rect">
            <a:avLst/>
          </a:prstGeom>
          <a:noFill/>
        </p:spPr>
        <p:txBody>
          <a:bodyPr wrap="square"/>
          <a:lstStyle/>
          <a:p>
            <a:pPr marL="0" marR="0" lvl="0" indent="0" algn="r" defTabSz="457200" rtl="0" eaLnBrk="1" fontAlgn="auto" latinLnBrk="0" hangingPunct="1">
              <a:lnSpc>
                <a:spcPts val="12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10604546" cy="502920"/>
          </a:xfrm>
          <a:prstGeom prst="rect">
            <a:avLst/>
          </a:prstGeom>
          <a:noFill/>
        </p:spPr>
        <p:txBody>
          <a:bodyPr wrap="square"/>
          <a:lstStyle/>
          <a:p>
            <a:pPr marL="0" marR="0" lvl="0" indent="0" algn="l" defTabSz="457200" rtl="0" eaLnBrk="1" fontAlgn="auto" latinLnBrk="0" hangingPunct="1">
              <a:lnSpc>
                <a:spcPts val="3120"/>
              </a:lnSpc>
              <a:spcBef>
                <a:spcPts val="0"/>
              </a:spcBef>
              <a:spcAft>
                <a:spcPts val="0"/>
              </a:spcAft>
              <a:buClrTx/>
              <a:buSzTx/>
              <a:buFontTx/>
              <a:buNone/>
              <a:tabLst/>
              <a:defRPr sz="2600" b="1" i="0">
                <a:solidFill>
                  <a:srgbClr val="1A2B4C"/>
                </a:solidFill>
                <a:latin typeface="Montserrat"/>
              </a:defRPr>
            </a:pPr>
            <a:r>
              <a:rPr kumimoji="0" sz="2600" b="1" i="0" u="none" strike="noStrike" kern="1200" cap="none" spc="0" normalizeH="0" baseline="0" noProof="0" dirty="0">
                <a:ln>
                  <a:noFill/>
                </a:ln>
                <a:solidFill>
                  <a:srgbClr val="1A2B4C"/>
                </a:solidFill>
                <a:effectLst/>
                <a:uLnTx/>
                <a:uFillTx/>
                <a:latin typeface="Montserrat"/>
                <a:ea typeface="+mn-ea"/>
                <a:cs typeface="+mn-cs"/>
              </a:rPr>
              <a:t>GLOBAL COSTMAP </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850392" y="1005840"/>
            <a:ext cx="5943600" cy="411480"/>
          </a:xfrm>
          <a:prstGeom prst="rect">
            <a:avLst/>
          </a:prstGeom>
          <a:noFill/>
        </p:spPr>
        <p:txBody>
          <a:bodyPr wrap="square"/>
          <a:lstStyle/>
          <a:p>
            <a:pPr marL="0" marR="0" lvl="0" indent="0" algn="l" defTabSz="457200" rtl="0" eaLnBrk="1" fontAlgn="auto" latinLnBrk="0" hangingPunct="1">
              <a:lnSpc>
                <a:spcPts val="1485"/>
              </a:lnSpc>
              <a:spcBef>
                <a:spcPts val="0"/>
              </a:spcBef>
              <a:spcAft>
                <a:spcPts val="0"/>
              </a:spcAft>
              <a:buClrTx/>
              <a:buSzTx/>
              <a:buFontTx/>
              <a:buNone/>
              <a:tabLst/>
              <a:defRPr sz="1100" b="0" i="0">
                <a:solidFill>
                  <a:srgbClr val="333333"/>
                </a:solidFill>
                <a:latin typeface="Lato"/>
              </a:defRPr>
            </a:pPr>
            <a:r>
              <a:rPr kumimoji="0" sz="1100" b="0" i="0" u="none" strike="noStrike" kern="1200" cap="none" spc="0" normalizeH="0" baseline="0" noProof="0">
                <a:ln>
                  <a:noFill/>
                </a:ln>
                <a:solidFill>
                  <a:srgbClr val="333333"/>
                </a:solidFill>
                <a:effectLst/>
                <a:uLnTx/>
                <a:uFillTx/>
                <a:latin typeface="Lato"/>
                <a:ea typeface="+mn-ea"/>
                <a:cs typeface="+mn-cs"/>
              </a:rPr>
              <a:t>Global costmap mencakup seluruh area yang diketahui dari peta. Digunakan oleh global planner (A*) untuk merencanakan path dari posisi robot menuju tujuan dalam skala luas. Costmap ini tidak berubah secara dinamis selama navigasi.</a:t>
            </a:r>
          </a:p>
        </p:txBody>
      </p:sp>
      <p:sp>
        <p:nvSpPr>
          <p:cNvPr id="5" name="Rounded Rectangle 4"/>
          <p:cNvSpPr/>
          <p:nvPr/>
        </p:nvSpPr>
        <p:spPr>
          <a:xfrm>
            <a:off x="850392" y="1554480"/>
            <a:ext cx="59436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Rectangle 5"/>
          <p:cNvSpPr/>
          <p:nvPr/>
        </p:nvSpPr>
        <p:spPr>
          <a:xfrm>
            <a:off x="850392" y="15544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TextBox 6"/>
          <p:cNvSpPr txBox="1"/>
          <p:nvPr/>
        </p:nvSpPr>
        <p:spPr>
          <a:xfrm>
            <a:off x="1033272" y="1600200"/>
            <a:ext cx="2743200" cy="274320"/>
          </a:xfrm>
          <a:prstGeom prst="rect">
            <a:avLst/>
          </a:prstGeom>
          <a:noFill/>
        </p:spPr>
        <p:txBody>
          <a:bodyPr wrap="square"/>
          <a:lstStyle/>
          <a:p>
            <a:pPr marL="0" marR="0" lvl="0" indent="0" algn="l" defTabSz="457200" rtl="0" eaLnBrk="1" fontAlgn="auto" latinLnBrk="0" hangingPunct="1">
              <a:lnSpc>
                <a:spcPts val="1680"/>
              </a:lnSpc>
              <a:spcBef>
                <a:spcPts val="0"/>
              </a:spcBef>
              <a:spcAft>
                <a:spcPts val="0"/>
              </a:spcAft>
              <a:buClrTx/>
              <a:buSzTx/>
              <a:buFontTx/>
              <a:buNone/>
              <a:tabLst/>
              <a:defRPr sz="1400" b="1" i="0">
                <a:solidFill>
                  <a:srgbClr val="003A70"/>
                </a:solidFill>
                <a:latin typeface="Montserrat"/>
              </a:defRPr>
            </a:pPr>
            <a:r>
              <a:rPr kumimoji="0" sz="1400" b="1" i="0" u="none" strike="noStrike" kern="1200" cap="none" spc="0" normalizeH="0" baseline="0" noProof="0">
                <a:ln>
                  <a:noFill/>
                </a:ln>
                <a:solidFill>
                  <a:srgbClr val="003A70"/>
                </a:solidFill>
                <a:effectLst/>
                <a:uLnTx/>
                <a:uFillTx/>
                <a:latin typeface="Montserrat"/>
                <a:ea typeface="+mn-ea"/>
                <a:cs typeface="+mn-cs"/>
              </a:rPr>
              <a:t>Static Layer</a:t>
            </a:r>
          </a:p>
        </p:txBody>
      </p:sp>
      <p:sp>
        <p:nvSpPr>
          <p:cNvPr id="8" name="TextBox 7"/>
          <p:cNvSpPr txBox="1"/>
          <p:nvPr/>
        </p:nvSpPr>
        <p:spPr>
          <a:xfrm>
            <a:off x="1033272" y="1874519"/>
            <a:ext cx="5577840" cy="548640"/>
          </a:xfrm>
          <a:prstGeom prst="rect">
            <a:avLst/>
          </a:prstGeom>
          <a:noFill/>
        </p:spPr>
        <p:txBody>
          <a:bodyPr wrap="square"/>
          <a:lstStyle/>
          <a:p>
            <a:pPr marL="0" marR="0" lvl="0" indent="0" algn="l" defTabSz="457200" rtl="0" eaLnBrk="1" fontAlgn="auto" latinLnBrk="0" hangingPunct="1">
              <a:lnSpc>
                <a:spcPts val="13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dirty="0" err="1">
                <a:ln>
                  <a:noFill/>
                </a:ln>
                <a:solidFill>
                  <a:srgbClr val="333333"/>
                </a:solidFill>
                <a:effectLst/>
                <a:uLnTx/>
                <a:uFillTx/>
                <a:latin typeface="Lato"/>
                <a:ea typeface="+mn-ea"/>
                <a:cs typeface="+mn-cs"/>
              </a:rPr>
              <a:t>Menyimpan</a:t>
            </a:r>
            <a:r>
              <a:rPr kumimoji="0" sz="1000" b="0" i="0" u="none" strike="noStrike" kern="1200" cap="none" spc="0" normalizeH="0" baseline="0" noProof="0" dirty="0">
                <a:ln>
                  <a:noFill/>
                </a:ln>
                <a:solidFill>
                  <a:srgbClr val="333333"/>
                </a:solidFill>
                <a:effectLst/>
                <a:uLnTx/>
                <a:uFillTx/>
                <a:latin typeface="Lato"/>
                <a:ea typeface="+mn-ea"/>
                <a:cs typeface="+mn-cs"/>
              </a:rPr>
              <a:t> obstacle </a:t>
            </a:r>
            <a:r>
              <a:rPr kumimoji="0" sz="1000" b="0" i="0" u="none" strike="noStrike" kern="1200" cap="none" spc="0" normalizeH="0" baseline="0" noProof="0" dirty="0" err="1">
                <a:ln>
                  <a:noFill/>
                </a:ln>
                <a:solidFill>
                  <a:srgbClr val="333333"/>
                </a:solidFill>
                <a:effectLst/>
                <a:uLnTx/>
                <a:uFillTx/>
                <a:latin typeface="Lato"/>
                <a:ea typeface="+mn-ea"/>
                <a:cs typeface="+mn-cs"/>
              </a:rPr>
              <a:t>tetap</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dari</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peta</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Mengkonversi</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nilai</a:t>
            </a:r>
            <a:r>
              <a:rPr kumimoji="0" sz="1000" b="0" i="0" u="none" strike="noStrike" kern="1200" cap="none" spc="0" normalizeH="0" baseline="0" noProof="0" dirty="0">
                <a:ln>
                  <a:noFill/>
                </a:ln>
                <a:solidFill>
                  <a:srgbClr val="333333"/>
                </a:solidFill>
                <a:effectLst/>
                <a:uLnTx/>
                <a:uFillTx/>
                <a:latin typeface="Lato"/>
                <a:ea typeface="+mn-ea"/>
                <a:cs typeface="+mn-cs"/>
              </a:rPr>
              <a:t> occupancy grid (0–100) </a:t>
            </a:r>
            <a:r>
              <a:rPr kumimoji="0" sz="1000" b="0" i="0" u="none" strike="noStrike" kern="1200" cap="none" spc="0" normalizeH="0" baseline="0" noProof="0" dirty="0" err="1">
                <a:ln>
                  <a:noFill/>
                </a:ln>
                <a:solidFill>
                  <a:srgbClr val="333333"/>
                </a:solidFill>
                <a:effectLst/>
                <a:uLnTx/>
                <a:uFillTx/>
                <a:latin typeface="Lato"/>
                <a:ea typeface="+mn-ea"/>
                <a:cs typeface="+mn-cs"/>
              </a:rPr>
              <a:t>ke</a:t>
            </a:r>
            <a:r>
              <a:rPr kumimoji="0" sz="1000" b="0" i="0" u="none" strike="noStrike" kern="1200" cap="none" spc="0" normalizeH="0" baseline="0" noProof="0" dirty="0">
                <a:ln>
                  <a:noFill/>
                </a:ln>
                <a:solidFill>
                  <a:srgbClr val="333333"/>
                </a:solidFill>
                <a:effectLst/>
                <a:uLnTx/>
                <a:uFillTx/>
                <a:latin typeface="Lato"/>
                <a:ea typeface="+mn-ea"/>
                <a:cs typeface="+mn-cs"/>
              </a:rPr>
              <a:t> cost internal (0–255): unknown=255, free=0, occupied=254. </a:t>
            </a:r>
            <a:r>
              <a:rPr kumimoji="0" sz="1000" b="0" i="0" u="none" strike="noStrike" kern="1200" cap="none" spc="0" normalizeH="0" baseline="0" noProof="0" dirty="0" err="1">
                <a:ln>
                  <a:noFill/>
                </a:ln>
                <a:solidFill>
                  <a:srgbClr val="333333"/>
                </a:solidFill>
                <a:effectLst/>
                <a:uLnTx/>
                <a:uFillTx/>
                <a:latin typeface="Lato"/>
                <a:ea typeface="+mn-ea"/>
                <a:cs typeface="+mn-cs"/>
              </a:rPr>
              <a:t>Bersumber</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dari</a:t>
            </a:r>
            <a:r>
              <a:rPr kumimoji="0" sz="1000" b="0" i="0" u="none" strike="noStrike" kern="1200" cap="none" spc="0" normalizeH="0" baseline="0" noProof="0" dirty="0">
                <a:ln>
                  <a:noFill/>
                </a:ln>
                <a:solidFill>
                  <a:srgbClr val="333333"/>
                </a:solidFill>
                <a:effectLst/>
                <a:uLnTx/>
                <a:uFillTx/>
                <a:latin typeface="Lato"/>
                <a:ea typeface="+mn-ea"/>
                <a:cs typeface="+mn-cs"/>
              </a:rPr>
              <a:t> combined map dan </a:t>
            </a:r>
            <a:r>
              <a:rPr kumimoji="0" sz="1000" b="0" i="0" u="none" strike="noStrike" kern="1200" cap="none" spc="0" normalizeH="0" baseline="0" noProof="0" dirty="0" err="1">
                <a:ln>
                  <a:noFill/>
                </a:ln>
                <a:solidFill>
                  <a:srgbClr val="333333"/>
                </a:solidFill>
                <a:effectLst/>
                <a:uLnTx/>
                <a:uFillTx/>
                <a:latin typeface="Lato"/>
                <a:ea typeface="+mn-ea"/>
                <a:cs typeface="+mn-cs"/>
              </a:rPr>
              <a:t>tidak</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berubah</a:t>
            </a:r>
            <a:r>
              <a:rPr kumimoji="0" sz="1000" b="0" i="0" u="none" strike="noStrike" kern="1200" cap="none" spc="0" normalizeH="0" baseline="0" noProof="0" dirty="0">
                <a:ln>
                  <a:noFill/>
                </a:ln>
                <a:solidFill>
                  <a:srgbClr val="333333"/>
                </a:solidFill>
                <a:effectLst/>
                <a:uLnTx/>
                <a:uFillTx/>
                <a:latin typeface="Lato"/>
                <a:ea typeface="+mn-ea"/>
                <a:cs typeface="+mn-cs"/>
              </a:rPr>
              <a:t>.</a:t>
            </a:r>
          </a:p>
        </p:txBody>
      </p:sp>
      <p:sp>
        <p:nvSpPr>
          <p:cNvPr id="9" name="Rounded Rectangle 8"/>
          <p:cNvSpPr/>
          <p:nvPr/>
        </p:nvSpPr>
        <p:spPr>
          <a:xfrm>
            <a:off x="850392" y="2697480"/>
            <a:ext cx="59436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Rectangle 9"/>
          <p:cNvSpPr/>
          <p:nvPr/>
        </p:nvSpPr>
        <p:spPr>
          <a:xfrm>
            <a:off x="850392" y="26974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1033272" y="2743200"/>
            <a:ext cx="2743200" cy="274320"/>
          </a:xfrm>
          <a:prstGeom prst="rect">
            <a:avLst/>
          </a:prstGeom>
          <a:noFill/>
        </p:spPr>
        <p:txBody>
          <a:bodyPr wrap="square"/>
          <a:lstStyle/>
          <a:p>
            <a:pPr marL="0" marR="0" lvl="0" indent="0" algn="l" defTabSz="457200" rtl="0" eaLnBrk="1" fontAlgn="auto" latinLnBrk="0" hangingPunct="1">
              <a:lnSpc>
                <a:spcPts val="1680"/>
              </a:lnSpc>
              <a:spcBef>
                <a:spcPts val="0"/>
              </a:spcBef>
              <a:spcAft>
                <a:spcPts val="0"/>
              </a:spcAft>
              <a:buClrTx/>
              <a:buSzTx/>
              <a:buFontTx/>
              <a:buNone/>
              <a:tabLst/>
              <a:defRPr sz="1400" b="1" i="0">
                <a:solidFill>
                  <a:srgbClr val="003A70"/>
                </a:solidFill>
                <a:latin typeface="Montserrat"/>
              </a:defRPr>
            </a:pPr>
            <a:r>
              <a:rPr kumimoji="0" sz="1400" b="1" i="0" u="none" strike="noStrike" kern="1200" cap="none" spc="0" normalizeH="0" baseline="0" noProof="0">
                <a:ln>
                  <a:noFill/>
                </a:ln>
                <a:solidFill>
                  <a:srgbClr val="003A70"/>
                </a:solidFill>
                <a:effectLst/>
                <a:uLnTx/>
                <a:uFillTx/>
                <a:latin typeface="Montserrat"/>
                <a:ea typeface="+mn-ea"/>
                <a:cs typeface="+mn-cs"/>
              </a:rPr>
              <a:t>Inflation Layer</a:t>
            </a:r>
          </a:p>
        </p:txBody>
      </p:sp>
      <p:sp>
        <p:nvSpPr>
          <p:cNvPr id="12" name="TextBox 11"/>
          <p:cNvSpPr txBox="1"/>
          <p:nvPr/>
        </p:nvSpPr>
        <p:spPr>
          <a:xfrm>
            <a:off x="1033272" y="3017520"/>
            <a:ext cx="5577840" cy="548640"/>
          </a:xfrm>
          <a:prstGeom prst="rect">
            <a:avLst/>
          </a:prstGeom>
          <a:noFill/>
        </p:spPr>
        <p:txBody>
          <a:bodyPr wrap="square"/>
          <a:lstStyle/>
          <a:p>
            <a:pPr marL="0" marR="0" lvl="0" indent="0" algn="l" defTabSz="457200" rtl="0" eaLnBrk="1" fontAlgn="auto" latinLnBrk="0" hangingPunct="1">
              <a:lnSpc>
                <a:spcPts val="13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dirty="0" err="1">
                <a:ln>
                  <a:noFill/>
                </a:ln>
                <a:solidFill>
                  <a:srgbClr val="333333"/>
                </a:solidFill>
                <a:effectLst/>
                <a:uLnTx/>
                <a:uFillTx/>
                <a:latin typeface="Lato"/>
                <a:ea typeface="+mn-ea"/>
                <a:cs typeface="+mn-cs"/>
              </a:rPr>
              <a:t>Memperluas</a:t>
            </a:r>
            <a:r>
              <a:rPr kumimoji="0" sz="1000" b="0" i="0" u="none" strike="noStrike" kern="1200" cap="none" spc="0" normalizeH="0" baseline="0" noProof="0" dirty="0">
                <a:ln>
                  <a:noFill/>
                </a:ln>
                <a:solidFill>
                  <a:srgbClr val="333333"/>
                </a:solidFill>
                <a:effectLst/>
                <a:uLnTx/>
                <a:uFillTx/>
                <a:latin typeface="Lato"/>
                <a:ea typeface="+mn-ea"/>
                <a:cs typeface="+mn-cs"/>
              </a:rPr>
              <a:t> obstacle </a:t>
            </a:r>
            <a:r>
              <a:rPr kumimoji="0" sz="1000" b="0" i="0" u="none" strike="noStrike" kern="1200" cap="none" spc="0" normalizeH="0" baseline="0" noProof="0" dirty="0" err="1">
                <a:ln>
                  <a:noFill/>
                </a:ln>
                <a:solidFill>
                  <a:srgbClr val="333333"/>
                </a:solidFill>
                <a:effectLst/>
                <a:uLnTx/>
                <a:uFillTx/>
                <a:latin typeface="Lato"/>
                <a:ea typeface="+mn-ea"/>
                <a:cs typeface="+mn-cs"/>
              </a:rPr>
              <a:t>dengan</a:t>
            </a:r>
            <a:r>
              <a:rPr kumimoji="0" sz="1000" b="0" i="0" u="none" strike="noStrike" kern="1200" cap="none" spc="0" normalizeH="0" baseline="0" noProof="0" dirty="0">
                <a:ln>
                  <a:noFill/>
                </a:ln>
                <a:solidFill>
                  <a:srgbClr val="333333"/>
                </a:solidFill>
                <a:effectLst/>
                <a:uLnTx/>
                <a:uFillTx/>
                <a:latin typeface="Lato"/>
                <a:ea typeface="+mn-ea"/>
                <a:cs typeface="+mn-cs"/>
              </a:rPr>
              <a:t> gradient cost </a:t>
            </a:r>
            <a:r>
              <a:rPr kumimoji="0" sz="1000" b="0" i="0" u="none" strike="noStrike" kern="1200" cap="none" spc="0" normalizeH="0" baseline="0" noProof="0" dirty="0" err="1">
                <a:ln>
                  <a:noFill/>
                </a:ln>
                <a:solidFill>
                  <a:srgbClr val="333333"/>
                </a:solidFill>
                <a:effectLst/>
                <a:uLnTx/>
                <a:uFillTx/>
                <a:latin typeface="Lato"/>
                <a:ea typeface="+mn-ea"/>
                <a:cs typeface="+mn-cs"/>
              </a:rPr>
              <a:t>untuk</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menjaga</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jarak</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aman</a:t>
            </a:r>
            <a:r>
              <a:rPr kumimoji="0" sz="1000" b="0" i="0" u="none" strike="noStrike" kern="1200" cap="none" spc="0" normalizeH="0" baseline="0" noProof="0" dirty="0">
                <a:ln>
                  <a:noFill/>
                </a:ln>
                <a:solidFill>
                  <a:srgbClr val="333333"/>
                </a:solidFill>
                <a:effectLst/>
                <a:uLnTx/>
                <a:uFillTx/>
                <a:latin typeface="Lato"/>
                <a:ea typeface="+mn-ea"/>
                <a:cs typeface="+mn-cs"/>
              </a:rPr>
              <a:t>. Cost Scaling Factor (CSF) </a:t>
            </a:r>
            <a:r>
              <a:rPr kumimoji="0" sz="1000" b="0" i="0" u="none" strike="noStrike" kern="1200" cap="none" spc="0" normalizeH="0" baseline="0" noProof="0" dirty="0" err="1">
                <a:ln>
                  <a:noFill/>
                </a:ln>
                <a:solidFill>
                  <a:srgbClr val="333333"/>
                </a:solidFill>
                <a:effectLst/>
                <a:uLnTx/>
                <a:uFillTx/>
                <a:latin typeface="Lato"/>
                <a:ea typeface="+mn-ea"/>
                <a:cs typeface="+mn-cs"/>
              </a:rPr>
              <a:t>memengaruhi</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kecuraman</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gradien</a:t>
            </a:r>
            <a:r>
              <a:rPr kumimoji="0" sz="1000" b="0" i="0" u="none" strike="noStrike" kern="1200" cap="none" spc="0" normalizeH="0" baseline="0" noProof="0" dirty="0">
                <a:ln>
                  <a:noFill/>
                </a:ln>
                <a:solidFill>
                  <a:srgbClr val="333333"/>
                </a:solidFill>
                <a:effectLst/>
                <a:uLnTx/>
                <a:uFillTx/>
                <a:latin typeface="Lato"/>
                <a:ea typeface="+mn-ea"/>
                <a:cs typeface="+mn-cs"/>
              </a:rPr>
              <a:t>: CSF </a:t>
            </a:r>
            <a:r>
              <a:rPr kumimoji="0" sz="1000" b="0" i="0" u="none" strike="noStrike" kern="1200" cap="none" spc="0" normalizeH="0" baseline="0" noProof="0" dirty="0" err="1">
                <a:ln>
                  <a:noFill/>
                </a:ln>
                <a:solidFill>
                  <a:srgbClr val="333333"/>
                </a:solidFill>
                <a:effectLst/>
                <a:uLnTx/>
                <a:uFillTx/>
                <a:latin typeface="Lato"/>
                <a:ea typeface="+mn-ea"/>
                <a:cs typeface="+mn-cs"/>
              </a:rPr>
              <a:t>tinggi</a:t>
            </a:r>
            <a:r>
              <a:rPr kumimoji="0" sz="1000" b="0" i="0" u="none" strike="noStrike" kern="1200" cap="none" spc="0" normalizeH="0" baseline="0" noProof="0" dirty="0">
                <a:ln>
                  <a:noFill/>
                </a:ln>
                <a:solidFill>
                  <a:srgbClr val="333333"/>
                </a:solidFill>
                <a:effectLst/>
                <a:uLnTx/>
                <a:uFillTx/>
                <a:latin typeface="Lato"/>
                <a:ea typeface="+mn-ea"/>
                <a:cs typeface="+mn-cs"/>
              </a:rPr>
              <a:t> = </a:t>
            </a:r>
            <a:r>
              <a:rPr kumimoji="0" sz="1000" b="0" i="0" u="none" strike="noStrike" kern="1200" cap="none" spc="0" normalizeH="0" baseline="0" noProof="0" dirty="0" err="1">
                <a:ln>
                  <a:noFill/>
                </a:ln>
                <a:solidFill>
                  <a:srgbClr val="333333"/>
                </a:solidFill>
                <a:effectLst/>
                <a:uLnTx/>
                <a:uFillTx/>
                <a:latin typeface="Lato"/>
                <a:ea typeface="+mn-ea"/>
                <a:cs typeface="+mn-cs"/>
              </a:rPr>
              <a:t>penurunan</a:t>
            </a:r>
            <a:r>
              <a:rPr kumimoji="0" sz="1000" b="0" i="0" u="none" strike="noStrike" kern="1200" cap="none" spc="0" normalizeH="0" baseline="0" noProof="0" dirty="0">
                <a:ln>
                  <a:noFill/>
                </a:ln>
                <a:solidFill>
                  <a:srgbClr val="333333"/>
                </a:solidFill>
                <a:effectLst/>
                <a:uLnTx/>
                <a:uFillTx/>
                <a:latin typeface="Lato"/>
                <a:ea typeface="+mn-ea"/>
                <a:cs typeface="+mn-cs"/>
              </a:rPr>
              <a:t> cost </a:t>
            </a:r>
            <a:r>
              <a:rPr kumimoji="0" sz="1000" b="0" i="0" u="none" strike="noStrike" kern="1200" cap="none" spc="0" normalizeH="0" baseline="0" noProof="0" dirty="0" err="1">
                <a:ln>
                  <a:noFill/>
                </a:ln>
                <a:solidFill>
                  <a:srgbClr val="333333"/>
                </a:solidFill>
                <a:effectLst/>
                <a:uLnTx/>
                <a:uFillTx/>
                <a:latin typeface="Lato"/>
                <a:ea typeface="+mn-ea"/>
                <a:cs typeface="+mn-cs"/>
              </a:rPr>
              <a:t>lebih</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curam</a:t>
            </a:r>
            <a:r>
              <a:rPr kumimoji="0" sz="1000" b="0" i="0" u="none" strike="noStrike" kern="1200" cap="none" spc="0" normalizeH="0" baseline="0" noProof="0" dirty="0">
                <a:ln>
                  <a:noFill/>
                </a:ln>
                <a:solidFill>
                  <a:srgbClr val="333333"/>
                </a:solidFill>
                <a:effectLst/>
                <a:uLnTx/>
                <a:uFillTx/>
                <a:latin typeface="Lato"/>
                <a:ea typeface="+mn-ea"/>
                <a:cs typeface="+mn-cs"/>
              </a:rPr>
              <a:t>, path </a:t>
            </a:r>
            <a:r>
              <a:rPr kumimoji="0" sz="1000" b="0" i="0" u="none" strike="noStrike" kern="1200" cap="none" spc="0" normalizeH="0" baseline="0" noProof="0" dirty="0" err="1">
                <a:ln>
                  <a:noFill/>
                </a:ln>
                <a:solidFill>
                  <a:srgbClr val="333333"/>
                </a:solidFill>
                <a:effectLst/>
                <a:uLnTx/>
                <a:uFillTx/>
                <a:latin typeface="Lato"/>
                <a:ea typeface="+mn-ea"/>
                <a:cs typeface="+mn-cs"/>
              </a:rPr>
              <a:t>lebih</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mepet</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ke</a:t>
            </a:r>
            <a:r>
              <a:rPr kumimoji="0" sz="1000" b="0" i="0" u="none" strike="noStrike" kern="1200" cap="none" spc="0" normalizeH="0" baseline="0" noProof="0" dirty="0">
                <a:ln>
                  <a:noFill/>
                </a:ln>
                <a:solidFill>
                  <a:srgbClr val="333333"/>
                </a:solidFill>
                <a:effectLst/>
                <a:uLnTx/>
                <a:uFillTx/>
                <a:latin typeface="Lato"/>
                <a:ea typeface="+mn-ea"/>
                <a:cs typeface="+mn-cs"/>
              </a:rPr>
              <a:t> obstacle. CSF </a:t>
            </a:r>
            <a:r>
              <a:rPr kumimoji="0" sz="1000" b="0" i="0" u="none" strike="noStrike" kern="1200" cap="none" spc="0" normalizeH="0" baseline="0" noProof="0" dirty="0" err="1">
                <a:ln>
                  <a:noFill/>
                </a:ln>
                <a:solidFill>
                  <a:srgbClr val="333333"/>
                </a:solidFill>
                <a:effectLst/>
                <a:uLnTx/>
                <a:uFillTx/>
                <a:latin typeface="Lato"/>
                <a:ea typeface="+mn-ea"/>
                <a:cs typeface="+mn-cs"/>
              </a:rPr>
              <a:t>rendah</a:t>
            </a:r>
            <a:r>
              <a:rPr kumimoji="0" sz="1000" b="0" i="0" u="none" strike="noStrike" kern="1200" cap="none" spc="0" normalizeH="0" baseline="0" noProof="0" dirty="0">
                <a:ln>
                  <a:noFill/>
                </a:ln>
                <a:solidFill>
                  <a:srgbClr val="333333"/>
                </a:solidFill>
                <a:effectLst/>
                <a:uLnTx/>
                <a:uFillTx/>
                <a:latin typeface="Lato"/>
                <a:ea typeface="+mn-ea"/>
                <a:cs typeface="+mn-cs"/>
              </a:rPr>
              <a:t> = </a:t>
            </a:r>
            <a:r>
              <a:rPr kumimoji="0" sz="1000" b="0" i="0" u="none" strike="noStrike" kern="1200" cap="none" spc="0" normalizeH="0" baseline="0" noProof="0" dirty="0" err="1">
                <a:ln>
                  <a:noFill/>
                </a:ln>
                <a:solidFill>
                  <a:srgbClr val="333333"/>
                </a:solidFill>
                <a:effectLst/>
                <a:uLnTx/>
                <a:uFillTx/>
                <a:latin typeface="Lato"/>
                <a:ea typeface="+mn-ea"/>
                <a:cs typeface="+mn-cs"/>
              </a:rPr>
              <a:t>gradien</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landai</a:t>
            </a:r>
            <a:r>
              <a:rPr kumimoji="0" sz="1000" b="0" i="0" u="none" strike="noStrike" kern="1200" cap="none" spc="0" normalizeH="0" baseline="0" noProof="0" dirty="0">
                <a:ln>
                  <a:noFill/>
                </a:ln>
                <a:solidFill>
                  <a:srgbClr val="333333"/>
                </a:solidFill>
                <a:effectLst/>
                <a:uLnTx/>
                <a:uFillTx/>
                <a:latin typeface="Lato"/>
                <a:ea typeface="+mn-ea"/>
                <a:cs typeface="+mn-cs"/>
              </a:rPr>
              <a:t>, path </a:t>
            </a:r>
            <a:r>
              <a:rPr kumimoji="0" sz="1000" b="0" i="0" u="none" strike="noStrike" kern="1200" cap="none" spc="0" normalizeH="0" baseline="0" noProof="0" dirty="0" err="1">
                <a:ln>
                  <a:noFill/>
                </a:ln>
                <a:solidFill>
                  <a:srgbClr val="333333"/>
                </a:solidFill>
                <a:effectLst/>
                <a:uLnTx/>
                <a:uFillTx/>
                <a:latin typeface="Lato"/>
                <a:ea typeface="+mn-ea"/>
                <a:cs typeface="+mn-cs"/>
              </a:rPr>
              <a:t>menjauhi</a:t>
            </a:r>
            <a:r>
              <a:rPr kumimoji="0" sz="1000" b="0" i="0" u="none" strike="noStrike" kern="1200" cap="none" spc="0" normalizeH="0" baseline="0" noProof="0" dirty="0">
                <a:ln>
                  <a:noFill/>
                </a:ln>
                <a:solidFill>
                  <a:srgbClr val="333333"/>
                </a:solidFill>
                <a:effectLst/>
                <a:uLnTx/>
                <a:uFillTx/>
                <a:latin typeface="Lato"/>
                <a:ea typeface="+mn-ea"/>
                <a:cs typeface="+mn-cs"/>
              </a:rPr>
              <a:t> obstacle.</a:t>
            </a:r>
          </a:p>
        </p:txBody>
      </p:sp>
      <p:sp>
        <p:nvSpPr>
          <p:cNvPr id="13" name="Rounded Rectangle 12"/>
          <p:cNvSpPr/>
          <p:nvPr/>
        </p:nvSpPr>
        <p:spPr>
          <a:xfrm>
            <a:off x="6858000" y="1005840"/>
            <a:ext cx="4846320" cy="2743200"/>
          </a:xfrm>
          <a:prstGeom prst="roundRect">
            <a:avLst/>
          </a:prstGeom>
          <a:solidFill>
            <a:srgbClr val="FDF2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7040880" y="1051560"/>
            <a:ext cx="4480560" cy="274320"/>
          </a:xfrm>
          <a:prstGeom prst="rect">
            <a:avLst/>
          </a:prstGeom>
          <a:noFill/>
        </p:spPr>
        <p:txBody>
          <a:bodyPr wrap="square"/>
          <a:lstStyle/>
          <a:p>
            <a:pPr marL="0" marR="0" lvl="0" indent="0" algn="l" defTabSz="457200" rtl="0" eaLnBrk="1" fontAlgn="auto" latinLnBrk="0" hangingPunct="1">
              <a:lnSpc>
                <a:spcPts val="1680"/>
              </a:lnSpc>
              <a:spcBef>
                <a:spcPts val="0"/>
              </a:spcBef>
              <a:spcAft>
                <a:spcPts val="0"/>
              </a:spcAft>
              <a:buClrTx/>
              <a:buSzTx/>
              <a:buFontTx/>
              <a:buNone/>
              <a:tabLst/>
              <a:defRPr sz="1400" b="1" i="0">
                <a:solidFill>
                  <a:srgbClr val="F08C2E"/>
                </a:solidFill>
                <a:latin typeface="Montserrat"/>
              </a:defRPr>
            </a:pPr>
            <a:r>
              <a:rPr kumimoji="0" sz="1400" b="1" i="0" u="none" strike="noStrike" kern="1200" cap="none" spc="0" normalizeH="0" baseline="0" noProof="0">
                <a:ln>
                  <a:noFill/>
                </a:ln>
                <a:solidFill>
                  <a:srgbClr val="F08C2E"/>
                </a:solidFill>
                <a:effectLst/>
                <a:uLnTx/>
                <a:uFillTx/>
                <a:latin typeface="Montserrat"/>
                <a:ea typeface="+mn-ea"/>
                <a:cs typeface="+mn-cs"/>
              </a:rPr>
              <a:t>Fungsi Inflasi</a:t>
            </a:r>
          </a:p>
        </p:txBody>
      </p:sp>
      <p:sp>
        <p:nvSpPr>
          <p:cNvPr id="15" name="TextBox 14"/>
          <p:cNvSpPr txBox="1"/>
          <p:nvPr/>
        </p:nvSpPr>
        <p:spPr>
          <a:xfrm>
            <a:off x="7040880" y="1417320"/>
            <a:ext cx="4480560" cy="1371600"/>
          </a:xfrm>
          <a:prstGeom prst="rect">
            <a:avLst/>
          </a:prstGeom>
          <a:noFill/>
        </p:spPr>
        <p:txBody>
          <a:bodyPr wrap="square"/>
          <a:lstStyle/>
          <a:p>
            <a:pPr marL="0" marR="0" lvl="0" indent="0" algn="l" defTabSz="457200" rtl="0" eaLnBrk="1" fontAlgn="auto" latinLnBrk="0" hangingPunct="1">
              <a:lnSpc>
                <a:spcPts val="1485"/>
              </a:lnSpc>
              <a:spcBef>
                <a:spcPts val="0"/>
              </a:spcBef>
              <a:spcAft>
                <a:spcPts val="0"/>
              </a:spcAft>
              <a:buClrTx/>
              <a:buSzTx/>
              <a:buFontTx/>
              <a:buNone/>
              <a:tabLst/>
              <a:defRPr sz="1100" b="0" i="0">
                <a:solidFill>
                  <a:srgbClr val="333333"/>
                </a:solidFill>
                <a:latin typeface="Lato"/>
              </a:defRPr>
            </a:pPr>
            <a:r>
              <a:rPr kumimoji="0" sz="1100" b="0" i="0" u="none" strike="noStrike" kern="1200" cap="none" spc="0" normalizeH="0" baseline="0" noProof="0" dirty="0">
                <a:ln>
                  <a:noFill/>
                </a:ln>
                <a:solidFill>
                  <a:srgbClr val="333333"/>
                </a:solidFill>
                <a:effectLst/>
                <a:uLnTx/>
                <a:uFillTx/>
                <a:latin typeface="Lato"/>
                <a:ea typeface="+mn-ea"/>
                <a:cs typeface="+mn-cs"/>
              </a:rPr>
              <a:t>C(d) = 253 · e^(−α · (d − </a:t>
            </a:r>
            <a:r>
              <a:rPr kumimoji="0" sz="1100" b="0" i="0" u="none" strike="noStrike" kern="1200" cap="none" spc="0" normalizeH="0" baseline="0" noProof="0" dirty="0" err="1">
                <a:ln>
                  <a:noFill/>
                </a:ln>
                <a:solidFill>
                  <a:srgbClr val="333333"/>
                </a:solidFill>
                <a:effectLst/>
                <a:uLnTx/>
                <a:uFillTx/>
                <a:latin typeface="Lato"/>
                <a:ea typeface="+mn-ea"/>
                <a:cs typeface="+mn-cs"/>
              </a:rPr>
              <a:t>r_inscribed</a:t>
            </a:r>
            <a:r>
              <a:rPr kumimoji="0" sz="1100" b="0" i="0" u="none" strike="noStrike" kern="1200" cap="none" spc="0" normalizeH="0" baseline="0" noProof="0" dirty="0">
                <a:ln>
                  <a:noFill/>
                </a:ln>
                <a:solidFill>
                  <a:srgbClr val="333333"/>
                </a:solidFill>
                <a:effectLst/>
                <a:uLnTx/>
                <a:uFillTx/>
                <a:latin typeface="Lato"/>
                <a:ea typeface="+mn-ea"/>
                <a:cs typeface="+mn-cs"/>
              </a:rPr>
              <a:t>))</a:t>
            </a:r>
            <a:br>
              <a:rPr kumimoji="0" sz="1100" b="0" i="0" u="none" strike="noStrike" kern="1200" cap="none" spc="0" normalizeH="0" baseline="0" noProof="0" dirty="0">
                <a:ln>
                  <a:noFill/>
                </a:ln>
                <a:solidFill>
                  <a:srgbClr val="333333"/>
                </a:solidFill>
                <a:effectLst/>
                <a:uLnTx/>
                <a:uFillTx/>
                <a:latin typeface="Lato"/>
                <a:ea typeface="+mn-ea"/>
                <a:cs typeface="+mn-cs"/>
              </a:rPr>
            </a:br>
            <a:r>
              <a:rPr kumimoji="0" sz="1100" b="0" i="0" u="none" strike="noStrike" kern="1200" cap="none" spc="0" normalizeH="0" baseline="0" noProof="0" dirty="0" err="1">
                <a:ln>
                  <a:noFill/>
                </a:ln>
                <a:solidFill>
                  <a:srgbClr val="333333"/>
                </a:solidFill>
                <a:effectLst/>
                <a:uLnTx/>
                <a:uFillTx/>
                <a:latin typeface="Lato"/>
                <a:ea typeface="+mn-ea"/>
                <a:cs typeface="+mn-cs"/>
              </a:rPr>
              <a:t>untuk</a:t>
            </a:r>
            <a:r>
              <a:rPr kumimoji="0" sz="1100" b="0" i="0" u="none" strike="noStrike" kern="1200" cap="none" spc="0" normalizeH="0" baseline="0" noProof="0" dirty="0">
                <a:ln>
                  <a:noFill/>
                </a:ln>
                <a:solidFill>
                  <a:srgbClr val="333333"/>
                </a:solidFill>
                <a:effectLst/>
                <a:uLnTx/>
                <a:uFillTx/>
                <a:latin typeface="Lato"/>
                <a:ea typeface="+mn-ea"/>
                <a:cs typeface="+mn-cs"/>
              </a:rPr>
              <a:t> </a:t>
            </a:r>
            <a:r>
              <a:rPr kumimoji="0" sz="1100" b="0" i="0" u="none" strike="noStrike" kern="1200" cap="none" spc="0" normalizeH="0" baseline="0" noProof="0" dirty="0" err="1">
                <a:ln>
                  <a:noFill/>
                </a:ln>
                <a:solidFill>
                  <a:srgbClr val="333333"/>
                </a:solidFill>
                <a:effectLst/>
                <a:uLnTx/>
                <a:uFillTx/>
                <a:latin typeface="Lato"/>
                <a:ea typeface="+mn-ea"/>
                <a:cs typeface="+mn-cs"/>
              </a:rPr>
              <a:t>r_inscribed</a:t>
            </a:r>
            <a:r>
              <a:rPr kumimoji="0" sz="1100" b="0" i="0" u="none" strike="noStrike" kern="1200" cap="none" spc="0" normalizeH="0" baseline="0" noProof="0" dirty="0">
                <a:ln>
                  <a:noFill/>
                </a:ln>
                <a:solidFill>
                  <a:srgbClr val="333333"/>
                </a:solidFill>
                <a:effectLst/>
                <a:uLnTx/>
                <a:uFillTx/>
                <a:latin typeface="Lato"/>
                <a:ea typeface="+mn-ea"/>
                <a:cs typeface="+mn-cs"/>
              </a:rPr>
              <a:t> &lt; d ≤ R</a:t>
            </a:r>
            <a:br>
              <a:rPr kumimoji="0" sz="1100" b="0" i="0" u="none" strike="noStrike" kern="1200" cap="none" spc="0" normalizeH="0" baseline="0" noProof="0" dirty="0">
                <a:ln>
                  <a:noFill/>
                </a:ln>
                <a:solidFill>
                  <a:srgbClr val="333333"/>
                </a:solidFill>
                <a:effectLst/>
                <a:uLnTx/>
                <a:uFillTx/>
                <a:latin typeface="Lato"/>
                <a:ea typeface="+mn-ea"/>
                <a:cs typeface="+mn-cs"/>
              </a:rPr>
            </a:br>
            <a:br>
              <a:rPr kumimoji="0" sz="1100" b="0" i="0" u="none" strike="noStrike" kern="1200" cap="none" spc="0" normalizeH="0" baseline="0" noProof="0" dirty="0">
                <a:ln>
                  <a:noFill/>
                </a:ln>
                <a:solidFill>
                  <a:srgbClr val="333333"/>
                </a:solidFill>
                <a:effectLst/>
                <a:uLnTx/>
                <a:uFillTx/>
                <a:latin typeface="Lato"/>
                <a:ea typeface="+mn-ea"/>
                <a:cs typeface="+mn-cs"/>
              </a:rPr>
            </a:br>
            <a:r>
              <a:rPr kumimoji="0" sz="1100" b="0" i="0" u="none" strike="noStrike" kern="1200" cap="none" spc="0" normalizeH="0" baseline="0" noProof="0" dirty="0">
                <a:ln>
                  <a:noFill/>
                </a:ln>
                <a:solidFill>
                  <a:srgbClr val="333333"/>
                </a:solidFill>
                <a:effectLst/>
                <a:uLnTx/>
                <a:uFillTx/>
                <a:latin typeface="Lato"/>
                <a:ea typeface="+mn-ea"/>
                <a:cs typeface="+mn-cs"/>
              </a:rPr>
              <a:t>d = </a:t>
            </a:r>
            <a:r>
              <a:rPr kumimoji="0" sz="1100" b="0" i="0" u="none" strike="noStrike" kern="1200" cap="none" spc="0" normalizeH="0" baseline="0" noProof="0" dirty="0" err="1">
                <a:ln>
                  <a:noFill/>
                </a:ln>
                <a:solidFill>
                  <a:srgbClr val="333333"/>
                </a:solidFill>
                <a:effectLst/>
                <a:uLnTx/>
                <a:uFillTx/>
                <a:latin typeface="Lato"/>
                <a:ea typeface="+mn-ea"/>
                <a:cs typeface="+mn-cs"/>
              </a:rPr>
              <a:t>jarak</a:t>
            </a:r>
            <a:r>
              <a:rPr kumimoji="0" sz="1100" b="0" i="0" u="none" strike="noStrike" kern="1200" cap="none" spc="0" normalizeH="0" baseline="0" noProof="0" dirty="0">
                <a:ln>
                  <a:noFill/>
                </a:ln>
                <a:solidFill>
                  <a:srgbClr val="333333"/>
                </a:solidFill>
                <a:effectLst/>
                <a:uLnTx/>
                <a:uFillTx/>
                <a:latin typeface="Lato"/>
                <a:ea typeface="+mn-ea"/>
                <a:cs typeface="+mn-cs"/>
              </a:rPr>
              <a:t> </a:t>
            </a:r>
            <a:r>
              <a:rPr kumimoji="0" sz="1100" b="0" i="0" u="none" strike="noStrike" kern="1200" cap="none" spc="0" normalizeH="0" baseline="0" noProof="0" dirty="0" err="1">
                <a:ln>
                  <a:noFill/>
                </a:ln>
                <a:solidFill>
                  <a:srgbClr val="333333"/>
                </a:solidFill>
                <a:effectLst/>
                <a:uLnTx/>
                <a:uFillTx/>
                <a:latin typeface="Lato"/>
                <a:ea typeface="+mn-ea"/>
                <a:cs typeface="+mn-cs"/>
              </a:rPr>
              <a:t>dari</a:t>
            </a:r>
            <a:r>
              <a:rPr kumimoji="0" sz="1100" b="0" i="0" u="none" strike="noStrike" kern="1200" cap="none" spc="0" normalizeH="0" baseline="0" noProof="0" dirty="0">
                <a:ln>
                  <a:noFill/>
                </a:ln>
                <a:solidFill>
                  <a:srgbClr val="333333"/>
                </a:solidFill>
                <a:effectLst/>
                <a:uLnTx/>
                <a:uFillTx/>
                <a:latin typeface="Lato"/>
                <a:ea typeface="+mn-ea"/>
                <a:cs typeface="+mn-cs"/>
              </a:rPr>
              <a:t> obstacle</a:t>
            </a:r>
            <a:br>
              <a:rPr kumimoji="0" sz="1100" b="0" i="0" u="none" strike="noStrike" kern="1200" cap="none" spc="0" normalizeH="0" baseline="0" noProof="0" dirty="0">
                <a:ln>
                  <a:noFill/>
                </a:ln>
                <a:solidFill>
                  <a:srgbClr val="333333"/>
                </a:solidFill>
                <a:effectLst/>
                <a:uLnTx/>
                <a:uFillTx/>
                <a:latin typeface="Lato"/>
                <a:ea typeface="+mn-ea"/>
                <a:cs typeface="+mn-cs"/>
              </a:rPr>
            </a:br>
            <a:r>
              <a:rPr kumimoji="0" sz="1100" b="0" i="0" u="none" strike="noStrike" kern="1200" cap="none" spc="0" normalizeH="0" baseline="0" noProof="0" dirty="0">
                <a:ln>
                  <a:noFill/>
                </a:ln>
                <a:solidFill>
                  <a:srgbClr val="333333"/>
                </a:solidFill>
                <a:effectLst/>
                <a:uLnTx/>
                <a:uFillTx/>
                <a:latin typeface="Lato"/>
                <a:ea typeface="+mn-ea"/>
                <a:cs typeface="+mn-cs"/>
              </a:rPr>
              <a:t>R = inflation radius</a:t>
            </a:r>
            <a:br>
              <a:rPr kumimoji="0" sz="1100" b="0" i="0" u="none" strike="noStrike" kern="1200" cap="none" spc="0" normalizeH="0" baseline="0" noProof="0" dirty="0">
                <a:ln>
                  <a:noFill/>
                </a:ln>
                <a:solidFill>
                  <a:srgbClr val="333333"/>
                </a:solidFill>
                <a:effectLst/>
                <a:uLnTx/>
                <a:uFillTx/>
                <a:latin typeface="Lato"/>
                <a:ea typeface="+mn-ea"/>
                <a:cs typeface="+mn-cs"/>
              </a:rPr>
            </a:br>
            <a:r>
              <a:rPr kumimoji="0" sz="1100" b="0" i="0" u="none" strike="noStrike" kern="1200" cap="none" spc="0" normalizeH="0" baseline="0" noProof="0" dirty="0" err="1">
                <a:ln>
                  <a:noFill/>
                </a:ln>
                <a:solidFill>
                  <a:srgbClr val="333333"/>
                </a:solidFill>
                <a:effectLst/>
                <a:uLnTx/>
                <a:uFillTx/>
                <a:latin typeface="Lato"/>
                <a:ea typeface="+mn-ea"/>
                <a:cs typeface="+mn-cs"/>
              </a:rPr>
              <a:t>r_inscribed</a:t>
            </a:r>
            <a:r>
              <a:rPr kumimoji="0" sz="1100" b="0" i="0" u="none" strike="noStrike" kern="1200" cap="none" spc="0" normalizeH="0" baseline="0" noProof="0" dirty="0">
                <a:ln>
                  <a:noFill/>
                </a:ln>
                <a:solidFill>
                  <a:srgbClr val="333333"/>
                </a:solidFill>
                <a:effectLst/>
                <a:uLnTx/>
                <a:uFillTx/>
                <a:latin typeface="Lato"/>
                <a:ea typeface="+mn-ea"/>
                <a:cs typeface="+mn-cs"/>
              </a:rPr>
              <a:t> = inscribed radius (cost = 253)</a:t>
            </a:r>
            <a:br>
              <a:rPr kumimoji="0" sz="1100" b="0" i="0" u="none" strike="noStrike" kern="1200" cap="none" spc="0" normalizeH="0" baseline="0" noProof="0" dirty="0">
                <a:ln>
                  <a:noFill/>
                </a:ln>
                <a:solidFill>
                  <a:srgbClr val="333333"/>
                </a:solidFill>
                <a:effectLst/>
                <a:uLnTx/>
                <a:uFillTx/>
                <a:latin typeface="Lato"/>
                <a:ea typeface="+mn-ea"/>
                <a:cs typeface="+mn-cs"/>
              </a:rPr>
            </a:br>
            <a:r>
              <a:rPr kumimoji="0" sz="1100" b="0" i="0" u="none" strike="noStrike" kern="1200" cap="none" spc="0" normalizeH="0" baseline="0" noProof="0" dirty="0">
                <a:ln>
                  <a:noFill/>
                </a:ln>
                <a:solidFill>
                  <a:srgbClr val="333333"/>
                </a:solidFill>
                <a:effectLst/>
                <a:uLnTx/>
                <a:uFillTx/>
                <a:latin typeface="Lato"/>
                <a:ea typeface="+mn-ea"/>
                <a:cs typeface="+mn-cs"/>
              </a:rPr>
              <a:t>α = scaling factor (</a:t>
            </a:r>
            <a:r>
              <a:rPr kumimoji="0" sz="1100" b="0" i="0" u="none" strike="noStrike" kern="1200" cap="none" spc="0" normalizeH="0" baseline="0" noProof="0" dirty="0" err="1">
                <a:ln>
                  <a:noFill/>
                </a:ln>
                <a:solidFill>
                  <a:srgbClr val="333333"/>
                </a:solidFill>
                <a:effectLst/>
                <a:uLnTx/>
                <a:uFillTx/>
                <a:latin typeface="Lato"/>
                <a:ea typeface="+mn-ea"/>
                <a:cs typeface="+mn-cs"/>
              </a:rPr>
              <a:t>kontrol</a:t>
            </a:r>
            <a:r>
              <a:rPr kumimoji="0" sz="1100" b="0" i="0" u="none" strike="noStrike" kern="1200" cap="none" spc="0" normalizeH="0" baseline="0" noProof="0" dirty="0">
                <a:ln>
                  <a:noFill/>
                </a:ln>
                <a:solidFill>
                  <a:srgbClr val="333333"/>
                </a:solidFill>
                <a:effectLst/>
                <a:uLnTx/>
                <a:uFillTx/>
                <a:latin typeface="Lato"/>
                <a:ea typeface="+mn-ea"/>
                <a:cs typeface="+mn-cs"/>
              </a:rPr>
              <a:t> </a:t>
            </a:r>
            <a:r>
              <a:rPr kumimoji="0" sz="1100" b="0" i="0" u="none" strike="noStrike" kern="1200" cap="none" spc="0" normalizeH="0" baseline="0" noProof="0" dirty="0" err="1">
                <a:ln>
                  <a:noFill/>
                </a:ln>
                <a:solidFill>
                  <a:srgbClr val="333333"/>
                </a:solidFill>
                <a:effectLst/>
                <a:uLnTx/>
                <a:uFillTx/>
                <a:latin typeface="Lato"/>
                <a:ea typeface="+mn-ea"/>
                <a:cs typeface="+mn-cs"/>
              </a:rPr>
              <a:t>kecuraman</a:t>
            </a:r>
            <a:r>
              <a:rPr kumimoji="0" sz="1100" b="0" i="0" u="none" strike="noStrike" kern="1200" cap="none" spc="0" normalizeH="0" baseline="0" noProof="0" dirty="0">
                <a:ln>
                  <a:noFill/>
                </a:ln>
                <a:solidFill>
                  <a:srgbClr val="333333"/>
                </a:solidFill>
                <a:effectLst/>
                <a:uLnTx/>
                <a:uFillTx/>
                <a:latin typeface="Lato"/>
                <a:ea typeface="+mn-ea"/>
                <a:cs typeface="+mn-cs"/>
              </a:rPr>
              <a:t>)</a:t>
            </a:r>
            <a:br>
              <a:rPr kumimoji="0" sz="1100" b="0" i="0" u="none" strike="noStrike" kern="1200" cap="none" spc="0" normalizeH="0" baseline="0" noProof="0" dirty="0">
                <a:ln>
                  <a:noFill/>
                </a:ln>
                <a:solidFill>
                  <a:srgbClr val="333333"/>
                </a:solidFill>
                <a:effectLst/>
                <a:uLnTx/>
                <a:uFillTx/>
                <a:latin typeface="Lato"/>
                <a:ea typeface="+mn-ea"/>
                <a:cs typeface="+mn-cs"/>
              </a:rPr>
            </a:br>
            <a:br>
              <a:rPr kumimoji="0" sz="1100" b="0" i="0" u="none" strike="noStrike" kern="1200" cap="none" spc="0" normalizeH="0" baseline="0" noProof="0" dirty="0">
                <a:ln>
                  <a:noFill/>
                </a:ln>
                <a:solidFill>
                  <a:srgbClr val="333333"/>
                </a:solidFill>
                <a:effectLst/>
                <a:uLnTx/>
                <a:uFillTx/>
                <a:latin typeface="Lato"/>
                <a:ea typeface="+mn-ea"/>
                <a:cs typeface="+mn-cs"/>
              </a:rPr>
            </a:br>
            <a:r>
              <a:rPr kumimoji="0" sz="1100" b="0" i="0" u="none" strike="noStrike" kern="1200" cap="none" spc="0" normalizeH="0" baseline="0" noProof="0" dirty="0">
                <a:ln>
                  <a:noFill/>
                </a:ln>
                <a:solidFill>
                  <a:srgbClr val="333333"/>
                </a:solidFill>
                <a:effectLst/>
                <a:uLnTx/>
                <a:uFillTx/>
                <a:latin typeface="Lato"/>
                <a:ea typeface="+mn-ea"/>
                <a:cs typeface="+mn-cs"/>
              </a:rPr>
              <a:t>C(d) = 253 </a:t>
            </a:r>
            <a:r>
              <a:rPr kumimoji="0" sz="1100" b="0" i="0" u="none" strike="noStrike" kern="1200" cap="none" spc="0" normalizeH="0" baseline="0" noProof="0" dirty="0" err="1">
                <a:ln>
                  <a:noFill/>
                </a:ln>
                <a:solidFill>
                  <a:srgbClr val="333333"/>
                </a:solidFill>
                <a:effectLst/>
                <a:uLnTx/>
                <a:uFillTx/>
                <a:latin typeface="Lato"/>
                <a:ea typeface="+mn-ea"/>
                <a:cs typeface="+mn-cs"/>
              </a:rPr>
              <a:t>untuk</a:t>
            </a:r>
            <a:r>
              <a:rPr kumimoji="0" sz="1100" b="0" i="0" u="none" strike="noStrike" kern="1200" cap="none" spc="0" normalizeH="0" baseline="0" noProof="0" dirty="0">
                <a:ln>
                  <a:noFill/>
                </a:ln>
                <a:solidFill>
                  <a:srgbClr val="333333"/>
                </a:solidFill>
                <a:effectLst/>
                <a:uLnTx/>
                <a:uFillTx/>
                <a:latin typeface="Lato"/>
                <a:ea typeface="+mn-ea"/>
                <a:cs typeface="+mn-cs"/>
              </a:rPr>
              <a:t> d ≤ </a:t>
            </a:r>
            <a:r>
              <a:rPr kumimoji="0" sz="1100" b="0" i="0" u="none" strike="noStrike" kern="1200" cap="none" spc="0" normalizeH="0" baseline="0" noProof="0" dirty="0" err="1">
                <a:ln>
                  <a:noFill/>
                </a:ln>
                <a:solidFill>
                  <a:srgbClr val="333333"/>
                </a:solidFill>
                <a:effectLst/>
                <a:uLnTx/>
                <a:uFillTx/>
                <a:latin typeface="Lato"/>
                <a:ea typeface="+mn-ea"/>
                <a:cs typeface="+mn-cs"/>
              </a:rPr>
              <a:t>r_inscribed</a:t>
            </a:r>
            <a:br>
              <a:rPr kumimoji="0" sz="1100" b="0" i="0" u="none" strike="noStrike" kern="1200" cap="none" spc="0" normalizeH="0" baseline="0" noProof="0" dirty="0">
                <a:ln>
                  <a:noFill/>
                </a:ln>
                <a:solidFill>
                  <a:srgbClr val="333333"/>
                </a:solidFill>
                <a:effectLst/>
                <a:uLnTx/>
                <a:uFillTx/>
                <a:latin typeface="Lato"/>
                <a:ea typeface="+mn-ea"/>
                <a:cs typeface="+mn-cs"/>
              </a:rPr>
            </a:br>
            <a:r>
              <a:rPr kumimoji="0" sz="1100" b="0" i="0" u="none" strike="noStrike" kern="1200" cap="none" spc="0" normalizeH="0" baseline="0" noProof="0" dirty="0">
                <a:ln>
                  <a:noFill/>
                </a:ln>
                <a:solidFill>
                  <a:srgbClr val="333333"/>
                </a:solidFill>
                <a:effectLst/>
                <a:uLnTx/>
                <a:uFillTx/>
                <a:latin typeface="Lato"/>
                <a:ea typeface="+mn-ea"/>
                <a:cs typeface="+mn-cs"/>
              </a:rPr>
              <a:t>C(d) = 0 </a:t>
            </a:r>
            <a:r>
              <a:rPr kumimoji="0" sz="1100" b="0" i="0" u="none" strike="noStrike" kern="1200" cap="none" spc="0" normalizeH="0" baseline="0" noProof="0" dirty="0" err="1">
                <a:ln>
                  <a:noFill/>
                </a:ln>
                <a:solidFill>
                  <a:srgbClr val="333333"/>
                </a:solidFill>
                <a:effectLst/>
                <a:uLnTx/>
                <a:uFillTx/>
                <a:latin typeface="Lato"/>
                <a:ea typeface="+mn-ea"/>
                <a:cs typeface="+mn-cs"/>
              </a:rPr>
              <a:t>untuk</a:t>
            </a:r>
            <a:r>
              <a:rPr kumimoji="0" sz="1100" b="0" i="0" u="none" strike="noStrike" kern="1200" cap="none" spc="0" normalizeH="0" baseline="0" noProof="0" dirty="0">
                <a:ln>
                  <a:noFill/>
                </a:ln>
                <a:solidFill>
                  <a:srgbClr val="333333"/>
                </a:solidFill>
                <a:effectLst/>
                <a:uLnTx/>
                <a:uFillTx/>
                <a:latin typeface="Lato"/>
                <a:ea typeface="+mn-ea"/>
                <a:cs typeface="+mn-cs"/>
              </a:rPr>
              <a:t> d &gt; R</a:t>
            </a:r>
          </a:p>
        </p:txBody>
      </p:sp>
      <p:sp>
        <p:nvSpPr>
          <p:cNvPr id="16" name="Rounded Rectangle 15"/>
          <p:cNvSpPr/>
          <p:nvPr/>
        </p:nvSpPr>
        <p:spPr>
          <a:xfrm>
            <a:off x="6858000" y="3977639"/>
            <a:ext cx="4846320" cy="4572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6995160" y="4005072"/>
            <a:ext cx="4572000" cy="411480"/>
          </a:xfrm>
          <a:prstGeom prst="rect">
            <a:avLst/>
          </a:prstGeom>
          <a:noFill/>
        </p:spPr>
        <p:txBody>
          <a:bodyPr wrap="square"/>
          <a:lstStyle/>
          <a:p>
            <a:pPr marL="0" marR="0" lvl="0" indent="0" algn="l" defTabSz="457200" rtl="0" eaLnBrk="1" fontAlgn="auto" latinLnBrk="0" hangingPunct="1">
              <a:lnSpc>
                <a:spcPts val="1170"/>
              </a:lnSpc>
              <a:spcBef>
                <a:spcPts val="0"/>
              </a:spcBef>
              <a:spcAft>
                <a:spcPts val="0"/>
              </a:spcAft>
              <a:buClrTx/>
              <a:buSzTx/>
              <a:buFontTx/>
              <a:buNone/>
              <a:tabLst/>
              <a:defRPr sz="900" b="0" i="0">
                <a:solidFill>
                  <a:srgbClr val="333333"/>
                </a:solidFill>
                <a:latin typeface="Lato"/>
              </a:defRPr>
            </a:pPr>
            <a:r>
              <a:rPr kumimoji="0" sz="900" b="0" i="0" u="none" strike="noStrike" kern="1200" cap="none" spc="0" normalizeH="0" baseline="0" noProof="0">
                <a:ln>
                  <a:noFill/>
                </a:ln>
                <a:solidFill>
                  <a:srgbClr val="333333"/>
                </a:solidFill>
                <a:effectLst/>
                <a:uLnTx/>
                <a:uFillTx/>
                <a:latin typeface="Lato"/>
                <a:ea typeface="+mn-ea"/>
                <a:cs typeface="+mn-cs"/>
              </a:rPr>
              <a:t>Cost Scaling Factor (CSF) mengalikan costmap sebelum inflasi. Nilai uji: 10, 20, 50, 100. CSF = 100 menghasilkan path terpendek.</a:t>
            </a:r>
          </a:p>
        </p:txBody>
      </p:sp>
      <p:sp>
        <p:nvSpPr>
          <p:cNvPr id="18" name="TextBox 17"/>
          <p:cNvSpPr txBox="1"/>
          <p:nvPr/>
        </p:nvSpPr>
        <p:spPr>
          <a:xfrm>
            <a:off x="10884103" y="6446520"/>
            <a:ext cx="457200" cy="274320"/>
          </a:xfrm>
          <a:prstGeom prst="rect">
            <a:avLst/>
          </a:prstGeom>
          <a:noFill/>
        </p:spPr>
        <p:txBody>
          <a:bodyPr wrap="square"/>
          <a:lstStyle/>
          <a:p>
            <a:pPr marL="0" marR="0" lvl="0" indent="0" algn="r" defTabSz="457200" rtl="0" eaLnBrk="1" fontAlgn="auto" latinLnBrk="0" hangingPunct="1">
              <a:lnSpc>
                <a:spcPts val="12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6400800" cy="502920"/>
          </a:xfrm>
          <a:prstGeom prst="rect">
            <a:avLst/>
          </a:prstGeom>
          <a:noFill/>
        </p:spPr>
        <p:txBody>
          <a:bodyPr wrap="square"/>
          <a:lstStyle/>
          <a:p>
            <a:pPr marL="0" marR="0" lvl="0" indent="0" algn="l" defTabSz="457200" rtl="0" eaLnBrk="1" fontAlgn="auto" latinLnBrk="0" hangingPunct="1">
              <a:lnSpc>
                <a:spcPts val="3120"/>
              </a:lnSpc>
              <a:spcBef>
                <a:spcPts val="0"/>
              </a:spcBef>
              <a:spcAft>
                <a:spcPts val="0"/>
              </a:spcAft>
              <a:buClrTx/>
              <a:buSzTx/>
              <a:buFontTx/>
              <a:buNone/>
              <a:tabLst/>
              <a:defRPr sz="2600" b="1" i="0">
                <a:solidFill>
                  <a:srgbClr val="1A2B4C"/>
                </a:solidFill>
                <a:latin typeface="Montserrat"/>
              </a:defRPr>
            </a:pPr>
            <a:r>
              <a:rPr kumimoji="0" sz="2600" b="1" i="0" u="none" strike="noStrike" kern="1200" cap="none" spc="0" normalizeH="0" baseline="0" noProof="0" dirty="0">
                <a:ln>
                  <a:noFill/>
                </a:ln>
                <a:solidFill>
                  <a:srgbClr val="1A2B4C"/>
                </a:solidFill>
                <a:effectLst/>
                <a:uLnTx/>
                <a:uFillTx/>
                <a:latin typeface="Montserrat"/>
                <a:ea typeface="+mn-ea"/>
                <a:cs typeface="+mn-cs"/>
              </a:rPr>
              <a:t>LOCAL COSTMAP</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850392" y="1005840"/>
            <a:ext cx="5943600" cy="411480"/>
          </a:xfrm>
          <a:prstGeom prst="rect">
            <a:avLst/>
          </a:prstGeom>
          <a:noFill/>
        </p:spPr>
        <p:txBody>
          <a:bodyPr wrap="square"/>
          <a:lstStyle/>
          <a:p>
            <a:pPr marL="0" marR="0" lvl="0" indent="0" algn="l" defTabSz="457200" rtl="0" eaLnBrk="1" fontAlgn="auto" latinLnBrk="0" hangingPunct="1">
              <a:lnSpc>
                <a:spcPts val="1485"/>
              </a:lnSpc>
              <a:spcBef>
                <a:spcPts val="0"/>
              </a:spcBef>
              <a:spcAft>
                <a:spcPts val="0"/>
              </a:spcAft>
              <a:buClrTx/>
              <a:buSzTx/>
              <a:buFontTx/>
              <a:buNone/>
              <a:tabLst/>
              <a:defRPr sz="1100" b="0" i="0">
                <a:solidFill>
                  <a:srgbClr val="333333"/>
                </a:solidFill>
                <a:latin typeface="Lato"/>
              </a:defRPr>
            </a:pPr>
            <a:r>
              <a:rPr kumimoji="0" sz="1100" b="0" i="0" u="none" strike="noStrike" kern="1200" cap="none" spc="0" normalizeH="0" baseline="0" noProof="0">
                <a:ln>
                  <a:noFill/>
                </a:ln>
                <a:solidFill>
                  <a:srgbClr val="333333"/>
                </a:solidFill>
                <a:effectLst/>
                <a:uLnTx/>
                <a:uFillTx/>
                <a:latin typeface="Lato"/>
                <a:ea typeface="+mn-ea"/>
                <a:cs typeface="+mn-cs"/>
              </a:rPr>
              <a:t>Local costmap mencakup area di sekitar robot dalam radius tertentu dan bergerak mengikuti robot (rolling window). Digunakan oleh DWA local planner untuk perencanaan gerak jangka pendek dan menghindari rintangan real-time.</a:t>
            </a:r>
          </a:p>
        </p:txBody>
      </p:sp>
      <p:sp>
        <p:nvSpPr>
          <p:cNvPr id="5" name="Rounded Rectangle 4"/>
          <p:cNvSpPr/>
          <p:nvPr/>
        </p:nvSpPr>
        <p:spPr>
          <a:xfrm>
            <a:off x="850392" y="1554480"/>
            <a:ext cx="5943600" cy="777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Rectangle 5"/>
          <p:cNvSpPr/>
          <p:nvPr/>
        </p:nvSpPr>
        <p:spPr>
          <a:xfrm>
            <a:off x="850392" y="1554480"/>
            <a:ext cx="63500" cy="7772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TextBox 6"/>
          <p:cNvSpPr txBox="1"/>
          <p:nvPr/>
        </p:nvSpPr>
        <p:spPr>
          <a:xfrm>
            <a:off x="987552" y="1581912"/>
            <a:ext cx="2743200" cy="228600"/>
          </a:xfrm>
          <a:prstGeom prst="rect">
            <a:avLst/>
          </a:prstGeom>
          <a:noFill/>
        </p:spPr>
        <p:txBody>
          <a:bodyPr wrap="square"/>
          <a:lstStyle/>
          <a:p>
            <a:pPr marL="0" marR="0" lvl="0" indent="0" algn="l" defTabSz="457200" rtl="0" eaLnBrk="1" fontAlgn="auto" latinLnBrk="0" hangingPunct="1">
              <a:lnSpc>
                <a:spcPts val="1560"/>
              </a:lnSpc>
              <a:spcBef>
                <a:spcPts val="0"/>
              </a:spcBef>
              <a:spcAft>
                <a:spcPts val="0"/>
              </a:spcAft>
              <a:buClrTx/>
              <a:buSzTx/>
              <a:buFontTx/>
              <a:buNone/>
              <a:tabLst/>
              <a:defRPr sz="1300" b="1" i="0">
                <a:solidFill>
                  <a:srgbClr val="4A90D9"/>
                </a:solidFill>
                <a:latin typeface="Montserrat"/>
              </a:defRPr>
            </a:pPr>
            <a:r>
              <a:rPr kumimoji="0" sz="1300" b="1" i="0" u="none" strike="noStrike" kern="1200" cap="none" spc="0" normalizeH="0" baseline="0" noProof="0">
                <a:ln>
                  <a:noFill/>
                </a:ln>
                <a:solidFill>
                  <a:srgbClr val="4A90D9"/>
                </a:solidFill>
                <a:effectLst/>
                <a:uLnTx/>
                <a:uFillTx/>
                <a:latin typeface="Montserrat"/>
                <a:ea typeface="+mn-ea"/>
                <a:cs typeface="+mn-cs"/>
              </a:rPr>
              <a:t>Rolling Window</a:t>
            </a:r>
          </a:p>
        </p:txBody>
      </p:sp>
      <p:sp>
        <p:nvSpPr>
          <p:cNvPr id="8" name="TextBox 7"/>
          <p:cNvSpPr txBox="1"/>
          <p:nvPr/>
        </p:nvSpPr>
        <p:spPr>
          <a:xfrm>
            <a:off x="987552" y="1810512"/>
            <a:ext cx="5669280" cy="457200"/>
          </a:xfrm>
          <a:prstGeom prst="rect">
            <a:avLst/>
          </a:prstGeom>
          <a:noFill/>
        </p:spPr>
        <p:txBody>
          <a:bodyPr wrap="square"/>
          <a:lstStyle/>
          <a:p>
            <a:pPr marL="0" marR="0" lvl="0" indent="0" algn="l" defTabSz="457200" rtl="0" eaLnBrk="1" fontAlgn="auto" latinLnBrk="0" hangingPunct="1">
              <a:lnSpc>
                <a:spcPts val="125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Grid bergerak mengikuti posisi robot. Origin digeser setiap kali robot berpindah sehingga robot selalu di dekat pusat. Sel baru yang muncul di area belum tercakup diisi dari data LiDAR.</a:t>
            </a:r>
          </a:p>
        </p:txBody>
      </p:sp>
      <p:sp>
        <p:nvSpPr>
          <p:cNvPr id="9" name="Rounded Rectangle 8"/>
          <p:cNvSpPr/>
          <p:nvPr/>
        </p:nvSpPr>
        <p:spPr>
          <a:xfrm>
            <a:off x="850392" y="2468880"/>
            <a:ext cx="5943600" cy="12344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Rectangle 9"/>
          <p:cNvSpPr/>
          <p:nvPr/>
        </p:nvSpPr>
        <p:spPr>
          <a:xfrm>
            <a:off x="850392" y="246888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987552" y="2514600"/>
            <a:ext cx="2743200" cy="228600"/>
          </a:xfrm>
          <a:prstGeom prst="rect">
            <a:avLst/>
          </a:prstGeom>
          <a:noFill/>
        </p:spPr>
        <p:txBody>
          <a:bodyPr wrap="square"/>
          <a:lstStyle/>
          <a:p>
            <a:pPr marL="0" marR="0" lvl="0" indent="0" algn="l" defTabSz="457200" rtl="0" eaLnBrk="1" fontAlgn="auto" latinLnBrk="0" hangingPunct="1">
              <a:lnSpc>
                <a:spcPts val="1560"/>
              </a:lnSpc>
              <a:spcBef>
                <a:spcPts val="0"/>
              </a:spcBef>
              <a:spcAft>
                <a:spcPts val="0"/>
              </a:spcAft>
              <a:buClrTx/>
              <a:buSzTx/>
              <a:buFontTx/>
              <a:buNone/>
              <a:tabLst/>
              <a:defRPr sz="1300" b="1" i="0">
                <a:solidFill>
                  <a:srgbClr val="4A90D9"/>
                </a:solidFill>
                <a:latin typeface="Montserrat"/>
              </a:defRPr>
            </a:pPr>
            <a:r>
              <a:rPr kumimoji="0" sz="1300" b="1" i="0" u="none" strike="noStrike" kern="1200" cap="none" spc="0" normalizeH="0" baseline="0" noProof="0">
                <a:ln>
                  <a:noFill/>
                </a:ln>
                <a:solidFill>
                  <a:srgbClr val="4A90D9"/>
                </a:solidFill>
                <a:effectLst/>
                <a:uLnTx/>
                <a:uFillTx/>
                <a:latin typeface="Montserrat"/>
                <a:ea typeface="+mn-ea"/>
                <a:cs typeface="+mn-cs"/>
              </a:rPr>
              <a:t>Obstacle Layer</a:t>
            </a:r>
          </a:p>
        </p:txBody>
      </p:sp>
      <p:sp>
        <p:nvSpPr>
          <p:cNvPr id="12" name="TextBox 11"/>
          <p:cNvSpPr txBox="1"/>
          <p:nvPr/>
        </p:nvSpPr>
        <p:spPr>
          <a:xfrm>
            <a:off x="987552" y="2743200"/>
            <a:ext cx="5669280" cy="822960"/>
          </a:xfrm>
          <a:prstGeom prst="rect">
            <a:avLst/>
          </a:prstGeom>
          <a:noFill/>
        </p:spPr>
        <p:txBody>
          <a:bodyPr wrap="square"/>
          <a:lstStyle/>
          <a:p>
            <a:pPr marL="0" marR="0" lvl="0" indent="0" algn="l" defTabSz="457200" rtl="0" eaLnBrk="1" fontAlgn="auto" latinLnBrk="0" hangingPunct="1">
              <a:lnSpc>
                <a:spcPts val="125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Rintangan dinamis dari data scan LiDAR real-time:</a:t>
            </a:r>
            <a:br>
              <a:rPr kumimoji="0" sz="1000" b="0" i="0" u="none" strike="noStrike" kern="1200" cap="none" spc="0" normalizeH="0" baseline="0" noProof="0">
                <a:ln>
                  <a:noFill/>
                </a:ln>
                <a:solidFill>
                  <a:srgbClr val="333333"/>
                </a:solidFill>
                <a:effectLst/>
                <a:uLnTx/>
                <a:uFillTx/>
                <a:latin typeface="Lato"/>
                <a:ea typeface="+mn-ea"/>
                <a:cs typeface="+mn-cs"/>
              </a:rPr>
            </a:br>
            <a:r>
              <a:rPr kumimoji="0" sz="1000" b="0" i="0" u="none" strike="noStrike" kern="1200" cap="none" spc="0" normalizeH="0" baseline="0" noProof="0">
                <a:ln>
                  <a:noFill/>
                </a:ln>
                <a:solidFill>
                  <a:srgbClr val="333333"/>
                </a:solidFill>
                <a:effectLst/>
                <a:uLnTx/>
                <a:uFillTx/>
                <a:latin typeface="Lato"/>
                <a:ea typeface="+mn-ea"/>
                <a:cs typeface="+mn-cs"/>
              </a:rPr>
              <a:t>• Konversi endpoint laser ke koordinat sensor</a:t>
            </a:r>
            <a:br>
              <a:rPr kumimoji="0" sz="1000" b="0" i="0" u="none" strike="noStrike" kern="1200" cap="none" spc="0" normalizeH="0" baseline="0" noProof="0">
                <a:ln>
                  <a:noFill/>
                </a:ln>
                <a:solidFill>
                  <a:srgbClr val="333333"/>
                </a:solidFill>
                <a:effectLst/>
                <a:uLnTx/>
                <a:uFillTx/>
                <a:latin typeface="Lato"/>
                <a:ea typeface="+mn-ea"/>
                <a:cs typeface="+mn-cs"/>
              </a:rPr>
            </a:br>
            <a:r>
              <a:rPr kumimoji="0" sz="1000" b="0" i="0" u="none" strike="noStrike" kern="1200" cap="none" spc="0" normalizeH="0" baseline="0" noProof="0">
                <a:ln>
                  <a:noFill/>
                </a:ln>
                <a:solidFill>
                  <a:srgbClr val="333333"/>
                </a:solidFill>
                <a:effectLst/>
                <a:uLnTx/>
                <a:uFillTx/>
                <a:latin typeface="Lato"/>
                <a:ea typeface="+mn-ea"/>
                <a:cs typeface="+mn-cs"/>
              </a:rPr>
              <a:t>• Transformasi ke frame peta</a:t>
            </a:r>
            <a:br>
              <a:rPr kumimoji="0" sz="1000" b="0" i="0" u="none" strike="noStrike" kern="1200" cap="none" spc="0" normalizeH="0" baseline="0" noProof="0">
                <a:ln>
                  <a:noFill/>
                </a:ln>
                <a:solidFill>
                  <a:srgbClr val="333333"/>
                </a:solidFill>
                <a:effectLst/>
                <a:uLnTx/>
                <a:uFillTx/>
                <a:latin typeface="Lato"/>
                <a:ea typeface="+mn-ea"/>
                <a:cs typeface="+mn-cs"/>
              </a:rPr>
            </a:br>
            <a:r>
              <a:rPr kumimoji="0" sz="1000" b="0" i="0" u="none" strike="noStrike" kern="1200" cap="none" spc="0" normalizeH="0" baseline="0" noProof="0">
                <a:ln>
                  <a:noFill/>
                </a:ln>
                <a:solidFill>
                  <a:srgbClr val="333333"/>
                </a:solidFill>
                <a:effectLst/>
                <a:uLnTx/>
                <a:uFillTx/>
                <a:latin typeface="Lato"/>
                <a:ea typeface="+mn-ea"/>
                <a:cs typeface="+mn-cs"/>
              </a:rPr>
              <a:t>• Markasi occupied → cost 254 (LETHAL)</a:t>
            </a:r>
            <a:br>
              <a:rPr kumimoji="0" sz="1000" b="0" i="0" u="none" strike="noStrike" kern="1200" cap="none" spc="0" normalizeH="0" baseline="0" noProof="0">
                <a:ln>
                  <a:noFill/>
                </a:ln>
                <a:solidFill>
                  <a:srgbClr val="333333"/>
                </a:solidFill>
                <a:effectLst/>
                <a:uLnTx/>
                <a:uFillTx/>
                <a:latin typeface="Lato"/>
                <a:ea typeface="+mn-ea"/>
                <a:cs typeface="+mn-cs"/>
              </a:rPr>
            </a:br>
            <a:r>
              <a:rPr kumimoji="0" sz="1000" b="0" i="0" u="none" strike="noStrike" kern="1200" cap="none" spc="0" normalizeH="0" baseline="0" noProof="0">
                <a:ln>
                  <a:noFill/>
                </a:ln>
                <a:solidFill>
                  <a:srgbClr val="333333"/>
                </a:solidFill>
                <a:effectLst/>
                <a:uLnTx/>
                <a:uFillTx/>
                <a:latin typeface="Lato"/>
                <a:ea typeface="+mn-ea"/>
                <a:cs typeface="+mn-cs"/>
              </a:rPr>
              <a:t>• Bresenham ray tracing untuk clear area antara robot dan endpoint (set cost = 0 di sepanjang ray)</a:t>
            </a:r>
          </a:p>
        </p:txBody>
      </p:sp>
      <p:sp>
        <p:nvSpPr>
          <p:cNvPr id="13" name="Rounded Rectangle 12"/>
          <p:cNvSpPr/>
          <p:nvPr/>
        </p:nvSpPr>
        <p:spPr>
          <a:xfrm>
            <a:off x="850392" y="3840480"/>
            <a:ext cx="5943600" cy="777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Rectangle 13"/>
          <p:cNvSpPr/>
          <p:nvPr/>
        </p:nvSpPr>
        <p:spPr>
          <a:xfrm>
            <a:off x="850392" y="3840480"/>
            <a:ext cx="63500" cy="7772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987552" y="3867912"/>
            <a:ext cx="2743200" cy="228600"/>
          </a:xfrm>
          <a:prstGeom prst="rect">
            <a:avLst/>
          </a:prstGeom>
          <a:noFill/>
        </p:spPr>
        <p:txBody>
          <a:bodyPr wrap="square"/>
          <a:lstStyle/>
          <a:p>
            <a:pPr marL="0" marR="0" lvl="0" indent="0" algn="l" defTabSz="457200" rtl="0" eaLnBrk="1" fontAlgn="auto" latinLnBrk="0" hangingPunct="1">
              <a:lnSpc>
                <a:spcPts val="1560"/>
              </a:lnSpc>
              <a:spcBef>
                <a:spcPts val="0"/>
              </a:spcBef>
              <a:spcAft>
                <a:spcPts val="0"/>
              </a:spcAft>
              <a:buClrTx/>
              <a:buSzTx/>
              <a:buFontTx/>
              <a:buNone/>
              <a:tabLst/>
              <a:defRPr sz="1300" b="1" i="0">
                <a:solidFill>
                  <a:srgbClr val="4A90D9"/>
                </a:solidFill>
                <a:latin typeface="Montserrat"/>
              </a:defRPr>
            </a:pPr>
            <a:r>
              <a:rPr kumimoji="0" sz="1300" b="1" i="0" u="none" strike="noStrike" kern="1200" cap="none" spc="0" normalizeH="0" baseline="0" noProof="0">
                <a:ln>
                  <a:noFill/>
                </a:ln>
                <a:solidFill>
                  <a:srgbClr val="4A90D9"/>
                </a:solidFill>
                <a:effectLst/>
                <a:uLnTx/>
                <a:uFillTx/>
                <a:latin typeface="Montserrat"/>
                <a:ea typeface="+mn-ea"/>
                <a:cs typeface="+mn-cs"/>
              </a:rPr>
              <a:t>Inflation Layer</a:t>
            </a:r>
          </a:p>
        </p:txBody>
      </p:sp>
      <p:sp>
        <p:nvSpPr>
          <p:cNvPr id="16" name="TextBox 15"/>
          <p:cNvSpPr txBox="1"/>
          <p:nvPr/>
        </p:nvSpPr>
        <p:spPr>
          <a:xfrm>
            <a:off x="987552" y="4096512"/>
            <a:ext cx="5669280" cy="457200"/>
          </a:xfrm>
          <a:prstGeom prst="rect">
            <a:avLst/>
          </a:prstGeom>
          <a:noFill/>
        </p:spPr>
        <p:txBody>
          <a:bodyPr wrap="square"/>
          <a:lstStyle/>
          <a:p>
            <a:pPr marL="0" marR="0" lvl="0" indent="0" algn="l" defTabSz="457200" rtl="0" eaLnBrk="1" fontAlgn="auto" latinLnBrk="0" hangingPunct="1">
              <a:lnSpc>
                <a:spcPts val="125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Fungsi inflasi sama dengan global costmap, namun diterapkan pada obstacle dari scan LiDAR real-time, bukan dari peta tetap.</a:t>
            </a:r>
          </a:p>
        </p:txBody>
      </p:sp>
      <p:sp>
        <p:nvSpPr>
          <p:cNvPr id="17" name="Rounded Rectangle 16"/>
          <p:cNvSpPr/>
          <p:nvPr/>
        </p:nvSpPr>
        <p:spPr>
          <a:xfrm>
            <a:off x="6858000" y="1005840"/>
            <a:ext cx="4846320" cy="13716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6995160" y="1051560"/>
            <a:ext cx="4572000" cy="228600"/>
          </a:xfrm>
          <a:prstGeom prst="rect">
            <a:avLst/>
          </a:prstGeom>
          <a:noFill/>
        </p:spPr>
        <p:txBody>
          <a:bodyPr wrap="square"/>
          <a:lstStyle/>
          <a:p>
            <a:pPr marL="0" marR="0" lvl="0" indent="0" algn="l" defTabSz="457200" rtl="0" eaLnBrk="1" fontAlgn="auto" latinLnBrk="0" hangingPunct="1">
              <a:lnSpc>
                <a:spcPts val="1560"/>
              </a:lnSpc>
              <a:spcBef>
                <a:spcPts val="0"/>
              </a:spcBef>
              <a:spcAft>
                <a:spcPts val="0"/>
              </a:spcAft>
              <a:buClrTx/>
              <a:buSzTx/>
              <a:buFontTx/>
              <a:buNone/>
              <a:tabLst/>
              <a:defRPr sz="1300" b="1" i="0">
                <a:solidFill>
                  <a:srgbClr val="1A2B4C"/>
                </a:solidFill>
                <a:latin typeface="Montserrat"/>
              </a:defRPr>
            </a:pPr>
            <a:r>
              <a:rPr kumimoji="0" sz="1300" b="1" i="0" u="none" strike="noStrike" kern="1200" cap="none" spc="0" normalizeH="0" baseline="0" noProof="0">
                <a:ln>
                  <a:noFill/>
                </a:ln>
                <a:solidFill>
                  <a:srgbClr val="1A2B4C"/>
                </a:solidFill>
                <a:effectLst/>
                <a:uLnTx/>
                <a:uFillTx/>
                <a:latin typeface="Montserrat"/>
                <a:ea typeface="+mn-ea"/>
                <a:cs typeface="+mn-cs"/>
              </a:rPr>
              <a:t>Perbandingan Global vs Local</a:t>
            </a:r>
          </a:p>
        </p:txBody>
      </p:sp>
      <p:sp>
        <p:nvSpPr>
          <p:cNvPr id="19" name="TextBox 18"/>
          <p:cNvSpPr txBox="1"/>
          <p:nvPr/>
        </p:nvSpPr>
        <p:spPr>
          <a:xfrm>
            <a:off x="6995160" y="1325880"/>
            <a:ext cx="4572000" cy="914400"/>
          </a:xfrm>
          <a:prstGeom prst="rect">
            <a:avLst/>
          </a:prstGeom>
          <a:noFill/>
        </p:spPr>
        <p:txBody>
          <a:bodyPr wrap="square"/>
          <a:lstStyle/>
          <a:p>
            <a:pPr marL="0" marR="0" lvl="0" indent="0" algn="l" defTabSz="457200" rtl="0" eaLnBrk="1" fontAlgn="auto" latinLnBrk="0" hangingPunct="1">
              <a:lnSpc>
                <a:spcPts val="13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dirty="0">
                <a:ln>
                  <a:noFill/>
                </a:ln>
                <a:solidFill>
                  <a:srgbClr val="333333"/>
                </a:solidFill>
                <a:effectLst/>
                <a:uLnTx/>
                <a:uFillTx/>
                <a:latin typeface="Lato"/>
                <a:ea typeface="+mn-ea"/>
                <a:cs typeface="+mn-cs"/>
              </a:rPr>
              <a:t>Global </a:t>
            </a:r>
            <a:r>
              <a:rPr kumimoji="0" sz="1000" b="0" i="0" u="none" strike="noStrike" kern="1200" cap="none" spc="0" normalizeH="0" baseline="0" noProof="0" dirty="0" err="1">
                <a:ln>
                  <a:noFill/>
                </a:ln>
                <a:solidFill>
                  <a:srgbClr val="333333"/>
                </a:solidFill>
                <a:effectLst/>
                <a:uLnTx/>
                <a:uFillTx/>
                <a:latin typeface="Lato"/>
                <a:ea typeface="+mn-ea"/>
                <a:cs typeface="+mn-cs"/>
              </a:rPr>
              <a:t>Costmap</a:t>
            </a:r>
            <a:r>
              <a:rPr kumimoji="0" sz="1000" b="0" i="0" u="none" strike="noStrike" kern="1200" cap="none" spc="0" normalizeH="0" baseline="0" noProof="0" dirty="0">
                <a:ln>
                  <a:noFill/>
                </a:ln>
                <a:solidFill>
                  <a:srgbClr val="333333"/>
                </a:solidFill>
                <a:effectLst/>
                <a:uLnTx/>
                <a:uFillTx/>
                <a:latin typeface="Lato"/>
                <a:ea typeface="+mn-ea"/>
                <a:cs typeface="+mn-cs"/>
              </a:rPr>
              <a:t>:</a:t>
            </a:r>
            <a:br>
              <a:rPr kumimoji="0" sz="1000" b="0" i="0" u="none" strike="noStrike" kern="1200" cap="none" spc="0" normalizeH="0" baseline="0" noProof="0" dirty="0">
                <a:ln>
                  <a:noFill/>
                </a:ln>
                <a:solidFill>
                  <a:srgbClr val="333333"/>
                </a:solidFill>
                <a:effectLst/>
                <a:uLnTx/>
                <a:uFillTx/>
                <a:latin typeface="Lato"/>
                <a:ea typeface="+mn-ea"/>
                <a:cs typeface="+mn-cs"/>
              </a:rPr>
            </a:b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Sumber</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peta</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tetap</a:t>
            </a:r>
            <a:r>
              <a:rPr kumimoji="0" sz="1000" b="0" i="0" u="none" strike="noStrike" kern="1200" cap="none" spc="0" normalizeH="0" baseline="0" noProof="0" dirty="0">
                <a:ln>
                  <a:noFill/>
                </a:ln>
                <a:solidFill>
                  <a:srgbClr val="333333"/>
                </a:solidFill>
                <a:effectLst/>
                <a:uLnTx/>
                <a:uFillTx/>
                <a:latin typeface="Lato"/>
                <a:ea typeface="+mn-ea"/>
                <a:cs typeface="+mn-cs"/>
              </a:rPr>
              <a:t> (static layer)</a:t>
            </a:r>
            <a:br>
              <a:rPr kumimoji="0" sz="1000" b="0" i="0" u="none" strike="noStrike" kern="1200" cap="none" spc="0" normalizeH="0" baseline="0" noProof="0" dirty="0">
                <a:ln>
                  <a:noFill/>
                </a:ln>
                <a:solidFill>
                  <a:srgbClr val="333333"/>
                </a:solidFill>
                <a:effectLst/>
                <a:uLnTx/>
                <a:uFillTx/>
                <a:latin typeface="Lato"/>
                <a:ea typeface="+mn-ea"/>
                <a:cs typeface="+mn-cs"/>
              </a:rPr>
            </a:b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Cakupan</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seluruh</a:t>
            </a:r>
            <a:r>
              <a:rPr kumimoji="0" sz="1000" b="0" i="0" u="none" strike="noStrike" kern="1200" cap="none" spc="0" normalizeH="0" baseline="0" noProof="0" dirty="0">
                <a:ln>
                  <a:noFill/>
                </a:ln>
                <a:solidFill>
                  <a:srgbClr val="333333"/>
                </a:solidFill>
                <a:effectLst/>
                <a:uLnTx/>
                <a:uFillTx/>
                <a:latin typeface="Lato"/>
                <a:ea typeface="+mn-ea"/>
                <a:cs typeface="+mn-cs"/>
              </a:rPr>
              <a:t> area</a:t>
            </a:r>
            <a:br>
              <a:rPr kumimoji="0" sz="1000" b="0" i="0" u="none" strike="noStrike" kern="1200" cap="none" spc="0" normalizeH="0" baseline="0" noProof="0" dirty="0">
                <a:ln>
                  <a:noFill/>
                </a:ln>
                <a:solidFill>
                  <a:srgbClr val="333333"/>
                </a:solidFill>
                <a:effectLst/>
                <a:uLnTx/>
                <a:uFillTx/>
                <a:latin typeface="Lato"/>
                <a:ea typeface="+mn-ea"/>
                <a:cs typeface="+mn-cs"/>
              </a:rPr>
            </a:br>
            <a:r>
              <a:rPr kumimoji="0" sz="1000" b="0" i="0" u="none" strike="noStrike" kern="1200" cap="none" spc="0" normalizeH="0" baseline="0" noProof="0" dirty="0">
                <a:ln>
                  <a:noFill/>
                </a:ln>
                <a:solidFill>
                  <a:srgbClr val="333333"/>
                </a:solidFill>
                <a:effectLst/>
                <a:uLnTx/>
                <a:uFillTx/>
                <a:latin typeface="Lato"/>
                <a:ea typeface="+mn-ea"/>
                <a:cs typeface="+mn-cs"/>
              </a:rPr>
              <a:t>• Statis </a:t>
            </a:r>
            <a:r>
              <a:rPr kumimoji="0" sz="1000" b="0" i="0" u="none" strike="noStrike" kern="1200" cap="none" spc="0" normalizeH="0" baseline="0" noProof="0" dirty="0" err="1">
                <a:ln>
                  <a:noFill/>
                </a:ln>
                <a:solidFill>
                  <a:srgbClr val="333333"/>
                </a:solidFill>
                <a:effectLst/>
                <a:uLnTx/>
                <a:uFillTx/>
                <a:latin typeface="Lato"/>
                <a:ea typeface="+mn-ea"/>
                <a:cs typeface="+mn-cs"/>
              </a:rPr>
              <a:t>selama</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navigasi</a:t>
            </a:r>
            <a:br>
              <a:rPr kumimoji="0" sz="1000" b="0" i="0" u="none" strike="noStrike" kern="1200" cap="none" spc="0" normalizeH="0" baseline="0" noProof="0" dirty="0">
                <a:ln>
                  <a:noFill/>
                </a:ln>
                <a:solidFill>
                  <a:srgbClr val="333333"/>
                </a:solidFill>
                <a:effectLst/>
                <a:uLnTx/>
                <a:uFillTx/>
                <a:latin typeface="Lato"/>
                <a:ea typeface="+mn-ea"/>
                <a:cs typeface="+mn-cs"/>
              </a:rPr>
            </a:br>
            <a:br>
              <a:rPr kumimoji="0" sz="1000" b="0" i="0" u="none" strike="noStrike" kern="1200" cap="none" spc="0" normalizeH="0" baseline="0" noProof="0" dirty="0">
                <a:ln>
                  <a:noFill/>
                </a:ln>
                <a:solidFill>
                  <a:srgbClr val="333333"/>
                </a:solidFill>
                <a:effectLst/>
                <a:uLnTx/>
                <a:uFillTx/>
                <a:latin typeface="Lato"/>
                <a:ea typeface="+mn-ea"/>
                <a:cs typeface="+mn-cs"/>
              </a:rPr>
            </a:br>
            <a:r>
              <a:rPr kumimoji="0" sz="1000" b="0" i="0" u="none" strike="noStrike" kern="1200" cap="none" spc="0" normalizeH="0" baseline="0" noProof="0" dirty="0">
                <a:ln>
                  <a:noFill/>
                </a:ln>
                <a:solidFill>
                  <a:srgbClr val="333333"/>
                </a:solidFill>
                <a:effectLst/>
                <a:uLnTx/>
                <a:uFillTx/>
                <a:latin typeface="Lato"/>
                <a:ea typeface="+mn-ea"/>
                <a:cs typeface="+mn-cs"/>
              </a:rPr>
              <a:t>Local </a:t>
            </a:r>
            <a:r>
              <a:rPr kumimoji="0" sz="1000" b="0" i="0" u="none" strike="noStrike" kern="1200" cap="none" spc="0" normalizeH="0" baseline="0" noProof="0" dirty="0" err="1">
                <a:ln>
                  <a:noFill/>
                </a:ln>
                <a:solidFill>
                  <a:srgbClr val="333333"/>
                </a:solidFill>
                <a:effectLst/>
                <a:uLnTx/>
                <a:uFillTx/>
                <a:latin typeface="Lato"/>
                <a:ea typeface="+mn-ea"/>
                <a:cs typeface="+mn-cs"/>
              </a:rPr>
              <a:t>Costmap</a:t>
            </a:r>
            <a:r>
              <a:rPr kumimoji="0" sz="1000" b="0" i="0" u="none" strike="noStrike" kern="1200" cap="none" spc="0" normalizeH="0" baseline="0" noProof="0" dirty="0">
                <a:ln>
                  <a:noFill/>
                </a:ln>
                <a:solidFill>
                  <a:srgbClr val="333333"/>
                </a:solidFill>
                <a:effectLst/>
                <a:uLnTx/>
                <a:uFillTx/>
                <a:latin typeface="Lato"/>
                <a:ea typeface="+mn-ea"/>
                <a:cs typeface="+mn-cs"/>
              </a:rPr>
              <a:t>:</a:t>
            </a:r>
            <a:br>
              <a:rPr kumimoji="0" sz="1000" b="0" i="0" u="none" strike="noStrike" kern="1200" cap="none" spc="0" normalizeH="0" baseline="0" noProof="0" dirty="0">
                <a:ln>
                  <a:noFill/>
                </a:ln>
                <a:solidFill>
                  <a:srgbClr val="333333"/>
                </a:solidFill>
                <a:effectLst/>
                <a:uLnTx/>
                <a:uFillTx/>
                <a:latin typeface="Lato"/>
                <a:ea typeface="+mn-ea"/>
                <a:cs typeface="+mn-cs"/>
              </a:rPr>
            </a:b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Sumber</a:t>
            </a:r>
            <a:r>
              <a:rPr kumimoji="0" sz="1000" b="0" i="0" u="none" strike="noStrike" kern="1200" cap="none" spc="0" normalizeH="0" baseline="0" noProof="0" dirty="0">
                <a:ln>
                  <a:noFill/>
                </a:ln>
                <a:solidFill>
                  <a:srgbClr val="333333"/>
                </a:solidFill>
                <a:effectLst/>
                <a:uLnTx/>
                <a:uFillTx/>
                <a:latin typeface="Lato"/>
                <a:ea typeface="+mn-ea"/>
                <a:cs typeface="+mn-cs"/>
              </a:rPr>
              <a:t>: scan LiDAR real-time (obstacle layer)</a:t>
            </a:r>
            <a:br>
              <a:rPr kumimoji="0" sz="1000" b="0" i="0" u="none" strike="noStrike" kern="1200" cap="none" spc="0" normalizeH="0" baseline="0" noProof="0" dirty="0">
                <a:ln>
                  <a:noFill/>
                </a:ln>
                <a:solidFill>
                  <a:srgbClr val="333333"/>
                </a:solidFill>
                <a:effectLst/>
                <a:uLnTx/>
                <a:uFillTx/>
                <a:latin typeface="Lato"/>
                <a:ea typeface="+mn-ea"/>
                <a:cs typeface="+mn-cs"/>
              </a:rPr>
            </a:b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Cakupan</a:t>
            </a:r>
            <a:r>
              <a:rPr kumimoji="0" sz="1000" b="0" i="0" u="none" strike="noStrike" kern="1200" cap="none" spc="0" normalizeH="0" baseline="0" noProof="0" dirty="0">
                <a:ln>
                  <a:noFill/>
                </a:ln>
                <a:solidFill>
                  <a:srgbClr val="333333"/>
                </a:solidFill>
                <a:effectLst/>
                <a:uLnTx/>
                <a:uFillTx/>
                <a:latin typeface="Lato"/>
                <a:ea typeface="+mn-ea"/>
                <a:cs typeface="+mn-cs"/>
              </a:rPr>
              <a:t>: rolling window di </a:t>
            </a:r>
            <a:r>
              <a:rPr kumimoji="0" sz="1000" b="0" i="0" u="none" strike="noStrike" kern="1200" cap="none" spc="0" normalizeH="0" baseline="0" noProof="0" dirty="0" err="1">
                <a:ln>
                  <a:noFill/>
                </a:ln>
                <a:solidFill>
                  <a:srgbClr val="333333"/>
                </a:solidFill>
                <a:effectLst/>
                <a:uLnTx/>
                <a:uFillTx/>
                <a:latin typeface="Lato"/>
                <a:ea typeface="+mn-ea"/>
                <a:cs typeface="+mn-cs"/>
              </a:rPr>
              <a:t>sekitar</a:t>
            </a:r>
            <a:r>
              <a:rPr kumimoji="0" sz="1000" b="0" i="0" u="none" strike="noStrike" kern="1200" cap="none" spc="0" normalizeH="0" baseline="0" noProof="0" dirty="0">
                <a:ln>
                  <a:noFill/>
                </a:ln>
                <a:solidFill>
                  <a:srgbClr val="333333"/>
                </a:solidFill>
                <a:effectLst/>
                <a:uLnTx/>
                <a:uFillTx/>
                <a:latin typeface="Lato"/>
                <a:ea typeface="+mn-ea"/>
                <a:cs typeface="+mn-cs"/>
              </a:rPr>
              <a:t> robot</a:t>
            </a:r>
            <a:br>
              <a:rPr kumimoji="0" sz="1000" b="0" i="0" u="none" strike="noStrike" kern="1200" cap="none" spc="0" normalizeH="0" baseline="0" noProof="0" dirty="0">
                <a:ln>
                  <a:noFill/>
                </a:ln>
                <a:solidFill>
                  <a:srgbClr val="333333"/>
                </a:solidFill>
                <a:effectLst/>
                <a:uLnTx/>
                <a:uFillTx/>
                <a:latin typeface="Lato"/>
                <a:ea typeface="+mn-ea"/>
                <a:cs typeface="+mn-cs"/>
              </a:rPr>
            </a:b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Diperbarui</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setiap</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siklus</a:t>
            </a:r>
            <a:r>
              <a:rPr kumimoji="0" sz="1000" b="0" i="0" u="none" strike="noStrike" kern="1200" cap="none" spc="0" normalizeH="0" baseline="0" noProof="0" dirty="0">
                <a:ln>
                  <a:noFill/>
                </a:ln>
                <a:solidFill>
                  <a:srgbClr val="333333"/>
                </a:solidFill>
                <a:effectLst/>
                <a:uLnTx/>
                <a:uFillTx/>
                <a:latin typeface="Lato"/>
                <a:ea typeface="+mn-ea"/>
                <a:cs typeface="+mn-cs"/>
              </a:rPr>
              <a:t> </a:t>
            </a:r>
            <a:r>
              <a:rPr kumimoji="0" sz="1000" b="0" i="0" u="none" strike="noStrike" kern="1200" cap="none" spc="0" normalizeH="0" baseline="0" noProof="0" dirty="0" err="1">
                <a:ln>
                  <a:noFill/>
                </a:ln>
                <a:solidFill>
                  <a:srgbClr val="333333"/>
                </a:solidFill>
                <a:effectLst/>
                <a:uLnTx/>
                <a:uFillTx/>
                <a:latin typeface="Lato"/>
                <a:ea typeface="+mn-ea"/>
                <a:cs typeface="+mn-cs"/>
              </a:rPr>
              <a:t>kendali</a:t>
            </a:r>
            <a:endParaRPr kumimoji="0" sz="1000" b="0" i="0" u="none" strike="noStrike" kern="1200" cap="none" spc="0" normalizeH="0" baseline="0" noProof="0" dirty="0">
              <a:ln>
                <a:noFill/>
              </a:ln>
              <a:solidFill>
                <a:srgbClr val="333333"/>
              </a:solidFill>
              <a:effectLst/>
              <a:uLnTx/>
              <a:uFillTx/>
              <a:latin typeface="Lato"/>
              <a:ea typeface="+mn-ea"/>
              <a:cs typeface="+mn-cs"/>
            </a:endParaRPr>
          </a:p>
        </p:txBody>
      </p:sp>
      <p:sp>
        <p:nvSpPr>
          <p:cNvPr id="20" name="Rounded Rectangle 19"/>
          <p:cNvSpPr/>
          <p:nvPr/>
        </p:nvSpPr>
        <p:spPr>
          <a:xfrm>
            <a:off x="6858000" y="2606040"/>
            <a:ext cx="4846320" cy="201168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Rectangle 20"/>
          <p:cNvSpPr/>
          <p:nvPr/>
        </p:nvSpPr>
        <p:spPr>
          <a:xfrm>
            <a:off x="6858000" y="2606040"/>
            <a:ext cx="50800" cy="201168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2" name="TextBox 21"/>
          <p:cNvSpPr txBox="1"/>
          <p:nvPr/>
        </p:nvSpPr>
        <p:spPr>
          <a:xfrm>
            <a:off x="6995160" y="2651760"/>
            <a:ext cx="4572000" cy="228600"/>
          </a:xfrm>
          <a:prstGeom prst="rect">
            <a:avLst/>
          </a:prstGeom>
          <a:noFill/>
        </p:spPr>
        <p:txBody>
          <a:bodyPr wrap="square"/>
          <a:lstStyle/>
          <a:p>
            <a:pPr marL="0" marR="0" lvl="0" indent="0" algn="l" defTabSz="457200" rtl="0" eaLnBrk="1" fontAlgn="auto" latinLnBrk="0" hangingPunct="1">
              <a:lnSpc>
                <a:spcPts val="1439"/>
              </a:lnSpc>
              <a:spcBef>
                <a:spcPts val="0"/>
              </a:spcBef>
              <a:spcAft>
                <a:spcPts val="0"/>
              </a:spcAft>
              <a:buClrTx/>
              <a:buSzTx/>
              <a:buFontTx/>
              <a:buNone/>
              <a:tabLst/>
              <a:defRPr sz="1200" b="1" i="0">
                <a:solidFill>
                  <a:srgbClr val="F08C2E"/>
                </a:solidFill>
                <a:latin typeface="Montserrat"/>
              </a:defRPr>
            </a:pPr>
            <a:r>
              <a:rPr kumimoji="0" sz="1200" b="1" i="0" u="none" strike="noStrike" kern="1200" cap="none" spc="0" normalizeH="0" baseline="0" noProof="0">
                <a:ln>
                  <a:noFill/>
                </a:ln>
                <a:solidFill>
                  <a:srgbClr val="F08C2E"/>
                </a:solidFill>
                <a:effectLst/>
                <a:uLnTx/>
                <a:uFillTx/>
                <a:latin typeface="Montserrat"/>
                <a:ea typeface="+mn-ea"/>
                <a:cs typeface="+mn-cs"/>
              </a:rPr>
              <a:t>Bresenham Ray Tracing</a:t>
            </a:r>
          </a:p>
        </p:txBody>
      </p:sp>
      <p:sp>
        <p:nvSpPr>
          <p:cNvPr id="23" name="TextBox 22"/>
          <p:cNvSpPr txBox="1"/>
          <p:nvPr/>
        </p:nvSpPr>
        <p:spPr>
          <a:xfrm>
            <a:off x="6995160" y="2926080"/>
            <a:ext cx="4572000" cy="1554480"/>
          </a:xfrm>
          <a:prstGeom prst="rect">
            <a:avLst/>
          </a:prstGeom>
          <a:noFill/>
        </p:spPr>
        <p:txBody>
          <a:bodyPr wrap="square"/>
          <a:lstStyle/>
          <a:p>
            <a:pPr marL="0" marR="0" lvl="0" indent="0" algn="l" defTabSz="457200" rtl="0" eaLnBrk="1" fontAlgn="auto" latinLnBrk="0" hangingPunct="1">
              <a:lnSpc>
                <a:spcPts val="1170"/>
              </a:lnSpc>
              <a:spcBef>
                <a:spcPts val="0"/>
              </a:spcBef>
              <a:spcAft>
                <a:spcPts val="0"/>
              </a:spcAft>
              <a:buClrTx/>
              <a:buSzTx/>
              <a:buFontTx/>
              <a:buNone/>
              <a:tabLst/>
              <a:defRPr sz="900" b="0" i="0">
                <a:solidFill>
                  <a:srgbClr val="333333"/>
                </a:solidFill>
                <a:latin typeface="Lato"/>
              </a:defRPr>
            </a:pPr>
            <a:r>
              <a:rPr kumimoji="0" sz="900" b="0" i="0" u="none" strike="noStrike" kern="1200" cap="none" spc="0" normalizeH="0" baseline="0" noProof="0">
                <a:ln>
                  <a:noFill/>
                </a:ln>
                <a:solidFill>
                  <a:srgbClr val="333333"/>
                </a:solidFill>
                <a:effectLst/>
                <a:uLnTx/>
                <a:uFillTx/>
                <a:latin typeface="Lato"/>
                <a:ea typeface="+mn-ea"/>
                <a:cs typeface="+mn-cs"/>
              </a:rPr>
              <a:t>Setiap sinar laser dari robot ke endpoint ditelusuri menggunakan algoritma Bresenham 2D:</a:t>
            </a:r>
            <a:br>
              <a:rPr kumimoji="0" sz="900" b="0" i="0" u="none" strike="noStrike" kern="1200" cap="none" spc="0" normalizeH="0" baseline="0" noProof="0">
                <a:ln>
                  <a:noFill/>
                </a:ln>
                <a:solidFill>
                  <a:srgbClr val="333333"/>
                </a:solidFill>
                <a:effectLst/>
                <a:uLnTx/>
                <a:uFillTx/>
                <a:latin typeface="Lato"/>
                <a:ea typeface="+mn-ea"/>
                <a:cs typeface="+mn-cs"/>
              </a:rPr>
            </a:br>
            <a:br>
              <a:rPr kumimoji="0" sz="900" b="0" i="0" u="none" strike="noStrike" kern="1200" cap="none" spc="0" normalizeH="0" baseline="0" noProof="0">
                <a:ln>
                  <a:noFill/>
                </a:ln>
                <a:solidFill>
                  <a:srgbClr val="333333"/>
                </a:solidFill>
                <a:effectLst/>
                <a:uLnTx/>
                <a:uFillTx/>
                <a:latin typeface="Lato"/>
                <a:ea typeface="+mn-ea"/>
                <a:cs typeface="+mn-cs"/>
              </a:rPr>
            </a:br>
            <a:r>
              <a:rPr kumimoji="0" sz="900" b="0" i="0" u="none" strike="noStrike" kern="1200" cap="none" spc="0" normalizeH="0" baseline="0" noProof="0">
                <a:ln>
                  <a:noFill/>
                </a:ln>
                <a:solidFill>
                  <a:srgbClr val="333333"/>
                </a:solidFill>
                <a:effectLst/>
                <a:uLnTx/>
                <a:uFillTx/>
                <a:latin typeface="Lato"/>
                <a:ea typeface="+mn-ea"/>
                <a:cs typeface="+mn-cs"/>
              </a:rPr>
              <a:t>1. Inisialisasi error = Δx − Δy</a:t>
            </a:r>
            <a:br>
              <a:rPr kumimoji="0" sz="900" b="0" i="0" u="none" strike="noStrike" kern="1200" cap="none" spc="0" normalizeH="0" baseline="0" noProof="0">
                <a:ln>
                  <a:noFill/>
                </a:ln>
                <a:solidFill>
                  <a:srgbClr val="333333"/>
                </a:solidFill>
                <a:effectLst/>
                <a:uLnTx/>
                <a:uFillTx/>
                <a:latin typeface="Lato"/>
                <a:ea typeface="+mn-ea"/>
                <a:cs typeface="+mn-cs"/>
              </a:rPr>
            </a:br>
            <a:r>
              <a:rPr kumimoji="0" sz="900" b="0" i="0" u="none" strike="noStrike" kern="1200" cap="none" spc="0" normalizeH="0" baseline="0" noProof="0">
                <a:ln>
                  <a:noFill/>
                </a:ln>
                <a:solidFill>
                  <a:srgbClr val="333333"/>
                </a:solidFill>
                <a:effectLst/>
                <a:uLnTx/>
                <a:uFillTx/>
                <a:latin typeface="Lato"/>
                <a:ea typeface="+mn-ea"/>
                <a:cs typeface="+mn-cs"/>
              </a:rPr>
              <a:t>2. Iterasi sepanjang ray dari (x₀, y₀) ke (x₁, y₁)</a:t>
            </a:r>
            <a:br>
              <a:rPr kumimoji="0" sz="900" b="0" i="0" u="none" strike="noStrike" kern="1200" cap="none" spc="0" normalizeH="0" baseline="0" noProof="0">
                <a:ln>
                  <a:noFill/>
                </a:ln>
                <a:solidFill>
                  <a:srgbClr val="333333"/>
                </a:solidFill>
                <a:effectLst/>
                <a:uLnTx/>
                <a:uFillTx/>
                <a:latin typeface="Lato"/>
                <a:ea typeface="+mn-ea"/>
                <a:cs typeface="+mn-cs"/>
              </a:rPr>
            </a:br>
            <a:r>
              <a:rPr kumimoji="0" sz="900" b="0" i="0" u="none" strike="noStrike" kern="1200" cap="none" spc="0" normalizeH="0" baseline="0" noProof="0">
                <a:ln>
                  <a:noFill/>
                </a:ln>
                <a:solidFill>
                  <a:srgbClr val="333333"/>
                </a:solidFill>
                <a:effectLst/>
                <a:uLnTx/>
                <a:uFillTx/>
                <a:latin typeface="Lato"/>
                <a:ea typeface="+mn-ea"/>
                <a:cs typeface="+mn-cs"/>
              </a:rPr>
              <a:t>3. Setiap sel yang dilewati diberi cost = 0 (FREE_SPACE)</a:t>
            </a:r>
            <a:br>
              <a:rPr kumimoji="0" sz="900" b="0" i="0" u="none" strike="noStrike" kern="1200" cap="none" spc="0" normalizeH="0" baseline="0" noProof="0">
                <a:ln>
                  <a:noFill/>
                </a:ln>
                <a:solidFill>
                  <a:srgbClr val="333333"/>
                </a:solidFill>
                <a:effectLst/>
                <a:uLnTx/>
                <a:uFillTx/>
                <a:latin typeface="Lato"/>
                <a:ea typeface="+mn-ea"/>
                <a:cs typeface="+mn-cs"/>
              </a:rPr>
            </a:br>
            <a:r>
              <a:rPr kumimoji="0" sz="900" b="0" i="0" u="none" strike="noStrike" kern="1200" cap="none" spc="0" normalizeH="0" baseline="0" noProof="0">
                <a:ln>
                  <a:noFill/>
                </a:ln>
                <a:solidFill>
                  <a:srgbClr val="333333"/>
                </a:solidFill>
                <a:effectLst/>
                <a:uLnTx/>
                <a:uFillTx/>
                <a:latin typeface="Lato"/>
                <a:ea typeface="+mn-ea"/>
                <a:cs typeface="+mn-cs"/>
              </a:rPr>
              <a:t>4. Endpoint diberi cost = 254 (LETHAL_OBSTACLE)</a:t>
            </a:r>
            <a:br>
              <a:rPr kumimoji="0" sz="900" b="0" i="0" u="none" strike="noStrike" kern="1200" cap="none" spc="0" normalizeH="0" baseline="0" noProof="0">
                <a:ln>
                  <a:noFill/>
                </a:ln>
                <a:solidFill>
                  <a:srgbClr val="333333"/>
                </a:solidFill>
                <a:effectLst/>
                <a:uLnTx/>
                <a:uFillTx/>
                <a:latin typeface="Lato"/>
                <a:ea typeface="+mn-ea"/>
                <a:cs typeface="+mn-cs"/>
              </a:rPr>
            </a:br>
            <a:br>
              <a:rPr kumimoji="0" sz="900" b="0" i="0" u="none" strike="noStrike" kern="1200" cap="none" spc="0" normalizeH="0" baseline="0" noProof="0">
                <a:ln>
                  <a:noFill/>
                </a:ln>
                <a:solidFill>
                  <a:srgbClr val="333333"/>
                </a:solidFill>
                <a:effectLst/>
                <a:uLnTx/>
                <a:uFillTx/>
                <a:latin typeface="Lato"/>
                <a:ea typeface="+mn-ea"/>
                <a:cs typeface="+mn-cs"/>
              </a:rPr>
            </a:br>
            <a:r>
              <a:rPr kumimoji="0" sz="900" b="0" i="0" u="none" strike="noStrike" kern="1200" cap="none" spc="0" normalizeH="0" baseline="0" noProof="0">
                <a:ln>
                  <a:noFill/>
                </a:ln>
                <a:solidFill>
                  <a:srgbClr val="333333"/>
                </a:solidFill>
                <a:effectLst/>
                <a:uLnTx/>
                <a:uFillTx/>
                <a:latin typeface="Lato"/>
                <a:ea typeface="+mn-ea"/>
                <a:cs typeface="+mn-cs"/>
              </a:rPr>
              <a:t>Memastikan area antara robot dan obstacle terdeteksi sebagai ruang bebas, bukan rintangan.</a:t>
            </a:r>
          </a:p>
        </p:txBody>
      </p:sp>
      <p:sp>
        <p:nvSpPr>
          <p:cNvPr id="24" name="TextBox 23"/>
          <p:cNvSpPr txBox="1"/>
          <p:nvPr/>
        </p:nvSpPr>
        <p:spPr>
          <a:xfrm>
            <a:off x="10884103" y="6446520"/>
            <a:ext cx="457200" cy="274320"/>
          </a:xfrm>
          <a:prstGeom prst="rect">
            <a:avLst/>
          </a:prstGeom>
          <a:noFill/>
        </p:spPr>
        <p:txBody>
          <a:bodyPr wrap="square"/>
          <a:lstStyle/>
          <a:p>
            <a:pPr marL="0" marR="0" lvl="0" indent="0" algn="r" defTabSz="457200" rtl="0" eaLnBrk="1" fontAlgn="auto" latinLnBrk="0" hangingPunct="1">
              <a:lnSpc>
                <a:spcPts val="12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6400800" cy="502920"/>
          </a:xfrm>
          <a:prstGeom prst="rect">
            <a:avLst/>
          </a:prstGeom>
          <a:noFill/>
        </p:spPr>
        <p:txBody>
          <a:bodyPr wrap="square"/>
          <a:lstStyle/>
          <a:p>
            <a:pPr marL="0" marR="0" lvl="0" indent="0" algn="l" defTabSz="457200" rtl="0" eaLnBrk="1" fontAlgn="auto" latinLnBrk="0" hangingPunct="1">
              <a:lnSpc>
                <a:spcPts val="3120"/>
              </a:lnSpc>
              <a:spcBef>
                <a:spcPts val="0"/>
              </a:spcBef>
              <a:spcAft>
                <a:spcPts val="0"/>
              </a:spcAft>
              <a:buClrTx/>
              <a:buSzTx/>
              <a:buFontTx/>
              <a:buNone/>
              <a:tabLst/>
              <a:defRPr sz="2600" b="1" i="0">
                <a:solidFill>
                  <a:srgbClr val="1A2B4C"/>
                </a:solidFill>
                <a:latin typeface="Montserrat"/>
              </a:defRPr>
            </a:pPr>
            <a:r>
              <a:rPr kumimoji="0" sz="2600" b="1" i="0" u="none" strike="noStrike" kern="1200" cap="none" spc="0" normalizeH="0" baseline="0" noProof="0" dirty="0">
                <a:ln>
                  <a:noFill/>
                </a:ln>
                <a:solidFill>
                  <a:srgbClr val="1A2B4C"/>
                </a:solidFill>
                <a:effectLst/>
                <a:uLnTx/>
                <a:uFillTx/>
                <a:latin typeface="Montserrat"/>
                <a:ea typeface="+mn-ea"/>
                <a:cs typeface="+mn-cs"/>
              </a:rPr>
              <a:t>TRANSITION COSTMAP</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850392" y="1005840"/>
            <a:ext cx="5943600" cy="457200"/>
          </a:xfrm>
          <a:prstGeom prst="rect">
            <a:avLst/>
          </a:prstGeom>
          <a:noFill/>
        </p:spPr>
        <p:txBody>
          <a:bodyPr wrap="square"/>
          <a:lstStyle/>
          <a:p>
            <a:pPr marL="0" marR="0" lvl="0" indent="0" algn="l" defTabSz="457200" rtl="0" eaLnBrk="1" fontAlgn="auto" latinLnBrk="0" hangingPunct="1">
              <a:lnSpc>
                <a:spcPts val="1485"/>
              </a:lnSpc>
              <a:spcBef>
                <a:spcPts val="0"/>
              </a:spcBef>
              <a:spcAft>
                <a:spcPts val="0"/>
              </a:spcAft>
              <a:buClrTx/>
              <a:buSzTx/>
              <a:buFontTx/>
              <a:buNone/>
              <a:tabLst/>
              <a:defRPr sz="1100" b="0" i="0">
                <a:solidFill>
                  <a:srgbClr val="333333"/>
                </a:solidFill>
                <a:latin typeface="Lato"/>
              </a:defRPr>
            </a:pPr>
            <a:r>
              <a:rPr kumimoji="0" sz="1100" b="0" i="0" u="none" strike="noStrike" kern="1200" cap="none" spc="0" normalizeH="0" baseline="0" noProof="0">
                <a:ln>
                  <a:noFill/>
                </a:ln>
                <a:solidFill>
                  <a:srgbClr val="333333"/>
                </a:solidFill>
                <a:effectLst/>
                <a:uLnTx/>
                <a:uFillTx/>
                <a:latin typeface="Lato"/>
                <a:ea typeface="+mn-ea"/>
                <a:cs typeface="+mn-cs"/>
              </a:rPr>
              <a:t>Transition costmap menggabungkan data transisi dengan peta statis. Digunakan oleh region switcher untuk mendeteksi kapan robot memasuki perbatasan antar region dan melakukan lompatan pose.</a:t>
            </a:r>
          </a:p>
        </p:txBody>
      </p:sp>
      <p:sp>
        <p:nvSpPr>
          <p:cNvPr id="5" name="Rounded Rectangle 4"/>
          <p:cNvSpPr/>
          <p:nvPr/>
        </p:nvSpPr>
        <p:spPr>
          <a:xfrm>
            <a:off x="850392" y="1600200"/>
            <a:ext cx="5943600" cy="11887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Rectangle 5"/>
          <p:cNvSpPr/>
          <p:nvPr/>
        </p:nvSpPr>
        <p:spPr>
          <a:xfrm>
            <a:off x="850392" y="1600200"/>
            <a:ext cx="63500" cy="11887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TextBox 6"/>
          <p:cNvSpPr txBox="1"/>
          <p:nvPr/>
        </p:nvSpPr>
        <p:spPr>
          <a:xfrm>
            <a:off x="987552" y="1645920"/>
            <a:ext cx="2743200" cy="228600"/>
          </a:xfrm>
          <a:prstGeom prst="rect">
            <a:avLst/>
          </a:prstGeom>
          <a:noFill/>
        </p:spPr>
        <p:txBody>
          <a:bodyPr wrap="square"/>
          <a:lstStyle/>
          <a:p>
            <a:pPr marL="0" marR="0" lvl="0" indent="0" algn="l" defTabSz="457200" rtl="0" eaLnBrk="1" fontAlgn="auto" latinLnBrk="0" hangingPunct="1">
              <a:lnSpc>
                <a:spcPts val="1560"/>
              </a:lnSpc>
              <a:spcBef>
                <a:spcPts val="0"/>
              </a:spcBef>
              <a:spcAft>
                <a:spcPts val="0"/>
              </a:spcAft>
              <a:buClrTx/>
              <a:buSzTx/>
              <a:buFontTx/>
              <a:buNone/>
              <a:tabLst/>
              <a:defRPr sz="1300" b="1" i="0">
                <a:solidFill>
                  <a:srgbClr val="F08C2E"/>
                </a:solidFill>
                <a:latin typeface="Montserrat"/>
              </a:defRPr>
            </a:pPr>
            <a:r>
              <a:rPr kumimoji="0" sz="1300" b="1" i="0" u="none" strike="noStrike" kern="1200" cap="none" spc="0" normalizeH="0" baseline="0" noProof="0">
                <a:ln>
                  <a:noFill/>
                </a:ln>
                <a:solidFill>
                  <a:srgbClr val="F08C2E"/>
                </a:solidFill>
                <a:effectLst/>
                <a:uLnTx/>
                <a:uFillTx/>
                <a:latin typeface="Montserrat"/>
                <a:ea typeface="+mn-ea"/>
                <a:cs typeface="+mn-cs"/>
              </a:rPr>
              <a:t>Transition Layer</a:t>
            </a:r>
          </a:p>
        </p:txBody>
      </p:sp>
      <p:sp>
        <p:nvSpPr>
          <p:cNvPr id="8" name="TextBox 7"/>
          <p:cNvSpPr txBox="1"/>
          <p:nvPr/>
        </p:nvSpPr>
        <p:spPr>
          <a:xfrm>
            <a:off x="987552" y="1920240"/>
            <a:ext cx="5669280" cy="731520"/>
          </a:xfrm>
          <a:prstGeom prst="rect">
            <a:avLst/>
          </a:prstGeom>
          <a:noFill/>
        </p:spPr>
        <p:txBody>
          <a:bodyPr wrap="square"/>
          <a:lstStyle/>
          <a:p>
            <a:pPr marL="0" marR="0" lvl="0" indent="0" algn="l" defTabSz="457200" rtl="0" eaLnBrk="1" fontAlgn="auto" latinLnBrk="0" hangingPunct="1">
              <a:lnSpc>
                <a:spcPts val="125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Dua jenis nilai cost yang saling melengkapi:</a:t>
            </a:r>
            <a:br>
              <a:rPr kumimoji="0" sz="1000" b="0" i="0" u="none" strike="noStrike" kern="1200" cap="none" spc="0" normalizeH="0" baseline="0" noProof="0">
                <a:ln>
                  <a:noFill/>
                </a:ln>
                <a:solidFill>
                  <a:srgbClr val="333333"/>
                </a:solidFill>
                <a:effectLst/>
                <a:uLnTx/>
                <a:uFillTx/>
                <a:latin typeface="Lato"/>
                <a:ea typeface="+mn-ea"/>
                <a:cs typeface="+mn-cs"/>
              </a:rPr>
            </a:br>
            <a:br>
              <a:rPr kumimoji="0" sz="1000" b="0" i="0" u="none" strike="noStrike" kern="1200" cap="none" spc="0" normalizeH="0" baseline="0" noProof="0">
                <a:ln>
                  <a:noFill/>
                </a:ln>
                <a:solidFill>
                  <a:srgbClr val="333333"/>
                </a:solidFill>
                <a:effectLst/>
                <a:uLnTx/>
                <a:uFillTx/>
                <a:latin typeface="Lato"/>
                <a:ea typeface="+mn-ea"/>
                <a:cs typeface="+mn-cs"/>
              </a:rPr>
            </a:br>
            <a:r>
              <a:rPr kumimoji="0" sz="1000" b="0" i="0" u="none" strike="noStrike" kern="1200" cap="none" spc="0" normalizeH="0" baseline="0" noProof="0">
                <a:ln>
                  <a:noFill/>
                </a:ln>
                <a:solidFill>
                  <a:srgbClr val="333333"/>
                </a:solidFill>
                <a:effectLst/>
                <a:uLnTx/>
                <a:uFillTx/>
                <a:latin typeface="Lato"/>
                <a:ea typeface="+mn-ea"/>
                <a:cs typeface="+mn-cs"/>
              </a:rPr>
              <a:t>T = 1   Garis transisi utama — tempat lompatan pose dieksekusi</a:t>
            </a:r>
            <a:br>
              <a:rPr kumimoji="0" sz="1000" b="0" i="0" u="none" strike="noStrike" kern="1200" cap="none" spc="0" normalizeH="0" baseline="0" noProof="0">
                <a:ln>
                  <a:noFill/>
                </a:ln>
                <a:solidFill>
                  <a:srgbClr val="333333"/>
                </a:solidFill>
                <a:effectLst/>
                <a:uLnTx/>
                <a:uFillTx/>
                <a:latin typeface="Lato"/>
                <a:ea typeface="+mn-ea"/>
                <a:cs typeface="+mn-cs"/>
              </a:rPr>
            </a:br>
            <a:r>
              <a:rPr kumimoji="0" sz="1000" b="0" i="0" u="none" strike="noStrike" kern="1200" cap="none" spc="0" normalizeH="0" baseline="0" noProof="0">
                <a:ln>
                  <a:noFill/>
                </a:ln>
                <a:solidFill>
                  <a:srgbClr val="333333"/>
                </a:solidFill>
                <a:effectLst/>
                <a:uLnTx/>
                <a:uFillTx/>
                <a:latin typeface="Lato"/>
                <a:ea typeface="+mn-ea"/>
                <a:cs typeface="+mn-cs"/>
              </a:rPr>
              <a:t>E = 5   Zona buffer — robot mendeteksi bahwa ia mendekati batas region dan mulai bersiap transisi</a:t>
            </a:r>
          </a:p>
        </p:txBody>
      </p:sp>
      <p:sp>
        <p:nvSpPr>
          <p:cNvPr id="9" name="Rounded Rectangle 8"/>
          <p:cNvSpPr/>
          <p:nvPr/>
        </p:nvSpPr>
        <p:spPr>
          <a:xfrm>
            <a:off x="850392" y="2926080"/>
            <a:ext cx="5943600" cy="5486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TextBox 9"/>
          <p:cNvSpPr txBox="1"/>
          <p:nvPr/>
        </p:nvSpPr>
        <p:spPr>
          <a:xfrm>
            <a:off x="987552" y="2953512"/>
            <a:ext cx="5669280" cy="502920"/>
          </a:xfrm>
          <a:prstGeom prst="rect">
            <a:avLst/>
          </a:prstGeom>
          <a:noFill/>
        </p:spPr>
        <p:txBody>
          <a:bodyPr wrap="square"/>
          <a:lstStyle/>
          <a:p>
            <a:pPr marL="0" marR="0" lvl="0" indent="0" algn="l" defTabSz="457200" rtl="0" eaLnBrk="1" fontAlgn="auto" latinLnBrk="0" hangingPunct="1">
              <a:lnSpc>
                <a:spcPts val="1125"/>
              </a:lnSpc>
              <a:spcBef>
                <a:spcPts val="0"/>
              </a:spcBef>
              <a:spcAft>
                <a:spcPts val="0"/>
              </a:spcAft>
              <a:buClrTx/>
              <a:buSzTx/>
              <a:buFontTx/>
              <a:buNone/>
              <a:tabLst/>
              <a:defRPr sz="900" b="0" i="0">
                <a:solidFill>
                  <a:srgbClr val="333333"/>
                </a:solidFill>
                <a:latin typeface="Lato"/>
              </a:defRPr>
            </a:pPr>
            <a:r>
              <a:rPr kumimoji="0" sz="900" b="0" i="0" u="none" strike="noStrike" kern="1200" cap="none" spc="0" normalizeH="0" baseline="0" noProof="0">
                <a:ln>
                  <a:noFill/>
                </a:ln>
                <a:solidFill>
                  <a:srgbClr val="333333"/>
                </a:solidFill>
                <a:effectLst/>
                <a:uLnTx/>
                <a:uFillTx/>
                <a:latin typeface="Lato"/>
                <a:ea typeface="+mn-ea"/>
                <a:cs typeface="+mn-cs"/>
              </a:rPr>
              <a:t>Region Switcher: Deteksi E=5 → Bersiap transisi  |  Deteksi T=1 → Eksekusi lompatan pose ke region tujuan</a:t>
            </a:r>
          </a:p>
        </p:txBody>
      </p:sp>
      <p:sp>
        <p:nvSpPr>
          <p:cNvPr id="11" name="Rounded Rectangle 10"/>
          <p:cNvSpPr/>
          <p:nvPr/>
        </p:nvSpPr>
        <p:spPr>
          <a:xfrm>
            <a:off x="850392" y="3611880"/>
            <a:ext cx="5943600" cy="4572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Rectangle 11"/>
          <p:cNvSpPr/>
          <p:nvPr/>
        </p:nvSpPr>
        <p:spPr>
          <a:xfrm>
            <a:off x="850392" y="3611880"/>
            <a:ext cx="50800" cy="4572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987552" y="3639312"/>
            <a:ext cx="5669280" cy="411480"/>
          </a:xfrm>
          <a:prstGeom prst="rect">
            <a:avLst/>
          </a:prstGeom>
          <a:noFill/>
        </p:spPr>
        <p:txBody>
          <a:bodyPr wrap="square"/>
          <a:lstStyle/>
          <a:p>
            <a:pPr marL="0" marR="0" lvl="0" indent="0" algn="l" defTabSz="457200" rtl="0" eaLnBrk="1" fontAlgn="auto" latinLnBrk="0" hangingPunct="1">
              <a:lnSpc>
                <a:spcPts val="1125"/>
              </a:lnSpc>
              <a:spcBef>
                <a:spcPts val="0"/>
              </a:spcBef>
              <a:spcAft>
                <a:spcPts val="0"/>
              </a:spcAft>
              <a:buClrTx/>
              <a:buSzTx/>
              <a:buFontTx/>
              <a:buNone/>
              <a:tabLst/>
              <a:defRPr sz="900" b="0" i="0">
                <a:solidFill>
                  <a:srgbClr val="555555"/>
                </a:solidFill>
                <a:latin typeface="Lato"/>
              </a:defRPr>
            </a:pPr>
            <a:r>
              <a:rPr kumimoji="0" sz="900" b="0" i="0" u="none" strike="noStrike" kern="1200" cap="none" spc="0" normalizeH="0" baseline="0" noProof="0">
                <a:ln>
                  <a:noFill/>
                </a:ln>
                <a:solidFill>
                  <a:srgbClr val="555555"/>
                </a:solidFill>
                <a:effectLst/>
                <a:uLnTx/>
                <a:uFillTx/>
                <a:latin typeface="Lato"/>
                <a:ea typeface="+mn-ea"/>
                <a:cs typeface="+mn-cs"/>
              </a:rPr>
              <a:t>Static Layer: obstacle tetap dari peta (sama dengan global costmap)</a:t>
            </a:r>
          </a:p>
        </p:txBody>
      </p:sp>
      <p:sp>
        <p:nvSpPr>
          <p:cNvPr id="14" name="Rounded Rectangle 13"/>
          <p:cNvSpPr/>
          <p:nvPr/>
        </p:nvSpPr>
        <p:spPr>
          <a:xfrm>
            <a:off x="6858000" y="1005840"/>
            <a:ext cx="4846320" cy="30175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6995160" y="1051560"/>
            <a:ext cx="4572000" cy="274320"/>
          </a:xfrm>
          <a:prstGeom prst="rect">
            <a:avLst/>
          </a:prstGeom>
          <a:noFill/>
        </p:spPr>
        <p:txBody>
          <a:bodyPr wrap="square"/>
          <a:lstStyle/>
          <a:p>
            <a:pPr marL="0" marR="0" lvl="0" indent="0" algn="l" defTabSz="457200" rtl="0" eaLnBrk="1" fontAlgn="auto" latinLnBrk="0" hangingPunct="1">
              <a:lnSpc>
                <a:spcPts val="1560"/>
              </a:lnSpc>
              <a:spcBef>
                <a:spcPts val="0"/>
              </a:spcBef>
              <a:spcAft>
                <a:spcPts val="0"/>
              </a:spcAft>
              <a:buClrTx/>
              <a:buSzTx/>
              <a:buFontTx/>
              <a:buNone/>
              <a:tabLst/>
              <a:defRPr sz="1300" b="1" i="0">
                <a:solidFill>
                  <a:srgbClr val="1A2B4C"/>
                </a:solidFill>
                <a:latin typeface="Montserrat"/>
              </a:defRPr>
            </a:pPr>
            <a:r>
              <a:rPr kumimoji="0" sz="1300" b="1" i="0" u="none" strike="noStrike" kern="1200" cap="none" spc="0" normalizeH="0" baseline="0" noProof="0">
                <a:ln>
                  <a:noFill/>
                </a:ln>
                <a:solidFill>
                  <a:srgbClr val="1A2B4C"/>
                </a:solidFill>
                <a:effectLst/>
                <a:uLnTx/>
                <a:uFillTx/>
                <a:latin typeface="Montserrat"/>
                <a:ea typeface="+mn-ea"/>
                <a:cs typeface="+mn-cs"/>
              </a:rPr>
              <a:t>BFS Expansion — Zona Buffer</a:t>
            </a:r>
          </a:p>
        </p:txBody>
      </p:sp>
      <p:sp>
        <p:nvSpPr>
          <p:cNvPr id="16" name="TextBox 15"/>
          <p:cNvSpPr txBox="1"/>
          <p:nvPr/>
        </p:nvSpPr>
        <p:spPr>
          <a:xfrm>
            <a:off x="6995160" y="1371600"/>
            <a:ext cx="4572000" cy="2560320"/>
          </a:xfrm>
          <a:prstGeom prst="rect">
            <a:avLst/>
          </a:prstGeom>
          <a:noFill/>
        </p:spPr>
        <p:txBody>
          <a:bodyPr wrap="square"/>
          <a:lstStyle/>
          <a:p>
            <a:pPr marL="0" marR="0" lvl="0" indent="0" algn="l" defTabSz="457200" rtl="0" eaLnBrk="1" fontAlgn="auto" latinLnBrk="0" hangingPunct="1">
              <a:lnSpc>
                <a:spcPts val="1080"/>
              </a:lnSpc>
              <a:spcBef>
                <a:spcPts val="0"/>
              </a:spcBef>
              <a:spcAft>
                <a:spcPts val="0"/>
              </a:spcAft>
              <a:buClrTx/>
              <a:buSzTx/>
              <a:buFontTx/>
              <a:buNone/>
              <a:tabLst/>
              <a:defRPr sz="900" b="0" i="0">
                <a:solidFill>
                  <a:srgbClr val="333333"/>
                </a:solidFill>
                <a:latin typeface="Lato"/>
              </a:defRPr>
            </a:pPr>
            <a:r>
              <a:rPr kumimoji="0" sz="900" b="0" i="0" u="none" strike="noStrike" kern="1200" cap="none" spc="0" normalizeH="0" baseline="0" noProof="0" dirty="0">
                <a:ln>
                  <a:noFill/>
                </a:ln>
                <a:solidFill>
                  <a:srgbClr val="333333"/>
                </a:solidFill>
                <a:effectLst/>
                <a:uLnTx/>
                <a:uFillTx/>
                <a:latin typeface="Lato"/>
                <a:ea typeface="+mn-ea"/>
                <a:cs typeface="+mn-cs"/>
              </a:rPr>
              <a:t>Nilai E = 5 </a:t>
            </a:r>
            <a:r>
              <a:rPr kumimoji="0" sz="900" b="0" i="0" u="none" strike="noStrike" kern="1200" cap="none" spc="0" normalizeH="0" baseline="0" noProof="0" dirty="0" err="1">
                <a:ln>
                  <a:noFill/>
                </a:ln>
                <a:solidFill>
                  <a:srgbClr val="333333"/>
                </a:solidFill>
                <a:effectLst/>
                <a:uLnTx/>
                <a:uFillTx/>
                <a:latin typeface="Lato"/>
                <a:ea typeface="+mn-ea"/>
                <a:cs typeface="+mn-cs"/>
              </a:rPr>
              <a:t>dihasilkan</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melalui</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ekspansi</a:t>
            </a:r>
            <a:r>
              <a:rPr kumimoji="0" sz="900" b="0" i="0" u="none" strike="noStrike" kern="1200" cap="none" spc="0" normalizeH="0" baseline="0" noProof="0" dirty="0">
                <a:ln>
                  <a:noFill/>
                </a:ln>
                <a:solidFill>
                  <a:srgbClr val="333333"/>
                </a:solidFill>
                <a:effectLst/>
                <a:uLnTx/>
                <a:uFillTx/>
                <a:latin typeface="Lato"/>
                <a:ea typeface="+mn-ea"/>
                <a:cs typeface="+mn-cs"/>
              </a:rPr>
              <a:t> BFS </a:t>
            </a:r>
            <a:r>
              <a:rPr kumimoji="0" sz="900" b="0" i="0" u="none" strike="noStrike" kern="1200" cap="none" spc="0" normalizeH="0" baseline="0" noProof="0" dirty="0" err="1">
                <a:ln>
                  <a:noFill/>
                </a:ln>
                <a:solidFill>
                  <a:srgbClr val="333333"/>
                </a:solidFill>
                <a:effectLst/>
                <a:uLnTx/>
                <a:uFillTx/>
                <a:latin typeface="Lato"/>
                <a:ea typeface="+mn-ea"/>
                <a:cs typeface="+mn-cs"/>
              </a:rPr>
              <a:t>dari</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sel-sel</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transisi</a:t>
            </a:r>
            <a:r>
              <a:rPr kumimoji="0" sz="900" b="0" i="0" u="none" strike="noStrike" kern="1200" cap="none" spc="0" normalizeH="0" baseline="0" noProof="0" dirty="0">
                <a:ln>
                  <a:noFill/>
                </a:ln>
                <a:solidFill>
                  <a:srgbClr val="333333"/>
                </a:solidFill>
                <a:effectLst/>
                <a:uLnTx/>
                <a:uFillTx/>
                <a:latin typeface="Lato"/>
                <a:ea typeface="+mn-ea"/>
                <a:cs typeface="+mn-cs"/>
              </a:rPr>
              <a:t> (T = 1):</a:t>
            </a:r>
            <a:br>
              <a:rPr kumimoji="0" sz="900" b="0" i="0" u="none" strike="noStrike" kern="1200" cap="none" spc="0" normalizeH="0" baseline="0" noProof="0" dirty="0">
                <a:ln>
                  <a:noFill/>
                </a:ln>
                <a:solidFill>
                  <a:srgbClr val="333333"/>
                </a:solidFill>
                <a:effectLst/>
                <a:uLnTx/>
                <a:uFillTx/>
                <a:latin typeface="Lato"/>
                <a:ea typeface="+mn-ea"/>
                <a:cs typeface="+mn-cs"/>
              </a:rPr>
            </a:b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1. Seed: </a:t>
            </a:r>
            <a:r>
              <a:rPr kumimoji="0" sz="900" b="0" i="0" u="none" strike="noStrike" kern="1200" cap="none" spc="0" normalizeH="0" baseline="0" noProof="0" dirty="0" err="1">
                <a:ln>
                  <a:noFill/>
                </a:ln>
                <a:solidFill>
                  <a:srgbClr val="333333"/>
                </a:solidFill>
                <a:effectLst/>
                <a:uLnTx/>
                <a:uFillTx/>
                <a:latin typeface="Lato"/>
                <a:ea typeface="+mn-ea"/>
                <a:cs typeface="+mn-cs"/>
              </a:rPr>
              <a:t>seluruh</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sel</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dengan</a:t>
            </a:r>
            <a:r>
              <a:rPr kumimoji="0" sz="900" b="0" i="0" u="none" strike="noStrike" kern="1200" cap="none" spc="0" normalizeH="0" baseline="0" noProof="0" dirty="0">
                <a:ln>
                  <a:noFill/>
                </a:ln>
                <a:solidFill>
                  <a:srgbClr val="333333"/>
                </a:solidFill>
                <a:effectLst/>
                <a:uLnTx/>
                <a:uFillTx/>
                <a:latin typeface="Lato"/>
                <a:ea typeface="+mn-ea"/>
                <a:cs typeface="+mn-cs"/>
              </a:rPr>
              <a:t> cost T = 1</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2. </a:t>
            </a:r>
            <a:r>
              <a:rPr kumimoji="0" sz="900" b="0" i="0" u="none" strike="noStrike" kern="1200" cap="none" spc="0" normalizeH="0" baseline="0" noProof="0" dirty="0" err="1">
                <a:ln>
                  <a:noFill/>
                </a:ln>
                <a:solidFill>
                  <a:srgbClr val="333333"/>
                </a:solidFill>
                <a:effectLst/>
                <a:uLnTx/>
                <a:uFillTx/>
                <a:latin typeface="Lato"/>
                <a:ea typeface="+mn-ea"/>
                <a:cs typeface="+mn-cs"/>
              </a:rPr>
              <a:t>Ekspansi</a:t>
            </a:r>
            <a:r>
              <a:rPr kumimoji="0" sz="900" b="0" i="0" u="none" strike="noStrike" kern="1200" cap="none" spc="0" normalizeH="0" baseline="0" noProof="0" dirty="0">
                <a:ln>
                  <a:noFill/>
                </a:ln>
                <a:solidFill>
                  <a:srgbClr val="333333"/>
                </a:solidFill>
                <a:effectLst/>
                <a:uLnTx/>
                <a:uFillTx/>
                <a:latin typeface="Lato"/>
                <a:ea typeface="+mn-ea"/>
                <a:cs typeface="+mn-cs"/>
              </a:rPr>
              <a:t>: BFS 4-way </a:t>
            </a:r>
            <a:r>
              <a:rPr kumimoji="0" sz="900" b="0" i="0" u="none" strike="noStrike" kern="1200" cap="none" spc="0" normalizeH="0" baseline="0" noProof="0" dirty="0" err="1">
                <a:ln>
                  <a:noFill/>
                </a:ln>
                <a:solidFill>
                  <a:srgbClr val="333333"/>
                </a:solidFill>
                <a:effectLst/>
                <a:uLnTx/>
                <a:uFillTx/>
                <a:latin typeface="Lato"/>
                <a:ea typeface="+mn-ea"/>
                <a:cs typeface="+mn-cs"/>
              </a:rPr>
              <a:t>hingga</a:t>
            </a:r>
            <a:r>
              <a:rPr kumimoji="0" sz="900" b="0" i="0" u="none" strike="noStrike" kern="1200" cap="none" spc="0" normalizeH="0" baseline="0" noProof="0" dirty="0">
                <a:ln>
                  <a:noFill/>
                </a:ln>
                <a:solidFill>
                  <a:srgbClr val="333333"/>
                </a:solidFill>
                <a:effectLst/>
                <a:uLnTx/>
                <a:uFillTx/>
                <a:latin typeface="Lato"/>
                <a:ea typeface="+mn-ea"/>
                <a:cs typeface="+mn-cs"/>
              </a:rPr>
              <a:t> radius R </a:t>
            </a:r>
            <a:r>
              <a:rPr kumimoji="0" sz="900" b="0" i="0" u="none" strike="noStrike" kern="1200" cap="none" spc="0" normalizeH="0" baseline="0" noProof="0" dirty="0" err="1">
                <a:ln>
                  <a:noFill/>
                </a:ln>
                <a:solidFill>
                  <a:srgbClr val="333333"/>
                </a:solidFill>
                <a:effectLst/>
                <a:uLnTx/>
                <a:uFillTx/>
                <a:latin typeface="Lato"/>
                <a:ea typeface="+mn-ea"/>
                <a:cs typeface="+mn-cs"/>
              </a:rPr>
              <a:t>sel</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3. </a:t>
            </a:r>
            <a:r>
              <a:rPr kumimoji="0" sz="900" b="0" i="0" u="none" strike="noStrike" kern="1200" cap="none" spc="0" normalizeH="0" baseline="0" noProof="0" dirty="0" err="1">
                <a:ln>
                  <a:noFill/>
                </a:ln>
                <a:solidFill>
                  <a:srgbClr val="333333"/>
                </a:solidFill>
                <a:effectLst/>
                <a:uLnTx/>
                <a:uFillTx/>
                <a:latin typeface="Lato"/>
                <a:ea typeface="+mn-ea"/>
                <a:cs typeface="+mn-cs"/>
              </a:rPr>
              <a:t>Setiap</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sel</a:t>
            </a:r>
            <a:r>
              <a:rPr kumimoji="0" sz="900" b="0" i="0" u="none" strike="noStrike" kern="1200" cap="none" spc="0" normalizeH="0" baseline="0" noProof="0" dirty="0">
                <a:ln>
                  <a:noFill/>
                </a:ln>
                <a:solidFill>
                  <a:srgbClr val="333333"/>
                </a:solidFill>
                <a:effectLst/>
                <a:uLnTx/>
                <a:uFillTx/>
                <a:latin typeface="Lato"/>
                <a:ea typeface="+mn-ea"/>
                <a:cs typeface="+mn-cs"/>
              </a:rPr>
              <a:t> yang </a:t>
            </a:r>
            <a:r>
              <a:rPr kumimoji="0" sz="900" b="0" i="0" u="none" strike="noStrike" kern="1200" cap="none" spc="0" normalizeH="0" baseline="0" noProof="0" dirty="0" err="1">
                <a:ln>
                  <a:noFill/>
                </a:ln>
                <a:solidFill>
                  <a:srgbClr val="333333"/>
                </a:solidFill>
                <a:effectLst/>
                <a:uLnTx/>
                <a:uFillTx/>
                <a:latin typeface="Lato"/>
                <a:ea typeface="+mn-ea"/>
                <a:cs typeface="+mn-cs"/>
              </a:rPr>
              <a:t>dikunjungi</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bukan</a:t>
            </a:r>
            <a:r>
              <a:rPr kumimoji="0" sz="900" b="0" i="0" u="none" strike="noStrike" kern="1200" cap="none" spc="0" normalizeH="0" baseline="0" noProof="0" dirty="0">
                <a:ln>
                  <a:noFill/>
                </a:ln>
                <a:solidFill>
                  <a:srgbClr val="333333"/>
                </a:solidFill>
                <a:effectLst/>
                <a:uLnTx/>
                <a:uFillTx/>
                <a:latin typeface="Lato"/>
                <a:ea typeface="+mn-ea"/>
                <a:cs typeface="+mn-cs"/>
              </a:rPr>
              <a:t> seed) → E = 5</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4. </a:t>
            </a:r>
            <a:r>
              <a:rPr kumimoji="0" sz="900" b="0" i="0" u="none" strike="noStrike" kern="1200" cap="none" spc="0" normalizeH="0" baseline="0" noProof="0" dirty="0" err="1">
                <a:ln>
                  <a:noFill/>
                </a:ln>
                <a:solidFill>
                  <a:srgbClr val="333333"/>
                </a:solidFill>
                <a:effectLst/>
                <a:uLnTx/>
                <a:uFillTx/>
                <a:latin typeface="Lato"/>
                <a:ea typeface="+mn-ea"/>
                <a:cs typeface="+mn-cs"/>
              </a:rPr>
              <a:t>Berhenti</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jika</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bertemu</a:t>
            </a:r>
            <a:r>
              <a:rPr kumimoji="0" sz="900" b="0" i="0" u="none" strike="noStrike" kern="1200" cap="none" spc="0" normalizeH="0" baseline="0" noProof="0" dirty="0">
                <a:ln>
                  <a:noFill/>
                </a:ln>
                <a:solidFill>
                  <a:srgbClr val="333333"/>
                </a:solidFill>
                <a:effectLst/>
                <a:uLnTx/>
                <a:uFillTx/>
                <a:latin typeface="Lato"/>
                <a:ea typeface="+mn-ea"/>
                <a:cs typeface="+mn-cs"/>
              </a:rPr>
              <a:t> LETHAL_OBSTACLE (254)</a:t>
            </a:r>
            <a:br>
              <a:rPr kumimoji="0" sz="900" b="0" i="0" u="none" strike="noStrike" kern="1200" cap="none" spc="0" normalizeH="0" baseline="0" noProof="0" dirty="0">
                <a:ln>
                  <a:noFill/>
                </a:ln>
                <a:solidFill>
                  <a:srgbClr val="333333"/>
                </a:solidFill>
                <a:effectLst/>
                <a:uLnTx/>
                <a:uFillTx/>
                <a:latin typeface="Lato"/>
                <a:ea typeface="+mn-ea"/>
                <a:cs typeface="+mn-cs"/>
              </a:rPr>
            </a:b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err="1">
                <a:ln>
                  <a:noFill/>
                </a:ln>
                <a:solidFill>
                  <a:srgbClr val="333333"/>
                </a:solidFill>
                <a:effectLst/>
                <a:uLnTx/>
                <a:uFillTx/>
                <a:latin typeface="Lato"/>
                <a:ea typeface="+mn-ea"/>
                <a:cs typeface="+mn-cs"/>
              </a:rPr>
              <a:t>Ilustrasi</a:t>
            </a:r>
            <a:r>
              <a:rPr kumimoji="0" sz="900" b="0" i="0" u="none" strike="noStrike" kern="1200" cap="none" spc="0" normalizeH="0" baseline="0" noProof="0" dirty="0">
                <a:ln>
                  <a:noFill/>
                </a:ln>
                <a:solidFill>
                  <a:srgbClr val="333333"/>
                </a:solidFill>
                <a:effectLst/>
                <a:uLnTx/>
                <a:uFillTx/>
                <a:latin typeface="Lato"/>
                <a:ea typeface="+mn-ea"/>
                <a:cs typeface="+mn-cs"/>
              </a:rPr>
              <a:t> (R = 2):</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Sebelum</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Setelah</a:t>
            </a:r>
            <a:r>
              <a:rPr kumimoji="0" sz="900" b="0" i="0" u="none" strike="noStrike" kern="1200" cap="none" spc="0" normalizeH="0" baseline="0" noProof="0" dirty="0">
                <a:ln>
                  <a:noFill/>
                </a:ln>
                <a:solidFill>
                  <a:srgbClr val="333333"/>
                </a:solidFill>
                <a:effectLst/>
                <a:uLnTx/>
                <a:uFillTx/>
                <a:latin typeface="Lato"/>
                <a:ea typeface="+mn-ea"/>
                <a:cs typeface="+mn-cs"/>
              </a:rPr>
              <a:t>:</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  . . . . .      . E </a:t>
            </a:r>
            <a:r>
              <a:rPr kumimoji="0" sz="900" b="0" i="0" u="none" strike="noStrike" kern="1200" cap="none" spc="0" normalizeH="0" baseline="0" noProof="0" dirty="0" err="1">
                <a:ln>
                  <a:noFill/>
                </a:ln>
                <a:solidFill>
                  <a:srgbClr val="333333"/>
                </a:solidFill>
                <a:effectLst/>
                <a:uLnTx/>
                <a:uFillTx/>
                <a:latin typeface="Lato"/>
                <a:ea typeface="+mn-ea"/>
                <a:cs typeface="+mn-cs"/>
              </a:rPr>
              <a:t>E</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E</a:t>
            </a:r>
            <a:r>
              <a:rPr kumimoji="0" sz="900" b="0" i="0" u="none" strike="noStrike" kern="1200" cap="none" spc="0" normalizeH="0" baseline="0" noProof="0" dirty="0">
                <a:ln>
                  <a:noFill/>
                </a:ln>
                <a:solidFill>
                  <a:srgbClr val="333333"/>
                </a:solidFill>
                <a:effectLst/>
                <a:uLnTx/>
                <a:uFillTx/>
                <a:latin typeface="Lato"/>
                <a:ea typeface="+mn-ea"/>
                <a:cs typeface="+mn-cs"/>
              </a:rPr>
              <a:t> .</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  . . T . .      E </a:t>
            </a:r>
            <a:r>
              <a:rPr kumimoji="0" sz="900" b="0" i="0" u="none" strike="noStrike" kern="1200" cap="none" spc="0" normalizeH="0" baseline="0" noProof="0" dirty="0" err="1">
                <a:ln>
                  <a:noFill/>
                </a:ln>
                <a:solidFill>
                  <a:srgbClr val="333333"/>
                </a:solidFill>
                <a:effectLst/>
                <a:uLnTx/>
                <a:uFillTx/>
                <a:latin typeface="Lato"/>
                <a:ea typeface="+mn-ea"/>
                <a:cs typeface="+mn-cs"/>
              </a:rPr>
              <a:t>E</a:t>
            </a:r>
            <a:r>
              <a:rPr kumimoji="0" sz="900" b="0" i="0" u="none" strike="noStrike" kern="1200" cap="none" spc="0" normalizeH="0" baseline="0" noProof="0" dirty="0">
                <a:ln>
                  <a:noFill/>
                </a:ln>
                <a:solidFill>
                  <a:srgbClr val="333333"/>
                </a:solidFill>
                <a:effectLst/>
                <a:uLnTx/>
                <a:uFillTx/>
                <a:latin typeface="Lato"/>
                <a:ea typeface="+mn-ea"/>
                <a:cs typeface="+mn-cs"/>
              </a:rPr>
              <a:t> T E </a:t>
            </a:r>
            <a:r>
              <a:rPr kumimoji="0" sz="900" b="0" i="0" u="none" strike="noStrike" kern="1200" cap="none" spc="0" normalizeH="0" baseline="0" noProof="0" dirty="0" err="1">
                <a:ln>
                  <a:noFill/>
                </a:ln>
                <a:solidFill>
                  <a:srgbClr val="333333"/>
                </a:solidFill>
                <a:effectLst/>
                <a:uLnTx/>
                <a:uFillTx/>
                <a:latin typeface="Lato"/>
                <a:ea typeface="+mn-ea"/>
                <a:cs typeface="+mn-cs"/>
              </a:rPr>
              <a:t>E</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  . T </a:t>
            </a:r>
            <a:r>
              <a:rPr kumimoji="0" sz="900" b="0" i="0" u="none" strike="noStrike" kern="1200" cap="none" spc="0" normalizeH="0" baseline="0" noProof="0" dirty="0" err="1">
                <a:ln>
                  <a:noFill/>
                </a:ln>
                <a:solidFill>
                  <a:srgbClr val="333333"/>
                </a:solidFill>
                <a:effectLst/>
                <a:uLnTx/>
                <a:uFillTx/>
                <a:latin typeface="Lato"/>
                <a:ea typeface="+mn-ea"/>
                <a:cs typeface="+mn-cs"/>
              </a:rPr>
              <a:t>T</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T</a:t>
            </a:r>
            <a:r>
              <a:rPr kumimoji="0" sz="900" b="0" i="0" u="none" strike="noStrike" kern="1200" cap="none" spc="0" normalizeH="0" baseline="0" noProof="0" dirty="0">
                <a:ln>
                  <a:noFill/>
                </a:ln>
                <a:solidFill>
                  <a:srgbClr val="333333"/>
                </a:solidFill>
                <a:effectLst/>
                <a:uLnTx/>
                <a:uFillTx/>
                <a:latin typeface="Lato"/>
                <a:ea typeface="+mn-ea"/>
                <a:cs typeface="+mn-cs"/>
              </a:rPr>
              <a:t> .  →  E T </a:t>
            </a:r>
            <a:r>
              <a:rPr kumimoji="0" sz="900" b="0" i="0" u="none" strike="noStrike" kern="1200" cap="none" spc="0" normalizeH="0" baseline="0" noProof="0" dirty="0" err="1">
                <a:ln>
                  <a:noFill/>
                </a:ln>
                <a:solidFill>
                  <a:srgbClr val="333333"/>
                </a:solidFill>
                <a:effectLst/>
                <a:uLnTx/>
                <a:uFillTx/>
                <a:latin typeface="Lato"/>
                <a:ea typeface="+mn-ea"/>
                <a:cs typeface="+mn-cs"/>
              </a:rPr>
              <a:t>T</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T</a:t>
            </a:r>
            <a:r>
              <a:rPr kumimoji="0" sz="900" b="0" i="0" u="none" strike="noStrike" kern="1200" cap="none" spc="0" normalizeH="0" baseline="0" noProof="0" dirty="0">
                <a:ln>
                  <a:noFill/>
                </a:ln>
                <a:solidFill>
                  <a:srgbClr val="333333"/>
                </a:solidFill>
                <a:effectLst/>
                <a:uLnTx/>
                <a:uFillTx/>
                <a:latin typeface="Lato"/>
                <a:ea typeface="+mn-ea"/>
                <a:cs typeface="+mn-cs"/>
              </a:rPr>
              <a:t> E</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  . . T . .      E </a:t>
            </a:r>
            <a:r>
              <a:rPr kumimoji="0" sz="900" b="0" i="0" u="none" strike="noStrike" kern="1200" cap="none" spc="0" normalizeH="0" baseline="0" noProof="0" dirty="0" err="1">
                <a:ln>
                  <a:noFill/>
                </a:ln>
                <a:solidFill>
                  <a:srgbClr val="333333"/>
                </a:solidFill>
                <a:effectLst/>
                <a:uLnTx/>
                <a:uFillTx/>
                <a:latin typeface="Lato"/>
                <a:ea typeface="+mn-ea"/>
                <a:cs typeface="+mn-cs"/>
              </a:rPr>
              <a:t>E</a:t>
            </a:r>
            <a:r>
              <a:rPr kumimoji="0" sz="900" b="0" i="0" u="none" strike="noStrike" kern="1200" cap="none" spc="0" normalizeH="0" baseline="0" noProof="0" dirty="0">
                <a:ln>
                  <a:noFill/>
                </a:ln>
                <a:solidFill>
                  <a:srgbClr val="333333"/>
                </a:solidFill>
                <a:effectLst/>
                <a:uLnTx/>
                <a:uFillTx/>
                <a:latin typeface="Lato"/>
                <a:ea typeface="+mn-ea"/>
                <a:cs typeface="+mn-cs"/>
              </a:rPr>
              <a:t> T E </a:t>
            </a:r>
            <a:r>
              <a:rPr kumimoji="0" sz="900" b="0" i="0" u="none" strike="noStrike" kern="1200" cap="none" spc="0" normalizeH="0" baseline="0" noProof="0" dirty="0" err="1">
                <a:ln>
                  <a:noFill/>
                </a:ln>
                <a:solidFill>
                  <a:srgbClr val="333333"/>
                </a:solidFill>
                <a:effectLst/>
                <a:uLnTx/>
                <a:uFillTx/>
                <a:latin typeface="Lato"/>
                <a:ea typeface="+mn-ea"/>
                <a:cs typeface="+mn-cs"/>
              </a:rPr>
              <a:t>E</a:t>
            </a: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  . . . . .      . E </a:t>
            </a:r>
            <a:r>
              <a:rPr kumimoji="0" sz="900" b="0" i="0" u="none" strike="noStrike" kern="1200" cap="none" spc="0" normalizeH="0" baseline="0" noProof="0" dirty="0" err="1">
                <a:ln>
                  <a:noFill/>
                </a:ln>
                <a:solidFill>
                  <a:srgbClr val="333333"/>
                </a:solidFill>
                <a:effectLst/>
                <a:uLnTx/>
                <a:uFillTx/>
                <a:latin typeface="Lato"/>
                <a:ea typeface="+mn-ea"/>
                <a:cs typeface="+mn-cs"/>
              </a:rPr>
              <a:t>E</a:t>
            </a:r>
            <a:r>
              <a:rPr kumimoji="0" sz="900" b="0" i="0" u="none" strike="noStrike" kern="1200" cap="none" spc="0" normalizeH="0" baseline="0" noProof="0" dirty="0">
                <a:ln>
                  <a:noFill/>
                </a:ln>
                <a:solidFill>
                  <a:srgbClr val="333333"/>
                </a:solidFill>
                <a:effectLst/>
                <a:uLnTx/>
                <a:uFillTx/>
                <a:latin typeface="Lato"/>
                <a:ea typeface="+mn-ea"/>
                <a:cs typeface="+mn-cs"/>
              </a:rPr>
              <a:t> </a:t>
            </a:r>
            <a:r>
              <a:rPr kumimoji="0" sz="900" b="0" i="0" u="none" strike="noStrike" kern="1200" cap="none" spc="0" normalizeH="0" baseline="0" noProof="0" dirty="0" err="1">
                <a:ln>
                  <a:noFill/>
                </a:ln>
                <a:solidFill>
                  <a:srgbClr val="333333"/>
                </a:solidFill>
                <a:effectLst/>
                <a:uLnTx/>
                <a:uFillTx/>
                <a:latin typeface="Lato"/>
                <a:ea typeface="+mn-ea"/>
                <a:cs typeface="+mn-cs"/>
              </a:rPr>
              <a:t>E</a:t>
            </a:r>
            <a:r>
              <a:rPr kumimoji="0" sz="900" b="0" i="0" u="none" strike="noStrike" kern="1200" cap="none" spc="0" normalizeH="0" baseline="0" noProof="0" dirty="0">
                <a:ln>
                  <a:noFill/>
                </a:ln>
                <a:solidFill>
                  <a:srgbClr val="333333"/>
                </a:solidFill>
                <a:effectLst/>
                <a:uLnTx/>
                <a:uFillTx/>
                <a:latin typeface="Lato"/>
                <a:ea typeface="+mn-ea"/>
                <a:cs typeface="+mn-cs"/>
              </a:rPr>
              <a:t> .</a:t>
            </a:r>
            <a:br>
              <a:rPr kumimoji="0" sz="900" b="0" i="0" u="none" strike="noStrike" kern="1200" cap="none" spc="0" normalizeH="0" baseline="0" noProof="0" dirty="0">
                <a:ln>
                  <a:noFill/>
                </a:ln>
                <a:solidFill>
                  <a:srgbClr val="333333"/>
                </a:solidFill>
                <a:effectLst/>
                <a:uLnTx/>
                <a:uFillTx/>
                <a:latin typeface="Lato"/>
                <a:ea typeface="+mn-ea"/>
                <a:cs typeface="+mn-cs"/>
              </a:rPr>
            </a:br>
            <a:br>
              <a:rPr kumimoji="0" sz="900" b="0" i="0" u="none" strike="noStrike" kern="1200" cap="none" spc="0" normalizeH="0" baseline="0" noProof="0" dirty="0">
                <a:ln>
                  <a:noFill/>
                </a:ln>
                <a:solidFill>
                  <a:srgbClr val="333333"/>
                </a:solidFill>
                <a:effectLst/>
                <a:uLnTx/>
                <a:uFillTx/>
                <a:latin typeface="Lato"/>
                <a:ea typeface="+mn-ea"/>
                <a:cs typeface="+mn-cs"/>
              </a:rPr>
            </a:br>
            <a:r>
              <a:rPr kumimoji="0" sz="900" b="0" i="0" u="none" strike="noStrike" kern="1200" cap="none" spc="0" normalizeH="0" baseline="0" noProof="0" dirty="0">
                <a:ln>
                  <a:noFill/>
                </a:ln>
                <a:solidFill>
                  <a:srgbClr val="333333"/>
                </a:solidFill>
                <a:effectLst/>
                <a:uLnTx/>
                <a:uFillTx/>
                <a:latin typeface="Lato"/>
                <a:ea typeface="+mn-ea"/>
                <a:cs typeface="+mn-cs"/>
              </a:rPr>
              <a:t>T = 1 (garis </a:t>
            </a:r>
            <a:r>
              <a:rPr kumimoji="0" sz="900" b="0" i="0" u="none" strike="noStrike" kern="1200" cap="none" spc="0" normalizeH="0" baseline="0" noProof="0" dirty="0" err="1">
                <a:ln>
                  <a:noFill/>
                </a:ln>
                <a:solidFill>
                  <a:srgbClr val="333333"/>
                </a:solidFill>
                <a:effectLst/>
                <a:uLnTx/>
                <a:uFillTx/>
                <a:latin typeface="Lato"/>
                <a:ea typeface="+mn-ea"/>
                <a:cs typeface="+mn-cs"/>
              </a:rPr>
              <a:t>transisi</a:t>
            </a:r>
            <a:r>
              <a:rPr kumimoji="0" sz="900" b="0" i="0" u="none" strike="noStrike" kern="1200" cap="none" spc="0" normalizeH="0" baseline="0" noProof="0" dirty="0">
                <a:ln>
                  <a:noFill/>
                </a:ln>
                <a:solidFill>
                  <a:srgbClr val="333333"/>
                </a:solidFill>
                <a:effectLst/>
                <a:uLnTx/>
                <a:uFillTx/>
                <a:latin typeface="Lato"/>
                <a:ea typeface="+mn-ea"/>
                <a:cs typeface="+mn-cs"/>
              </a:rPr>
              <a:t>)   E = 5 (buffer </a:t>
            </a:r>
            <a:r>
              <a:rPr kumimoji="0" sz="900" b="0" i="0" u="none" strike="noStrike" kern="1200" cap="none" spc="0" normalizeH="0" baseline="0" noProof="0" dirty="0" err="1">
                <a:ln>
                  <a:noFill/>
                </a:ln>
                <a:solidFill>
                  <a:srgbClr val="333333"/>
                </a:solidFill>
                <a:effectLst/>
                <a:uLnTx/>
                <a:uFillTx/>
                <a:latin typeface="Lato"/>
                <a:ea typeface="+mn-ea"/>
                <a:cs typeface="+mn-cs"/>
              </a:rPr>
              <a:t>deteksi</a:t>
            </a:r>
            <a:r>
              <a:rPr kumimoji="0" sz="900" b="0" i="0" u="none" strike="noStrike" kern="1200" cap="none" spc="0" normalizeH="0" baseline="0" noProof="0" dirty="0">
                <a:ln>
                  <a:noFill/>
                </a:ln>
                <a:solidFill>
                  <a:srgbClr val="333333"/>
                </a:solidFill>
                <a:effectLst/>
                <a:uLnTx/>
                <a:uFillTx/>
                <a:latin typeface="Lato"/>
                <a:ea typeface="+mn-ea"/>
                <a:cs typeface="+mn-cs"/>
              </a:rPr>
              <a:t>)</a:t>
            </a:r>
          </a:p>
        </p:txBody>
      </p:sp>
      <p:sp>
        <p:nvSpPr>
          <p:cNvPr id="17" name="Rounded Rectangle 16"/>
          <p:cNvSpPr/>
          <p:nvPr/>
        </p:nvSpPr>
        <p:spPr>
          <a:xfrm>
            <a:off x="6858000" y="4251960"/>
            <a:ext cx="4846320" cy="50292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Rectangle 17"/>
          <p:cNvSpPr/>
          <p:nvPr/>
        </p:nvSpPr>
        <p:spPr>
          <a:xfrm>
            <a:off x="6858000" y="4251960"/>
            <a:ext cx="50800" cy="5029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6995160" y="4279392"/>
            <a:ext cx="4572000" cy="457200"/>
          </a:xfrm>
          <a:prstGeom prst="rect">
            <a:avLst/>
          </a:prstGeom>
          <a:noFill/>
        </p:spPr>
        <p:txBody>
          <a:bodyPr wrap="square"/>
          <a:lstStyle/>
          <a:p>
            <a:pPr marL="0" marR="0" lvl="0" indent="0" algn="l" defTabSz="457200" rtl="0" eaLnBrk="1" fontAlgn="auto" latinLnBrk="0" hangingPunct="1">
              <a:lnSpc>
                <a:spcPts val="1125"/>
              </a:lnSpc>
              <a:spcBef>
                <a:spcPts val="0"/>
              </a:spcBef>
              <a:spcAft>
                <a:spcPts val="0"/>
              </a:spcAft>
              <a:buClrTx/>
              <a:buSzTx/>
              <a:buFontTx/>
              <a:buNone/>
              <a:tabLst/>
              <a:defRPr sz="900" b="0" i="1">
                <a:solidFill>
                  <a:srgbClr val="333333"/>
                </a:solidFill>
                <a:latin typeface="Lato"/>
              </a:defRPr>
            </a:pPr>
            <a:r>
              <a:rPr kumimoji="0" sz="900" b="0" i="1" u="none" strike="noStrike" kern="1200" cap="none" spc="0" normalizeH="0" baseline="0" noProof="0">
                <a:ln>
                  <a:noFill/>
                </a:ln>
                <a:solidFill>
                  <a:srgbClr val="333333"/>
                </a:solidFill>
                <a:effectLst/>
                <a:uLnTx/>
                <a:uFillTx/>
                <a:latin typeface="Lato"/>
                <a:ea typeface="+mn-ea"/>
                <a:cs typeface="+mn-cs"/>
              </a:rPr>
              <a:t>Transition costmap memungkinkan robot berpindah region secara mulus tanpa kehilangan informasi konektivitas antar lantai.</a:t>
            </a:r>
          </a:p>
        </p:txBody>
      </p:sp>
      <p:sp>
        <p:nvSpPr>
          <p:cNvPr id="20" name="TextBox 19"/>
          <p:cNvSpPr txBox="1"/>
          <p:nvPr/>
        </p:nvSpPr>
        <p:spPr>
          <a:xfrm>
            <a:off x="10884103" y="6446520"/>
            <a:ext cx="457200" cy="274320"/>
          </a:xfrm>
          <a:prstGeom prst="rect">
            <a:avLst/>
          </a:prstGeom>
          <a:noFill/>
        </p:spPr>
        <p:txBody>
          <a:bodyPr wrap="square"/>
          <a:lstStyle/>
          <a:p>
            <a:pPr marL="0" marR="0" lvl="0" indent="0" algn="r" defTabSz="457200" rtl="0" eaLnBrk="1" fontAlgn="auto" latinLnBrk="0" hangingPunct="1">
              <a:lnSpc>
                <a:spcPts val="1200"/>
              </a:lnSpc>
              <a:spcBef>
                <a:spcPts val="0"/>
              </a:spcBef>
              <a:spcAft>
                <a:spcPts val="0"/>
              </a:spcAft>
              <a:buClrTx/>
              <a:buSzTx/>
              <a:buFontTx/>
              <a:buNone/>
              <a:tabLst/>
              <a:defRPr sz="1000" b="0" i="0">
                <a:solidFill>
                  <a:srgbClr val="333333"/>
                </a:solidFill>
                <a:latin typeface="Lato"/>
              </a:defRPr>
            </a:pPr>
            <a:r>
              <a:rPr kumimoji="0" sz="1000" b="0" i="0" u="none" strike="noStrike" kern="1200" cap="none" spc="0" normalizeH="0" baseline="0" noProof="0">
                <a:ln>
                  <a:noFill/>
                </a:ln>
                <a:solidFill>
                  <a:srgbClr val="333333"/>
                </a:solidFill>
                <a:effectLst/>
                <a:uLnTx/>
                <a:uFillTx/>
                <a:latin typeface="Lato"/>
                <a:ea typeface="+mn-ea"/>
                <a:cs typeface="+mn-cs"/>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717804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rPr dirty="0"/>
              <a:t>LOKALISASI ICP &amp; REGION SWITCHER</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0391" y="1005840"/>
            <a:ext cx="3657599" cy="274320"/>
          </a:xfrm>
          <a:prstGeom prst="rect">
            <a:avLst/>
          </a:prstGeom>
          <a:noFill/>
        </p:spPr>
        <p:txBody>
          <a:bodyPr wrap="square"/>
          <a:lstStyle/>
          <a:p>
            <a:pPr algn="l">
              <a:lnSpc>
                <a:spcPts val="1920"/>
              </a:lnSpc>
              <a:spcBef>
                <a:spcPts val="0"/>
              </a:spcBef>
              <a:spcAft>
                <a:spcPts val="0"/>
              </a:spcAft>
              <a:defRPr sz="1600" b="1" i="0">
                <a:solidFill>
                  <a:srgbClr val="003A70"/>
                </a:solidFill>
                <a:latin typeface="Montserrat"/>
              </a:defRPr>
            </a:pPr>
            <a:r>
              <a:rPr dirty="0"/>
              <a:t>ICP (Iterative Closest Point)</a:t>
            </a:r>
          </a:p>
        </p:txBody>
      </p:sp>
      <p:sp>
        <p:nvSpPr>
          <p:cNvPr id="5" name="Rounded Rectangle 4"/>
          <p:cNvSpPr/>
          <p:nvPr/>
        </p:nvSpPr>
        <p:spPr>
          <a:xfrm>
            <a:off x="85039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9611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7" name="TextBox 6"/>
          <p:cNvSpPr txBox="1"/>
          <p:nvPr/>
        </p:nvSpPr>
        <p:spPr>
          <a:xfrm>
            <a:off x="126187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Prekomputasi KNN</a:t>
            </a:r>
          </a:p>
        </p:txBody>
      </p:sp>
      <p:sp>
        <p:nvSpPr>
          <p:cNvPr id="8" name="TextBox 7"/>
          <p:cNvSpPr txBox="1"/>
          <p:nvPr/>
        </p:nvSpPr>
        <p:spPr>
          <a:xfrm>
            <a:off x="98755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Hash table, lookup O(1)</a:t>
            </a:r>
            <a:br/>
            <a:r>
              <a:t>k=8, r=10</a:t>
            </a:r>
          </a:p>
        </p:txBody>
      </p:sp>
      <p:sp>
        <p:nvSpPr>
          <p:cNvPr id="9" name="Right Arrow 8"/>
          <p:cNvSpPr/>
          <p:nvPr/>
        </p:nvSpPr>
        <p:spPr>
          <a:xfrm>
            <a:off x="2688336" y="1920240"/>
            <a:ext cx="118872" cy="13716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81635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86207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12" name="TextBox 11"/>
          <p:cNvSpPr txBox="1"/>
          <p:nvPr/>
        </p:nvSpPr>
        <p:spPr>
          <a:xfrm>
            <a:off x="322783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Correspondence</a:t>
            </a:r>
            <a:br/>
            <a:r>
              <a:t>Matching</a:t>
            </a:r>
          </a:p>
        </p:txBody>
      </p:sp>
      <p:sp>
        <p:nvSpPr>
          <p:cNvPr id="13" name="TextBox 12"/>
          <p:cNvSpPr txBox="1"/>
          <p:nvPr/>
        </p:nvSpPr>
        <p:spPr>
          <a:xfrm>
            <a:off x="295351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Pasangkan titik</a:t>
            </a:r>
            <a:br/>
            <a:r>
              <a:t>scan → map</a:t>
            </a:r>
          </a:p>
        </p:txBody>
      </p:sp>
      <p:sp>
        <p:nvSpPr>
          <p:cNvPr id="14" name="Right Arrow 13"/>
          <p:cNvSpPr/>
          <p:nvPr/>
        </p:nvSpPr>
        <p:spPr>
          <a:xfrm>
            <a:off x="4654296" y="1920240"/>
            <a:ext cx="118872" cy="13716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78231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482803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17" name="TextBox 16"/>
          <p:cNvSpPr txBox="1"/>
          <p:nvPr/>
        </p:nvSpPr>
        <p:spPr>
          <a:xfrm>
            <a:off x="519379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SVD Solver</a:t>
            </a:r>
          </a:p>
        </p:txBody>
      </p:sp>
      <p:sp>
        <p:nvSpPr>
          <p:cNvPr id="18" name="TextBox 17"/>
          <p:cNvSpPr txBox="1"/>
          <p:nvPr/>
        </p:nvSpPr>
        <p:spPr>
          <a:xfrm>
            <a:off x="491947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Estimasi rotasi &amp;</a:t>
            </a:r>
            <a:br/>
            <a:r>
              <a:t>translasi optimal</a:t>
            </a:r>
          </a:p>
        </p:txBody>
      </p:sp>
      <p:sp>
        <p:nvSpPr>
          <p:cNvPr id="19" name="Right Arrow 18"/>
          <p:cNvSpPr/>
          <p:nvPr/>
        </p:nvSpPr>
        <p:spPr>
          <a:xfrm>
            <a:off x="6620256" y="1920240"/>
            <a:ext cx="118872" cy="13716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74827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79399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22" name="TextBox 21"/>
          <p:cNvSpPr txBox="1"/>
          <p:nvPr/>
        </p:nvSpPr>
        <p:spPr>
          <a:xfrm>
            <a:off x="715975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Transformasi</a:t>
            </a:r>
          </a:p>
        </p:txBody>
      </p:sp>
      <p:sp>
        <p:nvSpPr>
          <p:cNvPr id="23" name="TextBox 22"/>
          <p:cNvSpPr txBox="1"/>
          <p:nvPr/>
        </p:nvSpPr>
        <p:spPr>
          <a:xfrm>
            <a:off x="688543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Perbarui pose robot</a:t>
            </a:r>
            <a:br/>
            <a:r>
              <a:t>(R, t)</a:t>
            </a:r>
          </a:p>
        </p:txBody>
      </p:sp>
      <p:sp>
        <p:nvSpPr>
          <p:cNvPr id="24" name="TextBox 23"/>
          <p:cNvSpPr txBox="1"/>
          <p:nvPr/>
        </p:nvSpPr>
        <p:spPr>
          <a:xfrm>
            <a:off x="850392" y="2880360"/>
            <a:ext cx="10515600" cy="228600"/>
          </a:xfrm>
          <a:prstGeom prst="rect">
            <a:avLst/>
          </a:prstGeom>
          <a:noFill/>
        </p:spPr>
        <p:txBody>
          <a:bodyPr wrap="square"/>
          <a:lstStyle/>
          <a:p>
            <a:pPr algn="l">
              <a:lnSpc>
                <a:spcPts val="1200"/>
              </a:lnSpc>
              <a:spcBef>
                <a:spcPts val="0"/>
              </a:spcBef>
              <a:spcAft>
                <a:spcPts val="0"/>
              </a:spcAft>
              <a:defRPr sz="1000" b="0" i="1">
                <a:solidFill>
                  <a:srgbClr val="333333"/>
                </a:solidFill>
                <a:latin typeface="Lato"/>
              </a:defRPr>
            </a:pPr>
            <a:r>
              <a:rPr dirty="0"/>
              <a:t>Parameter: </a:t>
            </a:r>
            <a:r>
              <a:rPr dirty="0" err="1"/>
              <a:t>max_iter</a:t>
            </a:r>
            <a:r>
              <a:rPr dirty="0"/>
              <a:t>=50, k=8, r=10, </a:t>
            </a:r>
            <a:r>
              <a:rPr dirty="0" err="1"/>
              <a:t>t_norm</a:t>
            </a:r>
            <a:r>
              <a:rPr dirty="0"/>
              <a:t>=0.01m, </a:t>
            </a:r>
            <a:r>
              <a:rPr dirty="0" err="1"/>
              <a:t>r_norm</a:t>
            </a:r>
            <a:r>
              <a:rPr dirty="0"/>
              <a:t>=0.01rad, s=2</a:t>
            </a:r>
          </a:p>
        </p:txBody>
      </p:sp>
      <p:sp>
        <p:nvSpPr>
          <p:cNvPr id="25" name="TextBox 24"/>
          <p:cNvSpPr txBox="1"/>
          <p:nvPr/>
        </p:nvSpPr>
        <p:spPr>
          <a:xfrm>
            <a:off x="850392" y="3291840"/>
            <a:ext cx="3657600" cy="274320"/>
          </a:xfrm>
          <a:prstGeom prst="rect">
            <a:avLst/>
          </a:prstGeom>
          <a:noFill/>
        </p:spPr>
        <p:txBody>
          <a:bodyPr wrap="square"/>
          <a:lstStyle/>
          <a:p>
            <a:pPr algn="l">
              <a:lnSpc>
                <a:spcPts val="1920"/>
              </a:lnSpc>
              <a:spcBef>
                <a:spcPts val="0"/>
              </a:spcBef>
              <a:spcAft>
                <a:spcPts val="0"/>
              </a:spcAft>
              <a:defRPr sz="1600" b="1" i="0">
                <a:solidFill>
                  <a:srgbClr val="F08C2E"/>
                </a:solidFill>
                <a:latin typeface="Montserrat"/>
              </a:defRPr>
            </a:pPr>
            <a:r>
              <a:t>Region Switcher &amp; Zona Transisi</a:t>
            </a:r>
          </a:p>
        </p:txBody>
      </p:sp>
      <p:sp>
        <p:nvSpPr>
          <p:cNvPr id="26" name="Rounded Rectangle 25"/>
          <p:cNvSpPr/>
          <p:nvPr/>
        </p:nvSpPr>
        <p:spPr>
          <a:xfrm>
            <a:off x="1307592" y="3749039"/>
            <a:ext cx="2560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99032" y="3840479"/>
            <a:ext cx="2377440" cy="27432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Region A</a:t>
            </a:r>
          </a:p>
        </p:txBody>
      </p:sp>
      <p:sp>
        <p:nvSpPr>
          <p:cNvPr id="28" name="TextBox 27"/>
          <p:cNvSpPr txBox="1"/>
          <p:nvPr/>
        </p:nvSpPr>
        <p:spPr>
          <a:xfrm>
            <a:off x="1399032" y="4160519"/>
            <a:ext cx="2377440" cy="457200"/>
          </a:xfrm>
          <a:prstGeom prst="rect">
            <a:avLst/>
          </a:prstGeom>
          <a:noFill/>
        </p:spPr>
        <p:txBody>
          <a:bodyPr wrap="square"/>
          <a:lstStyle/>
          <a:p>
            <a:pPr algn="ctr">
              <a:lnSpc>
                <a:spcPts val="1300"/>
              </a:lnSpc>
              <a:spcBef>
                <a:spcPts val="0"/>
              </a:spcBef>
              <a:spcAft>
                <a:spcPts val="0"/>
              </a:spcAft>
              <a:defRPr sz="1000" b="0" i="0">
                <a:solidFill>
                  <a:srgbClr val="555555"/>
                </a:solidFill>
                <a:latin typeface="Lato"/>
              </a:defRPr>
            </a:pPr>
            <a:r>
              <a:t>Peta 2D region</a:t>
            </a:r>
            <a:br/>
            <a:r>
              <a:t>Navigasi di dalam region</a:t>
            </a:r>
          </a:p>
        </p:txBody>
      </p:sp>
      <p:sp>
        <p:nvSpPr>
          <p:cNvPr id="29" name="Rounded Rectangle 28"/>
          <p:cNvSpPr/>
          <p:nvPr/>
        </p:nvSpPr>
        <p:spPr>
          <a:xfrm>
            <a:off x="4782312" y="3749039"/>
            <a:ext cx="2560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73752" y="3840479"/>
            <a:ext cx="2377440" cy="27432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Region B</a:t>
            </a:r>
          </a:p>
        </p:txBody>
      </p:sp>
      <p:sp>
        <p:nvSpPr>
          <p:cNvPr id="31" name="TextBox 30"/>
          <p:cNvSpPr txBox="1"/>
          <p:nvPr/>
        </p:nvSpPr>
        <p:spPr>
          <a:xfrm>
            <a:off x="4873752" y="4160519"/>
            <a:ext cx="2377440" cy="457200"/>
          </a:xfrm>
          <a:prstGeom prst="rect">
            <a:avLst/>
          </a:prstGeom>
          <a:noFill/>
        </p:spPr>
        <p:txBody>
          <a:bodyPr wrap="square"/>
          <a:lstStyle/>
          <a:p>
            <a:pPr algn="ctr">
              <a:lnSpc>
                <a:spcPts val="1300"/>
              </a:lnSpc>
              <a:spcBef>
                <a:spcPts val="0"/>
              </a:spcBef>
              <a:spcAft>
                <a:spcPts val="0"/>
              </a:spcAft>
              <a:defRPr sz="1000" b="0" i="0">
                <a:solidFill>
                  <a:srgbClr val="555555"/>
                </a:solidFill>
                <a:latin typeface="Lato"/>
              </a:defRPr>
            </a:pPr>
            <a:r>
              <a:rPr dirty="0"/>
              <a:t>Peta 2D region</a:t>
            </a:r>
            <a:br>
              <a:rPr dirty="0"/>
            </a:br>
            <a:r>
              <a:rPr dirty="0" err="1"/>
              <a:t>Navigasi</a:t>
            </a:r>
            <a:r>
              <a:rPr dirty="0"/>
              <a:t> di </a:t>
            </a:r>
            <a:r>
              <a:rPr dirty="0" err="1"/>
              <a:t>dalam</a:t>
            </a:r>
            <a:r>
              <a:rPr dirty="0"/>
              <a:t> region</a:t>
            </a:r>
          </a:p>
        </p:txBody>
      </p:sp>
      <p:sp>
        <p:nvSpPr>
          <p:cNvPr id="32" name="Rounded Rectangle 31"/>
          <p:cNvSpPr/>
          <p:nvPr/>
        </p:nvSpPr>
        <p:spPr>
          <a:xfrm>
            <a:off x="8257032" y="3749039"/>
            <a:ext cx="2560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348472" y="3840479"/>
            <a:ext cx="2377440" cy="27432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Region C</a:t>
            </a:r>
          </a:p>
        </p:txBody>
      </p:sp>
      <p:sp>
        <p:nvSpPr>
          <p:cNvPr id="34" name="TextBox 33"/>
          <p:cNvSpPr txBox="1"/>
          <p:nvPr/>
        </p:nvSpPr>
        <p:spPr>
          <a:xfrm>
            <a:off x="8348472" y="4160519"/>
            <a:ext cx="2377440" cy="457200"/>
          </a:xfrm>
          <a:prstGeom prst="rect">
            <a:avLst/>
          </a:prstGeom>
          <a:noFill/>
        </p:spPr>
        <p:txBody>
          <a:bodyPr wrap="square"/>
          <a:lstStyle/>
          <a:p>
            <a:pPr algn="ctr">
              <a:lnSpc>
                <a:spcPts val="1300"/>
              </a:lnSpc>
              <a:spcBef>
                <a:spcPts val="0"/>
              </a:spcBef>
              <a:spcAft>
                <a:spcPts val="0"/>
              </a:spcAft>
              <a:defRPr sz="1000" b="0" i="0">
                <a:solidFill>
                  <a:srgbClr val="555555"/>
                </a:solidFill>
                <a:latin typeface="Lato"/>
              </a:defRPr>
            </a:pPr>
            <a:r>
              <a:t>Peta 2D region</a:t>
            </a:r>
            <a:br/>
            <a:r>
              <a:t>Navigasi di dalam region</a:t>
            </a:r>
          </a:p>
        </p:txBody>
      </p:sp>
      <p:sp>
        <p:nvSpPr>
          <p:cNvPr id="35" name="Right Arrow 34"/>
          <p:cNvSpPr/>
          <p:nvPr/>
        </p:nvSpPr>
        <p:spPr>
          <a:xfrm>
            <a:off x="4050792" y="4114799"/>
            <a:ext cx="502920" cy="22860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959352" y="4389119"/>
            <a:ext cx="685800" cy="228600"/>
          </a:xfrm>
          <a:prstGeom prst="rect">
            <a:avLst/>
          </a:prstGeom>
          <a:noFill/>
        </p:spPr>
        <p:txBody>
          <a:bodyPr wrap="square"/>
          <a:lstStyle/>
          <a:p>
            <a:pPr algn="ctr">
              <a:lnSpc>
                <a:spcPts val="960"/>
              </a:lnSpc>
              <a:spcBef>
                <a:spcPts val="0"/>
              </a:spcBef>
              <a:spcAft>
                <a:spcPts val="0"/>
              </a:spcAft>
              <a:defRPr sz="800" b="1" i="0">
                <a:solidFill>
                  <a:srgbClr val="F08C2E"/>
                </a:solidFill>
                <a:latin typeface="Lato"/>
              </a:defRPr>
            </a:pPr>
            <a:r>
              <a:t>Transisi</a:t>
            </a:r>
          </a:p>
        </p:txBody>
      </p:sp>
      <p:sp>
        <p:nvSpPr>
          <p:cNvPr id="37" name="Right Arrow 36"/>
          <p:cNvSpPr/>
          <p:nvPr/>
        </p:nvSpPr>
        <p:spPr>
          <a:xfrm>
            <a:off x="7525512" y="4114799"/>
            <a:ext cx="502920" cy="22860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434072" y="4389119"/>
            <a:ext cx="685800" cy="228600"/>
          </a:xfrm>
          <a:prstGeom prst="rect">
            <a:avLst/>
          </a:prstGeom>
          <a:noFill/>
        </p:spPr>
        <p:txBody>
          <a:bodyPr wrap="square"/>
          <a:lstStyle/>
          <a:p>
            <a:pPr algn="ctr">
              <a:lnSpc>
                <a:spcPts val="960"/>
              </a:lnSpc>
              <a:spcBef>
                <a:spcPts val="0"/>
              </a:spcBef>
              <a:spcAft>
                <a:spcPts val="0"/>
              </a:spcAft>
              <a:defRPr sz="800" b="1" i="0">
                <a:solidFill>
                  <a:srgbClr val="F08C2E"/>
                </a:solidFill>
                <a:latin typeface="Lato"/>
              </a:defRPr>
            </a:pPr>
            <a:r>
              <a:t>Transisi</a:t>
            </a:r>
          </a:p>
        </p:txBody>
      </p:sp>
      <p:sp>
        <p:nvSpPr>
          <p:cNvPr id="39" name="Rounded Rectangle 38"/>
          <p:cNvSpPr/>
          <p:nvPr/>
        </p:nvSpPr>
        <p:spPr>
          <a:xfrm>
            <a:off x="850392" y="5029200"/>
            <a:ext cx="10515600" cy="548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850392" y="5029200"/>
            <a:ext cx="50800" cy="5486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87552" y="5047488"/>
            <a:ext cx="10241280" cy="502920"/>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rPr dirty="0"/>
              <a:t>Zona </a:t>
            </a:r>
            <a:r>
              <a:rPr dirty="0" err="1"/>
              <a:t>transisi</a:t>
            </a:r>
            <a:r>
              <a:rPr dirty="0"/>
              <a:t> </a:t>
            </a:r>
            <a:r>
              <a:rPr dirty="0" err="1"/>
              <a:t>memerlukan</a:t>
            </a:r>
            <a:r>
              <a:rPr dirty="0"/>
              <a:t> radius minimal 0.26 m agar robot </a:t>
            </a:r>
            <a:r>
              <a:rPr dirty="0" err="1"/>
              <a:t>dapat</a:t>
            </a:r>
            <a:r>
              <a:rPr dirty="0"/>
              <a:t> </a:t>
            </a:r>
            <a:r>
              <a:rPr dirty="0" err="1"/>
              <a:t>berpindah</a:t>
            </a:r>
            <a:r>
              <a:rPr dirty="0"/>
              <a:t> region </a:t>
            </a:r>
            <a:r>
              <a:rPr dirty="0" err="1"/>
              <a:t>dengan</a:t>
            </a:r>
            <a:r>
              <a:rPr dirty="0"/>
              <a:t> </a:t>
            </a:r>
            <a:r>
              <a:rPr dirty="0" err="1"/>
              <a:t>aman</a:t>
            </a:r>
            <a:r>
              <a:rPr dirty="0"/>
              <a:t> </a:t>
            </a:r>
            <a:r>
              <a:rPr dirty="0" err="1"/>
              <a:t>sebelum</a:t>
            </a:r>
            <a:r>
              <a:rPr dirty="0"/>
              <a:t> </a:t>
            </a:r>
            <a:r>
              <a:rPr dirty="0" err="1"/>
              <a:t>kualitas</a:t>
            </a:r>
            <a:r>
              <a:rPr dirty="0"/>
              <a:t> </a:t>
            </a:r>
            <a:r>
              <a:rPr dirty="0" err="1"/>
              <a:t>lokalisasi</a:t>
            </a:r>
            <a:r>
              <a:rPr dirty="0"/>
              <a:t> ICP </a:t>
            </a:r>
            <a:r>
              <a:rPr dirty="0" err="1"/>
              <a:t>menurun</a:t>
            </a:r>
            <a:r>
              <a:rPr dirty="0"/>
              <a:t> </a:t>
            </a:r>
            <a:r>
              <a:rPr dirty="0" err="1"/>
              <a:t>signifikan</a:t>
            </a:r>
            <a:r>
              <a:rPr dirty="0"/>
              <a:t>.</a:t>
            </a:r>
          </a:p>
        </p:txBody>
      </p:sp>
      <p:sp>
        <p:nvSpPr>
          <p:cNvPr id="42" name="TextBox 4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7836408"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rPr dirty="0"/>
              <a:t> GLOBAL PLANNER</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0392" y="1005840"/>
            <a:ext cx="2743200" cy="274320"/>
          </a:xfrm>
          <a:prstGeom prst="rect">
            <a:avLst/>
          </a:prstGeom>
          <a:noFill/>
        </p:spPr>
        <p:txBody>
          <a:bodyPr wrap="square"/>
          <a:lstStyle/>
          <a:p>
            <a:pPr algn="l">
              <a:lnSpc>
                <a:spcPts val="2160"/>
              </a:lnSpc>
              <a:spcBef>
                <a:spcPts val="0"/>
              </a:spcBef>
              <a:spcAft>
                <a:spcPts val="0"/>
              </a:spcAft>
              <a:defRPr sz="1800" b="1" i="0">
                <a:solidFill>
                  <a:srgbClr val="003A70"/>
                </a:solidFill>
                <a:latin typeface="Montserrat"/>
              </a:defRPr>
            </a:pPr>
            <a:r>
              <a:t>Algoritma A*</a:t>
            </a:r>
          </a:p>
        </p:txBody>
      </p:sp>
      <p:sp>
        <p:nvSpPr>
          <p:cNvPr id="5" name="Rounded Rectangle 4"/>
          <p:cNvSpPr/>
          <p:nvPr/>
        </p:nvSpPr>
        <p:spPr>
          <a:xfrm>
            <a:off x="758952" y="1325880"/>
            <a:ext cx="502920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371600"/>
            <a:ext cx="4685884" cy="1828800"/>
          </a:xfrm>
          <a:prstGeom prst="rect">
            <a:avLst/>
          </a:prstGeom>
          <a:noFill/>
        </p:spPr>
        <p:txBody>
          <a:bodyPr wrap="square"/>
          <a:lstStyle/>
          <a:p>
            <a:pPr algn="l">
              <a:lnSpc>
                <a:spcPts val="1679"/>
              </a:lnSpc>
              <a:spcBef>
                <a:spcPts val="0"/>
              </a:spcBef>
              <a:spcAft>
                <a:spcPts val="0"/>
              </a:spcAft>
              <a:defRPr sz="1200" b="0" i="0">
                <a:solidFill>
                  <a:srgbClr val="333333"/>
                </a:solidFill>
                <a:latin typeface="Lato"/>
              </a:defRPr>
            </a:pPr>
            <a:r>
              <a:rPr dirty="0"/>
              <a:t>• f(n) = g(n) + h(n)</a:t>
            </a:r>
            <a:br>
              <a:rPr dirty="0"/>
            </a:br>
            <a:r>
              <a:rPr dirty="0"/>
              <a:t>    g(n) = </a:t>
            </a:r>
            <a:r>
              <a:rPr dirty="0" err="1"/>
              <a:t>biaya</a:t>
            </a:r>
            <a:r>
              <a:rPr dirty="0"/>
              <a:t> </a:t>
            </a:r>
            <a:r>
              <a:rPr dirty="0" err="1"/>
              <a:t>dari</a:t>
            </a:r>
            <a:r>
              <a:rPr dirty="0"/>
              <a:t> start </a:t>
            </a:r>
            <a:r>
              <a:rPr dirty="0" err="1"/>
              <a:t>ke</a:t>
            </a:r>
            <a:r>
              <a:rPr dirty="0"/>
              <a:t> node n</a:t>
            </a:r>
            <a:br>
              <a:rPr dirty="0"/>
            </a:br>
            <a:r>
              <a:rPr dirty="0"/>
              <a:t>    h(n) = </a:t>
            </a:r>
            <a:r>
              <a:rPr dirty="0" err="1"/>
              <a:t>estimasi</a:t>
            </a:r>
            <a:r>
              <a:rPr dirty="0"/>
              <a:t> </a:t>
            </a:r>
            <a:r>
              <a:rPr dirty="0" err="1"/>
              <a:t>heuristik</a:t>
            </a:r>
            <a:r>
              <a:rPr dirty="0"/>
              <a:t> </a:t>
            </a:r>
            <a:r>
              <a:rPr dirty="0" err="1"/>
              <a:t>dari</a:t>
            </a:r>
            <a:r>
              <a:rPr dirty="0"/>
              <a:t> n </a:t>
            </a:r>
            <a:r>
              <a:rPr dirty="0" err="1"/>
              <a:t>ke</a:t>
            </a:r>
            <a:r>
              <a:rPr dirty="0"/>
              <a:t> goal</a:t>
            </a:r>
            <a:br>
              <a:rPr dirty="0"/>
            </a:br>
            <a:br>
              <a:rPr dirty="0"/>
            </a:br>
            <a:r>
              <a:rPr dirty="0"/>
              <a:t>• Quadratic potential calculation </a:t>
            </a:r>
            <a:r>
              <a:rPr dirty="0" err="1"/>
              <a:t>untuk</a:t>
            </a:r>
            <a:br>
              <a:rPr dirty="0"/>
            </a:br>
            <a:r>
              <a:rPr dirty="0"/>
              <a:t>  </a:t>
            </a:r>
            <a:r>
              <a:rPr dirty="0" err="1"/>
              <a:t>menghitung</a:t>
            </a:r>
            <a:r>
              <a:rPr dirty="0"/>
              <a:t> cost gradient pada grid</a:t>
            </a:r>
            <a:br>
              <a:rPr dirty="0"/>
            </a:br>
            <a:br>
              <a:rPr dirty="0"/>
            </a:br>
            <a:r>
              <a:rPr dirty="0"/>
              <a:t>• Open list / Closed list </a:t>
            </a:r>
            <a:r>
              <a:rPr dirty="0" err="1"/>
              <a:t>untuk</a:t>
            </a:r>
            <a:r>
              <a:rPr dirty="0"/>
              <a:t> </a:t>
            </a:r>
            <a:r>
              <a:rPr dirty="0" err="1"/>
              <a:t>eksplorasi</a:t>
            </a:r>
            <a:br>
              <a:rPr dirty="0"/>
            </a:br>
            <a:r>
              <a:rPr dirty="0"/>
              <a:t>  node </a:t>
            </a:r>
            <a:r>
              <a:rPr dirty="0" err="1"/>
              <a:t>secara</a:t>
            </a:r>
            <a:r>
              <a:rPr dirty="0"/>
              <a:t> optimal</a:t>
            </a:r>
          </a:p>
        </p:txBody>
      </p:sp>
      <p:sp>
        <p:nvSpPr>
          <p:cNvPr id="7" name="TextBox 6"/>
          <p:cNvSpPr txBox="1"/>
          <p:nvPr/>
        </p:nvSpPr>
        <p:spPr>
          <a:xfrm>
            <a:off x="850392" y="3337560"/>
            <a:ext cx="4572000" cy="274320"/>
          </a:xfrm>
          <a:prstGeom prst="rect">
            <a:avLst/>
          </a:prstGeom>
          <a:noFill/>
        </p:spPr>
        <p:txBody>
          <a:bodyPr wrap="square"/>
          <a:lstStyle/>
          <a:p>
            <a:pPr algn="l">
              <a:lnSpc>
                <a:spcPts val="1680"/>
              </a:lnSpc>
              <a:spcBef>
                <a:spcPts val="0"/>
              </a:spcBef>
              <a:spcAft>
                <a:spcPts val="0"/>
              </a:spcAft>
              <a:defRPr sz="1400" b="1" i="0">
                <a:solidFill>
                  <a:srgbClr val="003A70"/>
                </a:solidFill>
                <a:latin typeface="Montserrat"/>
              </a:defRPr>
            </a:pPr>
            <a:r>
              <a:t>Integrasi dengan Global Costmap</a:t>
            </a:r>
          </a:p>
        </p:txBody>
      </p:sp>
      <p:sp>
        <p:nvSpPr>
          <p:cNvPr id="8" name="Rounded Rectangle 7"/>
          <p:cNvSpPr/>
          <p:nvPr/>
        </p:nvSpPr>
        <p:spPr>
          <a:xfrm>
            <a:off x="758952" y="3611880"/>
            <a:ext cx="5029200" cy="2468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50392" y="3703320"/>
            <a:ext cx="4846320" cy="228600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rPr dirty="0"/>
              <a:t>Global planner </a:t>
            </a:r>
            <a:r>
              <a:rPr dirty="0" err="1"/>
              <a:t>menggunakan</a:t>
            </a:r>
            <a:r>
              <a:rPr dirty="0"/>
              <a:t> static layer </a:t>
            </a:r>
            <a:r>
              <a:rPr dirty="0" err="1"/>
              <a:t>dari</a:t>
            </a:r>
            <a:r>
              <a:rPr dirty="0"/>
              <a:t> global</a:t>
            </a:r>
            <a:br>
              <a:rPr dirty="0"/>
            </a:br>
            <a:r>
              <a:rPr dirty="0" err="1"/>
              <a:t>costmap</a:t>
            </a:r>
            <a:r>
              <a:rPr dirty="0"/>
              <a:t> </a:t>
            </a:r>
            <a:r>
              <a:rPr dirty="0" err="1"/>
              <a:t>untuk</a:t>
            </a:r>
            <a:r>
              <a:rPr dirty="0"/>
              <a:t> </a:t>
            </a:r>
            <a:r>
              <a:rPr dirty="0" err="1"/>
              <a:t>membangun</a:t>
            </a:r>
            <a:r>
              <a:rPr dirty="0"/>
              <a:t> cost gradient pada occupancy</a:t>
            </a:r>
            <a:br>
              <a:rPr dirty="0"/>
            </a:br>
            <a:r>
              <a:rPr dirty="0"/>
              <a:t>grid. </a:t>
            </a:r>
            <a:r>
              <a:rPr dirty="0" err="1"/>
              <a:t>Setiap</a:t>
            </a:r>
            <a:r>
              <a:rPr dirty="0"/>
              <a:t> </a:t>
            </a:r>
            <a:r>
              <a:rPr dirty="0" err="1"/>
              <a:t>sel</a:t>
            </a:r>
            <a:r>
              <a:rPr dirty="0"/>
              <a:t> </a:t>
            </a:r>
            <a:r>
              <a:rPr dirty="0" err="1"/>
              <a:t>memiliki</a:t>
            </a:r>
            <a:r>
              <a:rPr dirty="0"/>
              <a:t> </a:t>
            </a:r>
            <a:r>
              <a:rPr dirty="0" err="1"/>
              <a:t>biaya</a:t>
            </a:r>
            <a:r>
              <a:rPr dirty="0"/>
              <a:t> </a:t>
            </a:r>
            <a:r>
              <a:rPr dirty="0" err="1"/>
              <a:t>navigasi</a:t>
            </a:r>
            <a:r>
              <a:rPr dirty="0"/>
              <a:t> </a:t>
            </a:r>
            <a:r>
              <a:rPr dirty="0" err="1"/>
              <a:t>berdasarkan</a:t>
            </a:r>
            <a:br>
              <a:rPr dirty="0"/>
            </a:br>
            <a:r>
              <a:rPr dirty="0" err="1"/>
              <a:t>jarak</a:t>
            </a:r>
            <a:r>
              <a:rPr dirty="0"/>
              <a:t> </a:t>
            </a:r>
            <a:r>
              <a:rPr dirty="0" err="1"/>
              <a:t>ke</a:t>
            </a:r>
            <a:r>
              <a:rPr dirty="0"/>
              <a:t> obstacle </a:t>
            </a:r>
            <a:r>
              <a:rPr dirty="0" err="1"/>
              <a:t>terdekat</a:t>
            </a:r>
            <a:r>
              <a:rPr dirty="0"/>
              <a:t> dan Cost Scaling Factor.</a:t>
            </a:r>
            <a:br>
              <a:rPr dirty="0"/>
            </a:br>
            <a:br>
              <a:rPr dirty="0"/>
            </a:br>
            <a:r>
              <a:rPr dirty="0" err="1"/>
              <a:t>Inflasi</a:t>
            </a:r>
            <a:r>
              <a:rPr dirty="0"/>
              <a:t> obstacle </a:t>
            </a:r>
            <a:r>
              <a:rPr dirty="0" err="1"/>
              <a:t>menghasilkan</a:t>
            </a:r>
            <a:r>
              <a:rPr dirty="0"/>
              <a:t> </a:t>
            </a:r>
            <a:r>
              <a:rPr dirty="0" err="1"/>
              <a:t>gradien</a:t>
            </a:r>
            <a:r>
              <a:rPr dirty="0"/>
              <a:t> </a:t>
            </a:r>
            <a:r>
              <a:rPr dirty="0" err="1"/>
              <a:t>biaya</a:t>
            </a:r>
            <a:r>
              <a:rPr dirty="0"/>
              <a:t> </a:t>
            </a:r>
            <a:r>
              <a:rPr dirty="0" err="1"/>
              <a:t>halus</a:t>
            </a:r>
            <a:r>
              <a:rPr dirty="0"/>
              <a:t> yang</a:t>
            </a:r>
            <a:br>
              <a:rPr dirty="0"/>
            </a:br>
            <a:r>
              <a:rPr dirty="0" err="1"/>
              <a:t>mendorong</a:t>
            </a:r>
            <a:r>
              <a:rPr dirty="0"/>
              <a:t> path </a:t>
            </a:r>
            <a:r>
              <a:rPr dirty="0" err="1"/>
              <a:t>menjauhi</a:t>
            </a:r>
            <a:r>
              <a:rPr dirty="0"/>
              <a:t> </a:t>
            </a:r>
            <a:r>
              <a:rPr dirty="0" err="1"/>
              <a:t>rintangan</a:t>
            </a:r>
            <a:r>
              <a:rPr dirty="0"/>
              <a:t>. </a:t>
            </a:r>
            <a:r>
              <a:rPr dirty="0" err="1"/>
              <a:t>Fungsi</a:t>
            </a:r>
            <a:r>
              <a:rPr dirty="0"/>
              <a:t> </a:t>
            </a:r>
            <a:r>
              <a:rPr dirty="0" err="1"/>
              <a:t>biaya</a:t>
            </a:r>
            <a:r>
              <a:rPr dirty="0"/>
              <a:t>:</a:t>
            </a:r>
            <a:br>
              <a:rPr dirty="0"/>
            </a:br>
            <a:r>
              <a:rPr dirty="0"/>
              <a:t>  C(d) = 253 · e^(−α · (d − r))  </a:t>
            </a:r>
            <a:r>
              <a:rPr dirty="0" err="1"/>
              <a:t>untuk</a:t>
            </a:r>
            <a:r>
              <a:rPr dirty="0"/>
              <a:t> d ≤ R</a:t>
            </a:r>
          </a:p>
        </p:txBody>
      </p:sp>
      <p:sp>
        <p:nvSpPr>
          <p:cNvPr id="10" name="TextBox 9"/>
          <p:cNvSpPr txBox="1"/>
          <p:nvPr/>
        </p:nvSpPr>
        <p:spPr>
          <a:xfrm>
            <a:off x="6400800" y="1005840"/>
            <a:ext cx="5029200" cy="274320"/>
          </a:xfrm>
          <a:prstGeom prst="rect">
            <a:avLst/>
          </a:prstGeom>
          <a:noFill/>
        </p:spPr>
        <p:txBody>
          <a:bodyPr wrap="square"/>
          <a:lstStyle/>
          <a:p>
            <a:pPr algn="l">
              <a:lnSpc>
                <a:spcPts val="2160"/>
              </a:lnSpc>
              <a:spcBef>
                <a:spcPts val="0"/>
              </a:spcBef>
              <a:spcAft>
                <a:spcPts val="0"/>
              </a:spcAft>
              <a:defRPr sz="1800" b="1" i="0">
                <a:solidFill>
                  <a:srgbClr val="F08C2E"/>
                </a:solidFill>
                <a:latin typeface="Montserrat"/>
              </a:defRPr>
            </a:pPr>
            <a:r>
              <a:t>Path Interceptor (Multi-Region)</a:t>
            </a:r>
          </a:p>
        </p:txBody>
      </p:sp>
      <p:sp>
        <p:nvSpPr>
          <p:cNvPr id="11" name="Rounded Rectangle 10"/>
          <p:cNvSpPr/>
          <p:nvPr/>
        </p:nvSpPr>
        <p:spPr>
          <a:xfrm>
            <a:off x="6675120" y="1417320"/>
            <a:ext cx="18288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675120" y="1417320"/>
            <a:ext cx="1828800" cy="381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20840" y="1444752"/>
            <a:ext cx="1737360" cy="274320"/>
          </a:xfrm>
          <a:prstGeom prst="rect">
            <a:avLst/>
          </a:prstGeom>
          <a:noFill/>
        </p:spPr>
        <p:txBody>
          <a:bodyPr wrap="square"/>
          <a:lstStyle/>
          <a:p>
            <a:pPr algn="ctr">
              <a:lnSpc>
                <a:spcPts val="1560"/>
              </a:lnSpc>
              <a:spcBef>
                <a:spcPts val="0"/>
              </a:spcBef>
              <a:spcAft>
                <a:spcPts val="0"/>
              </a:spcAft>
              <a:defRPr sz="1300" b="1" i="0">
                <a:solidFill>
                  <a:srgbClr val="003A70"/>
                </a:solidFill>
                <a:latin typeface="Montserrat"/>
              </a:defRPr>
            </a:pPr>
            <a:r>
              <a:t>Region A</a:t>
            </a:r>
          </a:p>
        </p:txBody>
      </p:sp>
      <p:sp>
        <p:nvSpPr>
          <p:cNvPr id="14" name="TextBox 13"/>
          <p:cNvSpPr txBox="1"/>
          <p:nvPr/>
        </p:nvSpPr>
        <p:spPr>
          <a:xfrm>
            <a:off x="6720840" y="1737360"/>
            <a:ext cx="1737360" cy="320040"/>
          </a:xfrm>
          <a:prstGeom prst="rect">
            <a:avLst/>
          </a:prstGeom>
          <a:noFill/>
        </p:spPr>
        <p:txBody>
          <a:bodyPr wrap="square"/>
          <a:lstStyle/>
          <a:p>
            <a:pPr algn="ctr">
              <a:lnSpc>
                <a:spcPts val="1125"/>
              </a:lnSpc>
              <a:spcBef>
                <a:spcPts val="0"/>
              </a:spcBef>
              <a:spcAft>
                <a:spcPts val="0"/>
              </a:spcAft>
              <a:defRPr sz="900" b="0" i="0">
                <a:solidFill>
                  <a:srgbClr val="555555"/>
                </a:solidFill>
                <a:latin typeface="Lato"/>
              </a:defRPr>
            </a:pPr>
            <a:r>
              <a:t>A* planning pada</a:t>
            </a:r>
            <a:br/>
            <a:r>
              <a:t>costmap region</a:t>
            </a:r>
          </a:p>
        </p:txBody>
      </p:sp>
      <p:sp>
        <p:nvSpPr>
          <p:cNvPr id="15" name="Down Arrow 14"/>
          <p:cNvSpPr/>
          <p:nvPr/>
        </p:nvSpPr>
        <p:spPr>
          <a:xfrm>
            <a:off x="7452360" y="1851660"/>
            <a:ext cx="274320" cy="320040"/>
          </a:xfrm>
          <a:prstGeom prst="down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675120" y="2377440"/>
            <a:ext cx="18288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675120" y="2377440"/>
            <a:ext cx="1828800" cy="381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20840" y="2404872"/>
            <a:ext cx="1737360" cy="274320"/>
          </a:xfrm>
          <a:prstGeom prst="rect">
            <a:avLst/>
          </a:prstGeom>
          <a:noFill/>
        </p:spPr>
        <p:txBody>
          <a:bodyPr wrap="square"/>
          <a:lstStyle/>
          <a:p>
            <a:pPr algn="ctr">
              <a:lnSpc>
                <a:spcPts val="1560"/>
              </a:lnSpc>
              <a:spcBef>
                <a:spcPts val="0"/>
              </a:spcBef>
              <a:spcAft>
                <a:spcPts val="0"/>
              </a:spcAft>
              <a:defRPr sz="1300" b="1" i="0">
                <a:solidFill>
                  <a:srgbClr val="003A70"/>
                </a:solidFill>
                <a:latin typeface="Montserrat"/>
              </a:defRPr>
            </a:pPr>
            <a:r>
              <a:t>Region B</a:t>
            </a:r>
          </a:p>
        </p:txBody>
      </p:sp>
      <p:sp>
        <p:nvSpPr>
          <p:cNvPr id="19" name="TextBox 18"/>
          <p:cNvSpPr txBox="1"/>
          <p:nvPr/>
        </p:nvSpPr>
        <p:spPr>
          <a:xfrm>
            <a:off x="6720840" y="2697480"/>
            <a:ext cx="1737360" cy="320040"/>
          </a:xfrm>
          <a:prstGeom prst="rect">
            <a:avLst/>
          </a:prstGeom>
          <a:noFill/>
        </p:spPr>
        <p:txBody>
          <a:bodyPr wrap="square"/>
          <a:lstStyle/>
          <a:p>
            <a:pPr algn="ctr">
              <a:lnSpc>
                <a:spcPts val="1125"/>
              </a:lnSpc>
              <a:spcBef>
                <a:spcPts val="0"/>
              </a:spcBef>
              <a:spcAft>
                <a:spcPts val="0"/>
              </a:spcAft>
              <a:defRPr sz="900" b="0" i="0">
                <a:solidFill>
                  <a:srgbClr val="555555"/>
                </a:solidFill>
                <a:latin typeface="Lato"/>
              </a:defRPr>
            </a:pPr>
            <a:r>
              <a:t>A* planning pada</a:t>
            </a:r>
            <a:br/>
            <a:r>
              <a:t>costmap region</a:t>
            </a:r>
          </a:p>
        </p:txBody>
      </p:sp>
      <p:sp>
        <p:nvSpPr>
          <p:cNvPr id="20" name="Down Arrow 19"/>
          <p:cNvSpPr/>
          <p:nvPr/>
        </p:nvSpPr>
        <p:spPr>
          <a:xfrm>
            <a:off x="7452360" y="2811780"/>
            <a:ext cx="274320" cy="320040"/>
          </a:xfrm>
          <a:prstGeom prst="down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675120" y="3337560"/>
            <a:ext cx="18288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675120" y="3337560"/>
            <a:ext cx="1828800" cy="381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20840" y="3364992"/>
            <a:ext cx="1737360" cy="274320"/>
          </a:xfrm>
          <a:prstGeom prst="rect">
            <a:avLst/>
          </a:prstGeom>
          <a:noFill/>
        </p:spPr>
        <p:txBody>
          <a:bodyPr wrap="square"/>
          <a:lstStyle/>
          <a:p>
            <a:pPr algn="ctr">
              <a:lnSpc>
                <a:spcPts val="1560"/>
              </a:lnSpc>
              <a:spcBef>
                <a:spcPts val="0"/>
              </a:spcBef>
              <a:spcAft>
                <a:spcPts val="0"/>
              </a:spcAft>
              <a:defRPr sz="1300" b="1" i="0">
                <a:solidFill>
                  <a:srgbClr val="003A70"/>
                </a:solidFill>
                <a:latin typeface="Montserrat"/>
              </a:defRPr>
            </a:pPr>
            <a:r>
              <a:t>Region C</a:t>
            </a:r>
          </a:p>
        </p:txBody>
      </p:sp>
      <p:sp>
        <p:nvSpPr>
          <p:cNvPr id="24" name="TextBox 23"/>
          <p:cNvSpPr txBox="1"/>
          <p:nvPr/>
        </p:nvSpPr>
        <p:spPr>
          <a:xfrm>
            <a:off x="6720840" y="3657600"/>
            <a:ext cx="1737360" cy="320040"/>
          </a:xfrm>
          <a:prstGeom prst="rect">
            <a:avLst/>
          </a:prstGeom>
          <a:noFill/>
        </p:spPr>
        <p:txBody>
          <a:bodyPr wrap="square"/>
          <a:lstStyle/>
          <a:p>
            <a:pPr algn="ctr">
              <a:lnSpc>
                <a:spcPts val="1125"/>
              </a:lnSpc>
              <a:spcBef>
                <a:spcPts val="0"/>
              </a:spcBef>
              <a:spcAft>
                <a:spcPts val="0"/>
              </a:spcAft>
              <a:defRPr sz="900" b="0" i="0">
                <a:solidFill>
                  <a:srgbClr val="555555"/>
                </a:solidFill>
                <a:latin typeface="Lato"/>
              </a:defRPr>
            </a:pPr>
            <a:r>
              <a:t>A* planning pada</a:t>
            </a:r>
            <a:br/>
            <a:r>
              <a:t>costmap region</a:t>
            </a:r>
          </a:p>
        </p:txBody>
      </p:sp>
      <p:sp>
        <p:nvSpPr>
          <p:cNvPr id="25" name="Rounded Rectangle 24"/>
          <p:cNvSpPr/>
          <p:nvPr/>
        </p:nvSpPr>
        <p:spPr>
          <a:xfrm>
            <a:off x="6400800" y="4160520"/>
            <a:ext cx="502920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00800" y="4160520"/>
            <a:ext cx="50800" cy="19202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37960" y="4251960"/>
            <a:ext cx="4754880" cy="173736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Path interceptor memecah rute global multi-region</a:t>
            </a:r>
            <a:br/>
            <a:r>
              <a:t>menjadi segmen per region yang di-plan secara</a:t>
            </a:r>
            <a:br/>
            <a:r>
              <a:t>independen oleh A*:</a:t>
            </a:r>
            <a:br/>
            <a:br/>
            <a:r>
              <a:t>  Region A  →  Titik Transisi A-B  →</a:t>
            </a:r>
            <a:br/>
            <a:r>
              <a:t>  Region B  →  Titik Transisi B-C  →</a:t>
            </a:r>
            <a:br/>
            <a:r>
              <a:t>  Region C  →  Goal</a:t>
            </a:r>
            <a:br/>
            <a:br/>
            <a:r>
              <a:t>Setiap segmen menggunakan costmap region masing-</a:t>
            </a:r>
            <a:br/>
            <a:r>
              <a:t>masing. Transition costmap menyediakan informasi</a:t>
            </a:r>
            <a:br/>
            <a:r>
              <a:t>konektor untuk perpindahan mulus antar region.</a:t>
            </a:r>
          </a:p>
        </p:txBody>
      </p:sp>
      <p:sp>
        <p:nvSpPr>
          <p:cNvPr id="28" name="TextBox 27"/>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14</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EDF4FC"/>
            </a:gs>
            <a:gs pos="100000">
              <a:srgbClr val="D2E3F3"/>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PATH TRACKING — DWA LOCAL PLANNER</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50392"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50392"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41832"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1. Velocity</a:t>
            </a:r>
            <a:br/>
            <a:r>
              <a:t>Sampling</a:t>
            </a:r>
          </a:p>
        </p:txBody>
      </p:sp>
      <p:sp>
        <p:nvSpPr>
          <p:cNvPr id="7" name="TextBox 6"/>
          <p:cNvSpPr txBox="1"/>
          <p:nvPr/>
        </p:nvSpPr>
        <p:spPr>
          <a:xfrm>
            <a:off x="941832"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6 vx × 6 vy × 30 ω</a:t>
            </a:r>
            <a:br/>
            <a:r>
              <a:t>= 1080 trajectory</a:t>
            </a:r>
          </a:p>
        </p:txBody>
      </p:sp>
      <p:sp>
        <p:nvSpPr>
          <p:cNvPr id="8" name="Right Arrow 7"/>
          <p:cNvSpPr/>
          <p:nvPr/>
        </p:nvSpPr>
        <p:spPr>
          <a:xfrm>
            <a:off x="2788920"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008376"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008376"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99816"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2. Kinematic</a:t>
            </a:r>
            <a:br/>
            <a:r>
              <a:t>Simulation</a:t>
            </a:r>
          </a:p>
        </p:txBody>
      </p:sp>
      <p:sp>
        <p:nvSpPr>
          <p:cNvPr id="12" name="TextBox 11"/>
          <p:cNvSpPr txBox="1"/>
          <p:nvPr/>
        </p:nvSpPr>
        <p:spPr>
          <a:xfrm>
            <a:off x="3099816"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Simulasi robot</a:t>
            </a:r>
            <a:br/>
            <a:r>
              <a:t>selama Δt</a:t>
            </a:r>
          </a:p>
        </p:txBody>
      </p:sp>
      <p:sp>
        <p:nvSpPr>
          <p:cNvPr id="13" name="Right Arrow 12"/>
          <p:cNvSpPr/>
          <p:nvPr/>
        </p:nvSpPr>
        <p:spPr>
          <a:xfrm>
            <a:off x="4946904"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166360"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166360"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57800"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3. Trajectory</a:t>
            </a:r>
            <a:br/>
            <a:r>
              <a:t>Scoring</a:t>
            </a:r>
          </a:p>
        </p:txBody>
      </p:sp>
      <p:sp>
        <p:nvSpPr>
          <p:cNvPr id="17" name="TextBox 16"/>
          <p:cNvSpPr txBox="1"/>
          <p:nvPr/>
        </p:nvSpPr>
        <p:spPr>
          <a:xfrm>
            <a:off x="5257800"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7 kriteria</a:t>
            </a:r>
            <a:br/>
            <a:r>
              <a:t>penilaian</a:t>
            </a:r>
          </a:p>
        </p:txBody>
      </p:sp>
      <p:sp>
        <p:nvSpPr>
          <p:cNvPr id="18" name="Right Arrow 17"/>
          <p:cNvSpPr/>
          <p:nvPr/>
        </p:nvSpPr>
        <p:spPr>
          <a:xfrm>
            <a:off x="7104888"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24344"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324344"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15784"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4. Best</a:t>
            </a:r>
            <a:br/>
            <a:r>
              <a:t>Selection</a:t>
            </a:r>
          </a:p>
        </p:txBody>
      </p:sp>
      <p:sp>
        <p:nvSpPr>
          <p:cNvPr id="22" name="TextBox 21"/>
          <p:cNvSpPr txBox="1"/>
          <p:nvPr/>
        </p:nvSpPr>
        <p:spPr>
          <a:xfrm>
            <a:off x="7415784"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Pilih trajectory</a:t>
            </a:r>
            <a:br/>
            <a:r>
              <a:t>dengan biaya terendah</a:t>
            </a:r>
          </a:p>
        </p:txBody>
      </p:sp>
      <p:sp>
        <p:nvSpPr>
          <p:cNvPr id="23" name="Right Arrow 22"/>
          <p:cNvSpPr/>
          <p:nvPr/>
        </p:nvSpPr>
        <p:spPr>
          <a:xfrm>
            <a:off x="9262872"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482328"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482328"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573768"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5. Send to</a:t>
            </a:r>
            <a:br/>
            <a:r>
              <a:t>Robot</a:t>
            </a:r>
          </a:p>
        </p:txBody>
      </p:sp>
      <p:sp>
        <p:nvSpPr>
          <p:cNvPr id="27" name="TextBox 26"/>
          <p:cNvSpPr txBox="1"/>
          <p:nvPr/>
        </p:nvSpPr>
        <p:spPr>
          <a:xfrm>
            <a:off x="9573768"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Eksekusi gerakan</a:t>
            </a:r>
            <a:br/>
            <a:r>
              <a:t>pada hexapod</a:t>
            </a:r>
          </a:p>
        </p:txBody>
      </p:sp>
      <p:sp>
        <p:nvSpPr>
          <p:cNvPr id="28" name="TextBox 27"/>
          <p:cNvSpPr txBox="1"/>
          <p:nvPr/>
        </p:nvSpPr>
        <p:spPr>
          <a:xfrm>
            <a:off x="850392" y="2560320"/>
            <a:ext cx="10515600" cy="274320"/>
          </a:xfrm>
          <a:prstGeom prst="rect">
            <a:avLst/>
          </a:prstGeom>
          <a:noFill/>
        </p:spPr>
        <p:txBody>
          <a:bodyPr wrap="square"/>
          <a:lstStyle/>
          <a:p>
            <a:pPr algn="l">
              <a:lnSpc>
                <a:spcPts val="1920"/>
              </a:lnSpc>
              <a:spcBef>
                <a:spcPts val="0"/>
              </a:spcBef>
              <a:spcAft>
                <a:spcPts val="0"/>
              </a:spcAft>
              <a:defRPr sz="1600" b="1" i="0">
                <a:solidFill>
                  <a:srgbClr val="1A2B4C"/>
                </a:solidFill>
                <a:latin typeface="Montserrat"/>
              </a:defRPr>
            </a:pPr>
            <a:r>
              <a:t>7 Kriteria Scoring DWA</a:t>
            </a:r>
          </a:p>
        </p:txBody>
      </p:sp>
      <p:sp>
        <p:nvSpPr>
          <p:cNvPr id="29" name="Rounded Rectangle 28"/>
          <p:cNvSpPr/>
          <p:nvPr/>
        </p:nvSpPr>
        <p:spPr>
          <a:xfrm>
            <a:off x="85039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96112" y="3017520"/>
            <a:ext cx="1005840" cy="182880"/>
          </a:xfrm>
          <a:prstGeom prst="rect">
            <a:avLst/>
          </a:prstGeom>
          <a:noFill/>
        </p:spPr>
        <p:txBody>
          <a:bodyPr wrap="square"/>
          <a:lstStyle/>
          <a:p>
            <a:pPr algn="l">
              <a:lnSpc>
                <a:spcPts val="1200"/>
              </a:lnSpc>
              <a:spcBef>
                <a:spcPts val="0"/>
              </a:spcBef>
              <a:spcAft>
                <a:spcPts val="0"/>
              </a:spcAft>
              <a:defRPr sz="1000" b="1" i="0">
                <a:solidFill>
                  <a:srgbClr val="003A70"/>
                </a:solidFill>
                <a:latin typeface="Lato"/>
              </a:defRPr>
            </a:pPr>
            <a:r>
              <a:t>C_osc</a:t>
            </a:r>
          </a:p>
        </p:txBody>
      </p:sp>
      <p:sp>
        <p:nvSpPr>
          <p:cNvPr id="31" name="TextBox 30"/>
          <p:cNvSpPr txBox="1"/>
          <p:nvPr/>
        </p:nvSpPr>
        <p:spPr>
          <a:xfrm>
            <a:off x="89611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Oscillation</a:t>
            </a:r>
            <a:br/>
            <a:r>
              <a:t>penalty</a:t>
            </a:r>
          </a:p>
        </p:txBody>
      </p:sp>
      <p:sp>
        <p:nvSpPr>
          <p:cNvPr id="32" name="TextBox 31"/>
          <p:cNvSpPr txBox="1"/>
          <p:nvPr/>
        </p:nvSpPr>
        <p:spPr>
          <a:xfrm>
            <a:off x="89611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w_osc</a:t>
            </a:r>
          </a:p>
        </p:txBody>
      </p:sp>
      <p:sp>
        <p:nvSpPr>
          <p:cNvPr id="33" name="Rounded Rectangle 32"/>
          <p:cNvSpPr/>
          <p:nvPr/>
        </p:nvSpPr>
        <p:spPr>
          <a:xfrm>
            <a:off x="235915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40487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C_obs</a:t>
            </a:r>
          </a:p>
        </p:txBody>
      </p:sp>
      <p:sp>
        <p:nvSpPr>
          <p:cNvPr id="35" name="TextBox 34"/>
          <p:cNvSpPr txBox="1"/>
          <p:nvPr/>
        </p:nvSpPr>
        <p:spPr>
          <a:xfrm>
            <a:off x="240487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Obstacle</a:t>
            </a:r>
            <a:br/>
            <a:r>
              <a:t>distance</a:t>
            </a:r>
          </a:p>
        </p:txBody>
      </p:sp>
      <p:sp>
        <p:nvSpPr>
          <p:cNvPr id="36" name="TextBox 35"/>
          <p:cNvSpPr txBox="1"/>
          <p:nvPr/>
        </p:nvSpPr>
        <p:spPr>
          <a:xfrm>
            <a:off x="240487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w_obs</a:t>
            </a:r>
          </a:p>
        </p:txBody>
      </p:sp>
      <p:sp>
        <p:nvSpPr>
          <p:cNvPr id="37" name="Rounded Rectangle 36"/>
          <p:cNvSpPr/>
          <p:nvPr/>
        </p:nvSpPr>
        <p:spPr>
          <a:xfrm>
            <a:off x="386791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91363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C_gf</a:t>
            </a:r>
          </a:p>
        </p:txBody>
      </p:sp>
      <p:sp>
        <p:nvSpPr>
          <p:cNvPr id="39" name="TextBox 38"/>
          <p:cNvSpPr txBox="1"/>
          <p:nvPr/>
        </p:nvSpPr>
        <p:spPr>
          <a:xfrm>
            <a:off x="391363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Goal front</a:t>
            </a:r>
            <a:br/>
            <a:r>
              <a:t>alignment</a:t>
            </a:r>
          </a:p>
        </p:txBody>
      </p:sp>
      <p:sp>
        <p:nvSpPr>
          <p:cNvPr id="40" name="TextBox 39"/>
          <p:cNvSpPr txBox="1"/>
          <p:nvPr/>
        </p:nvSpPr>
        <p:spPr>
          <a:xfrm>
            <a:off x="391363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w_gf</a:t>
            </a:r>
          </a:p>
        </p:txBody>
      </p:sp>
      <p:sp>
        <p:nvSpPr>
          <p:cNvPr id="41" name="Rounded Rectangle 40"/>
          <p:cNvSpPr/>
          <p:nvPr/>
        </p:nvSpPr>
        <p:spPr>
          <a:xfrm>
            <a:off x="537667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42239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C_align</a:t>
            </a:r>
          </a:p>
        </p:txBody>
      </p:sp>
      <p:sp>
        <p:nvSpPr>
          <p:cNvPr id="43" name="TextBox 42"/>
          <p:cNvSpPr txBox="1"/>
          <p:nvPr/>
        </p:nvSpPr>
        <p:spPr>
          <a:xfrm>
            <a:off x="542239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Path</a:t>
            </a:r>
            <a:br/>
            <a:r>
              <a:t>alignment</a:t>
            </a:r>
          </a:p>
        </p:txBody>
      </p:sp>
      <p:sp>
        <p:nvSpPr>
          <p:cNvPr id="44" name="TextBox 43"/>
          <p:cNvSpPr txBox="1"/>
          <p:nvPr/>
        </p:nvSpPr>
        <p:spPr>
          <a:xfrm>
            <a:off x="542239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w_align</a:t>
            </a:r>
          </a:p>
        </p:txBody>
      </p:sp>
      <p:sp>
        <p:nvSpPr>
          <p:cNvPr id="45" name="Rounded Rectangle 44"/>
          <p:cNvSpPr/>
          <p:nvPr/>
        </p:nvSpPr>
        <p:spPr>
          <a:xfrm>
            <a:off x="688543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93115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C_path</a:t>
            </a:r>
          </a:p>
        </p:txBody>
      </p:sp>
      <p:sp>
        <p:nvSpPr>
          <p:cNvPr id="47" name="TextBox 46"/>
          <p:cNvSpPr txBox="1"/>
          <p:nvPr/>
        </p:nvSpPr>
        <p:spPr>
          <a:xfrm>
            <a:off x="693115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Distance to</a:t>
            </a:r>
            <a:br/>
            <a:r>
              <a:t>global path</a:t>
            </a:r>
          </a:p>
        </p:txBody>
      </p:sp>
      <p:sp>
        <p:nvSpPr>
          <p:cNvPr id="48" name="TextBox 47"/>
          <p:cNvSpPr txBox="1"/>
          <p:nvPr/>
        </p:nvSpPr>
        <p:spPr>
          <a:xfrm>
            <a:off x="693115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w_path</a:t>
            </a:r>
          </a:p>
        </p:txBody>
      </p:sp>
      <p:sp>
        <p:nvSpPr>
          <p:cNvPr id="49" name="Rounded Rectangle 48"/>
          <p:cNvSpPr/>
          <p:nvPr/>
        </p:nvSpPr>
        <p:spPr>
          <a:xfrm>
            <a:off x="839419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43991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C_goal</a:t>
            </a:r>
          </a:p>
        </p:txBody>
      </p:sp>
      <p:sp>
        <p:nvSpPr>
          <p:cNvPr id="51" name="TextBox 50"/>
          <p:cNvSpPr txBox="1"/>
          <p:nvPr/>
        </p:nvSpPr>
        <p:spPr>
          <a:xfrm>
            <a:off x="843991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Distance</a:t>
            </a:r>
            <a:br/>
            <a:r>
              <a:t>to goal</a:t>
            </a:r>
          </a:p>
        </p:txBody>
      </p:sp>
      <p:sp>
        <p:nvSpPr>
          <p:cNvPr id="52" name="TextBox 51"/>
          <p:cNvSpPr txBox="1"/>
          <p:nvPr/>
        </p:nvSpPr>
        <p:spPr>
          <a:xfrm>
            <a:off x="843991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w_goal</a:t>
            </a:r>
          </a:p>
        </p:txBody>
      </p:sp>
      <p:sp>
        <p:nvSpPr>
          <p:cNvPr id="53" name="Rounded Rectangle 52"/>
          <p:cNvSpPr/>
          <p:nvPr/>
        </p:nvSpPr>
        <p:spPr>
          <a:xfrm>
            <a:off x="990295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948672" y="3017520"/>
            <a:ext cx="1005840" cy="182880"/>
          </a:xfrm>
          <a:prstGeom prst="rect">
            <a:avLst/>
          </a:prstGeom>
          <a:noFill/>
        </p:spPr>
        <p:txBody>
          <a:bodyPr wrap="square"/>
          <a:lstStyle/>
          <a:p>
            <a:pPr algn="l">
              <a:lnSpc>
                <a:spcPts val="1200"/>
              </a:lnSpc>
              <a:spcBef>
                <a:spcPts val="0"/>
              </a:spcBef>
              <a:spcAft>
                <a:spcPts val="0"/>
              </a:spcAft>
              <a:defRPr sz="1000" b="1" i="0">
                <a:solidFill>
                  <a:srgbClr val="F08C2E"/>
                </a:solidFill>
                <a:latin typeface="Lato"/>
              </a:defRPr>
            </a:pPr>
            <a:r>
              <a:t>C_twirl</a:t>
            </a:r>
          </a:p>
        </p:txBody>
      </p:sp>
      <p:sp>
        <p:nvSpPr>
          <p:cNvPr id="55" name="TextBox 54"/>
          <p:cNvSpPr txBox="1"/>
          <p:nvPr/>
        </p:nvSpPr>
        <p:spPr>
          <a:xfrm>
            <a:off x="994867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Rotation</a:t>
            </a:r>
            <a:br/>
            <a:r>
              <a:t>penalty</a:t>
            </a:r>
          </a:p>
        </p:txBody>
      </p:sp>
      <p:sp>
        <p:nvSpPr>
          <p:cNvPr id="56" name="TextBox 55"/>
          <p:cNvSpPr txBox="1"/>
          <p:nvPr/>
        </p:nvSpPr>
        <p:spPr>
          <a:xfrm>
            <a:off x="994867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w_twirl</a:t>
            </a:r>
          </a:p>
        </p:txBody>
      </p:sp>
      <p:sp>
        <p:nvSpPr>
          <p:cNvPr id="57" name="Rounded Rectangle 56"/>
          <p:cNvSpPr/>
          <p:nvPr/>
        </p:nvSpPr>
        <p:spPr>
          <a:xfrm>
            <a:off x="758952" y="4096512"/>
            <a:ext cx="10698480" cy="4114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850392" y="4160520"/>
            <a:ext cx="10515600" cy="320040"/>
          </a:xfrm>
          <a:prstGeom prst="rect">
            <a:avLst/>
          </a:prstGeom>
          <a:noFill/>
        </p:spPr>
        <p:txBody>
          <a:bodyPr wrap="square"/>
          <a:lstStyle/>
          <a:p>
            <a:pPr algn="ctr">
              <a:lnSpc>
                <a:spcPts val="1439"/>
              </a:lnSpc>
              <a:spcBef>
                <a:spcPts val="0"/>
              </a:spcBef>
              <a:spcAft>
                <a:spcPts val="0"/>
              </a:spcAft>
              <a:defRPr sz="1200" b="1" i="0">
                <a:solidFill>
                  <a:srgbClr val="333333"/>
                </a:solidFill>
                <a:latin typeface="Lato"/>
              </a:defRPr>
            </a:pPr>
            <a:r>
              <a:t>C_total = C_osc + Σ(wi · Ci)  →  Minimalkan total cost</a:t>
            </a:r>
          </a:p>
        </p:txBody>
      </p:sp>
      <p:sp>
        <p:nvSpPr>
          <p:cNvPr id="59" name="Rounded Rectangle 58"/>
          <p:cNvSpPr/>
          <p:nvPr/>
        </p:nvSpPr>
        <p:spPr>
          <a:xfrm>
            <a:off x="850392" y="4709160"/>
            <a:ext cx="10515600" cy="50292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987552" y="4754880"/>
            <a:ext cx="10241280" cy="411480"/>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Mampu menghindari obstacle dinamis yang tidak ada di global path, tercermin dari peningkatan max cross track error pada kondisi gempa.</a:t>
            </a:r>
          </a:p>
        </p:txBody>
      </p:sp>
      <p:sp>
        <p:nvSpPr>
          <p:cNvPr id="61" name="TextBox 60"/>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15</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FBF3E8"/>
            </a:gs>
            <a:gs pos="100000">
              <a:srgbClr val="E4D2B8"/>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1" y="320040"/>
            <a:ext cx="6389993" cy="502920"/>
          </a:xfrm>
          <a:prstGeom prst="rect">
            <a:avLst/>
          </a:prstGeom>
          <a:noFill/>
        </p:spPr>
        <p:txBody>
          <a:bodyPr wrap="square"/>
          <a:lstStyle/>
          <a:p>
            <a:pPr algn="l">
              <a:lnSpc>
                <a:spcPts val="3360"/>
              </a:lnSpc>
              <a:spcBef>
                <a:spcPts val="0"/>
              </a:spcBef>
              <a:spcAft>
                <a:spcPts val="0"/>
              </a:spcAft>
              <a:defRPr sz="2800" b="1" i="0">
                <a:solidFill>
                  <a:srgbClr val="1A2B4C"/>
                </a:solidFill>
                <a:latin typeface="Montserrat"/>
              </a:defRPr>
            </a:pPr>
            <a:r>
              <a:rPr dirty="0"/>
              <a:t>ARENA PENGUJIAN &amp; SKENARIO</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354834" y="89611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rPr dirty="0"/>
              <a:t>Region A — Lorong &amp; Ramp</a:t>
            </a:r>
          </a:p>
        </p:txBody>
      </p:sp>
      <p:pic>
        <p:nvPicPr>
          <p:cNvPr id="5" name="Picture 4" descr="sim_RA.png"/>
          <p:cNvPicPr>
            <a:picLocks noChangeAspect="1"/>
          </p:cNvPicPr>
          <p:nvPr/>
        </p:nvPicPr>
        <p:blipFill>
          <a:blip r:embed="rId2"/>
          <a:stretch>
            <a:fillRect/>
          </a:stretch>
        </p:blipFill>
        <p:spPr>
          <a:xfrm>
            <a:off x="2354834" y="1097280"/>
            <a:ext cx="3535273" cy="2011680"/>
          </a:xfrm>
          <a:prstGeom prst="rect">
            <a:avLst/>
          </a:prstGeom>
        </p:spPr>
      </p:pic>
      <p:sp>
        <p:nvSpPr>
          <p:cNvPr id="6" name="TextBox 5"/>
          <p:cNvSpPr txBox="1"/>
          <p:nvPr/>
        </p:nvSpPr>
        <p:spPr>
          <a:xfrm>
            <a:off x="6301587" y="89611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Region A — Rough Floor</a:t>
            </a:r>
          </a:p>
        </p:txBody>
      </p:sp>
      <p:pic>
        <p:nvPicPr>
          <p:cNvPr id="7" name="Picture 6" descr="sim_RA_rough.png"/>
          <p:cNvPicPr>
            <a:picLocks noChangeAspect="1"/>
          </p:cNvPicPr>
          <p:nvPr/>
        </p:nvPicPr>
        <p:blipFill>
          <a:blip r:embed="rId3"/>
          <a:stretch>
            <a:fillRect/>
          </a:stretch>
        </p:blipFill>
        <p:spPr>
          <a:xfrm>
            <a:off x="6301587" y="1097280"/>
            <a:ext cx="3535273" cy="2011680"/>
          </a:xfrm>
          <a:prstGeom prst="rect">
            <a:avLst/>
          </a:prstGeom>
        </p:spPr>
      </p:pic>
      <p:sp>
        <p:nvSpPr>
          <p:cNvPr id="8" name="TextBox 7"/>
          <p:cNvSpPr txBox="1"/>
          <p:nvPr/>
        </p:nvSpPr>
        <p:spPr>
          <a:xfrm>
            <a:off x="2354834" y="322783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rPr dirty="0"/>
              <a:t>Region B — </a:t>
            </a:r>
            <a:r>
              <a:rPr lang="en-ID" dirty="0" err="1"/>
              <a:t>Bidang</a:t>
            </a:r>
            <a:r>
              <a:rPr lang="en-ID" dirty="0"/>
              <a:t> miring</a:t>
            </a:r>
            <a:endParaRPr dirty="0"/>
          </a:p>
        </p:txBody>
      </p:sp>
      <p:pic>
        <p:nvPicPr>
          <p:cNvPr id="9" name="Picture 8" descr="sim_RB.png"/>
          <p:cNvPicPr>
            <a:picLocks noChangeAspect="1"/>
          </p:cNvPicPr>
          <p:nvPr/>
        </p:nvPicPr>
        <p:blipFill>
          <a:blip r:embed="rId4"/>
          <a:stretch>
            <a:fillRect/>
          </a:stretch>
        </p:blipFill>
        <p:spPr>
          <a:xfrm>
            <a:off x="2354834" y="3429000"/>
            <a:ext cx="3535273" cy="2011680"/>
          </a:xfrm>
          <a:prstGeom prst="rect">
            <a:avLst/>
          </a:prstGeom>
        </p:spPr>
      </p:pic>
      <p:sp>
        <p:nvSpPr>
          <p:cNvPr id="10" name="TextBox 9"/>
          <p:cNvSpPr txBox="1"/>
          <p:nvPr/>
        </p:nvSpPr>
        <p:spPr>
          <a:xfrm>
            <a:off x="6301587" y="322783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rPr dirty="0"/>
              <a:t>Region C — Area Terbuka</a:t>
            </a:r>
          </a:p>
        </p:txBody>
      </p:sp>
      <p:pic>
        <p:nvPicPr>
          <p:cNvPr id="11" name="Picture 10" descr="sim_RC2.png"/>
          <p:cNvPicPr>
            <a:picLocks noChangeAspect="1"/>
          </p:cNvPicPr>
          <p:nvPr/>
        </p:nvPicPr>
        <p:blipFill>
          <a:blip r:embed="rId5"/>
          <a:stretch>
            <a:fillRect/>
          </a:stretch>
        </p:blipFill>
        <p:spPr>
          <a:xfrm>
            <a:off x="6301587" y="3429000"/>
            <a:ext cx="3535273" cy="2011680"/>
          </a:xfrm>
          <a:prstGeom prst="rect">
            <a:avLst/>
          </a:prstGeom>
        </p:spPr>
      </p:pic>
      <p:sp>
        <p:nvSpPr>
          <p:cNvPr id="12" name="TextBox 11"/>
          <p:cNvSpPr txBox="1"/>
          <p:nvPr/>
        </p:nvSpPr>
        <p:spPr>
          <a:xfrm>
            <a:off x="850392" y="5623560"/>
            <a:ext cx="10515600" cy="320040"/>
          </a:xfrm>
          <a:prstGeom prst="rect">
            <a:avLst/>
          </a:prstGeom>
          <a:noFill/>
        </p:spPr>
        <p:txBody>
          <a:bodyPr wrap="square"/>
          <a:lstStyle/>
          <a:p>
            <a:pPr algn="l">
              <a:lnSpc>
                <a:spcPts val="1320"/>
              </a:lnSpc>
              <a:spcBef>
                <a:spcPts val="0"/>
              </a:spcBef>
              <a:spcAft>
                <a:spcPts val="0"/>
              </a:spcAft>
              <a:defRPr sz="1100" b="0" i="0">
                <a:solidFill>
                  <a:srgbClr val="333333"/>
                </a:solidFill>
                <a:latin typeface="Lato"/>
              </a:defRPr>
            </a:pPr>
            <a:r>
              <a:rPr dirty="0"/>
              <a:t>Platform: </a:t>
            </a:r>
            <a:r>
              <a:rPr dirty="0" err="1"/>
              <a:t>Mujoco</a:t>
            </a:r>
            <a:r>
              <a:rPr dirty="0"/>
              <a:t> Simulator  ·  Robot: Hexapod (6 kaki)  ·  Sensor: L</a:t>
            </a:r>
            <a:r>
              <a:rPr lang="en-ID" dirty="0" err="1"/>
              <a:t>i</a:t>
            </a:r>
            <a:r>
              <a:rPr dirty="0"/>
              <a:t>DAR 2D  ·  Peta: Known Map</a:t>
            </a:r>
          </a:p>
        </p:txBody>
      </p:sp>
      <p:sp>
        <p:nvSpPr>
          <p:cNvPr id="13" name="TextBox 12"/>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FBF3E8"/>
            </a:gs>
            <a:gs pos="100000">
              <a:srgbClr val="E4D2B8"/>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1" y="320040"/>
            <a:ext cx="7986037"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rPr dirty="0"/>
              <a:t>HASIL PENGUJIAN: ICP LOCALIZATION</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38247" y="822960"/>
            <a:ext cx="3429000" cy="201168"/>
          </a:xfrm>
          <a:prstGeom prst="rect">
            <a:avLst/>
          </a:prstGeom>
          <a:noFill/>
        </p:spPr>
        <p:txBody>
          <a:bodyPr wrap="square"/>
          <a:lstStyle/>
          <a:p>
            <a:pPr algn="ctr">
              <a:lnSpc>
                <a:spcPts val="1200"/>
              </a:lnSpc>
              <a:spcBef>
                <a:spcPts val="0"/>
              </a:spcBef>
              <a:spcAft>
                <a:spcPts val="0"/>
              </a:spcAft>
              <a:defRPr sz="1000" b="1" i="0">
                <a:solidFill>
                  <a:srgbClr val="003A70"/>
                </a:solidFill>
                <a:latin typeface="Lato"/>
              </a:defRPr>
            </a:pPr>
            <a:r>
              <a:t>Region A — Normal Floor</a:t>
            </a:r>
          </a:p>
        </p:txBody>
      </p:sp>
      <p:pic>
        <p:nvPicPr>
          <p:cNvPr id="5" name="Picture 4" descr="icp_errors_RA.png"/>
          <p:cNvPicPr>
            <a:picLocks noChangeAspect="1"/>
          </p:cNvPicPr>
          <p:nvPr/>
        </p:nvPicPr>
        <p:blipFill>
          <a:blip r:embed="rId2"/>
          <a:stretch>
            <a:fillRect/>
          </a:stretch>
        </p:blipFill>
        <p:spPr>
          <a:xfrm>
            <a:off x="2438247" y="1051560"/>
            <a:ext cx="3429000" cy="2743200"/>
          </a:xfrm>
          <a:prstGeom prst="rect">
            <a:avLst/>
          </a:prstGeom>
        </p:spPr>
      </p:pic>
      <p:sp>
        <p:nvSpPr>
          <p:cNvPr id="6" name="TextBox 5"/>
          <p:cNvSpPr txBox="1"/>
          <p:nvPr/>
        </p:nvSpPr>
        <p:spPr>
          <a:xfrm>
            <a:off x="6324447" y="822960"/>
            <a:ext cx="3429000" cy="201168"/>
          </a:xfrm>
          <a:prstGeom prst="rect">
            <a:avLst/>
          </a:prstGeom>
          <a:noFill/>
        </p:spPr>
        <p:txBody>
          <a:bodyPr wrap="square"/>
          <a:lstStyle/>
          <a:p>
            <a:pPr algn="ctr">
              <a:lnSpc>
                <a:spcPts val="1200"/>
              </a:lnSpc>
              <a:spcBef>
                <a:spcPts val="0"/>
              </a:spcBef>
              <a:spcAft>
                <a:spcPts val="0"/>
              </a:spcAft>
              <a:defRPr sz="1000" b="1" i="0">
                <a:solidFill>
                  <a:srgbClr val="003A70"/>
                </a:solidFill>
                <a:latin typeface="Lato"/>
              </a:defRPr>
            </a:pPr>
            <a:r>
              <a:t>Region A — Rough Floor</a:t>
            </a:r>
          </a:p>
        </p:txBody>
      </p:sp>
      <p:pic>
        <p:nvPicPr>
          <p:cNvPr id="7" name="Picture 6" descr="icp_errors_RA_rough.png"/>
          <p:cNvPicPr>
            <a:picLocks noChangeAspect="1"/>
          </p:cNvPicPr>
          <p:nvPr/>
        </p:nvPicPr>
        <p:blipFill>
          <a:blip r:embed="rId3"/>
          <a:stretch>
            <a:fillRect/>
          </a:stretch>
        </p:blipFill>
        <p:spPr>
          <a:xfrm>
            <a:off x="6324447" y="1051560"/>
            <a:ext cx="3429000" cy="2743200"/>
          </a:xfrm>
          <a:prstGeom prst="rect">
            <a:avLst/>
          </a:prstGeom>
        </p:spPr>
      </p:pic>
      <p:sp>
        <p:nvSpPr>
          <p:cNvPr id="8" name="Rounded Rectangle 7"/>
          <p:cNvSpPr/>
          <p:nvPr/>
        </p:nvSpPr>
        <p:spPr>
          <a:xfrm>
            <a:off x="850392" y="4114800"/>
            <a:ext cx="10515600" cy="50292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50392" y="4114800"/>
            <a:ext cx="50800" cy="5029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4133087"/>
            <a:ext cx="10241280" cy="457200"/>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ICP akurat pada lantai normal. Rough floor menyebabkan osilasi signifikan pada sumbu x dan yaw akibat variasi vertikal scan LiDAR.</a:t>
            </a:r>
          </a:p>
        </p:txBody>
      </p:sp>
      <p:sp>
        <p:nvSpPr>
          <p:cNvPr id="11" name="TextBox 10"/>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17</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rgbClr val="FBF3E8"/>
            </a:gs>
            <a:gs pos="100000">
              <a:srgbClr val="E4D2B8"/>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PATH PLANNING — REGION A</a:t>
            </a:r>
          </a:p>
        </p:txBody>
      </p:sp>
      <p:sp>
        <p:nvSpPr>
          <p:cNvPr id="3" name="Rectangle 2"/>
          <p:cNvSpPr/>
          <p:nvPr/>
        </p:nvSpPr>
        <p:spPr>
          <a:xfrm>
            <a:off x="850392" y="68580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map_with_paths_RA.png"/>
          <p:cNvPicPr>
            <a:picLocks noChangeAspect="1"/>
          </p:cNvPicPr>
          <p:nvPr/>
        </p:nvPicPr>
        <p:blipFill>
          <a:blip r:embed="rId2"/>
          <a:stretch>
            <a:fillRect/>
          </a:stretch>
        </p:blipFill>
        <p:spPr>
          <a:xfrm>
            <a:off x="850392" y="960120"/>
            <a:ext cx="4114800" cy="4114800"/>
          </a:xfrm>
          <a:prstGeom prst="rect">
            <a:avLst/>
          </a:prstGeom>
        </p:spPr>
      </p:pic>
      <p:graphicFrame>
        <p:nvGraphicFramePr>
          <p:cNvPr id="5" name="Table 4"/>
          <p:cNvGraphicFramePr>
            <a:graphicFrameLocks noGrp="1"/>
          </p:cNvGraphicFramePr>
          <p:nvPr>
            <p:extLst>
              <p:ext uri="{D42A27DB-BD31-4B8C-83A1-F6EECF244321}">
                <p14:modId xmlns:p14="http://schemas.microsoft.com/office/powerpoint/2010/main" val="2904326655"/>
              </p:ext>
            </p:extLst>
          </p:nvPr>
        </p:nvGraphicFramePr>
        <p:xfrm>
          <a:off x="5330952" y="960120"/>
          <a:ext cx="4206240" cy="1603248"/>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56032">
                <a:tc>
                  <a:txBody>
                    <a:bodyPr/>
                    <a:lstStyle/>
                    <a:p>
                      <a:pPr algn="ctr">
                        <a:defRPr sz="800" b="1">
                          <a:solidFill>
                            <a:srgbClr val="FFFFFF"/>
                          </a:solidFill>
                          <a:latin typeface="Montserrat"/>
                        </a:defRPr>
                      </a:pPr>
                      <a:r>
                        <a:t>Cost Scaling Factor</a:t>
                      </a:r>
                    </a:p>
                  </a:txBody>
                  <a:tcPr>
                    <a:solidFill>
                      <a:srgbClr val="003A70"/>
                    </a:solidFill>
                  </a:tcPr>
                </a:tc>
                <a:tc>
                  <a:txBody>
                    <a:bodyPr/>
                    <a:lstStyle/>
                    <a:p>
                      <a:pPr algn="ctr">
                        <a:defRPr sz="800" b="1">
                          <a:solidFill>
                            <a:srgbClr val="FFFFFF"/>
                          </a:solidFill>
                          <a:latin typeface="Montserrat"/>
                        </a:defRPr>
                      </a:pPr>
                      <a:r>
                        <a:t>Panjang path (m)</a:t>
                      </a:r>
                    </a:p>
                  </a:txBody>
                  <a:tcPr>
                    <a:solidFill>
                      <a:srgbClr val="003A70"/>
                    </a:solidFill>
                  </a:tcPr>
                </a:tc>
                <a:tc>
                  <a:txBody>
                    <a:bodyPr/>
                    <a:lstStyle/>
                    <a:p>
                      <a:pPr algn="ctr">
                        <a:defRPr sz="800" b="1">
                          <a:solidFill>
                            <a:srgbClr val="FFFFFF"/>
                          </a:solidFill>
                          <a:latin typeface="Montserrat"/>
                        </a:defRPr>
                      </a:pPr>
                      <a:r>
                        <a:rPr dirty="0"/>
                        <a:t>Waktu </a:t>
                      </a:r>
                      <a:r>
                        <a:rPr dirty="0" err="1"/>
                        <a:t>komputasi</a:t>
                      </a:r>
                      <a:r>
                        <a:rPr dirty="0"/>
                        <a:t> (</a:t>
                      </a:r>
                      <a:r>
                        <a:rPr dirty="0" err="1"/>
                        <a:t>ms</a:t>
                      </a:r>
                      <a:r>
                        <a:rPr dirty="0"/>
                        <a:t>)</a:t>
                      </a:r>
                    </a:p>
                  </a:txBody>
                  <a:tcPr>
                    <a:solidFill>
                      <a:srgbClr val="003A70"/>
                    </a:solidFill>
                  </a:tcPr>
                </a:tc>
                <a:tc>
                  <a:txBody>
                    <a:bodyPr/>
                    <a:lstStyle/>
                    <a:p>
                      <a:pPr algn="ctr">
                        <a:defRPr sz="800" b="1">
                          <a:solidFill>
                            <a:srgbClr val="FFFFFF"/>
                          </a:solidFill>
                          <a:latin typeface="Montserrat"/>
                        </a:defRPr>
                      </a:pPr>
                      <a:r>
                        <a:rPr dirty="0"/>
                        <a:t>min clearance (m)</a:t>
                      </a:r>
                    </a:p>
                  </a:txBody>
                  <a:tcPr>
                    <a:solidFill>
                      <a:srgbClr val="003A70"/>
                    </a:solidFill>
                  </a:tcPr>
                </a:tc>
                <a:tc>
                  <a:txBody>
                    <a:bodyPr/>
                    <a:lstStyle/>
                    <a:p>
                      <a:pPr algn="ctr">
                        <a:defRPr sz="800" b="1">
                          <a:solidFill>
                            <a:srgbClr val="FFFFFF"/>
                          </a:solidFill>
                          <a:latin typeface="Montserrat"/>
                        </a:defRPr>
                      </a:pPr>
                      <a:r>
                        <a:t>Jumlah waypoint</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1.116051</a:t>
                      </a:r>
                    </a:p>
                  </a:txBody>
                  <a:tcPr/>
                </a:tc>
                <a:tc>
                  <a:txBody>
                    <a:bodyPr/>
                    <a:lstStyle/>
                    <a:p>
                      <a:pPr algn="ctr">
                        <a:defRPr sz="800">
                          <a:solidFill>
                            <a:srgbClr val="333333"/>
                          </a:solidFill>
                          <a:latin typeface="Lato"/>
                        </a:defRPr>
                      </a:pPr>
                      <a:r>
                        <a:t>6.666027</a:t>
                      </a:r>
                    </a:p>
                  </a:txBody>
                  <a:tcPr/>
                </a:tc>
                <a:tc>
                  <a:txBody>
                    <a:bodyPr/>
                    <a:lstStyle/>
                    <a:p>
                      <a:pPr algn="ctr">
                        <a:defRPr sz="800">
                          <a:solidFill>
                            <a:srgbClr val="333333"/>
                          </a:solidFill>
                          <a:latin typeface="Lato"/>
                        </a:defRPr>
                      </a:pPr>
                      <a:r>
                        <a:rPr dirty="0"/>
                        <a:t>0.220000</a:t>
                      </a:r>
                    </a:p>
                  </a:txBody>
                  <a:tcPr/>
                </a:tc>
                <a:tc>
                  <a:txBody>
                    <a:bodyPr/>
                    <a:lstStyle/>
                    <a:p>
                      <a:pPr algn="ctr">
                        <a:defRPr sz="800">
                          <a:solidFill>
                            <a:srgbClr val="333333"/>
                          </a:solidFill>
                          <a:latin typeface="Lato"/>
                        </a:defRPr>
                      </a:pPr>
                      <a:r>
                        <a:t>222</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1.114836</a:t>
                      </a:r>
                    </a:p>
                  </a:txBody>
                  <a:tcPr>
                    <a:solidFill>
                      <a:srgbClr val="FFF8E7"/>
                    </a:solidFill>
                  </a:tcPr>
                </a:tc>
                <a:tc>
                  <a:txBody>
                    <a:bodyPr/>
                    <a:lstStyle/>
                    <a:p>
                      <a:pPr algn="ctr">
                        <a:defRPr sz="800">
                          <a:solidFill>
                            <a:srgbClr val="333333"/>
                          </a:solidFill>
                          <a:latin typeface="Lato"/>
                        </a:defRPr>
                      </a:pPr>
                      <a:r>
                        <a:t>6.897399</a:t>
                      </a:r>
                    </a:p>
                  </a:txBody>
                  <a:tcPr>
                    <a:solidFill>
                      <a:srgbClr val="FFF8E7"/>
                    </a:solidFill>
                  </a:tcPr>
                </a:tc>
                <a:tc>
                  <a:txBody>
                    <a:bodyPr/>
                    <a:lstStyle/>
                    <a:p>
                      <a:pPr algn="ctr">
                        <a:defRPr sz="800">
                          <a:solidFill>
                            <a:srgbClr val="333333"/>
                          </a:solidFill>
                          <a:latin typeface="Lato"/>
                        </a:defRPr>
                      </a:pPr>
                      <a:r>
                        <a:t>0.220000</a:t>
                      </a:r>
                    </a:p>
                  </a:txBody>
                  <a:tcPr>
                    <a:solidFill>
                      <a:srgbClr val="FFF8E7"/>
                    </a:solidFill>
                  </a:tcPr>
                </a:tc>
                <a:tc>
                  <a:txBody>
                    <a:bodyPr/>
                    <a:lstStyle/>
                    <a:p>
                      <a:pPr algn="ctr">
                        <a:defRPr sz="800">
                          <a:solidFill>
                            <a:srgbClr val="333333"/>
                          </a:solidFill>
                          <a:latin typeface="Lato"/>
                        </a:defRPr>
                      </a:pPr>
                      <a:r>
                        <a:t>223</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1.122597</a:t>
                      </a:r>
                    </a:p>
                  </a:txBody>
                  <a:tcPr/>
                </a:tc>
                <a:tc>
                  <a:txBody>
                    <a:bodyPr/>
                    <a:lstStyle/>
                    <a:p>
                      <a:pPr algn="ctr">
                        <a:defRPr sz="800">
                          <a:solidFill>
                            <a:srgbClr val="333333"/>
                          </a:solidFill>
                          <a:latin typeface="Lato"/>
                        </a:defRPr>
                      </a:pPr>
                      <a:r>
                        <a:t>5.688345</a:t>
                      </a:r>
                    </a:p>
                  </a:txBody>
                  <a:tcPr/>
                </a:tc>
                <a:tc>
                  <a:txBody>
                    <a:bodyPr/>
                    <a:lstStyle/>
                    <a:p>
                      <a:pPr algn="ctr">
                        <a:defRPr sz="800">
                          <a:solidFill>
                            <a:srgbClr val="333333"/>
                          </a:solidFill>
                          <a:latin typeface="Lato"/>
                        </a:defRPr>
                      </a:pPr>
                      <a:r>
                        <a:t>0.219650</a:t>
                      </a:r>
                    </a:p>
                  </a:txBody>
                  <a:tcPr/>
                </a:tc>
                <a:tc>
                  <a:txBody>
                    <a:bodyPr/>
                    <a:lstStyle/>
                    <a:p>
                      <a:pPr algn="ctr">
                        <a:defRPr sz="800">
                          <a:solidFill>
                            <a:srgbClr val="333333"/>
                          </a:solidFill>
                          <a:latin typeface="Lato"/>
                        </a:defRPr>
                      </a:pPr>
                      <a:r>
                        <a:t>225</a:t>
                      </a:r>
                    </a:p>
                  </a:txBody>
                  <a:tcPr/>
                </a:tc>
                <a:extLst>
                  <a:ext uri="{0D108BD9-81ED-4DB2-BD59-A6C34878D82A}">
                    <a16:rowId xmlns:a16="http://schemas.microsoft.com/office/drawing/2014/main" val="10003"/>
                  </a:ext>
                </a:extLst>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0.971836</a:t>
                      </a:r>
                    </a:p>
                  </a:txBody>
                  <a:tcPr>
                    <a:solidFill>
                      <a:srgbClr val="FFF8E7"/>
                    </a:solidFill>
                  </a:tcPr>
                </a:tc>
                <a:tc>
                  <a:txBody>
                    <a:bodyPr/>
                    <a:lstStyle/>
                    <a:p>
                      <a:pPr algn="ctr">
                        <a:defRPr sz="800">
                          <a:solidFill>
                            <a:srgbClr val="333333"/>
                          </a:solidFill>
                          <a:latin typeface="Lato"/>
                        </a:defRPr>
                      </a:pPr>
                      <a:r>
                        <a:t>6.484874</a:t>
                      </a:r>
                    </a:p>
                  </a:txBody>
                  <a:tcPr>
                    <a:solidFill>
                      <a:srgbClr val="FFF8E7"/>
                    </a:solidFill>
                  </a:tcPr>
                </a:tc>
                <a:tc>
                  <a:txBody>
                    <a:bodyPr/>
                    <a:lstStyle/>
                    <a:p>
                      <a:pPr algn="ctr">
                        <a:defRPr sz="800">
                          <a:solidFill>
                            <a:srgbClr val="333333"/>
                          </a:solidFill>
                          <a:latin typeface="Lato"/>
                        </a:defRPr>
                      </a:pPr>
                      <a:r>
                        <a:rPr dirty="0"/>
                        <a:t>0.216470</a:t>
                      </a:r>
                    </a:p>
                  </a:txBody>
                  <a:tcPr>
                    <a:solidFill>
                      <a:srgbClr val="FFF8E7"/>
                    </a:solidFill>
                  </a:tcPr>
                </a:tc>
                <a:tc>
                  <a:txBody>
                    <a:bodyPr/>
                    <a:lstStyle/>
                    <a:p>
                      <a:pPr algn="ctr">
                        <a:defRPr sz="800">
                          <a:solidFill>
                            <a:srgbClr val="333333"/>
                          </a:solidFill>
                          <a:latin typeface="Lato"/>
                        </a:defRPr>
                      </a:pPr>
                      <a:r>
                        <a:rPr dirty="0"/>
                        <a:t>193</a:t>
                      </a:r>
                    </a:p>
                  </a:txBody>
                  <a:tcPr>
                    <a:solidFill>
                      <a:srgbClr val="FFF8E7"/>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330952" y="731520"/>
            <a:ext cx="42062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CSF — Panjang, Waktu, Clearance, Waypoint</a:t>
            </a:r>
          </a:p>
        </p:txBody>
      </p:sp>
      <p:graphicFrame>
        <p:nvGraphicFramePr>
          <p:cNvPr id="7" name="Table 6"/>
          <p:cNvGraphicFramePr>
            <a:graphicFrameLocks noGrp="1"/>
          </p:cNvGraphicFramePr>
          <p:nvPr>
            <p:extLst>
              <p:ext uri="{D42A27DB-BD31-4B8C-83A1-F6EECF244321}">
                <p14:modId xmlns:p14="http://schemas.microsoft.com/office/powerpoint/2010/main" val="257928641"/>
              </p:ext>
            </p:extLst>
          </p:nvPr>
        </p:nvGraphicFramePr>
        <p:xfrm>
          <a:off x="5330952" y="2724912"/>
          <a:ext cx="3291840" cy="1359408"/>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56032">
                <a:tc>
                  <a:txBody>
                    <a:bodyPr/>
                    <a:lstStyle/>
                    <a:p>
                      <a:pPr algn="ctr">
                        <a:defRPr sz="800" b="1">
                          <a:solidFill>
                            <a:srgbClr val="FFFFFF"/>
                          </a:solidFill>
                          <a:latin typeface="Montserrat"/>
                        </a:defRPr>
                      </a:pPr>
                      <a:r>
                        <a:t>CSF</a:t>
                      </a:r>
                    </a:p>
                  </a:txBody>
                  <a:tcPr>
                    <a:solidFill>
                      <a:srgbClr val="003A70"/>
                    </a:solidFill>
                  </a:tcPr>
                </a:tc>
                <a:tc>
                  <a:txBody>
                    <a:bodyPr/>
                    <a:lstStyle/>
                    <a:p>
                      <a:pPr algn="ctr">
                        <a:defRPr sz="800" b="1">
                          <a:solidFill>
                            <a:srgbClr val="FFFFFF"/>
                          </a:solidFill>
                          <a:latin typeface="Montserrat"/>
                        </a:defRPr>
                      </a:pPr>
                      <a:r>
                        <a:t>mean cross track</a:t>
                      </a:r>
                    </a:p>
                  </a:txBody>
                  <a:tcPr>
                    <a:solidFill>
                      <a:srgbClr val="003A70"/>
                    </a:solidFill>
                  </a:tcPr>
                </a:tc>
                <a:tc>
                  <a:txBody>
                    <a:bodyPr/>
                    <a:lstStyle/>
                    <a:p>
                      <a:pPr algn="ctr">
                        <a:defRPr sz="800" b="1">
                          <a:solidFill>
                            <a:srgbClr val="FFFFFF"/>
                          </a:solidFill>
                          <a:latin typeface="Montserrat"/>
                        </a:defRPr>
                      </a:pPr>
                      <a:r>
                        <a:t>max cross track</a:t>
                      </a:r>
                    </a:p>
                  </a:txBody>
                  <a:tcPr>
                    <a:solidFill>
                      <a:srgbClr val="003A70"/>
                    </a:solidFill>
                  </a:tcPr>
                </a:tc>
                <a:tc>
                  <a:txBody>
                    <a:bodyPr/>
                    <a:lstStyle/>
                    <a:p>
                      <a:pPr algn="ctr">
                        <a:defRPr sz="800" b="1">
                          <a:solidFill>
                            <a:srgbClr val="FFFFFF"/>
                          </a:solidFill>
                          <a:latin typeface="Montserrat"/>
                        </a:defRPr>
                      </a:pPr>
                      <a:r>
                        <a:t>standard deviation</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0.006029</a:t>
                      </a:r>
                    </a:p>
                  </a:txBody>
                  <a:tcPr/>
                </a:tc>
                <a:tc>
                  <a:txBody>
                    <a:bodyPr/>
                    <a:lstStyle/>
                    <a:p>
                      <a:pPr algn="ctr">
                        <a:defRPr sz="800">
                          <a:solidFill>
                            <a:srgbClr val="333333"/>
                          </a:solidFill>
                          <a:latin typeface="Lato"/>
                        </a:defRPr>
                      </a:pPr>
                      <a:r>
                        <a:t>0.025937</a:t>
                      </a:r>
                    </a:p>
                  </a:txBody>
                  <a:tcPr/>
                </a:tc>
                <a:tc>
                  <a:txBody>
                    <a:bodyPr/>
                    <a:lstStyle/>
                    <a:p>
                      <a:pPr algn="ctr">
                        <a:defRPr sz="800">
                          <a:solidFill>
                            <a:srgbClr val="333333"/>
                          </a:solidFill>
                          <a:latin typeface="Lato"/>
                        </a:defRPr>
                      </a:pPr>
                      <a:r>
                        <a:t>0.006468</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0.006880</a:t>
                      </a:r>
                    </a:p>
                  </a:txBody>
                  <a:tcPr>
                    <a:solidFill>
                      <a:srgbClr val="FFF8E7"/>
                    </a:solidFill>
                  </a:tcPr>
                </a:tc>
                <a:tc>
                  <a:txBody>
                    <a:bodyPr/>
                    <a:lstStyle/>
                    <a:p>
                      <a:pPr algn="ctr">
                        <a:defRPr sz="800">
                          <a:solidFill>
                            <a:srgbClr val="333333"/>
                          </a:solidFill>
                          <a:latin typeface="Lato"/>
                        </a:defRPr>
                      </a:pPr>
                      <a:r>
                        <a:t>0.029719</a:t>
                      </a:r>
                    </a:p>
                  </a:txBody>
                  <a:tcPr>
                    <a:solidFill>
                      <a:srgbClr val="FFF8E7"/>
                    </a:solidFill>
                  </a:tcPr>
                </a:tc>
                <a:tc>
                  <a:txBody>
                    <a:bodyPr/>
                    <a:lstStyle/>
                    <a:p>
                      <a:pPr algn="ctr">
                        <a:defRPr sz="800">
                          <a:solidFill>
                            <a:srgbClr val="333333"/>
                          </a:solidFill>
                          <a:latin typeface="Lato"/>
                        </a:defRPr>
                      </a:pPr>
                      <a:r>
                        <a:t>0.007214</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0.006536</a:t>
                      </a:r>
                    </a:p>
                  </a:txBody>
                  <a:tcPr/>
                </a:tc>
                <a:tc>
                  <a:txBody>
                    <a:bodyPr/>
                    <a:lstStyle/>
                    <a:p>
                      <a:pPr algn="ctr">
                        <a:defRPr sz="800">
                          <a:solidFill>
                            <a:srgbClr val="333333"/>
                          </a:solidFill>
                          <a:latin typeface="Lato"/>
                        </a:defRPr>
                      </a:pPr>
                      <a:r>
                        <a:t>0.033099</a:t>
                      </a:r>
                    </a:p>
                  </a:txBody>
                  <a:tcPr/>
                </a:tc>
                <a:tc>
                  <a:txBody>
                    <a:bodyPr/>
                    <a:lstStyle/>
                    <a:p>
                      <a:pPr algn="ctr">
                        <a:defRPr sz="800">
                          <a:solidFill>
                            <a:srgbClr val="333333"/>
                          </a:solidFill>
                          <a:latin typeface="Lato"/>
                        </a:defRPr>
                      </a:pPr>
                      <a:r>
                        <a:t>0.007537</a:t>
                      </a:r>
                    </a:p>
                  </a:txBody>
                  <a:tcPr/>
                </a:tc>
                <a:extLst>
                  <a:ext uri="{0D108BD9-81ED-4DB2-BD59-A6C34878D82A}">
                    <a16:rowId xmlns:a16="http://schemas.microsoft.com/office/drawing/2014/main" val="10003"/>
                  </a:ext>
                </a:extLst>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0.003537</a:t>
                      </a:r>
                    </a:p>
                  </a:txBody>
                  <a:tcPr>
                    <a:solidFill>
                      <a:srgbClr val="FFF8E7"/>
                    </a:solidFill>
                  </a:tcPr>
                </a:tc>
                <a:tc>
                  <a:txBody>
                    <a:bodyPr/>
                    <a:lstStyle/>
                    <a:p>
                      <a:pPr algn="ctr">
                        <a:defRPr sz="800">
                          <a:solidFill>
                            <a:srgbClr val="333333"/>
                          </a:solidFill>
                          <a:latin typeface="Lato"/>
                        </a:defRPr>
                      </a:pPr>
                      <a:r>
                        <a:t>0.010000</a:t>
                      </a:r>
                    </a:p>
                  </a:txBody>
                  <a:tcPr>
                    <a:solidFill>
                      <a:srgbClr val="FFF8E7"/>
                    </a:solidFill>
                  </a:tcPr>
                </a:tc>
                <a:tc>
                  <a:txBody>
                    <a:bodyPr/>
                    <a:lstStyle/>
                    <a:p>
                      <a:pPr algn="ctr">
                        <a:defRPr sz="800">
                          <a:solidFill>
                            <a:srgbClr val="333333"/>
                          </a:solidFill>
                          <a:latin typeface="Lato"/>
                        </a:defRPr>
                      </a:pPr>
                      <a:r>
                        <a:rPr dirty="0"/>
                        <a:t>0.002203</a:t>
                      </a:r>
                    </a:p>
                  </a:txBody>
                  <a:tcPr>
                    <a:solidFill>
                      <a:srgbClr val="FFF8E7"/>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5330952" y="2535936"/>
            <a:ext cx="32918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rPr dirty="0"/>
              <a:t>Tabel </a:t>
            </a:r>
            <a:r>
              <a:rPr dirty="0" err="1"/>
              <a:t>Deviasi</a:t>
            </a:r>
            <a:r>
              <a:rPr dirty="0"/>
              <a:t> — Mean/Max Cross Track &amp; SD</a:t>
            </a:r>
          </a:p>
        </p:txBody>
      </p:sp>
      <p:sp>
        <p:nvSpPr>
          <p:cNvPr id="9" name="Rounded Rectangle 8"/>
          <p:cNvSpPr/>
          <p:nvPr/>
        </p:nvSpPr>
        <p:spPr>
          <a:xfrm>
            <a:off x="5330952" y="4160520"/>
            <a:ext cx="4206240" cy="9144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330952" y="416052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68112" y="4206240"/>
            <a:ext cx="3931920" cy="822960"/>
          </a:xfrm>
          <a:prstGeom prst="rect">
            <a:avLst/>
          </a:prstGeom>
          <a:noFill/>
        </p:spPr>
        <p:txBody>
          <a:bodyPr wrap="square"/>
          <a:lstStyle/>
          <a:p>
            <a:pPr algn="l">
              <a:lnSpc>
                <a:spcPts val="1350"/>
              </a:lnSpc>
              <a:spcBef>
                <a:spcPts val="0"/>
              </a:spcBef>
              <a:spcAft>
                <a:spcPts val="0"/>
              </a:spcAft>
              <a:defRPr sz="1000" b="0" i="0">
                <a:solidFill>
                  <a:srgbClr val="333333"/>
                </a:solidFill>
                <a:latin typeface="Lato"/>
              </a:defRPr>
            </a:pPr>
            <a:r>
              <a:t>CSF 100 = path terpendek (0.97 m) &amp; paling efisien.</a:t>
            </a:r>
            <a:br/>
            <a:r>
              <a:t>CSF 10/20/50 = path lebih panjang, di tengah lorong.</a:t>
            </a:r>
            <a:br/>
            <a:r>
              <a:t>SD CSF 100 paling rendah (0.002 m) -&gt; konsistensi tinggi.</a:t>
            </a:r>
          </a:p>
        </p:txBody>
      </p:sp>
      <p:sp>
        <p:nvSpPr>
          <p:cNvPr id="12" name="TextBox 1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18</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rgbClr val="FBF3E8"/>
            </a:gs>
            <a:gs pos="100000">
              <a:srgbClr val="E4D2B8"/>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PATH PLANNING — REGION B</a:t>
            </a:r>
          </a:p>
        </p:txBody>
      </p:sp>
      <p:sp>
        <p:nvSpPr>
          <p:cNvPr id="3" name="Rectangle 2"/>
          <p:cNvSpPr/>
          <p:nvPr/>
        </p:nvSpPr>
        <p:spPr>
          <a:xfrm>
            <a:off x="850392" y="68580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map_with_paths_RB.png"/>
          <p:cNvPicPr>
            <a:picLocks noChangeAspect="1"/>
          </p:cNvPicPr>
          <p:nvPr/>
        </p:nvPicPr>
        <p:blipFill>
          <a:blip r:embed="rId2"/>
          <a:stretch>
            <a:fillRect/>
          </a:stretch>
        </p:blipFill>
        <p:spPr>
          <a:xfrm>
            <a:off x="850392" y="960120"/>
            <a:ext cx="4114800" cy="4114800"/>
          </a:xfrm>
          <a:prstGeom prst="rect">
            <a:avLst/>
          </a:prstGeom>
        </p:spPr>
      </p:pic>
      <p:graphicFrame>
        <p:nvGraphicFramePr>
          <p:cNvPr id="5" name="Table 4"/>
          <p:cNvGraphicFramePr>
            <a:graphicFrameLocks noGrp="1"/>
          </p:cNvGraphicFramePr>
          <p:nvPr/>
        </p:nvGraphicFramePr>
        <p:xfrm>
          <a:off x="5330952" y="960120"/>
          <a:ext cx="4206240" cy="1603248"/>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56032">
                <a:tc>
                  <a:txBody>
                    <a:bodyPr/>
                    <a:lstStyle/>
                    <a:p>
                      <a:pPr algn="ctr">
                        <a:defRPr sz="800" b="1">
                          <a:solidFill>
                            <a:srgbClr val="FFFFFF"/>
                          </a:solidFill>
                          <a:latin typeface="Montserrat"/>
                        </a:defRPr>
                      </a:pPr>
                      <a:r>
                        <a:t>Cost Scaling Factor</a:t>
                      </a:r>
                    </a:p>
                  </a:txBody>
                  <a:tcPr>
                    <a:solidFill>
                      <a:srgbClr val="003A70"/>
                    </a:solidFill>
                  </a:tcPr>
                </a:tc>
                <a:tc>
                  <a:txBody>
                    <a:bodyPr/>
                    <a:lstStyle/>
                    <a:p>
                      <a:pPr algn="ctr">
                        <a:defRPr sz="800" b="1">
                          <a:solidFill>
                            <a:srgbClr val="FFFFFF"/>
                          </a:solidFill>
                          <a:latin typeface="Montserrat"/>
                        </a:defRPr>
                      </a:pPr>
                      <a:r>
                        <a:t>Panjang path (m)</a:t>
                      </a:r>
                    </a:p>
                  </a:txBody>
                  <a:tcPr>
                    <a:solidFill>
                      <a:srgbClr val="003A70"/>
                    </a:solidFill>
                  </a:tcPr>
                </a:tc>
                <a:tc>
                  <a:txBody>
                    <a:bodyPr/>
                    <a:lstStyle/>
                    <a:p>
                      <a:pPr algn="ctr">
                        <a:defRPr sz="800" b="1">
                          <a:solidFill>
                            <a:srgbClr val="FFFFFF"/>
                          </a:solidFill>
                          <a:latin typeface="Montserrat"/>
                        </a:defRPr>
                      </a:pPr>
                      <a:r>
                        <a:t>Waktu komputasi (ms)</a:t>
                      </a:r>
                    </a:p>
                  </a:txBody>
                  <a:tcPr>
                    <a:solidFill>
                      <a:srgbClr val="003A70"/>
                    </a:solidFill>
                  </a:tcPr>
                </a:tc>
                <a:tc>
                  <a:txBody>
                    <a:bodyPr/>
                    <a:lstStyle/>
                    <a:p>
                      <a:pPr algn="ctr">
                        <a:defRPr sz="800" b="1">
                          <a:solidFill>
                            <a:srgbClr val="FFFFFF"/>
                          </a:solidFill>
                          <a:latin typeface="Montserrat"/>
                        </a:defRPr>
                      </a:pPr>
                      <a:r>
                        <a:t>min clearance (m)</a:t>
                      </a:r>
                    </a:p>
                  </a:txBody>
                  <a:tcPr>
                    <a:solidFill>
                      <a:srgbClr val="003A70"/>
                    </a:solidFill>
                  </a:tcPr>
                </a:tc>
                <a:tc>
                  <a:txBody>
                    <a:bodyPr/>
                    <a:lstStyle/>
                    <a:p>
                      <a:pPr algn="ctr">
                        <a:defRPr sz="800" b="1">
                          <a:solidFill>
                            <a:srgbClr val="FFFFFF"/>
                          </a:solidFill>
                          <a:latin typeface="Montserrat"/>
                        </a:defRPr>
                      </a:pPr>
                      <a:r>
                        <a:t>Jumlah waypoint</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0.591730</a:t>
                      </a:r>
                    </a:p>
                  </a:txBody>
                  <a:tcPr/>
                </a:tc>
                <a:tc>
                  <a:txBody>
                    <a:bodyPr/>
                    <a:lstStyle/>
                    <a:p>
                      <a:pPr algn="ctr">
                        <a:defRPr sz="800">
                          <a:solidFill>
                            <a:srgbClr val="333333"/>
                          </a:solidFill>
                          <a:latin typeface="Lato"/>
                        </a:defRPr>
                      </a:pPr>
                      <a:r>
                        <a:t>152.256312</a:t>
                      </a:r>
                    </a:p>
                  </a:txBody>
                  <a:tcPr/>
                </a:tc>
                <a:tc>
                  <a:txBody>
                    <a:bodyPr/>
                    <a:lstStyle/>
                    <a:p>
                      <a:pPr algn="ctr">
                        <a:defRPr sz="800">
                          <a:solidFill>
                            <a:srgbClr val="333333"/>
                          </a:solidFill>
                          <a:latin typeface="Lato"/>
                        </a:defRPr>
                      </a:pPr>
                      <a:r>
                        <a:t>0.208163</a:t>
                      </a:r>
                    </a:p>
                  </a:txBody>
                  <a:tcPr/>
                </a:tc>
                <a:tc>
                  <a:txBody>
                    <a:bodyPr/>
                    <a:lstStyle/>
                    <a:p>
                      <a:pPr algn="ctr">
                        <a:defRPr sz="800">
                          <a:solidFill>
                            <a:srgbClr val="333333"/>
                          </a:solidFill>
                          <a:latin typeface="Lato"/>
                        </a:defRPr>
                      </a:pPr>
                      <a:r>
                        <a:t>118</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0.591773</a:t>
                      </a:r>
                    </a:p>
                  </a:txBody>
                  <a:tcPr>
                    <a:solidFill>
                      <a:srgbClr val="FFF8E7"/>
                    </a:solidFill>
                  </a:tcPr>
                </a:tc>
                <a:tc>
                  <a:txBody>
                    <a:bodyPr/>
                    <a:lstStyle/>
                    <a:p>
                      <a:pPr algn="ctr">
                        <a:defRPr sz="800">
                          <a:solidFill>
                            <a:srgbClr val="333333"/>
                          </a:solidFill>
                          <a:latin typeface="Lato"/>
                        </a:defRPr>
                      </a:pPr>
                      <a:r>
                        <a:t>135.818868</a:t>
                      </a:r>
                    </a:p>
                  </a:txBody>
                  <a:tcPr>
                    <a:solidFill>
                      <a:srgbClr val="FFF8E7"/>
                    </a:solidFill>
                  </a:tcPr>
                </a:tc>
                <a:tc>
                  <a:txBody>
                    <a:bodyPr/>
                    <a:lstStyle/>
                    <a:p>
                      <a:pPr algn="ctr">
                        <a:defRPr sz="800">
                          <a:solidFill>
                            <a:srgbClr val="333333"/>
                          </a:solidFill>
                          <a:latin typeface="Lato"/>
                        </a:defRPr>
                      </a:pPr>
                      <a:r>
                        <a:t>0.208066</a:t>
                      </a:r>
                    </a:p>
                  </a:txBody>
                  <a:tcPr>
                    <a:solidFill>
                      <a:srgbClr val="FFF8E7"/>
                    </a:solidFill>
                  </a:tcPr>
                </a:tc>
                <a:tc>
                  <a:txBody>
                    <a:bodyPr/>
                    <a:lstStyle/>
                    <a:p>
                      <a:pPr algn="ctr">
                        <a:defRPr sz="800">
                          <a:solidFill>
                            <a:srgbClr val="333333"/>
                          </a:solidFill>
                          <a:latin typeface="Lato"/>
                        </a:defRPr>
                      </a:pPr>
                      <a:r>
                        <a:t>118</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0.591600</a:t>
                      </a:r>
                    </a:p>
                  </a:txBody>
                  <a:tcPr/>
                </a:tc>
                <a:tc>
                  <a:txBody>
                    <a:bodyPr/>
                    <a:lstStyle/>
                    <a:p>
                      <a:pPr algn="ctr">
                        <a:defRPr sz="800">
                          <a:solidFill>
                            <a:srgbClr val="333333"/>
                          </a:solidFill>
                          <a:latin typeface="Lato"/>
                        </a:defRPr>
                      </a:pPr>
                      <a:r>
                        <a:t>20.557631</a:t>
                      </a:r>
                    </a:p>
                  </a:txBody>
                  <a:tcPr/>
                </a:tc>
                <a:tc>
                  <a:txBody>
                    <a:bodyPr/>
                    <a:lstStyle/>
                    <a:p>
                      <a:pPr algn="ctr">
                        <a:defRPr sz="800">
                          <a:solidFill>
                            <a:srgbClr val="333333"/>
                          </a:solidFill>
                          <a:latin typeface="Lato"/>
                        </a:defRPr>
                      </a:pPr>
                      <a:r>
                        <a:t>0.208224</a:t>
                      </a:r>
                    </a:p>
                  </a:txBody>
                  <a:tcPr/>
                </a:tc>
                <a:tc>
                  <a:txBody>
                    <a:bodyPr/>
                    <a:lstStyle/>
                    <a:p>
                      <a:pPr algn="ctr">
                        <a:defRPr sz="800">
                          <a:solidFill>
                            <a:srgbClr val="333333"/>
                          </a:solidFill>
                          <a:latin typeface="Lato"/>
                        </a:defRPr>
                      </a:pPr>
                      <a:r>
                        <a:t>118</a:t>
                      </a:r>
                    </a:p>
                  </a:txBody>
                  <a:tcPr/>
                </a:tc>
                <a:extLst>
                  <a:ext uri="{0D108BD9-81ED-4DB2-BD59-A6C34878D82A}">
                    <a16:rowId xmlns:a16="http://schemas.microsoft.com/office/drawing/2014/main" val="10003"/>
                  </a:ext>
                </a:extLst>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0.591590</a:t>
                      </a:r>
                    </a:p>
                  </a:txBody>
                  <a:tcPr>
                    <a:solidFill>
                      <a:srgbClr val="FFF8E7"/>
                    </a:solidFill>
                  </a:tcPr>
                </a:tc>
                <a:tc>
                  <a:txBody>
                    <a:bodyPr/>
                    <a:lstStyle/>
                    <a:p>
                      <a:pPr algn="ctr">
                        <a:defRPr sz="800">
                          <a:solidFill>
                            <a:srgbClr val="333333"/>
                          </a:solidFill>
                          <a:latin typeface="Lato"/>
                        </a:defRPr>
                      </a:pPr>
                      <a:r>
                        <a:t>10.574465</a:t>
                      </a:r>
                    </a:p>
                  </a:txBody>
                  <a:tcPr>
                    <a:solidFill>
                      <a:srgbClr val="FFF8E7"/>
                    </a:solidFill>
                  </a:tcPr>
                </a:tc>
                <a:tc>
                  <a:txBody>
                    <a:bodyPr/>
                    <a:lstStyle/>
                    <a:p>
                      <a:pPr algn="ctr">
                        <a:defRPr sz="800">
                          <a:solidFill>
                            <a:srgbClr val="333333"/>
                          </a:solidFill>
                          <a:latin typeface="Lato"/>
                        </a:defRPr>
                      </a:pPr>
                      <a:r>
                        <a:t>0.208132</a:t>
                      </a:r>
                    </a:p>
                  </a:txBody>
                  <a:tcPr>
                    <a:solidFill>
                      <a:srgbClr val="FFF8E7"/>
                    </a:solidFill>
                  </a:tcPr>
                </a:tc>
                <a:tc>
                  <a:txBody>
                    <a:bodyPr/>
                    <a:lstStyle/>
                    <a:p>
                      <a:pPr algn="ctr">
                        <a:defRPr sz="800">
                          <a:solidFill>
                            <a:srgbClr val="333333"/>
                          </a:solidFill>
                          <a:latin typeface="Lato"/>
                        </a:defRPr>
                      </a:pPr>
                      <a:r>
                        <a:t>118</a:t>
                      </a:r>
                    </a:p>
                  </a:txBody>
                  <a:tcPr>
                    <a:solidFill>
                      <a:srgbClr val="FFF8E7"/>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330952" y="731520"/>
            <a:ext cx="42062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CSF — Panjang, Waktu, Clearance, Waypoint</a:t>
            </a:r>
          </a:p>
        </p:txBody>
      </p:sp>
      <p:graphicFrame>
        <p:nvGraphicFramePr>
          <p:cNvPr id="7" name="Table 6"/>
          <p:cNvGraphicFramePr>
            <a:graphicFrameLocks noGrp="1"/>
          </p:cNvGraphicFramePr>
          <p:nvPr>
            <p:extLst>
              <p:ext uri="{D42A27DB-BD31-4B8C-83A1-F6EECF244321}">
                <p14:modId xmlns:p14="http://schemas.microsoft.com/office/powerpoint/2010/main" val="3101458951"/>
              </p:ext>
            </p:extLst>
          </p:nvPr>
        </p:nvGraphicFramePr>
        <p:xfrm>
          <a:off x="5330952" y="2724912"/>
          <a:ext cx="3291840" cy="1359408"/>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56032">
                <a:tc>
                  <a:txBody>
                    <a:bodyPr/>
                    <a:lstStyle/>
                    <a:p>
                      <a:pPr algn="ctr">
                        <a:defRPr sz="800" b="1">
                          <a:solidFill>
                            <a:srgbClr val="FFFFFF"/>
                          </a:solidFill>
                          <a:latin typeface="Montserrat"/>
                        </a:defRPr>
                      </a:pPr>
                      <a:r>
                        <a:t>CSF</a:t>
                      </a:r>
                    </a:p>
                  </a:txBody>
                  <a:tcPr>
                    <a:solidFill>
                      <a:srgbClr val="003A70"/>
                    </a:solidFill>
                  </a:tcPr>
                </a:tc>
                <a:tc>
                  <a:txBody>
                    <a:bodyPr/>
                    <a:lstStyle/>
                    <a:p>
                      <a:pPr algn="ctr">
                        <a:defRPr sz="800" b="1">
                          <a:solidFill>
                            <a:srgbClr val="FFFFFF"/>
                          </a:solidFill>
                          <a:latin typeface="Montserrat"/>
                        </a:defRPr>
                      </a:pPr>
                      <a:r>
                        <a:t>mean cross track</a:t>
                      </a:r>
                    </a:p>
                  </a:txBody>
                  <a:tcPr>
                    <a:solidFill>
                      <a:srgbClr val="003A70"/>
                    </a:solidFill>
                  </a:tcPr>
                </a:tc>
                <a:tc>
                  <a:txBody>
                    <a:bodyPr/>
                    <a:lstStyle/>
                    <a:p>
                      <a:pPr algn="ctr">
                        <a:defRPr sz="800" b="1">
                          <a:solidFill>
                            <a:srgbClr val="FFFFFF"/>
                          </a:solidFill>
                          <a:latin typeface="Montserrat"/>
                        </a:defRPr>
                      </a:pPr>
                      <a:r>
                        <a:t>max cross track</a:t>
                      </a:r>
                    </a:p>
                  </a:txBody>
                  <a:tcPr>
                    <a:solidFill>
                      <a:srgbClr val="003A70"/>
                    </a:solidFill>
                  </a:tcPr>
                </a:tc>
                <a:tc>
                  <a:txBody>
                    <a:bodyPr/>
                    <a:lstStyle/>
                    <a:p>
                      <a:pPr algn="ctr">
                        <a:defRPr sz="800" b="1">
                          <a:solidFill>
                            <a:srgbClr val="FFFFFF"/>
                          </a:solidFill>
                          <a:latin typeface="Montserrat"/>
                        </a:defRPr>
                      </a:pPr>
                      <a:r>
                        <a:t>standard deviation</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0.005756</a:t>
                      </a:r>
                    </a:p>
                  </a:txBody>
                  <a:tcPr/>
                </a:tc>
                <a:tc>
                  <a:txBody>
                    <a:bodyPr/>
                    <a:lstStyle/>
                    <a:p>
                      <a:pPr algn="ctr">
                        <a:defRPr sz="800">
                          <a:solidFill>
                            <a:srgbClr val="333333"/>
                          </a:solidFill>
                          <a:latin typeface="Lato"/>
                        </a:defRPr>
                      </a:pPr>
                      <a:r>
                        <a:t>0.011590</a:t>
                      </a:r>
                    </a:p>
                  </a:txBody>
                  <a:tcPr/>
                </a:tc>
                <a:tc>
                  <a:txBody>
                    <a:bodyPr/>
                    <a:lstStyle/>
                    <a:p>
                      <a:pPr algn="ctr">
                        <a:defRPr sz="800">
                          <a:solidFill>
                            <a:srgbClr val="333333"/>
                          </a:solidFill>
                          <a:latin typeface="Lato"/>
                        </a:defRPr>
                      </a:pPr>
                      <a:r>
                        <a:t>0.003508</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0.005778</a:t>
                      </a:r>
                    </a:p>
                  </a:txBody>
                  <a:tcPr>
                    <a:solidFill>
                      <a:srgbClr val="FFF8E7"/>
                    </a:solidFill>
                  </a:tcPr>
                </a:tc>
                <a:tc>
                  <a:txBody>
                    <a:bodyPr/>
                    <a:lstStyle/>
                    <a:p>
                      <a:pPr algn="ctr">
                        <a:defRPr sz="800">
                          <a:solidFill>
                            <a:srgbClr val="333333"/>
                          </a:solidFill>
                          <a:latin typeface="Lato"/>
                        </a:defRPr>
                      </a:pPr>
                      <a:r>
                        <a:t>0.011591</a:t>
                      </a:r>
                    </a:p>
                  </a:txBody>
                  <a:tcPr>
                    <a:solidFill>
                      <a:srgbClr val="FFF8E7"/>
                    </a:solidFill>
                  </a:tcPr>
                </a:tc>
                <a:tc>
                  <a:txBody>
                    <a:bodyPr/>
                    <a:lstStyle/>
                    <a:p>
                      <a:pPr algn="ctr">
                        <a:defRPr sz="800">
                          <a:solidFill>
                            <a:srgbClr val="333333"/>
                          </a:solidFill>
                          <a:latin typeface="Lato"/>
                        </a:defRPr>
                      </a:pPr>
                      <a:r>
                        <a:t>0.003492</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0.005678</a:t>
                      </a:r>
                    </a:p>
                  </a:txBody>
                  <a:tcPr/>
                </a:tc>
                <a:tc>
                  <a:txBody>
                    <a:bodyPr/>
                    <a:lstStyle/>
                    <a:p>
                      <a:pPr algn="ctr">
                        <a:defRPr sz="800">
                          <a:solidFill>
                            <a:srgbClr val="333333"/>
                          </a:solidFill>
                          <a:latin typeface="Lato"/>
                        </a:defRPr>
                      </a:pPr>
                      <a:r>
                        <a:t>0.011591</a:t>
                      </a:r>
                    </a:p>
                  </a:txBody>
                  <a:tcPr/>
                </a:tc>
                <a:tc>
                  <a:txBody>
                    <a:bodyPr/>
                    <a:lstStyle/>
                    <a:p>
                      <a:pPr algn="ctr">
                        <a:defRPr sz="800">
                          <a:solidFill>
                            <a:srgbClr val="333333"/>
                          </a:solidFill>
                          <a:latin typeface="Lato"/>
                        </a:defRPr>
                      </a:pPr>
                      <a:r>
                        <a:rPr dirty="0"/>
                        <a:t>0.003483</a:t>
                      </a:r>
                    </a:p>
                  </a:txBody>
                  <a:tcPr/>
                </a:tc>
                <a:extLst>
                  <a:ext uri="{0D108BD9-81ED-4DB2-BD59-A6C34878D82A}">
                    <a16:rowId xmlns:a16="http://schemas.microsoft.com/office/drawing/2014/main" val="10003"/>
                  </a:ext>
                </a:extLst>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0.005678</a:t>
                      </a:r>
                    </a:p>
                  </a:txBody>
                  <a:tcPr>
                    <a:solidFill>
                      <a:srgbClr val="FFF8E7"/>
                    </a:solidFill>
                  </a:tcPr>
                </a:tc>
                <a:tc>
                  <a:txBody>
                    <a:bodyPr/>
                    <a:lstStyle/>
                    <a:p>
                      <a:pPr algn="ctr">
                        <a:defRPr sz="800">
                          <a:solidFill>
                            <a:srgbClr val="333333"/>
                          </a:solidFill>
                          <a:latin typeface="Lato"/>
                        </a:defRPr>
                      </a:pPr>
                      <a:r>
                        <a:t>0.011591</a:t>
                      </a:r>
                    </a:p>
                  </a:txBody>
                  <a:tcPr>
                    <a:solidFill>
                      <a:srgbClr val="FFF8E7"/>
                    </a:solidFill>
                  </a:tcPr>
                </a:tc>
                <a:tc>
                  <a:txBody>
                    <a:bodyPr/>
                    <a:lstStyle/>
                    <a:p>
                      <a:pPr algn="ctr">
                        <a:defRPr sz="800">
                          <a:solidFill>
                            <a:srgbClr val="333333"/>
                          </a:solidFill>
                          <a:latin typeface="Lato"/>
                        </a:defRPr>
                      </a:pPr>
                      <a:r>
                        <a:rPr dirty="0"/>
                        <a:t>0.003483</a:t>
                      </a:r>
                    </a:p>
                  </a:txBody>
                  <a:tcPr>
                    <a:solidFill>
                      <a:srgbClr val="FFF8E7"/>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5263896" y="2535936"/>
            <a:ext cx="32918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rPr dirty="0"/>
              <a:t>Tabel </a:t>
            </a:r>
            <a:r>
              <a:rPr dirty="0" err="1"/>
              <a:t>Deviasi</a:t>
            </a:r>
            <a:r>
              <a:rPr dirty="0"/>
              <a:t> — Mean/Max Cross Track &amp; SD</a:t>
            </a:r>
          </a:p>
        </p:txBody>
      </p:sp>
      <p:sp>
        <p:nvSpPr>
          <p:cNvPr id="9" name="Rounded Rectangle 8"/>
          <p:cNvSpPr/>
          <p:nvPr/>
        </p:nvSpPr>
        <p:spPr>
          <a:xfrm>
            <a:off x="5330952" y="4160520"/>
            <a:ext cx="4206240" cy="9144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330952" y="416052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68112" y="4206240"/>
            <a:ext cx="3931920" cy="822960"/>
          </a:xfrm>
          <a:prstGeom prst="rect">
            <a:avLst/>
          </a:prstGeom>
          <a:noFill/>
        </p:spPr>
        <p:txBody>
          <a:bodyPr wrap="square"/>
          <a:lstStyle/>
          <a:p>
            <a:pPr algn="l">
              <a:lnSpc>
                <a:spcPts val="1350"/>
              </a:lnSpc>
              <a:spcBef>
                <a:spcPts val="0"/>
              </a:spcBef>
              <a:spcAft>
                <a:spcPts val="0"/>
              </a:spcAft>
              <a:defRPr sz="1000" b="0" i="0">
                <a:solidFill>
                  <a:srgbClr val="333333"/>
                </a:solidFill>
                <a:latin typeface="Lato"/>
              </a:defRPr>
            </a:pPr>
            <a:r>
              <a:t>CSF tidak signifikan: layout lorong sempit -&gt; semua</a:t>
            </a:r>
            <a:br/>
            <a:r>
              <a:t>CSF menghasilkan path hampir identik (~0.59 m).</a:t>
            </a:r>
            <a:br/>
            <a:r>
              <a:t>SD sangat kecil (&lt; 0.004 m) untuk semua CSF.</a:t>
            </a:r>
          </a:p>
        </p:txBody>
      </p:sp>
      <p:sp>
        <p:nvSpPr>
          <p:cNvPr id="12" name="TextBox 1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rgbClr val="FBF3E8"/>
            </a:gs>
            <a:gs pos="100000">
              <a:srgbClr val="E4D2B8"/>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PATH PLANNING — REGION C</a:t>
            </a:r>
          </a:p>
        </p:txBody>
      </p:sp>
      <p:sp>
        <p:nvSpPr>
          <p:cNvPr id="3" name="Rectangle 2"/>
          <p:cNvSpPr/>
          <p:nvPr/>
        </p:nvSpPr>
        <p:spPr>
          <a:xfrm>
            <a:off x="850392" y="68580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map_with_paths_RC.png"/>
          <p:cNvPicPr>
            <a:picLocks noChangeAspect="1"/>
          </p:cNvPicPr>
          <p:nvPr/>
        </p:nvPicPr>
        <p:blipFill>
          <a:blip r:embed="rId2"/>
          <a:stretch>
            <a:fillRect/>
          </a:stretch>
        </p:blipFill>
        <p:spPr>
          <a:xfrm>
            <a:off x="850392" y="960120"/>
            <a:ext cx="4114800" cy="4114800"/>
          </a:xfrm>
          <a:prstGeom prst="rect">
            <a:avLst/>
          </a:prstGeom>
        </p:spPr>
      </p:pic>
      <p:graphicFrame>
        <p:nvGraphicFramePr>
          <p:cNvPr id="5" name="Table 4"/>
          <p:cNvGraphicFramePr>
            <a:graphicFrameLocks noGrp="1"/>
          </p:cNvGraphicFramePr>
          <p:nvPr/>
        </p:nvGraphicFramePr>
        <p:xfrm>
          <a:off x="5330952" y="960120"/>
          <a:ext cx="4206240" cy="1603248"/>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56032">
                <a:tc>
                  <a:txBody>
                    <a:bodyPr/>
                    <a:lstStyle/>
                    <a:p>
                      <a:pPr algn="ctr">
                        <a:defRPr sz="800" b="1">
                          <a:solidFill>
                            <a:srgbClr val="FFFFFF"/>
                          </a:solidFill>
                          <a:latin typeface="Montserrat"/>
                        </a:defRPr>
                      </a:pPr>
                      <a:r>
                        <a:t>Cost Scaling Factor</a:t>
                      </a:r>
                    </a:p>
                  </a:txBody>
                  <a:tcPr>
                    <a:solidFill>
                      <a:srgbClr val="003A70"/>
                    </a:solidFill>
                  </a:tcPr>
                </a:tc>
                <a:tc>
                  <a:txBody>
                    <a:bodyPr/>
                    <a:lstStyle/>
                    <a:p>
                      <a:pPr algn="ctr">
                        <a:defRPr sz="800" b="1">
                          <a:solidFill>
                            <a:srgbClr val="FFFFFF"/>
                          </a:solidFill>
                          <a:latin typeface="Montserrat"/>
                        </a:defRPr>
                      </a:pPr>
                      <a:r>
                        <a:t>Panjang path (m)</a:t>
                      </a:r>
                    </a:p>
                  </a:txBody>
                  <a:tcPr>
                    <a:solidFill>
                      <a:srgbClr val="003A70"/>
                    </a:solidFill>
                  </a:tcPr>
                </a:tc>
                <a:tc>
                  <a:txBody>
                    <a:bodyPr/>
                    <a:lstStyle/>
                    <a:p>
                      <a:pPr algn="ctr">
                        <a:defRPr sz="800" b="1">
                          <a:solidFill>
                            <a:srgbClr val="FFFFFF"/>
                          </a:solidFill>
                          <a:latin typeface="Montserrat"/>
                        </a:defRPr>
                      </a:pPr>
                      <a:r>
                        <a:t>Waktu komputasi (ms)</a:t>
                      </a:r>
                    </a:p>
                  </a:txBody>
                  <a:tcPr>
                    <a:solidFill>
                      <a:srgbClr val="003A70"/>
                    </a:solidFill>
                  </a:tcPr>
                </a:tc>
                <a:tc>
                  <a:txBody>
                    <a:bodyPr/>
                    <a:lstStyle/>
                    <a:p>
                      <a:pPr algn="ctr">
                        <a:defRPr sz="800" b="1">
                          <a:solidFill>
                            <a:srgbClr val="FFFFFF"/>
                          </a:solidFill>
                          <a:latin typeface="Montserrat"/>
                        </a:defRPr>
                      </a:pPr>
                      <a:r>
                        <a:t>min clearance (m)</a:t>
                      </a:r>
                    </a:p>
                  </a:txBody>
                  <a:tcPr>
                    <a:solidFill>
                      <a:srgbClr val="003A70"/>
                    </a:solidFill>
                  </a:tcPr>
                </a:tc>
                <a:tc>
                  <a:txBody>
                    <a:bodyPr/>
                    <a:lstStyle/>
                    <a:p>
                      <a:pPr algn="ctr">
                        <a:defRPr sz="800" b="1">
                          <a:solidFill>
                            <a:srgbClr val="FFFFFF"/>
                          </a:solidFill>
                          <a:latin typeface="Montserrat"/>
                        </a:defRPr>
                      </a:pPr>
                      <a:r>
                        <a:t>Jumlah waypoint</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2.542122</a:t>
                      </a:r>
                    </a:p>
                  </a:txBody>
                  <a:tcPr/>
                </a:tc>
                <a:tc>
                  <a:txBody>
                    <a:bodyPr/>
                    <a:lstStyle/>
                    <a:p>
                      <a:pPr algn="ctr">
                        <a:defRPr sz="800">
                          <a:solidFill>
                            <a:srgbClr val="333333"/>
                          </a:solidFill>
                          <a:latin typeface="Lato"/>
                        </a:defRPr>
                      </a:pPr>
                      <a:r>
                        <a:t>10.629525</a:t>
                      </a:r>
                    </a:p>
                  </a:txBody>
                  <a:tcPr/>
                </a:tc>
                <a:tc>
                  <a:txBody>
                    <a:bodyPr/>
                    <a:lstStyle/>
                    <a:p>
                      <a:pPr algn="ctr">
                        <a:defRPr sz="800">
                          <a:solidFill>
                            <a:srgbClr val="333333"/>
                          </a:solidFill>
                          <a:latin typeface="Lato"/>
                        </a:defRPr>
                      </a:pPr>
                      <a:r>
                        <a:t>0.197048</a:t>
                      </a:r>
                    </a:p>
                  </a:txBody>
                  <a:tcPr/>
                </a:tc>
                <a:tc>
                  <a:txBody>
                    <a:bodyPr/>
                    <a:lstStyle/>
                    <a:p>
                      <a:pPr algn="ctr">
                        <a:defRPr sz="800">
                          <a:solidFill>
                            <a:srgbClr val="333333"/>
                          </a:solidFill>
                          <a:latin typeface="Lato"/>
                        </a:defRPr>
                      </a:pPr>
                      <a:r>
                        <a:t>509</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2.596590</a:t>
                      </a:r>
                    </a:p>
                  </a:txBody>
                  <a:tcPr>
                    <a:solidFill>
                      <a:srgbClr val="FFF8E7"/>
                    </a:solidFill>
                  </a:tcPr>
                </a:tc>
                <a:tc>
                  <a:txBody>
                    <a:bodyPr/>
                    <a:lstStyle/>
                    <a:p>
                      <a:pPr algn="ctr">
                        <a:defRPr sz="800">
                          <a:solidFill>
                            <a:srgbClr val="333333"/>
                          </a:solidFill>
                          <a:latin typeface="Lato"/>
                        </a:defRPr>
                      </a:pPr>
                      <a:r>
                        <a:t>10.268101</a:t>
                      </a:r>
                    </a:p>
                  </a:txBody>
                  <a:tcPr>
                    <a:solidFill>
                      <a:srgbClr val="FFF8E7"/>
                    </a:solidFill>
                  </a:tcPr>
                </a:tc>
                <a:tc>
                  <a:txBody>
                    <a:bodyPr/>
                    <a:lstStyle/>
                    <a:p>
                      <a:pPr algn="ctr">
                        <a:defRPr sz="800">
                          <a:solidFill>
                            <a:srgbClr val="333333"/>
                          </a:solidFill>
                          <a:latin typeface="Lato"/>
                        </a:defRPr>
                      </a:pPr>
                      <a:r>
                        <a:t>0.196292</a:t>
                      </a:r>
                    </a:p>
                  </a:txBody>
                  <a:tcPr>
                    <a:solidFill>
                      <a:srgbClr val="FFF8E7"/>
                    </a:solidFill>
                  </a:tcPr>
                </a:tc>
                <a:tc>
                  <a:txBody>
                    <a:bodyPr/>
                    <a:lstStyle/>
                    <a:p>
                      <a:pPr algn="ctr">
                        <a:defRPr sz="800">
                          <a:solidFill>
                            <a:srgbClr val="333333"/>
                          </a:solidFill>
                          <a:latin typeface="Lato"/>
                        </a:defRPr>
                      </a:pPr>
                      <a:r>
                        <a:t>521</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2.596873</a:t>
                      </a:r>
                    </a:p>
                  </a:txBody>
                  <a:tcPr/>
                </a:tc>
                <a:tc>
                  <a:txBody>
                    <a:bodyPr/>
                    <a:lstStyle/>
                    <a:p>
                      <a:pPr algn="ctr">
                        <a:defRPr sz="800">
                          <a:solidFill>
                            <a:srgbClr val="333333"/>
                          </a:solidFill>
                          <a:latin typeface="Lato"/>
                        </a:defRPr>
                      </a:pPr>
                      <a:r>
                        <a:t>9.922248</a:t>
                      </a:r>
                    </a:p>
                  </a:txBody>
                  <a:tcPr/>
                </a:tc>
                <a:tc>
                  <a:txBody>
                    <a:bodyPr/>
                    <a:lstStyle/>
                    <a:p>
                      <a:pPr algn="ctr">
                        <a:defRPr sz="800">
                          <a:solidFill>
                            <a:srgbClr val="333333"/>
                          </a:solidFill>
                          <a:latin typeface="Lato"/>
                        </a:defRPr>
                      </a:pPr>
                      <a:r>
                        <a:t>0.197185</a:t>
                      </a:r>
                    </a:p>
                  </a:txBody>
                  <a:tcPr/>
                </a:tc>
                <a:tc>
                  <a:txBody>
                    <a:bodyPr/>
                    <a:lstStyle/>
                    <a:p>
                      <a:pPr algn="ctr">
                        <a:defRPr sz="800">
                          <a:solidFill>
                            <a:srgbClr val="333333"/>
                          </a:solidFill>
                          <a:latin typeface="Lato"/>
                        </a:defRPr>
                      </a:pPr>
                      <a:r>
                        <a:t>520</a:t>
                      </a:r>
                    </a:p>
                  </a:txBody>
                  <a:tcPr/>
                </a:tc>
                <a:extLst>
                  <a:ext uri="{0D108BD9-81ED-4DB2-BD59-A6C34878D82A}">
                    <a16:rowId xmlns:a16="http://schemas.microsoft.com/office/drawing/2014/main" val="10003"/>
                  </a:ext>
                </a:extLst>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2.524643</a:t>
                      </a:r>
                    </a:p>
                  </a:txBody>
                  <a:tcPr>
                    <a:solidFill>
                      <a:srgbClr val="FFF8E7"/>
                    </a:solidFill>
                  </a:tcPr>
                </a:tc>
                <a:tc>
                  <a:txBody>
                    <a:bodyPr/>
                    <a:lstStyle/>
                    <a:p>
                      <a:pPr algn="ctr">
                        <a:defRPr sz="800">
                          <a:solidFill>
                            <a:srgbClr val="333333"/>
                          </a:solidFill>
                          <a:latin typeface="Lato"/>
                        </a:defRPr>
                      </a:pPr>
                      <a:r>
                        <a:t>10.224478</a:t>
                      </a:r>
                    </a:p>
                  </a:txBody>
                  <a:tcPr>
                    <a:solidFill>
                      <a:srgbClr val="FFF8E7"/>
                    </a:solidFill>
                  </a:tcPr>
                </a:tc>
                <a:tc>
                  <a:txBody>
                    <a:bodyPr/>
                    <a:lstStyle/>
                    <a:p>
                      <a:pPr algn="ctr">
                        <a:defRPr sz="800">
                          <a:solidFill>
                            <a:srgbClr val="333333"/>
                          </a:solidFill>
                          <a:latin typeface="Lato"/>
                        </a:defRPr>
                      </a:pPr>
                      <a:r>
                        <a:t>0.195499</a:t>
                      </a:r>
                    </a:p>
                  </a:txBody>
                  <a:tcPr>
                    <a:solidFill>
                      <a:srgbClr val="FFF8E7"/>
                    </a:solidFill>
                  </a:tcPr>
                </a:tc>
                <a:tc>
                  <a:txBody>
                    <a:bodyPr/>
                    <a:lstStyle/>
                    <a:p>
                      <a:pPr algn="ctr">
                        <a:defRPr sz="800">
                          <a:solidFill>
                            <a:srgbClr val="333333"/>
                          </a:solidFill>
                          <a:latin typeface="Lato"/>
                        </a:defRPr>
                      </a:pPr>
                      <a:r>
                        <a:t>506</a:t>
                      </a:r>
                    </a:p>
                  </a:txBody>
                  <a:tcPr>
                    <a:solidFill>
                      <a:srgbClr val="FFF8E7"/>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330952" y="731520"/>
            <a:ext cx="42062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CSF — Panjang, Waktu, Clearance, Waypoint</a:t>
            </a:r>
          </a:p>
        </p:txBody>
      </p:sp>
      <p:graphicFrame>
        <p:nvGraphicFramePr>
          <p:cNvPr id="7" name="Table 6"/>
          <p:cNvGraphicFramePr>
            <a:graphicFrameLocks noGrp="1"/>
          </p:cNvGraphicFramePr>
          <p:nvPr>
            <p:extLst>
              <p:ext uri="{D42A27DB-BD31-4B8C-83A1-F6EECF244321}">
                <p14:modId xmlns:p14="http://schemas.microsoft.com/office/powerpoint/2010/main" val="4034284680"/>
              </p:ext>
            </p:extLst>
          </p:nvPr>
        </p:nvGraphicFramePr>
        <p:xfrm>
          <a:off x="5330952" y="2980944"/>
          <a:ext cx="3291840" cy="1103376"/>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56032">
                <a:tc>
                  <a:txBody>
                    <a:bodyPr/>
                    <a:lstStyle/>
                    <a:p>
                      <a:pPr algn="ctr">
                        <a:defRPr sz="800" b="1">
                          <a:solidFill>
                            <a:srgbClr val="FFFFFF"/>
                          </a:solidFill>
                          <a:latin typeface="Montserrat"/>
                        </a:defRPr>
                      </a:pPr>
                      <a:r>
                        <a:t>CSF</a:t>
                      </a:r>
                    </a:p>
                  </a:txBody>
                  <a:tcPr>
                    <a:solidFill>
                      <a:srgbClr val="003A70"/>
                    </a:solidFill>
                  </a:tcPr>
                </a:tc>
                <a:tc>
                  <a:txBody>
                    <a:bodyPr/>
                    <a:lstStyle/>
                    <a:p>
                      <a:pPr algn="ctr">
                        <a:defRPr sz="800" b="1">
                          <a:solidFill>
                            <a:srgbClr val="FFFFFF"/>
                          </a:solidFill>
                          <a:latin typeface="Montserrat"/>
                        </a:defRPr>
                      </a:pPr>
                      <a:r>
                        <a:t>mean cross track</a:t>
                      </a:r>
                    </a:p>
                  </a:txBody>
                  <a:tcPr>
                    <a:solidFill>
                      <a:srgbClr val="003A70"/>
                    </a:solidFill>
                  </a:tcPr>
                </a:tc>
                <a:tc>
                  <a:txBody>
                    <a:bodyPr/>
                    <a:lstStyle/>
                    <a:p>
                      <a:pPr algn="ctr">
                        <a:defRPr sz="800" b="1">
                          <a:solidFill>
                            <a:srgbClr val="FFFFFF"/>
                          </a:solidFill>
                          <a:latin typeface="Montserrat"/>
                        </a:defRPr>
                      </a:pPr>
                      <a:r>
                        <a:t>max cross track</a:t>
                      </a:r>
                    </a:p>
                  </a:txBody>
                  <a:tcPr>
                    <a:solidFill>
                      <a:srgbClr val="003A70"/>
                    </a:solidFill>
                  </a:tcPr>
                </a:tc>
                <a:tc>
                  <a:txBody>
                    <a:bodyPr/>
                    <a:lstStyle/>
                    <a:p>
                      <a:pPr algn="ctr">
                        <a:defRPr sz="800" b="1">
                          <a:solidFill>
                            <a:srgbClr val="FFFFFF"/>
                          </a:solidFill>
                          <a:latin typeface="Montserrat"/>
                        </a:defRPr>
                      </a:pPr>
                      <a:r>
                        <a:t>standard deviation</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20</a:t>
                      </a:r>
                    </a:p>
                  </a:txBody>
                  <a:tcPr/>
                </a:tc>
                <a:tc>
                  <a:txBody>
                    <a:bodyPr/>
                    <a:lstStyle/>
                    <a:p>
                      <a:pPr algn="ctr">
                        <a:defRPr sz="800">
                          <a:solidFill>
                            <a:srgbClr val="333333"/>
                          </a:solidFill>
                          <a:latin typeface="Lato"/>
                        </a:defRPr>
                      </a:pPr>
                      <a:r>
                        <a:t>0.005548</a:t>
                      </a:r>
                    </a:p>
                  </a:txBody>
                  <a:tcPr/>
                </a:tc>
                <a:tc>
                  <a:txBody>
                    <a:bodyPr/>
                    <a:lstStyle/>
                    <a:p>
                      <a:pPr algn="ctr">
                        <a:defRPr sz="800">
                          <a:solidFill>
                            <a:srgbClr val="333333"/>
                          </a:solidFill>
                          <a:latin typeface="Lato"/>
                        </a:defRPr>
                      </a:pPr>
                      <a:r>
                        <a:t>0.002228</a:t>
                      </a:r>
                    </a:p>
                  </a:txBody>
                  <a:tcPr/>
                </a:tc>
                <a:tc>
                  <a:txBody>
                    <a:bodyPr/>
                    <a:lstStyle/>
                    <a:p>
                      <a:pPr algn="ctr">
                        <a:defRPr sz="800">
                          <a:solidFill>
                            <a:srgbClr val="333333"/>
                          </a:solidFill>
                          <a:latin typeface="Lato"/>
                        </a:defRPr>
                      </a:pPr>
                      <a:r>
                        <a:t>0.013089</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50</a:t>
                      </a:r>
                    </a:p>
                  </a:txBody>
                  <a:tcPr>
                    <a:solidFill>
                      <a:srgbClr val="FFF8E7"/>
                    </a:solidFill>
                  </a:tcPr>
                </a:tc>
                <a:tc>
                  <a:txBody>
                    <a:bodyPr/>
                    <a:lstStyle/>
                    <a:p>
                      <a:pPr algn="ctr">
                        <a:defRPr sz="800">
                          <a:solidFill>
                            <a:srgbClr val="333333"/>
                          </a:solidFill>
                          <a:latin typeface="Lato"/>
                        </a:defRPr>
                      </a:pPr>
                      <a:r>
                        <a:rPr dirty="0"/>
                        <a:t>0.012802</a:t>
                      </a:r>
                    </a:p>
                  </a:txBody>
                  <a:tcPr>
                    <a:solidFill>
                      <a:srgbClr val="FFF8E7"/>
                    </a:solidFill>
                  </a:tcPr>
                </a:tc>
                <a:tc>
                  <a:txBody>
                    <a:bodyPr/>
                    <a:lstStyle/>
                    <a:p>
                      <a:pPr algn="ctr">
                        <a:defRPr sz="800">
                          <a:solidFill>
                            <a:srgbClr val="333333"/>
                          </a:solidFill>
                          <a:latin typeface="Lato"/>
                        </a:defRPr>
                      </a:pPr>
                      <a:r>
                        <a:t>0.018897</a:t>
                      </a:r>
                    </a:p>
                  </a:txBody>
                  <a:tcPr>
                    <a:solidFill>
                      <a:srgbClr val="FFF8E7"/>
                    </a:solidFill>
                  </a:tcPr>
                </a:tc>
                <a:tc>
                  <a:txBody>
                    <a:bodyPr/>
                    <a:lstStyle/>
                    <a:p>
                      <a:pPr algn="ctr">
                        <a:defRPr sz="800">
                          <a:solidFill>
                            <a:srgbClr val="333333"/>
                          </a:solidFill>
                          <a:latin typeface="Lato"/>
                        </a:defRPr>
                      </a:pPr>
                      <a:r>
                        <a:t>0.089070</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100</a:t>
                      </a:r>
                    </a:p>
                  </a:txBody>
                  <a:tcPr/>
                </a:tc>
                <a:tc>
                  <a:txBody>
                    <a:bodyPr/>
                    <a:lstStyle/>
                    <a:p>
                      <a:pPr algn="ctr">
                        <a:defRPr sz="800">
                          <a:solidFill>
                            <a:srgbClr val="333333"/>
                          </a:solidFill>
                          <a:latin typeface="Lato"/>
                        </a:defRPr>
                      </a:pPr>
                      <a:r>
                        <a:t>0.020026</a:t>
                      </a:r>
                    </a:p>
                  </a:txBody>
                  <a:tcPr/>
                </a:tc>
                <a:tc>
                  <a:txBody>
                    <a:bodyPr/>
                    <a:lstStyle/>
                    <a:p>
                      <a:pPr algn="ctr">
                        <a:defRPr sz="800">
                          <a:solidFill>
                            <a:srgbClr val="333333"/>
                          </a:solidFill>
                          <a:latin typeface="Lato"/>
                        </a:defRPr>
                      </a:pPr>
                      <a:r>
                        <a:t>0.024742</a:t>
                      </a:r>
                    </a:p>
                  </a:txBody>
                  <a:tcPr/>
                </a:tc>
                <a:tc>
                  <a:txBody>
                    <a:bodyPr/>
                    <a:lstStyle/>
                    <a:p>
                      <a:pPr algn="ctr">
                        <a:defRPr sz="800">
                          <a:solidFill>
                            <a:srgbClr val="333333"/>
                          </a:solidFill>
                          <a:latin typeface="Lato"/>
                        </a:defRPr>
                      </a:pPr>
                      <a:r>
                        <a:rPr dirty="0"/>
                        <a:t>0.099313</a:t>
                      </a:r>
                    </a:p>
                  </a:txBody>
                  <a:tcPr/>
                </a:tc>
                <a:extLst>
                  <a:ext uri="{0D108BD9-81ED-4DB2-BD59-A6C34878D82A}">
                    <a16:rowId xmlns:a16="http://schemas.microsoft.com/office/drawing/2014/main" val="10003"/>
                  </a:ext>
                </a:extLst>
              </a:tr>
            </a:tbl>
          </a:graphicData>
        </a:graphic>
      </p:graphicFrame>
      <p:sp>
        <p:nvSpPr>
          <p:cNvPr id="8" name="TextBox 7"/>
          <p:cNvSpPr txBox="1"/>
          <p:nvPr/>
        </p:nvSpPr>
        <p:spPr>
          <a:xfrm>
            <a:off x="5245608" y="2656332"/>
            <a:ext cx="32918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rPr dirty="0"/>
              <a:t>Tabel </a:t>
            </a:r>
            <a:r>
              <a:rPr dirty="0" err="1"/>
              <a:t>Deviasi</a:t>
            </a:r>
            <a:r>
              <a:rPr dirty="0"/>
              <a:t> — Mean/Max Cross Track &amp; SD</a:t>
            </a:r>
          </a:p>
        </p:txBody>
      </p:sp>
      <p:sp>
        <p:nvSpPr>
          <p:cNvPr id="9" name="Rounded Rectangle 8"/>
          <p:cNvSpPr/>
          <p:nvPr/>
        </p:nvSpPr>
        <p:spPr>
          <a:xfrm>
            <a:off x="5330952" y="4160520"/>
            <a:ext cx="4206240" cy="9144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330952" y="416052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68112" y="4206240"/>
            <a:ext cx="3931920" cy="822960"/>
          </a:xfrm>
          <a:prstGeom prst="rect">
            <a:avLst/>
          </a:prstGeom>
          <a:noFill/>
        </p:spPr>
        <p:txBody>
          <a:bodyPr wrap="square"/>
          <a:lstStyle/>
          <a:p>
            <a:pPr algn="l">
              <a:lnSpc>
                <a:spcPts val="1350"/>
              </a:lnSpc>
              <a:spcBef>
                <a:spcPts val="0"/>
              </a:spcBef>
              <a:spcAft>
                <a:spcPts val="0"/>
              </a:spcAft>
              <a:defRPr sz="1000" b="0" i="0">
                <a:solidFill>
                  <a:srgbClr val="333333"/>
                </a:solidFill>
                <a:latin typeface="Lato"/>
              </a:defRPr>
            </a:pPr>
            <a:r>
              <a:t>CSF 100 = path terpendek (2.52 m).</a:t>
            </a:r>
            <a:br/>
            <a:r>
              <a:t>CSF 10 lebih aman di tengah lorong, lebih panjang.</a:t>
            </a:r>
            <a:br/>
            <a:r>
              <a:t>Trade-off: path pendek vs deviasi ground truth.</a:t>
            </a:r>
          </a:p>
        </p:txBody>
      </p:sp>
      <p:sp>
        <p:nvSpPr>
          <p:cNvPr id="12" name="TextBox 1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20</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rgbClr val="FBF3E8"/>
            </a:gs>
            <a:gs pos="100000">
              <a:srgbClr val="E4D2B8"/>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PENGUJIAN: NAVIGASI PENUH</a:t>
            </a:r>
          </a:p>
        </p:txBody>
      </p:sp>
      <p:sp>
        <p:nvSpPr>
          <p:cNvPr id="3" name="Rectangle 2"/>
          <p:cNvSpPr/>
          <p:nvPr/>
        </p:nvSpPr>
        <p:spPr>
          <a:xfrm>
            <a:off x="850392" y="658368"/>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850392" y="960120"/>
          <a:ext cx="4709160" cy="1103376"/>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256032">
                <a:tc>
                  <a:txBody>
                    <a:bodyPr/>
                    <a:lstStyle/>
                    <a:p>
                      <a:pPr algn="ctr">
                        <a:defRPr sz="800" b="1">
                          <a:solidFill>
                            <a:srgbClr val="FFFFFF"/>
                          </a:solidFill>
                          <a:latin typeface="Montserrat"/>
                        </a:defRPr>
                      </a:pPr>
                      <a:r>
                        <a:t>region</a:t>
                      </a:r>
                    </a:p>
                  </a:txBody>
                  <a:tcPr>
                    <a:solidFill>
                      <a:srgbClr val="003A70"/>
                    </a:solidFill>
                  </a:tcPr>
                </a:tc>
                <a:tc>
                  <a:txBody>
                    <a:bodyPr/>
                    <a:lstStyle/>
                    <a:p>
                      <a:pPr algn="ctr">
                        <a:defRPr sz="800" b="1">
                          <a:solidFill>
                            <a:srgbClr val="FFFFFF"/>
                          </a:solidFill>
                          <a:latin typeface="Montserrat"/>
                        </a:defRPr>
                      </a:pPr>
                      <a:r>
                        <a:t>Waktu (s)</a:t>
                      </a:r>
                    </a:p>
                  </a:txBody>
                  <a:tcPr>
                    <a:solidFill>
                      <a:srgbClr val="003A70"/>
                    </a:solidFill>
                  </a:tcPr>
                </a:tc>
                <a:tc>
                  <a:txBody>
                    <a:bodyPr/>
                    <a:lstStyle/>
                    <a:p>
                      <a:pPr algn="ctr">
                        <a:defRPr sz="800" b="1">
                          <a:solidFill>
                            <a:srgbClr val="FFFFFF"/>
                          </a:solidFill>
                          <a:latin typeface="Montserrat"/>
                        </a:defRPr>
                      </a:pPr>
                      <a:r>
                        <a:t> Mean cross track error (m)</a:t>
                      </a:r>
                    </a:p>
                  </a:txBody>
                  <a:tcPr>
                    <a:solidFill>
                      <a:srgbClr val="003A70"/>
                    </a:solidFill>
                  </a:tcPr>
                </a:tc>
                <a:tc>
                  <a:txBody>
                    <a:bodyPr/>
                    <a:lstStyle/>
                    <a:p>
                      <a:pPr algn="ctr">
                        <a:defRPr sz="800" b="1">
                          <a:solidFill>
                            <a:srgbClr val="FFFFFF"/>
                          </a:solidFill>
                          <a:latin typeface="Montserrat"/>
                        </a:defRPr>
                      </a:pPr>
                      <a:r>
                        <a:t>Max cross track error (m)</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A</a:t>
                      </a:r>
                    </a:p>
                  </a:txBody>
                  <a:tcPr/>
                </a:tc>
                <a:tc>
                  <a:txBody>
                    <a:bodyPr/>
                    <a:lstStyle/>
                    <a:p>
                      <a:pPr algn="ctr">
                        <a:defRPr sz="800">
                          <a:solidFill>
                            <a:srgbClr val="333333"/>
                          </a:solidFill>
                          <a:latin typeface="Lato"/>
                        </a:defRPr>
                      </a:pPr>
                      <a:r>
                        <a:t>13.412</a:t>
                      </a:r>
                    </a:p>
                  </a:txBody>
                  <a:tcPr/>
                </a:tc>
                <a:tc>
                  <a:txBody>
                    <a:bodyPr/>
                    <a:lstStyle/>
                    <a:p>
                      <a:pPr algn="ctr">
                        <a:defRPr sz="800">
                          <a:solidFill>
                            <a:srgbClr val="333333"/>
                          </a:solidFill>
                          <a:latin typeface="Lato"/>
                        </a:defRPr>
                      </a:pPr>
                      <a:r>
                        <a:t>0.009814</a:t>
                      </a:r>
                    </a:p>
                  </a:txBody>
                  <a:tcPr/>
                </a:tc>
                <a:tc>
                  <a:txBody>
                    <a:bodyPr/>
                    <a:lstStyle/>
                    <a:p>
                      <a:pPr algn="ctr">
                        <a:defRPr sz="800">
                          <a:solidFill>
                            <a:srgbClr val="333333"/>
                          </a:solidFill>
                          <a:latin typeface="Lato"/>
                        </a:defRPr>
                      </a:pPr>
                      <a:r>
                        <a:t>0.033543</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B</a:t>
                      </a:r>
                    </a:p>
                  </a:txBody>
                  <a:tcPr>
                    <a:solidFill>
                      <a:srgbClr val="FFF8E7"/>
                    </a:solidFill>
                  </a:tcPr>
                </a:tc>
                <a:tc>
                  <a:txBody>
                    <a:bodyPr/>
                    <a:lstStyle/>
                    <a:p>
                      <a:pPr algn="ctr">
                        <a:defRPr sz="800">
                          <a:solidFill>
                            <a:srgbClr val="333333"/>
                          </a:solidFill>
                          <a:latin typeface="Lato"/>
                        </a:defRPr>
                      </a:pPr>
                      <a:r>
                        <a:t>7.707</a:t>
                      </a:r>
                    </a:p>
                  </a:txBody>
                  <a:tcPr>
                    <a:solidFill>
                      <a:srgbClr val="FFF8E7"/>
                    </a:solidFill>
                  </a:tcPr>
                </a:tc>
                <a:tc>
                  <a:txBody>
                    <a:bodyPr/>
                    <a:lstStyle/>
                    <a:p>
                      <a:pPr algn="ctr">
                        <a:defRPr sz="800">
                          <a:solidFill>
                            <a:srgbClr val="333333"/>
                          </a:solidFill>
                          <a:latin typeface="Lato"/>
                        </a:defRPr>
                      </a:pPr>
                      <a:r>
                        <a:t>0.041840</a:t>
                      </a:r>
                    </a:p>
                  </a:txBody>
                  <a:tcPr>
                    <a:solidFill>
                      <a:srgbClr val="FFF8E7"/>
                    </a:solidFill>
                  </a:tcPr>
                </a:tc>
                <a:tc>
                  <a:txBody>
                    <a:bodyPr/>
                    <a:lstStyle/>
                    <a:p>
                      <a:pPr algn="ctr">
                        <a:defRPr sz="800">
                          <a:solidFill>
                            <a:srgbClr val="333333"/>
                          </a:solidFill>
                          <a:latin typeface="Lato"/>
                        </a:defRPr>
                      </a:pPr>
                      <a:r>
                        <a:t>0.029113</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C</a:t>
                      </a:r>
                    </a:p>
                  </a:txBody>
                  <a:tcPr/>
                </a:tc>
                <a:tc>
                  <a:txBody>
                    <a:bodyPr/>
                    <a:lstStyle/>
                    <a:p>
                      <a:pPr algn="ctr">
                        <a:defRPr sz="800">
                          <a:solidFill>
                            <a:srgbClr val="333333"/>
                          </a:solidFill>
                          <a:latin typeface="Lato"/>
                        </a:defRPr>
                      </a:pPr>
                      <a:r>
                        <a:t>96.141</a:t>
                      </a:r>
                    </a:p>
                  </a:txBody>
                  <a:tcPr/>
                </a:tc>
                <a:tc>
                  <a:txBody>
                    <a:bodyPr/>
                    <a:lstStyle/>
                    <a:p>
                      <a:pPr algn="ctr">
                        <a:defRPr sz="800">
                          <a:solidFill>
                            <a:srgbClr val="333333"/>
                          </a:solidFill>
                          <a:latin typeface="Lato"/>
                        </a:defRPr>
                      </a:pPr>
                      <a:r>
                        <a:t>0.022437</a:t>
                      </a:r>
                    </a:p>
                  </a:txBody>
                  <a:tcPr/>
                </a:tc>
                <a:tc>
                  <a:txBody>
                    <a:bodyPr/>
                    <a:lstStyle/>
                    <a:p>
                      <a:pPr algn="ctr">
                        <a:defRPr sz="800">
                          <a:solidFill>
                            <a:srgbClr val="333333"/>
                          </a:solidFill>
                          <a:latin typeface="Lato"/>
                        </a:defRPr>
                      </a:pPr>
                      <a:r>
                        <a:t>0.086539</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850392" y="731520"/>
            <a:ext cx="470916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Cross Track Error — Kondisi Normal</a:t>
            </a:r>
          </a:p>
        </p:txBody>
      </p:sp>
      <p:graphicFrame>
        <p:nvGraphicFramePr>
          <p:cNvPr id="6" name="Table 5"/>
          <p:cNvGraphicFramePr>
            <a:graphicFrameLocks noGrp="1"/>
          </p:cNvGraphicFramePr>
          <p:nvPr/>
        </p:nvGraphicFramePr>
        <p:xfrm>
          <a:off x="850392" y="2441448"/>
          <a:ext cx="4709160" cy="1103376"/>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256032">
                <a:tc>
                  <a:txBody>
                    <a:bodyPr/>
                    <a:lstStyle/>
                    <a:p>
                      <a:pPr algn="ctr">
                        <a:defRPr sz="800" b="1">
                          <a:solidFill>
                            <a:srgbClr val="FFFFFF"/>
                          </a:solidFill>
                          <a:latin typeface="Montserrat"/>
                        </a:defRPr>
                      </a:pPr>
                      <a:r>
                        <a:t>region</a:t>
                      </a:r>
                    </a:p>
                  </a:txBody>
                  <a:tcPr>
                    <a:solidFill>
                      <a:srgbClr val="003A70"/>
                    </a:solidFill>
                  </a:tcPr>
                </a:tc>
                <a:tc>
                  <a:txBody>
                    <a:bodyPr/>
                    <a:lstStyle/>
                    <a:p>
                      <a:pPr algn="ctr">
                        <a:defRPr sz="800" b="1">
                          <a:solidFill>
                            <a:srgbClr val="FFFFFF"/>
                          </a:solidFill>
                          <a:latin typeface="Montserrat"/>
                        </a:defRPr>
                      </a:pPr>
                      <a:r>
                        <a:t>Waktu (s)</a:t>
                      </a:r>
                    </a:p>
                  </a:txBody>
                  <a:tcPr>
                    <a:solidFill>
                      <a:srgbClr val="003A70"/>
                    </a:solidFill>
                  </a:tcPr>
                </a:tc>
                <a:tc>
                  <a:txBody>
                    <a:bodyPr/>
                    <a:lstStyle/>
                    <a:p>
                      <a:pPr algn="ctr">
                        <a:defRPr sz="800" b="1">
                          <a:solidFill>
                            <a:srgbClr val="FFFFFF"/>
                          </a:solidFill>
                          <a:latin typeface="Montserrat"/>
                        </a:defRPr>
                      </a:pPr>
                      <a:r>
                        <a:t> Mean cross track error (m)</a:t>
                      </a:r>
                    </a:p>
                  </a:txBody>
                  <a:tcPr>
                    <a:solidFill>
                      <a:srgbClr val="003A70"/>
                    </a:solidFill>
                  </a:tcPr>
                </a:tc>
                <a:tc>
                  <a:txBody>
                    <a:bodyPr/>
                    <a:lstStyle/>
                    <a:p>
                      <a:pPr algn="ctr">
                        <a:defRPr sz="800" b="1">
                          <a:solidFill>
                            <a:srgbClr val="FFFFFF"/>
                          </a:solidFill>
                          <a:latin typeface="Montserrat"/>
                        </a:defRPr>
                      </a:pPr>
                      <a:r>
                        <a:t>Max cross track error (m)</a:t>
                      </a:r>
                    </a:p>
                  </a:txBody>
                  <a:tcPr>
                    <a:solidFill>
                      <a:srgbClr val="003A70"/>
                    </a:solidFill>
                  </a:tcPr>
                </a:tc>
                <a:extLst>
                  <a:ext uri="{0D108BD9-81ED-4DB2-BD59-A6C34878D82A}">
                    <a16:rowId xmlns:a16="http://schemas.microsoft.com/office/drawing/2014/main" val="10000"/>
                  </a:ext>
                </a:extLst>
              </a:tr>
              <a:tr h="256032">
                <a:tc>
                  <a:txBody>
                    <a:bodyPr/>
                    <a:lstStyle/>
                    <a:p>
                      <a:pPr algn="ctr">
                        <a:defRPr sz="800">
                          <a:solidFill>
                            <a:srgbClr val="333333"/>
                          </a:solidFill>
                          <a:latin typeface="Lato"/>
                        </a:defRPr>
                      </a:pPr>
                      <a:r>
                        <a:t>A</a:t>
                      </a:r>
                    </a:p>
                  </a:txBody>
                  <a:tcPr/>
                </a:tc>
                <a:tc>
                  <a:txBody>
                    <a:bodyPr/>
                    <a:lstStyle/>
                    <a:p>
                      <a:pPr algn="ctr">
                        <a:defRPr sz="800">
                          <a:solidFill>
                            <a:srgbClr val="333333"/>
                          </a:solidFill>
                          <a:latin typeface="Lato"/>
                        </a:defRPr>
                      </a:pPr>
                      <a:r>
                        <a:t>13.144</a:t>
                      </a:r>
                    </a:p>
                  </a:txBody>
                  <a:tcPr/>
                </a:tc>
                <a:tc>
                  <a:txBody>
                    <a:bodyPr/>
                    <a:lstStyle/>
                    <a:p>
                      <a:pPr algn="ctr">
                        <a:defRPr sz="800">
                          <a:solidFill>
                            <a:srgbClr val="333333"/>
                          </a:solidFill>
                          <a:latin typeface="Lato"/>
                        </a:defRPr>
                      </a:pPr>
                      <a:r>
                        <a:t>0.004394</a:t>
                      </a:r>
                    </a:p>
                  </a:txBody>
                  <a:tcPr/>
                </a:tc>
                <a:tc>
                  <a:txBody>
                    <a:bodyPr/>
                    <a:lstStyle/>
                    <a:p>
                      <a:pPr algn="ctr">
                        <a:defRPr sz="800">
                          <a:solidFill>
                            <a:srgbClr val="333333"/>
                          </a:solidFill>
                          <a:latin typeface="Lato"/>
                        </a:defRPr>
                      </a:pPr>
                      <a:r>
                        <a:t>0.026285</a:t>
                      </a:r>
                    </a:p>
                  </a:txBody>
                  <a:tcPr/>
                </a:tc>
                <a:extLst>
                  <a:ext uri="{0D108BD9-81ED-4DB2-BD59-A6C34878D82A}">
                    <a16:rowId xmlns:a16="http://schemas.microsoft.com/office/drawing/2014/main" val="10001"/>
                  </a:ext>
                </a:extLst>
              </a:tr>
              <a:tr h="256032">
                <a:tc>
                  <a:txBody>
                    <a:bodyPr/>
                    <a:lstStyle/>
                    <a:p>
                      <a:pPr algn="ctr">
                        <a:defRPr sz="800">
                          <a:solidFill>
                            <a:srgbClr val="333333"/>
                          </a:solidFill>
                          <a:latin typeface="Lato"/>
                        </a:defRPr>
                      </a:pPr>
                      <a:r>
                        <a:t>B</a:t>
                      </a:r>
                    </a:p>
                  </a:txBody>
                  <a:tcPr>
                    <a:solidFill>
                      <a:srgbClr val="FFF8E7"/>
                    </a:solidFill>
                  </a:tcPr>
                </a:tc>
                <a:tc>
                  <a:txBody>
                    <a:bodyPr/>
                    <a:lstStyle/>
                    <a:p>
                      <a:pPr algn="ctr">
                        <a:defRPr sz="800">
                          <a:solidFill>
                            <a:srgbClr val="333333"/>
                          </a:solidFill>
                          <a:latin typeface="Lato"/>
                        </a:defRPr>
                      </a:pPr>
                      <a:r>
                        <a:t>7.243</a:t>
                      </a:r>
                    </a:p>
                  </a:txBody>
                  <a:tcPr>
                    <a:solidFill>
                      <a:srgbClr val="FFF8E7"/>
                    </a:solidFill>
                  </a:tcPr>
                </a:tc>
                <a:tc>
                  <a:txBody>
                    <a:bodyPr/>
                    <a:lstStyle/>
                    <a:p>
                      <a:pPr algn="ctr">
                        <a:defRPr sz="800">
                          <a:solidFill>
                            <a:srgbClr val="333333"/>
                          </a:solidFill>
                          <a:latin typeface="Lato"/>
                        </a:defRPr>
                      </a:pPr>
                      <a:r>
                        <a:t>0.013691</a:t>
                      </a:r>
                    </a:p>
                  </a:txBody>
                  <a:tcPr>
                    <a:solidFill>
                      <a:srgbClr val="FFF8E7"/>
                    </a:solidFill>
                  </a:tcPr>
                </a:tc>
                <a:tc>
                  <a:txBody>
                    <a:bodyPr/>
                    <a:lstStyle/>
                    <a:p>
                      <a:pPr algn="ctr">
                        <a:defRPr sz="800">
                          <a:solidFill>
                            <a:srgbClr val="333333"/>
                          </a:solidFill>
                          <a:latin typeface="Lato"/>
                        </a:defRPr>
                      </a:pPr>
                      <a:r>
                        <a:t>0.064845</a:t>
                      </a:r>
                    </a:p>
                  </a:txBody>
                  <a:tcPr>
                    <a:solidFill>
                      <a:srgbClr val="FFF8E7"/>
                    </a:solidFill>
                  </a:tcPr>
                </a:tc>
                <a:extLst>
                  <a:ext uri="{0D108BD9-81ED-4DB2-BD59-A6C34878D82A}">
                    <a16:rowId xmlns:a16="http://schemas.microsoft.com/office/drawing/2014/main" val="10002"/>
                  </a:ext>
                </a:extLst>
              </a:tr>
              <a:tr h="256032">
                <a:tc>
                  <a:txBody>
                    <a:bodyPr/>
                    <a:lstStyle/>
                    <a:p>
                      <a:pPr algn="ctr">
                        <a:defRPr sz="800">
                          <a:solidFill>
                            <a:srgbClr val="333333"/>
                          </a:solidFill>
                          <a:latin typeface="Lato"/>
                        </a:defRPr>
                      </a:pPr>
                      <a:r>
                        <a:t>C</a:t>
                      </a:r>
                    </a:p>
                  </a:txBody>
                  <a:tcPr/>
                </a:tc>
                <a:tc>
                  <a:txBody>
                    <a:bodyPr/>
                    <a:lstStyle/>
                    <a:p>
                      <a:pPr algn="ctr">
                        <a:defRPr sz="800">
                          <a:solidFill>
                            <a:srgbClr val="333333"/>
                          </a:solidFill>
                          <a:latin typeface="Lato"/>
                        </a:defRPr>
                      </a:pPr>
                      <a:r>
                        <a:t>94.119</a:t>
                      </a:r>
                    </a:p>
                  </a:txBody>
                  <a:tcPr/>
                </a:tc>
                <a:tc>
                  <a:txBody>
                    <a:bodyPr/>
                    <a:lstStyle/>
                    <a:p>
                      <a:pPr algn="ctr">
                        <a:defRPr sz="800">
                          <a:solidFill>
                            <a:srgbClr val="333333"/>
                          </a:solidFill>
                          <a:latin typeface="Lato"/>
                        </a:defRPr>
                      </a:pPr>
                      <a:r>
                        <a:t>0.039834</a:t>
                      </a:r>
                    </a:p>
                  </a:txBody>
                  <a:tcPr/>
                </a:tc>
                <a:tc>
                  <a:txBody>
                    <a:bodyPr/>
                    <a:lstStyle/>
                    <a:p>
                      <a:pPr algn="ctr">
                        <a:defRPr sz="800">
                          <a:solidFill>
                            <a:srgbClr val="333333"/>
                          </a:solidFill>
                          <a:latin typeface="Lato"/>
                        </a:defRPr>
                      </a:pPr>
                      <a:r>
                        <a:t>0.174556</a:t>
                      </a:r>
                    </a:p>
                  </a:txBody>
                  <a:tcPr/>
                </a:tc>
                <a:extLst>
                  <a:ext uri="{0D108BD9-81ED-4DB2-BD59-A6C34878D82A}">
                    <a16:rowId xmlns:a16="http://schemas.microsoft.com/office/drawing/2014/main" val="10003"/>
                  </a:ext>
                </a:extLst>
              </a:tr>
            </a:tbl>
          </a:graphicData>
        </a:graphic>
      </p:graphicFrame>
      <p:sp>
        <p:nvSpPr>
          <p:cNvPr id="7" name="TextBox 6"/>
          <p:cNvSpPr txBox="1"/>
          <p:nvPr/>
        </p:nvSpPr>
        <p:spPr>
          <a:xfrm>
            <a:off x="850392" y="2212848"/>
            <a:ext cx="470916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Cross Track Error — Kondisi Rough Floor</a:t>
            </a:r>
          </a:p>
        </p:txBody>
      </p:sp>
      <p:sp>
        <p:nvSpPr>
          <p:cNvPr id="8" name="Rounded Rectangle 7"/>
          <p:cNvSpPr/>
          <p:nvPr/>
        </p:nvSpPr>
        <p:spPr>
          <a:xfrm>
            <a:off x="6126480" y="914400"/>
            <a:ext cx="539496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26480" y="91440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36208" y="950976"/>
            <a:ext cx="1828800" cy="201168"/>
          </a:xfrm>
          <a:prstGeom prst="rect">
            <a:avLst/>
          </a:prstGeom>
          <a:noFill/>
        </p:spPr>
        <p:txBody>
          <a:bodyPr wrap="square"/>
          <a:lstStyle/>
          <a:p>
            <a:pPr algn="l">
              <a:lnSpc>
                <a:spcPts val="1439"/>
              </a:lnSpc>
              <a:spcBef>
                <a:spcPts val="0"/>
              </a:spcBef>
              <a:spcAft>
                <a:spcPts val="0"/>
              </a:spcAft>
              <a:defRPr sz="1200" b="1" i="0">
                <a:solidFill>
                  <a:srgbClr val="2E7D32"/>
                </a:solidFill>
                <a:latin typeface="Montserrat"/>
              </a:defRPr>
            </a:pPr>
            <a:r>
              <a:t>✓  Kondisi Normal</a:t>
            </a:r>
          </a:p>
        </p:txBody>
      </p:sp>
      <p:sp>
        <p:nvSpPr>
          <p:cNvPr id="11" name="TextBox 10"/>
          <p:cNvSpPr txBox="1"/>
          <p:nvPr/>
        </p:nvSpPr>
        <p:spPr>
          <a:xfrm>
            <a:off x="6236208" y="1170432"/>
            <a:ext cx="5120640" cy="59436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Mean &amp; max cross track error rendah.</a:t>
            </a:r>
            <a:br/>
            <a:r>
              <a:t>DWA mengikuti global path dengan baik.</a:t>
            </a:r>
          </a:p>
        </p:txBody>
      </p:sp>
      <p:sp>
        <p:nvSpPr>
          <p:cNvPr id="12" name="Rounded Rectangle 11"/>
          <p:cNvSpPr/>
          <p:nvPr/>
        </p:nvSpPr>
        <p:spPr>
          <a:xfrm>
            <a:off x="6126480" y="1920240"/>
            <a:ext cx="539496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26480" y="1920240"/>
            <a:ext cx="50800" cy="914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36208" y="1956816"/>
            <a:ext cx="1828800" cy="201168"/>
          </a:xfrm>
          <a:prstGeom prst="rect">
            <a:avLst/>
          </a:prstGeom>
          <a:noFill/>
        </p:spPr>
        <p:txBody>
          <a:bodyPr wrap="square"/>
          <a:lstStyle/>
          <a:p>
            <a:pPr algn="l">
              <a:lnSpc>
                <a:spcPts val="1439"/>
              </a:lnSpc>
              <a:spcBef>
                <a:spcPts val="0"/>
              </a:spcBef>
              <a:spcAft>
                <a:spcPts val="0"/>
              </a:spcAft>
              <a:defRPr sz="1200" b="1" i="0">
                <a:solidFill>
                  <a:srgbClr val="F08C2E"/>
                </a:solidFill>
                <a:latin typeface="Montserrat"/>
              </a:defRPr>
            </a:pPr>
            <a:r>
              <a:t>⚠  Kondisi Gempa</a:t>
            </a:r>
          </a:p>
        </p:txBody>
      </p:sp>
      <p:sp>
        <p:nvSpPr>
          <p:cNvPr id="15" name="TextBox 14"/>
          <p:cNvSpPr txBox="1"/>
          <p:nvPr/>
        </p:nvSpPr>
        <p:spPr>
          <a:xfrm>
            <a:off x="6236208" y="2176272"/>
            <a:ext cx="5120640" cy="59436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Max cross track error meningkat signifikan.</a:t>
            </a:r>
            <a:br/>
            <a:r>
              <a:t>Obstacle tidak diketahui di global path →</a:t>
            </a:r>
            <a:br/>
            <a:r>
              <a:t>DWA menyimpang untuk menghindari tabrakan.</a:t>
            </a:r>
          </a:p>
        </p:txBody>
      </p:sp>
      <p:sp>
        <p:nvSpPr>
          <p:cNvPr id="16" name="Rounded Rectangle 15"/>
          <p:cNvSpPr/>
          <p:nvPr/>
        </p:nvSpPr>
        <p:spPr>
          <a:xfrm>
            <a:off x="6126480" y="2971800"/>
            <a:ext cx="5394960" cy="1463040"/>
          </a:xfrm>
          <a:prstGeom prst="roundRect">
            <a:avLst/>
          </a:prstGeom>
          <a:solidFill>
            <a:srgbClr val="E3F0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26480" y="2971800"/>
            <a:ext cx="539496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26480" y="3017520"/>
            <a:ext cx="5394960" cy="256032"/>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NAVIGASI PENUH (Region A → C)</a:t>
            </a:r>
          </a:p>
        </p:txBody>
      </p:sp>
      <p:sp>
        <p:nvSpPr>
          <p:cNvPr id="19" name="TextBox 18"/>
          <p:cNvSpPr txBox="1"/>
          <p:nvPr/>
        </p:nvSpPr>
        <p:spPr>
          <a:xfrm>
            <a:off x="6126480" y="3291840"/>
            <a:ext cx="5394960" cy="457200"/>
          </a:xfrm>
          <a:prstGeom prst="rect">
            <a:avLst/>
          </a:prstGeom>
          <a:noFill/>
        </p:spPr>
        <p:txBody>
          <a:bodyPr wrap="square"/>
          <a:lstStyle/>
          <a:p>
            <a:pPr algn="ctr">
              <a:lnSpc>
                <a:spcPts val="5040"/>
              </a:lnSpc>
              <a:spcBef>
                <a:spcPts val="0"/>
              </a:spcBef>
              <a:spcAft>
                <a:spcPts val="0"/>
              </a:spcAft>
              <a:defRPr sz="4200" b="1" i="0">
                <a:solidFill>
                  <a:srgbClr val="003A70"/>
                </a:solidFill>
                <a:latin typeface="Montserrat"/>
              </a:defRPr>
            </a:pPr>
            <a:r>
              <a:t>127.26</a:t>
            </a:r>
          </a:p>
        </p:txBody>
      </p:sp>
      <p:sp>
        <p:nvSpPr>
          <p:cNvPr id="20" name="TextBox 19"/>
          <p:cNvSpPr txBox="1"/>
          <p:nvPr/>
        </p:nvSpPr>
        <p:spPr>
          <a:xfrm>
            <a:off x="6126480" y="3749040"/>
            <a:ext cx="5394960" cy="18288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DETIK</a:t>
            </a:r>
          </a:p>
        </p:txBody>
      </p:sp>
      <p:sp>
        <p:nvSpPr>
          <p:cNvPr id="21" name="TextBox 20"/>
          <p:cNvSpPr txBox="1"/>
          <p:nvPr/>
        </p:nvSpPr>
        <p:spPr>
          <a:xfrm>
            <a:off x="6126480" y="3977640"/>
            <a:ext cx="5394960" cy="320040"/>
          </a:xfrm>
          <a:prstGeom prst="rect">
            <a:avLst/>
          </a:prstGeom>
          <a:noFill/>
        </p:spPr>
        <p:txBody>
          <a:bodyPr wrap="square"/>
          <a:lstStyle/>
          <a:p>
            <a:pPr algn="ctr">
              <a:lnSpc>
                <a:spcPts val="1200"/>
              </a:lnSpc>
              <a:spcBef>
                <a:spcPts val="0"/>
              </a:spcBef>
              <a:spcAft>
                <a:spcPts val="0"/>
              </a:spcAft>
              <a:defRPr sz="1000" b="0" i="0">
                <a:solidFill>
                  <a:srgbClr val="333333"/>
                </a:solidFill>
                <a:latin typeface="Lato"/>
              </a:defRPr>
            </a:pPr>
            <a:r>
              <a:t>Robot berhasil menavigasi Region A → C secara otonom penuh.</a:t>
            </a:r>
          </a:p>
        </p:txBody>
      </p:sp>
      <p:sp>
        <p:nvSpPr>
          <p:cNvPr id="22" name="Rounded Rectangle 21"/>
          <p:cNvSpPr/>
          <p:nvPr/>
        </p:nvSpPr>
        <p:spPr>
          <a:xfrm>
            <a:off x="6126480" y="4572000"/>
            <a:ext cx="5394960" cy="12344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63640" y="4617720"/>
            <a:ext cx="5120640" cy="182880"/>
          </a:xfrm>
          <a:prstGeom prst="rect">
            <a:avLst/>
          </a:prstGeom>
          <a:noFill/>
        </p:spPr>
        <p:txBody>
          <a:bodyPr wrap="square"/>
          <a:lstStyle/>
          <a:p>
            <a:pPr algn="ctr">
              <a:lnSpc>
                <a:spcPts val="1320"/>
              </a:lnSpc>
              <a:spcBef>
                <a:spcPts val="0"/>
              </a:spcBef>
              <a:spcAft>
                <a:spcPts val="0"/>
              </a:spcAft>
              <a:defRPr sz="1100" b="1" i="0">
                <a:solidFill>
                  <a:srgbClr val="1A2B4C"/>
                </a:solidFill>
                <a:latin typeface="Montserrat"/>
              </a:defRPr>
            </a:pPr>
            <a:r>
              <a:t>Semua Komponen Bekerja Terintegrasi</a:t>
            </a:r>
          </a:p>
        </p:txBody>
      </p:sp>
      <p:sp>
        <p:nvSpPr>
          <p:cNvPr id="24" name="TextBox 23"/>
          <p:cNvSpPr txBox="1"/>
          <p:nvPr/>
        </p:nvSpPr>
        <p:spPr>
          <a:xfrm>
            <a:off x="6309360" y="4846320"/>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ICP Localization → estimasi pose real-time</a:t>
            </a:r>
          </a:p>
        </p:txBody>
      </p:sp>
      <p:sp>
        <p:nvSpPr>
          <p:cNvPr id="25" name="TextBox 24"/>
          <p:cNvSpPr txBox="1"/>
          <p:nvPr/>
        </p:nvSpPr>
        <p:spPr>
          <a:xfrm>
            <a:off x="6309360" y="5047488"/>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Costmap Transisi → perpindahan antar region</a:t>
            </a:r>
          </a:p>
        </p:txBody>
      </p:sp>
      <p:sp>
        <p:nvSpPr>
          <p:cNvPr id="26" name="TextBox 25"/>
          <p:cNvSpPr txBox="1"/>
          <p:nvPr/>
        </p:nvSpPr>
        <p:spPr>
          <a:xfrm>
            <a:off x="6309360" y="5248656"/>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A* Global Planner → rute multi-region</a:t>
            </a:r>
          </a:p>
        </p:txBody>
      </p:sp>
      <p:sp>
        <p:nvSpPr>
          <p:cNvPr id="27" name="TextBox 26"/>
          <p:cNvSpPr txBox="1"/>
          <p:nvPr/>
        </p:nvSpPr>
        <p:spPr>
          <a:xfrm>
            <a:off x="6309360" y="5449824"/>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DWA Local Planner → trajectory + obstacle avoidance</a:t>
            </a:r>
          </a:p>
        </p:txBody>
      </p:sp>
      <p:sp>
        <p:nvSpPr>
          <p:cNvPr id="28" name="TextBox 27"/>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rgbClr val="E8F1FC"/>
            </a:gs>
            <a:gs pos="100000">
              <a:srgbClr val="CDDFF1"/>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32004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KESIMPULAN</a:t>
            </a:r>
          </a:p>
        </p:txBody>
      </p:sp>
      <p:sp>
        <p:nvSpPr>
          <p:cNvPr id="3" name="Rectangle 2"/>
          <p:cNvSpPr/>
          <p:nvPr/>
        </p:nvSpPr>
        <p:spPr>
          <a:xfrm>
            <a:off x="850392" y="777240"/>
            <a:ext cx="164592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50392" y="105156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50392" y="1051560"/>
            <a:ext cx="3246120" cy="54864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09728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1</a:t>
            </a:r>
          </a:p>
        </p:txBody>
      </p:sp>
      <p:sp>
        <p:nvSpPr>
          <p:cNvPr id="7" name="TextBox 6"/>
          <p:cNvSpPr txBox="1"/>
          <p:nvPr/>
        </p:nvSpPr>
        <p:spPr>
          <a:xfrm>
            <a:off x="1033272" y="178308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Layered costmap berhasil merepresentasikan lingkungan</a:t>
            </a:r>
            <a:br/>
            <a:r>
              <a:t>multi-lantai sebagai kumpulan peta 2D region</a:t>
            </a:r>
          </a:p>
        </p:txBody>
      </p:sp>
      <p:sp>
        <p:nvSpPr>
          <p:cNvPr id="8" name="Rounded Rectangle 7"/>
          <p:cNvSpPr/>
          <p:nvPr/>
        </p:nvSpPr>
        <p:spPr>
          <a:xfrm>
            <a:off x="4325112" y="105156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325112" y="1051560"/>
            <a:ext cx="3246120" cy="54864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25112" y="109728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2</a:t>
            </a:r>
          </a:p>
        </p:txBody>
      </p:sp>
      <p:sp>
        <p:nvSpPr>
          <p:cNvPr id="11" name="TextBox 10"/>
          <p:cNvSpPr txBox="1"/>
          <p:nvPr/>
        </p:nvSpPr>
        <p:spPr>
          <a:xfrm>
            <a:off x="4507992" y="178308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ICP localization akurat untuk navigasi, dengan peningkatan</a:t>
            </a:r>
            <a:br/>
            <a:r>
              <a:t>error pada lantai tidak rata dan region kompleks</a:t>
            </a:r>
          </a:p>
        </p:txBody>
      </p:sp>
      <p:sp>
        <p:nvSpPr>
          <p:cNvPr id="12" name="Rounded Rectangle 11"/>
          <p:cNvSpPr/>
          <p:nvPr/>
        </p:nvSpPr>
        <p:spPr>
          <a:xfrm>
            <a:off x="7799832" y="105156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799832" y="1051560"/>
            <a:ext cx="3246120" cy="548640"/>
          </a:xfrm>
          <a:prstGeom prst="round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99832" y="109728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3</a:t>
            </a:r>
          </a:p>
        </p:txBody>
      </p:sp>
      <p:sp>
        <p:nvSpPr>
          <p:cNvPr id="15" name="TextBox 14"/>
          <p:cNvSpPr txBox="1"/>
          <p:nvPr/>
        </p:nvSpPr>
        <p:spPr>
          <a:xfrm>
            <a:off x="7982712" y="178308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Cost Scaling Factor 100 menghasilkan jalur terpendek</a:t>
            </a:r>
            <a:br/>
            <a:r>
              <a:t>dengan tetap menghindari obstacle</a:t>
            </a:r>
          </a:p>
        </p:txBody>
      </p:sp>
      <p:sp>
        <p:nvSpPr>
          <p:cNvPr id="16" name="Rounded Rectangle 15"/>
          <p:cNvSpPr/>
          <p:nvPr/>
        </p:nvSpPr>
        <p:spPr>
          <a:xfrm>
            <a:off x="2587752" y="329184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2587752" y="3291840"/>
            <a:ext cx="3246120" cy="54864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87752" y="333756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4</a:t>
            </a:r>
          </a:p>
        </p:txBody>
      </p:sp>
      <p:sp>
        <p:nvSpPr>
          <p:cNvPr id="19" name="TextBox 18"/>
          <p:cNvSpPr txBox="1"/>
          <p:nvPr/>
        </p:nvSpPr>
        <p:spPr>
          <a:xfrm>
            <a:off x="2770632" y="402336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Costmap transisi berhasil menggabungkan region pada</a:t>
            </a:r>
            <a:br/>
            <a:r>
              <a:t>radius transisi minimal 0.26 meter</a:t>
            </a:r>
          </a:p>
        </p:txBody>
      </p:sp>
      <p:sp>
        <p:nvSpPr>
          <p:cNvPr id="20" name="Rounded Rectangle 19"/>
          <p:cNvSpPr/>
          <p:nvPr/>
        </p:nvSpPr>
        <p:spPr>
          <a:xfrm>
            <a:off x="6062472" y="329184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062472" y="3291840"/>
            <a:ext cx="3246120" cy="548640"/>
          </a:xfrm>
          <a:prstGeom prst="round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62472" y="333756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5</a:t>
            </a:r>
          </a:p>
        </p:txBody>
      </p:sp>
      <p:sp>
        <p:nvSpPr>
          <p:cNvPr id="23" name="TextBox 22"/>
          <p:cNvSpPr txBox="1"/>
          <p:nvPr/>
        </p:nvSpPr>
        <p:spPr>
          <a:xfrm>
            <a:off x="6245352" y="402336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rPr dirty="0"/>
              <a:t>DWA Planner </a:t>
            </a:r>
            <a:r>
              <a:rPr dirty="0" err="1"/>
              <a:t>mampu</a:t>
            </a:r>
            <a:r>
              <a:rPr dirty="0"/>
              <a:t> </a:t>
            </a:r>
            <a:r>
              <a:rPr dirty="0" err="1"/>
              <a:t>mengakomodasi</a:t>
            </a:r>
            <a:r>
              <a:rPr dirty="0"/>
              <a:t> obstacle </a:t>
            </a:r>
            <a:r>
              <a:rPr dirty="0" err="1"/>
              <a:t>tidak</a:t>
            </a:r>
            <a:br>
              <a:rPr dirty="0"/>
            </a:br>
            <a:r>
              <a:rPr dirty="0" err="1"/>
              <a:t>diketahui</a:t>
            </a:r>
            <a:r>
              <a:rPr dirty="0"/>
              <a:t> dan </a:t>
            </a:r>
            <a:r>
              <a:rPr dirty="0" err="1"/>
              <a:t>menghasilkan</a:t>
            </a:r>
            <a:r>
              <a:rPr dirty="0"/>
              <a:t> trajectory </a:t>
            </a:r>
            <a:r>
              <a:rPr dirty="0" err="1"/>
              <a:t>aman</a:t>
            </a:r>
            <a:endParaRPr dirty="0"/>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rgbClr val="E8F1FC"/>
            </a:gs>
            <a:gs pos="100000">
              <a:srgbClr val="CDDFF1"/>
            </a:gs>
          </a:gsLst>
          <a:lin ang="8100000" scaled="0"/>
        </a:gradFill>
        <a:effectLst/>
      </p:bgPr>
    </p:bg>
    <p:spTree>
      <p:nvGrpSpPr>
        <p:cNvPr id="1" name=""/>
        <p:cNvGrpSpPr/>
        <p:nvPr/>
      </p:nvGrpSpPr>
      <p:grpSpPr>
        <a:xfrm>
          <a:off x="0" y="0"/>
          <a:ext cx="0" cy="0"/>
          <a:chOff x="0" y="0"/>
          <a:chExt cx="0" cy="0"/>
        </a:xfrm>
      </p:grpSpPr>
      <p:sp>
        <p:nvSpPr>
          <p:cNvPr id="2" name="TextBox 1"/>
          <p:cNvSpPr txBox="1"/>
          <p:nvPr/>
        </p:nvSpPr>
        <p:spPr>
          <a:xfrm>
            <a:off x="850392" y="320040"/>
            <a:ext cx="36576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SARAN PENGEMBANGAN</a:t>
            </a:r>
          </a:p>
        </p:txBody>
      </p:sp>
      <p:sp>
        <p:nvSpPr>
          <p:cNvPr id="3" name="Rectangle 2"/>
          <p:cNvSpPr/>
          <p:nvPr/>
        </p:nvSpPr>
        <p:spPr>
          <a:xfrm>
            <a:off x="850392" y="777240"/>
            <a:ext cx="18288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50392" y="105156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50392" y="1051560"/>
            <a:ext cx="51206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33272" y="1143000"/>
            <a:ext cx="365760" cy="320040"/>
          </a:xfrm>
          <a:prstGeom prst="rect">
            <a:avLst/>
          </a:prstGeom>
          <a:noFill/>
        </p:spPr>
        <p:txBody>
          <a:bodyPr wrap="square"/>
          <a:lstStyle/>
          <a:p>
            <a:pPr algn="l">
              <a:lnSpc>
                <a:spcPts val="2400"/>
              </a:lnSpc>
              <a:spcBef>
                <a:spcPts val="0"/>
              </a:spcBef>
              <a:spcAft>
                <a:spcPts val="0"/>
              </a:spcAft>
              <a:defRPr sz="2000" b="1" i="0">
                <a:solidFill>
                  <a:srgbClr val="003A70"/>
                </a:solidFill>
                <a:latin typeface="Montserrat"/>
              </a:defRPr>
            </a:pPr>
            <a:r>
              <a:t>1</a:t>
            </a:r>
          </a:p>
        </p:txBody>
      </p:sp>
      <p:sp>
        <p:nvSpPr>
          <p:cNvPr id="7" name="TextBox 6"/>
          <p:cNvSpPr txBox="1"/>
          <p:nvPr/>
        </p:nvSpPr>
        <p:spPr>
          <a:xfrm>
            <a:off x="1399032" y="114300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Prekomputasi KNN per Region</a:t>
            </a:r>
          </a:p>
        </p:txBody>
      </p:sp>
      <p:sp>
        <p:nvSpPr>
          <p:cNvPr id="8" name="TextBox 7"/>
          <p:cNvSpPr txBox="1"/>
          <p:nvPr/>
        </p:nvSpPr>
        <p:spPr>
          <a:xfrm>
            <a:off x="1033272" y="164592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Parameter radius dan jumlah nearest neighbors</a:t>
            </a:r>
            <a:br/>
            <a:r>
              <a:t>dapat disetel independen per region untuk</a:t>
            </a:r>
            <a:br/>
            <a:r>
              <a:t>akurasi ICP yang lebih optimal.</a:t>
            </a:r>
          </a:p>
        </p:txBody>
      </p:sp>
      <p:sp>
        <p:nvSpPr>
          <p:cNvPr id="9" name="Rounded Rectangle 8"/>
          <p:cNvSpPr/>
          <p:nvPr/>
        </p:nvSpPr>
        <p:spPr>
          <a:xfrm>
            <a:off x="6245352" y="105156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45352" y="1051560"/>
            <a:ext cx="5120640"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28232" y="1143000"/>
            <a:ext cx="365760" cy="320040"/>
          </a:xfrm>
          <a:prstGeom prst="rect">
            <a:avLst/>
          </a:prstGeom>
          <a:noFill/>
        </p:spPr>
        <p:txBody>
          <a:bodyPr wrap="square"/>
          <a:lstStyle/>
          <a:p>
            <a:pPr algn="l">
              <a:lnSpc>
                <a:spcPts val="2400"/>
              </a:lnSpc>
              <a:spcBef>
                <a:spcPts val="0"/>
              </a:spcBef>
              <a:spcAft>
                <a:spcPts val="0"/>
              </a:spcAft>
              <a:defRPr sz="2000" b="1" i="0">
                <a:solidFill>
                  <a:srgbClr val="4A90D9"/>
                </a:solidFill>
                <a:latin typeface="Montserrat"/>
              </a:defRPr>
            </a:pPr>
            <a:r>
              <a:t>2</a:t>
            </a:r>
          </a:p>
        </p:txBody>
      </p:sp>
      <p:sp>
        <p:nvSpPr>
          <p:cNvPr id="12" name="TextBox 11"/>
          <p:cNvSpPr txBox="1"/>
          <p:nvPr/>
        </p:nvSpPr>
        <p:spPr>
          <a:xfrm>
            <a:off x="6793992" y="114300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Fusion ICP + IMU</a:t>
            </a:r>
          </a:p>
        </p:txBody>
      </p:sp>
      <p:sp>
        <p:nvSpPr>
          <p:cNvPr id="13" name="TextBox 12"/>
          <p:cNvSpPr txBox="1"/>
          <p:nvPr/>
        </p:nvSpPr>
        <p:spPr>
          <a:xfrm>
            <a:off x="6428232" y="164592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Kompensasi lonjakan error ICP di zona transisi</a:t>
            </a:r>
            <a:br/>
            <a:r>
              <a:t>dengan data IMU saat fitur LiDAR terbatas.</a:t>
            </a:r>
          </a:p>
        </p:txBody>
      </p:sp>
      <p:sp>
        <p:nvSpPr>
          <p:cNvPr id="14" name="Rounded Rectangle 13"/>
          <p:cNvSpPr/>
          <p:nvPr/>
        </p:nvSpPr>
        <p:spPr>
          <a:xfrm>
            <a:off x="850392" y="320040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392" y="3200400"/>
            <a:ext cx="5120640"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33272" y="3291840"/>
            <a:ext cx="365760" cy="320040"/>
          </a:xfrm>
          <a:prstGeom prst="rect">
            <a:avLst/>
          </a:prstGeom>
          <a:noFill/>
        </p:spPr>
        <p:txBody>
          <a:bodyPr wrap="square"/>
          <a:lstStyle/>
          <a:p>
            <a:pPr algn="l">
              <a:lnSpc>
                <a:spcPts val="2400"/>
              </a:lnSpc>
              <a:spcBef>
                <a:spcPts val="0"/>
              </a:spcBef>
              <a:spcAft>
                <a:spcPts val="0"/>
              </a:spcAft>
              <a:defRPr sz="2000" b="1" i="0">
                <a:solidFill>
                  <a:srgbClr val="4A90D9"/>
                </a:solidFill>
                <a:latin typeface="Montserrat"/>
              </a:defRPr>
            </a:pPr>
            <a:r>
              <a:t>3</a:t>
            </a:r>
          </a:p>
        </p:txBody>
      </p:sp>
      <p:sp>
        <p:nvSpPr>
          <p:cNvPr id="17" name="TextBox 16"/>
          <p:cNvSpPr txBox="1"/>
          <p:nvPr/>
        </p:nvSpPr>
        <p:spPr>
          <a:xfrm>
            <a:off x="1399032" y="329184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Integrasi Depth Camera</a:t>
            </a:r>
          </a:p>
        </p:txBody>
      </p:sp>
      <p:sp>
        <p:nvSpPr>
          <p:cNvPr id="18" name="TextBox 17"/>
          <p:cNvSpPr txBox="1"/>
          <p:nvPr/>
        </p:nvSpPr>
        <p:spPr>
          <a:xfrm>
            <a:off x="1033272" y="379476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Keterbatasan LiDAR 2D dalam mendeteksi</a:t>
            </a:r>
            <a:br/>
            <a:r>
              <a:t>obstacle vertikal dapat dilengkapi dengan</a:t>
            </a:r>
            <a:br/>
            <a:r>
              <a:t>data visual dari depth sensor.</a:t>
            </a:r>
          </a:p>
        </p:txBody>
      </p:sp>
      <p:sp>
        <p:nvSpPr>
          <p:cNvPr id="19" name="Rounded Rectangle 18"/>
          <p:cNvSpPr/>
          <p:nvPr/>
        </p:nvSpPr>
        <p:spPr>
          <a:xfrm>
            <a:off x="6245352" y="320040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45352" y="3200400"/>
            <a:ext cx="5120640" cy="508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28232" y="3291840"/>
            <a:ext cx="365760" cy="320040"/>
          </a:xfrm>
          <a:prstGeom prst="rect">
            <a:avLst/>
          </a:prstGeom>
          <a:noFill/>
        </p:spPr>
        <p:txBody>
          <a:bodyPr wrap="square"/>
          <a:lstStyle/>
          <a:p>
            <a:pPr algn="l">
              <a:lnSpc>
                <a:spcPts val="2400"/>
              </a:lnSpc>
              <a:spcBef>
                <a:spcPts val="0"/>
              </a:spcBef>
              <a:spcAft>
                <a:spcPts val="0"/>
              </a:spcAft>
              <a:defRPr sz="2000" b="1" i="0">
                <a:solidFill>
                  <a:srgbClr val="F08C2E"/>
                </a:solidFill>
                <a:latin typeface="Montserrat"/>
              </a:defRPr>
            </a:pPr>
            <a:r>
              <a:t>4</a:t>
            </a:r>
          </a:p>
        </p:txBody>
      </p:sp>
      <p:sp>
        <p:nvSpPr>
          <p:cNvPr id="22" name="TextBox 21"/>
          <p:cNvSpPr txBox="1"/>
          <p:nvPr/>
        </p:nvSpPr>
        <p:spPr>
          <a:xfrm>
            <a:off x="6793992" y="329184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Pengujian pada Robot Fisik</a:t>
            </a:r>
          </a:p>
        </p:txBody>
      </p:sp>
      <p:sp>
        <p:nvSpPr>
          <p:cNvPr id="23" name="TextBox 22"/>
          <p:cNvSpPr txBox="1"/>
          <p:nvPr/>
        </p:nvSpPr>
        <p:spPr>
          <a:xfrm>
            <a:off x="6428232" y="379476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Validasi sistem di lingkungan nyata setelah</a:t>
            </a:r>
            <a:br/>
            <a:r>
              <a:t>terbukti berhasil di lingkungan simulasi Mujoco.</a:t>
            </a:r>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2B54"/>
        </a:solidFill>
        <a:effectLst/>
      </p:bgPr>
    </p:bg>
    <p:spTree>
      <p:nvGrpSpPr>
        <p:cNvPr id="1" name=""/>
        <p:cNvGrpSpPr/>
        <p:nvPr/>
      </p:nvGrpSpPr>
      <p:grpSpPr>
        <a:xfrm>
          <a:off x="0" y="0"/>
          <a:ext cx="0" cy="0"/>
          <a:chOff x="0" y="0"/>
          <a:chExt cx="0" cy="0"/>
        </a:xfrm>
      </p:grpSpPr>
      <p:sp>
        <p:nvSpPr>
          <p:cNvPr id="2" name="Rectangle 1"/>
          <p:cNvSpPr/>
          <p:nvPr/>
        </p:nvSpPr>
        <p:spPr>
          <a:xfrm>
            <a:off x="4724247" y="1097280"/>
            <a:ext cx="2743200" cy="381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0" y="1371600"/>
            <a:ext cx="12191695" cy="914400"/>
          </a:xfrm>
          <a:prstGeom prst="rect">
            <a:avLst/>
          </a:prstGeom>
          <a:noFill/>
        </p:spPr>
        <p:txBody>
          <a:bodyPr wrap="square"/>
          <a:lstStyle/>
          <a:p>
            <a:pPr algn="ctr">
              <a:lnSpc>
                <a:spcPts val="5040"/>
              </a:lnSpc>
              <a:spcBef>
                <a:spcPts val="0"/>
              </a:spcBef>
              <a:spcAft>
                <a:spcPts val="0"/>
              </a:spcAft>
              <a:defRPr sz="4200" b="1" i="0">
                <a:solidFill>
                  <a:srgbClr val="FFFFFF"/>
                </a:solidFill>
                <a:latin typeface="Montserrat"/>
              </a:defRPr>
            </a:pPr>
            <a:r>
              <a:t>TERIMA KASIH</a:t>
            </a:r>
          </a:p>
        </p:txBody>
      </p:sp>
      <p:sp>
        <p:nvSpPr>
          <p:cNvPr id="4" name="TextBox 3"/>
          <p:cNvSpPr txBox="1"/>
          <p:nvPr/>
        </p:nvSpPr>
        <p:spPr>
          <a:xfrm>
            <a:off x="0" y="2560320"/>
            <a:ext cx="12191695" cy="457200"/>
          </a:xfrm>
          <a:prstGeom prst="rect">
            <a:avLst/>
          </a:prstGeom>
          <a:noFill/>
        </p:spPr>
        <p:txBody>
          <a:bodyPr wrap="square"/>
          <a:lstStyle/>
          <a:p>
            <a:pPr algn="ctr">
              <a:lnSpc>
                <a:spcPts val="2160"/>
              </a:lnSpc>
              <a:spcBef>
                <a:spcPts val="0"/>
              </a:spcBef>
              <a:spcAft>
                <a:spcPts val="0"/>
              </a:spcAft>
              <a:defRPr sz="1800" b="0" i="0">
                <a:solidFill>
                  <a:srgbClr val="BBD5EC"/>
                </a:solidFill>
                <a:latin typeface="Montserrat"/>
              </a:defRPr>
            </a:pPr>
            <a:r>
              <a:t>Bagas Surya Wirawan  ·  NRP. 5022221026</a:t>
            </a:r>
          </a:p>
        </p:txBody>
      </p:sp>
      <p:sp>
        <p:nvSpPr>
          <p:cNvPr id="5" name="TextBox 4"/>
          <p:cNvSpPr txBox="1"/>
          <p:nvPr/>
        </p:nvSpPr>
        <p:spPr>
          <a:xfrm>
            <a:off x="0" y="3200400"/>
            <a:ext cx="12191695" cy="1371600"/>
          </a:xfrm>
          <a:prstGeom prst="rect">
            <a:avLst/>
          </a:prstGeom>
          <a:noFill/>
        </p:spPr>
        <p:txBody>
          <a:bodyPr wrap="square"/>
          <a:lstStyle/>
          <a:p>
            <a:pPr algn="ctr">
              <a:lnSpc>
                <a:spcPts val="1959"/>
              </a:lnSpc>
              <a:spcBef>
                <a:spcPts val="0"/>
              </a:spcBef>
              <a:spcAft>
                <a:spcPts val="0"/>
              </a:spcAft>
              <a:defRPr sz="1400" b="0" i="0">
                <a:solidFill>
                  <a:srgbClr val="99BBDD"/>
                </a:solidFill>
                <a:latin typeface="Lato"/>
              </a:defRPr>
            </a:pPr>
            <a:r>
              <a:t>Dosen Pembimbing:</a:t>
            </a:r>
            <a:br/>
            <a:r>
              <a:t>Dr. Ir. Djoko Purwanto, M.Eng.</a:t>
            </a:r>
            <a:br/>
            <a:r>
              <a:t>Fajar Budiman, S.T., M.Sc.</a:t>
            </a:r>
          </a:p>
        </p:txBody>
      </p:sp>
      <p:sp>
        <p:nvSpPr>
          <p:cNvPr id="6" name="TextBox 5"/>
          <p:cNvSpPr txBox="1"/>
          <p:nvPr/>
        </p:nvSpPr>
        <p:spPr>
          <a:xfrm>
            <a:off x="0" y="4846320"/>
            <a:ext cx="12191695" cy="914400"/>
          </a:xfrm>
          <a:prstGeom prst="rect">
            <a:avLst/>
          </a:prstGeom>
          <a:noFill/>
        </p:spPr>
        <p:txBody>
          <a:bodyPr wrap="square"/>
          <a:lstStyle/>
          <a:p>
            <a:pPr algn="ctr">
              <a:lnSpc>
                <a:spcPts val="1679"/>
              </a:lnSpc>
              <a:spcBef>
                <a:spcPts val="0"/>
              </a:spcBef>
              <a:spcAft>
                <a:spcPts val="0"/>
              </a:spcAft>
              <a:defRPr sz="1200" b="0" i="0">
                <a:solidFill>
                  <a:srgbClr val="88AACC"/>
                </a:solidFill>
                <a:latin typeface="Lato"/>
              </a:defRPr>
            </a:pPr>
            <a:r>
              <a:t>Departemen Teknik Elektro</a:t>
            </a:r>
            <a:br/>
            <a:r>
              <a:t>Fakultas Teknologi Elektro dan Informatika Cerdas</a:t>
            </a:r>
            <a:br/>
            <a:r>
              <a:t>Institut Teknologi Sepuluh Nopember</a:t>
            </a:r>
            <a:br/>
            <a:r>
              <a:t>Surabaya · 2026</a:t>
            </a:r>
          </a:p>
        </p:txBody>
      </p:sp>
      <p:sp>
        <p:nvSpPr>
          <p:cNvPr id="7" name="Rectangle 6"/>
          <p:cNvSpPr/>
          <p:nvPr/>
        </p:nvSpPr>
        <p:spPr>
          <a:xfrm>
            <a:off x="1340967" y="6537960"/>
            <a:ext cx="3200400" cy="254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632807" y="6537960"/>
            <a:ext cx="32004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924647" y="6537960"/>
            <a:ext cx="32004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408</TotalTime>
  <Words>3346</Words>
  <Application>Microsoft Office PowerPoint</Application>
  <PresentationFormat>Widescreen</PresentationFormat>
  <Paragraphs>502</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Lato</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Bagas Surya</cp:lastModifiedBy>
  <cp:revision>18</cp:revision>
  <dcterms:created xsi:type="dcterms:W3CDTF">2013-01-27T09:14:16Z</dcterms:created>
  <dcterms:modified xsi:type="dcterms:W3CDTF">2026-06-28T16:33:54Z</dcterms:modified>
  <cp:category/>
</cp:coreProperties>
</file>